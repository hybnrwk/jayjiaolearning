
<file path=[Content_Types].xml><?xml version="1.0" encoding="utf-8"?>
<Types xmlns="http://schemas.openxmlformats.org/package/2006/content-types">
  <Default Extension="bin" ContentType="application/vnd.openxmlformats-officedocument.oleObject"/>
  <Default Extension="gif" ContentType="image/gif"/>
  <Default Extension="jpeg" ContentType="image/jpeg"/>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6"/>
  </p:notesMasterIdLst>
  <p:sldIdLst>
    <p:sldId id="341" r:id="rId2"/>
    <p:sldId id="504" r:id="rId3"/>
    <p:sldId id="525" r:id="rId4"/>
    <p:sldId id="466" r:id="rId5"/>
    <p:sldId id="481" r:id="rId6"/>
    <p:sldId id="508" r:id="rId7"/>
    <p:sldId id="529" r:id="rId8"/>
    <p:sldId id="480" r:id="rId9"/>
    <p:sldId id="613" r:id="rId10"/>
    <p:sldId id="509" r:id="rId11"/>
    <p:sldId id="479" r:id="rId12"/>
    <p:sldId id="510" r:id="rId13"/>
    <p:sldId id="524" r:id="rId14"/>
    <p:sldId id="511" r:id="rId15"/>
    <p:sldId id="526" r:id="rId16"/>
    <p:sldId id="513" r:id="rId17"/>
    <p:sldId id="493" r:id="rId18"/>
    <p:sldId id="527" r:id="rId19"/>
    <p:sldId id="530" r:id="rId20"/>
    <p:sldId id="531" r:id="rId21"/>
    <p:sldId id="532" r:id="rId22"/>
    <p:sldId id="533" r:id="rId23"/>
    <p:sldId id="534" r:id="rId24"/>
    <p:sldId id="535" r:id="rId25"/>
    <p:sldId id="536" r:id="rId26"/>
    <p:sldId id="537" r:id="rId27"/>
    <p:sldId id="538" r:id="rId28"/>
    <p:sldId id="539" r:id="rId29"/>
    <p:sldId id="540" r:id="rId30"/>
    <p:sldId id="541" r:id="rId31"/>
    <p:sldId id="542" r:id="rId32"/>
    <p:sldId id="585" r:id="rId33"/>
    <p:sldId id="586" r:id="rId34"/>
    <p:sldId id="587" r:id="rId35"/>
    <p:sldId id="588" r:id="rId36"/>
    <p:sldId id="589" r:id="rId37"/>
    <p:sldId id="590" r:id="rId38"/>
    <p:sldId id="591" r:id="rId39"/>
    <p:sldId id="592" r:id="rId40"/>
    <p:sldId id="593" r:id="rId41"/>
    <p:sldId id="594" r:id="rId42"/>
    <p:sldId id="595" r:id="rId43"/>
    <p:sldId id="596" r:id="rId44"/>
    <p:sldId id="597" r:id="rId45"/>
    <p:sldId id="598" r:id="rId46"/>
    <p:sldId id="599" r:id="rId47"/>
    <p:sldId id="600" r:id="rId48"/>
    <p:sldId id="601" r:id="rId49"/>
    <p:sldId id="602" r:id="rId50"/>
    <p:sldId id="603" r:id="rId51"/>
    <p:sldId id="604" r:id="rId52"/>
    <p:sldId id="605" r:id="rId53"/>
    <p:sldId id="606" r:id="rId54"/>
    <p:sldId id="607" r:id="rId55"/>
    <p:sldId id="608" r:id="rId56"/>
    <p:sldId id="609" r:id="rId57"/>
    <p:sldId id="610" r:id="rId58"/>
    <p:sldId id="611" r:id="rId59"/>
    <p:sldId id="612" r:id="rId60"/>
    <p:sldId id="569" r:id="rId61"/>
    <p:sldId id="570" r:id="rId62"/>
    <p:sldId id="571" r:id="rId63"/>
    <p:sldId id="572" r:id="rId64"/>
    <p:sldId id="573" r:id="rId65"/>
    <p:sldId id="574" r:id="rId66"/>
    <p:sldId id="575" r:id="rId67"/>
    <p:sldId id="576" r:id="rId68"/>
    <p:sldId id="577" r:id="rId69"/>
    <p:sldId id="578" r:id="rId70"/>
    <p:sldId id="579" r:id="rId71"/>
    <p:sldId id="580" r:id="rId72"/>
    <p:sldId id="581" r:id="rId73"/>
    <p:sldId id="582" r:id="rId74"/>
    <p:sldId id="584" r:id="rId75"/>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guide id="3" pos="37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08E8"/>
    <a:srgbClr val="990000"/>
    <a:srgbClr val="74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2833802-FEF1-4C79-8D5D-14CF1EAF98D9}" styleName="浅色样式 2 - 强调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3049" autoAdjust="0"/>
    <p:restoredTop sz="95221"/>
  </p:normalViewPr>
  <p:slideViewPr>
    <p:cSldViewPr>
      <p:cViewPr varScale="1">
        <p:scale>
          <a:sx n="85" d="100"/>
          <a:sy n="85" d="100"/>
        </p:scale>
        <p:origin x="102" y="642"/>
      </p:cViewPr>
      <p:guideLst>
        <p:guide orient="horz" pos="2160"/>
        <p:guide pos="3840"/>
        <p:guide pos="3780"/>
      </p:guideLst>
    </p:cSldViewPr>
  </p:slideViewPr>
  <p:notesTextViewPr>
    <p:cViewPr>
      <p:scale>
        <a:sx n="100" d="100"/>
        <a:sy n="100" d="100"/>
      </p:scale>
      <p:origin x="0" y="0"/>
    </p:cViewPr>
  </p:notesTextViewPr>
  <p:sorterViewPr>
    <p:cViewPr>
      <p:scale>
        <a:sx n="100" d="100"/>
        <a:sy n="100" d="100"/>
      </p:scale>
      <p:origin x="0" y="-2187"/>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notesMaster" Target="notesMasters/notesMaster1.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12.wmf"/><Relationship Id="rId1" Type="http://schemas.openxmlformats.org/officeDocument/2006/relationships/image" Target="../media/image11.w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16.wmf"/><Relationship Id="rId1" Type="http://schemas.openxmlformats.org/officeDocument/2006/relationships/image" Target="../media/image15.wmf"/></Relationships>
</file>

<file path=ppt/drawings/_rels/vmlDrawing3.vml.rels><?xml version="1.0" encoding="UTF-8" standalone="yes"?>
<Relationships xmlns="http://schemas.openxmlformats.org/package/2006/relationships"><Relationship Id="rId3" Type="http://schemas.openxmlformats.org/officeDocument/2006/relationships/image" Target="../media/image19.wmf"/><Relationship Id="rId2" Type="http://schemas.openxmlformats.org/officeDocument/2006/relationships/image" Target="../media/image18.wmf"/><Relationship Id="rId1" Type="http://schemas.openxmlformats.org/officeDocument/2006/relationships/image" Target="../media/image17.w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22.wmf"/><Relationship Id="rId2" Type="http://schemas.openxmlformats.org/officeDocument/2006/relationships/image" Target="../media/image21.wmf"/><Relationship Id="rId1" Type="http://schemas.openxmlformats.org/officeDocument/2006/relationships/image" Target="../media/image20.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23.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3E41EAB-6F73-40A5-AD73-1065070DFFAB}" type="datetimeFigureOut">
              <a:rPr lang="zh-CN" altLang="en-US" smtClean="0"/>
              <a:pPr/>
              <a:t>2025/2/27</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CAACA1E-031E-4ACA-9C90-D2FA77FC98DA}" type="slidenum">
              <a:rPr lang="zh-CN" altLang="en-US" smtClean="0"/>
              <a:pPr/>
              <a:t>‹#›</a:t>
            </a:fld>
            <a:endParaRPr lang="zh-CN" altLang="en-US"/>
          </a:p>
        </p:txBody>
      </p:sp>
    </p:spTree>
    <p:extLst>
      <p:ext uri="{BB962C8B-B14F-4D97-AF65-F5344CB8AC3E}">
        <p14:creationId xmlns:p14="http://schemas.microsoft.com/office/powerpoint/2010/main" val="27886670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gi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slideMaster" Target="../slideMasters/slideMaster1.xml"/><Relationship Id="rId4" Type="http://schemas.openxmlformats.org/officeDocument/2006/relationships/image" Target="../media/image7.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标题和内容">
    <p:spTree>
      <p:nvGrpSpPr>
        <p:cNvPr id="1" name=""/>
        <p:cNvGrpSpPr/>
        <p:nvPr/>
      </p:nvGrpSpPr>
      <p:grpSpPr>
        <a:xfrm>
          <a:off x="0" y="0"/>
          <a:ext cx="0" cy="0"/>
          <a:chOff x="0" y="0"/>
          <a:chExt cx="0" cy="0"/>
        </a:xfrm>
      </p:grpSpPr>
      <p:pic>
        <p:nvPicPr>
          <p:cNvPr id="8" name="图片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26128" y="260648"/>
            <a:ext cx="966945" cy="944067"/>
          </a:xfrm>
          <a:prstGeom prst="rect">
            <a:avLst/>
          </a:prstGeom>
        </p:spPr>
      </p:pic>
      <p:pic>
        <p:nvPicPr>
          <p:cNvPr id="9" name="图片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838812" y="170439"/>
            <a:ext cx="1259325" cy="1259325"/>
          </a:xfrm>
          <a:prstGeom prst="rect">
            <a:avLst/>
          </a:prstGeom>
        </p:spPr>
      </p:pic>
      <p:cxnSp>
        <p:nvCxnSpPr>
          <p:cNvPr id="15" name="直接连接符 14"/>
          <p:cNvCxnSpPr/>
          <p:nvPr userDrawn="1"/>
        </p:nvCxnSpPr>
        <p:spPr>
          <a:xfrm>
            <a:off x="1174448" y="932723"/>
            <a:ext cx="9619185" cy="0"/>
          </a:xfrm>
          <a:prstGeom prst="line">
            <a:avLst/>
          </a:prstGeom>
          <a:ln w="28575">
            <a:solidFill>
              <a:srgbClr val="740000"/>
            </a:solidFill>
          </a:ln>
        </p:spPr>
        <p:style>
          <a:lnRef idx="1">
            <a:schemeClr val="accent2"/>
          </a:lnRef>
          <a:fillRef idx="0">
            <a:schemeClr val="accent2"/>
          </a:fillRef>
          <a:effectRef idx="0">
            <a:schemeClr val="accent2"/>
          </a:effectRef>
          <a:fontRef idx="minor">
            <a:schemeClr val="tx1"/>
          </a:fontRef>
        </p:style>
      </p:cxnSp>
      <p:sp>
        <p:nvSpPr>
          <p:cNvPr id="14" name="灯片编号占位符 5"/>
          <p:cNvSpPr txBox="1">
            <a:spLocks/>
          </p:cNvSpPr>
          <p:nvPr userDrawn="1"/>
        </p:nvSpPr>
        <p:spPr>
          <a:xfrm>
            <a:off x="9072331" y="6538262"/>
            <a:ext cx="2844800" cy="365125"/>
          </a:xfrm>
          <a:prstGeom prst="rect">
            <a:avLst/>
          </a:prstGeom>
        </p:spPr>
        <p:txBody>
          <a:bodyPr vert="horz" lIns="121920" tIns="60960" rIns="121920" bIns="6096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C913308-F349-4B6D-A68A-DD1791B4A57B}" type="slidenum">
              <a:rPr lang="zh-CN" altLang="en-US" sz="1600" smtClean="0"/>
              <a:pPr/>
              <a:t>‹#›</a:t>
            </a:fld>
            <a:endParaRPr lang="zh-CN" altLang="en-US" sz="1600" dirty="0"/>
          </a:p>
        </p:txBody>
      </p:sp>
    </p:spTree>
    <p:extLst>
      <p:ext uri="{BB962C8B-B14F-4D97-AF65-F5344CB8AC3E}">
        <p14:creationId xmlns:p14="http://schemas.microsoft.com/office/powerpoint/2010/main" val="40026153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pic>
        <p:nvPicPr>
          <p:cNvPr id="7" name="Picture 5" descr="C:\Users\Administrator\Desktop\财大ppt模板\B9PPT模板（一）-07.jpg"/>
          <p:cNvPicPr>
            <a:picLocks noChangeAspect="1" noChangeArrowheads="1"/>
          </p:cNvPicPr>
          <p:nvPr userDrawn="1"/>
        </p:nvPicPr>
        <p:blipFill rotWithShape="1">
          <a:blip r:embed="rId2" cstate="print"/>
          <a:srcRect t="2751"/>
          <a:stretch/>
        </p:blipFill>
        <p:spPr bwMode="auto">
          <a:xfrm>
            <a:off x="44609" y="0"/>
            <a:ext cx="12192000" cy="6858000"/>
          </a:xfrm>
          <a:prstGeom prst="rect">
            <a:avLst/>
          </a:prstGeom>
          <a:noFill/>
        </p:spPr>
      </p:pic>
      <p:sp>
        <p:nvSpPr>
          <p:cNvPr id="4" name="日期占位符 3"/>
          <p:cNvSpPr>
            <a:spLocks noGrp="1"/>
          </p:cNvSpPr>
          <p:nvPr>
            <p:ph type="dt" sz="half" idx="10"/>
          </p:nvPr>
        </p:nvSpPr>
        <p:spPr/>
        <p:txBody>
          <a:bodyPr/>
          <a:lstStyle/>
          <a:p>
            <a:fld id="{5ECD9818-DF9C-4E5C-B191-DBCDCB013D16}" type="datetime1">
              <a:rPr lang="zh-CN" altLang="en-US" smtClean="0"/>
              <a:t>2025/2/27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pPr/>
              <a:t>‹#›</a:t>
            </a:fld>
            <a:endParaRPr lang="zh-CN" altLang="en-US"/>
          </a:p>
        </p:txBody>
      </p:sp>
      <p:cxnSp>
        <p:nvCxnSpPr>
          <p:cNvPr id="9" name="直线连接符 8"/>
          <p:cNvCxnSpPr/>
          <p:nvPr userDrawn="1"/>
        </p:nvCxnSpPr>
        <p:spPr>
          <a:xfrm flipV="1">
            <a:off x="1828801" y="1052736"/>
            <a:ext cx="7795591" cy="2"/>
          </a:xfrm>
          <a:prstGeom prst="line">
            <a:avLst/>
          </a:prstGeom>
          <a:ln w="31750">
            <a:solidFill>
              <a:srgbClr val="740000"/>
            </a:solidFill>
          </a:ln>
        </p:spPr>
        <p:style>
          <a:lnRef idx="1">
            <a:schemeClr val="accent1"/>
          </a:lnRef>
          <a:fillRef idx="0">
            <a:schemeClr val="accent1"/>
          </a:fillRef>
          <a:effectRef idx="0">
            <a:schemeClr val="accent1"/>
          </a:effectRef>
          <a:fontRef idx="minor">
            <a:schemeClr val="tx1"/>
          </a:fontRef>
        </p:style>
      </p:cxnSp>
      <p:pic>
        <p:nvPicPr>
          <p:cNvPr id="12" name="图片 11"/>
          <p:cNvPicPr>
            <a:picLocks noChangeAspect="1"/>
          </p:cNvPicPr>
          <p:nvPr userDrawn="1"/>
        </p:nvPicPr>
        <p:blipFill rotWithShape="1">
          <a:blip r:embed="rId3"/>
          <a:srcRect l="10005" r="17180"/>
          <a:stretch/>
        </p:blipFill>
        <p:spPr>
          <a:xfrm>
            <a:off x="80395" y="31769"/>
            <a:ext cx="1645449" cy="1441499"/>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blank">
  <p:cSld name="1_空白">
    <p:spTree>
      <p:nvGrpSpPr>
        <p:cNvPr id="1" name=""/>
        <p:cNvGrpSpPr/>
        <p:nvPr/>
      </p:nvGrpSpPr>
      <p:grpSpPr>
        <a:xfrm>
          <a:off x="0" y="0"/>
          <a:ext cx="0" cy="0"/>
          <a:chOff x="0" y="0"/>
          <a:chExt cx="0" cy="0"/>
        </a:xfrm>
      </p:grpSpPr>
      <p:pic>
        <p:nvPicPr>
          <p:cNvPr id="10" name="Picture 3" descr="C:\Users\Dell\Desktop\PPT模板12.jpg"/>
          <p:cNvPicPr>
            <a:picLocks noChangeAspect="1" noChangeArrowheads="1"/>
          </p:cNvPicPr>
          <p:nvPr userDrawn="1"/>
        </p:nvPicPr>
        <p:blipFill rotWithShape="1">
          <a:blip r:embed="rId2"/>
          <a:srcRect t="4200"/>
          <a:stretch/>
        </p:blipFill>
        <p:spPr bwMode="auto">
          <a:xfrm>
            <a:off x="2" y="0"/>
            <a:ext cx="12313721" cy="6858000"/>
          </a:xfrm>
          <a:prstGeom prst="rect">
            <a:avLst/>
          </a:prstGeom>
          <a:noFill/>
          <a:ln w="9525">
            <a:noFill/>
            <a:miter lim="800000"/>
            <a:headEnd/>
            <a:tailEnd/>
          </a:ln>
        </p:spPr>
      </p:pic>
      <p:sp>
        <p:nvSpPr>
          <p:cNvPr id="3" name="TextBox 15"/>
          <p:cNvSpPr txBox="1"/>
          <p:nvPr userDrawn="1"/>
        </p:nvSpPr>
        <p:spPr>
          <a:xfrm>
            <a:off x="10556140" y="549275"/>
            <a:ext cx="650536" cy="338516"/>
          </a:xfrm>
          <a:prstGeom prst="rect">
            <a:avLst/>
          </a:prstGeom>
          <a:noFill/>
        </p:spPr>
        <p:txBody>
          <a:bodyPr lIns="91404" tIns="45701" rIns="91404" bIns="45701">
            <a:spAutoFit/>
          </a:bodyPr>
          <a:lstStyle/>
          <a:p>
            <a:pPr algn="ctr" fontAlgn="auto">
              <a:spcBef>
                <a:spcPts val="0"/>
              </a:spcBef>
              <a:spcAft>
                <a:spcPts val="0"/>
              </a:spcAft>
              <a:defRPr/>
            </a:pPr>
            <a:fld id="{A6A6E524-140C-4A1D-B5E7-2097BD8555E6}" type="slidenum">
              <a:rPr lang="zh-CN" altLang="en-US" sz="160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rPr>
              <a:pPr algn="ctr" fontAlgn="auto">
                <a:spcBef>
                  <a:spcPts val="0"/>
                </a:spcBef>
                <a:spcAft>
                  <a:spcPts val="0"/>
                </a:spcAft>
                <a:defRPr/>
              </a:pPr>
              <a:t>‹#›</a:t>
            </a:fld>
            <a:r>
              <a:rPr lang="zh-CN" altLang="en-US" sz="1600" dirty="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rPr>
              <a:t> </a:t>
            </a:r>
          </a:p>
        </p:txBody>
      </p:sp>
      <p:sp>
        <p:nvSpPr>
          <p:cNvPr id="4" name="TextBox 5"/>
          <p:cNvSpPr txBox="1"/>
          <p:nvPr userDrawn="1"/>
        </p:nvSpPr>
        <p:spPr>
          <a:xfrm>
            <a:off x="8506159" y="620746"/>
            <a:ext cx="2267356" cy="205121"/>
          </a:xfrm>
          <a:prstGeom prst="rect">
            <a:avLst/>
          </a:prstGeom>
          <a:noFill/>
        </p:spPr>
        <p:txBody>
          <a:bodyPr lIns="0" tIns="0" rIns="0" bIns="0" anchor="ctr">
            <a:spAutoFit/>
          </a:bodyPr>
          <a:lstStyle/>
          <a:p>
            <a:pPr algn="ctr" fontAlgn="auto">
              <a:spcBef>
                <a:spcPts val="0"/>
              </a:spcBef>
              <a:spcAft>
                <a:spcPts val="0"/>
              </a:spcAft>
              <a:defRPr/>
            </a:pPr>
            <a:r>
              <a:rPr lang="en-US" altLang="zh-CN" sz="1333" dirty="0">
                <a:solidFill>
                  <a:schemeClr val="bg1"/>
                </a:solidFill>
                <a:latin typeface="Impact" pitchFamily="34" charset="0"/>
                <a:ea typeface="微软雅黑" pitchFamily="34" charset="-122"/>
              </a:rPr>
              <a:t>05  </a:t>
            </a:r>
            <a:r>
              <a:rPr lang="zh-CN" altLang="en-US" sz="1333" dirty="0">
                <a:solidFill>
                  <a:schemeClr val="bg1"/>
                </a:solidFill>
                <a:latin typeface="微软雅黑" pitchFamily="34" charset="-122"/>
                <a:ea typeface="微软雅黑" pitchFamily="34" charset="-122"/>
              </a:rPr>
              <a:t>我们的研究</a:t>
            </a:r>
          </a:p>
        </p:txBody>
      </p:sp>
      <p:pic>
        <p:nvPicPr>
          <p:cNvPr id="8" name="图片 6"/>
          <p:cNvPicPr>
            <a:picLocks noChangeAspect="1" noChangeArrowheads="1"/>
          </p:cNvPicPr>
          <p:nvPr userDrawn="1"/>
        </p:nvPicPr>
        <p:blipFill>
          <a:blip r:embed="rId3" cstate="print"/>
          <a:srcRect/>
          <a:stretch>
            <a:fillRect/>
          </a:stretch>
        </p:blipFill>
        <p:spPr bwMode="auto">
          <a:xfrm>
            <a:off x="1" y="1"/>
            <a:ext cx="2095472" cy="422361"/>
          </a:xfrm>
          <a:prstGeom prst="rect">
            <a:avLst/>
          </a:prstGeom>
          <a:noFill/>
          <a:ln w="9525">
            <a:noFill/>
            <a:miter lim="800000"/>
            <a:headEnd/>
            <a:tailEnd/>
          </a:ln>
        </p:spPr>
      </p:pic>
      <p:sp>
        <p:nvSpPr>
          <p:cNvPr id="2" name="矩形 1"/>
          <p:cNvSpPr/>
          <p:nvPr userDrawn="1"/>
        </p:nvSpPr>
        <p:spPr>
          <a:xfrm>
            <a:off x="527382" y="620715"/>
            <a:ext cx="10177129" cy="600040"/>
          </a:xfrm>
          <a:prstGeom prst="rect">
            <a:avLst/>
          </a:prstGeom>
          <a:solidFill>
            <a:srgbClr val="841C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pic>
        <p:nvPicPr>
          <p:cNvPr id="9" name="图片 8"/>
          <p:cNvPicPr>
            <a:picLocks noChangeAspect="1"/>
          </p:cNvPicPr>
          <p:nvPr userDrawn="1"/>
        </p:nvPicPr>
        <p:blipFill>
          <a:blip r:embed="rId4"/>
          <a:stretch>
            <a:fillRect/>
          </a:stretch>
        </p:blipFill>
        <p:spPr>
          <a:xfrm>
            <a:off x="10327950" y="-27384"/>
            <a:ext cx="1825165" cy="1401647"/>
          </a:xfrm>
          <a:prstGeom prst="rect">
            <a:avLst/>
          </a:prstGeom>
        </p:spPr>
      </p:pic>
    </p:spTree>
    <p:extLst>
      <p:ext uri="{BB962C8B-B14F-4D97-AF65-F5344CB8AC3E}">
        <p14:creationId xmlns:p14="http://schemas.microsoft.com/office/powerpoint/2010/main" val="2321720152"/>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1_标题幻灯片">
    <p:spTree>
      <p:nvGrpSpPr>
        <p:cNvPr id="1" name=""/>
        <p:cNvGrpSpPr/>
        <p:nvPr/>
      </p:nvGrpSpPr>
      <p:grpSpPr>
        <a:xfrm>
          <a:off x="0" y="0"/>
          <a:ext cx="0" cy="0"/>
          <a:chOff x="0" y="0"/>
          <a:chExt cx="0" cy="0"/>
        </a:xfrm>
      </p:grpSpPr>
      <p:pic>
        <p:nvPicPr>
          <p:cNvPr id="7" name="Picture 5" descr="C:\Users\Administrator\Desktop\财大ppt模板\B9PPT模板（一）-07.jpg"/>
          <p:cNvPicPr>
            <a:picLocks noChangeAspect="1" noChangeArrowheads="1"/>
          </p:cNvPicPr>
          <p:nvPr userDrawn="1"/>
        </p:nvPicPr>
        <p:blipFill rotWithShape="1">
          <a:blip r:embed="rId2" cstate="print"/>
          <a:srcRect t="2751"/>
          <a:stretch/>
        </p:blipFill>
        <p:spPr bwMode="auto">
          <a:xfrm>
            <a:off x="44609" y="0"/>
            <a:ext cx="12192000" cy="6858000"/>
          </a:xfrm>
          <a:prstGeom prst="rect">
            <a:avLst/>
          </a:prstGeom>
          <a:noFill/>
        </p:spPr>
      </p:pic>
      <p:sp>
        <p:nvSpPr>
          <p:cNvPr id="4" name="日期占位符 3"/>
          <p:cNvSpPr>
            <a:spLocks noGrp="1"/>
          </p:cNvSpPr>
          <p:nvPr>
            <p:ph type="dt" sz="half" idx="10"/>
          </p:nvPr>
        </p:nvSpPr>
        <p:spPr/>
        <p:txBody>
          <a:bodyPr/>
          <a:lstStyle/>
          <a:p>
            <a:fld id="{D17F5766-9B34-4A7C-BEF2-BF1D92CC74D2}" type="datetime1">
              <a:rPr lang="zh-CN" altLang="en-US" smtClean="0"/>
              <a:t>2025/2/27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pPr/>
              <a:t>‹#›</a:t>
            </a:fld>
            <a:endParaRPr lang="zh-CN" altLang="en-US"/>
          </a:p>
        </p:txBody>
      </p:sp>
      <p:cxnSp>
        <p:nvCxnSpPr>
          <p:cNvPr id="9" name="直线连接符 8"/>
          <p:cNvCxnSpPr/>
          <p:nvPr userDrawn="1"/>
        </p:nvCxnSpPr>
        <p:spPr>
          <a:xfrm flipV="1">
            <a:off x="1828801" y="1052736"/>
            <a:ext cx="7795591" cy="2"/>
          </a:xfrm>
          <a:prstGeom prst="line">
            <a:avLst/>
          </a:prstGeom>
          <a:ln w="31750">
            <a:solidFill>
              <a:srgbClr val="740000"/>
            </a:solidFill>
          </a:ln>
        </p:spPr>
        <p:style>
          <a:lnRef idx="1">
            <a:schemeClr val="accent1"/>
          </a:lnRef>
          <a:fillRef idx="0">
            <a:schemeClr val="accent1"/>
          </a:fillRef>
          <a:effectRef idx="0">
            <a:schemeClr val="accent1"/>
          </a:effectRef>
          <a:fontRef idx="minor">
            <a:schemeClr val="tx1"/>
          </a:fontRef>
        </p:style>
      </p:cxnSp>
      <p:pic>
        <p:nvPicPr>
          <p:cNvPr id="12" name="图片 11"/>
          <p:cNvPicPr>
            <a:picLocks noChangeAspect="1"/>
          </p:cNvPicPr>
          <p:nvPr userDrawn="1"/>
        </p:nvPicPr>
        <p:blipFill rotWithShape="1">
          <a:blip r:embed="rId3"/>
          <a:srcRect l="10005" r="17180"/>
          <a:stretch/>
        </p:blipFill>
        <p:spPr>
          <a:xfrm>
            <a:off x="80395" y="31769"/>
            <a:ext cx="1645449" cy="1441499"/>
          </a:xfrm>
          <a:prstGeom prst="rect">
            <a:avLst/>
          </a:prstGeom>
        </p:spPr>
      </p:pic>
    </p:spTree>
    <p:extLst>
      <p:ext uri="{BB962C8B-B14F-4D97-AF65-F5344CB8AC3E}">
        <p14:creationId xmlns:p14="http://schemas.microsoft.com/office/powerpoint/2010/main" val="346198613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609600" y="1600203"/>
            <a:ext cx="10972800" cy="4525963"/>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609600" y="6356353"/>
            <a:ext cx="28448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689E2F04-F5CD-4B6D-94EC-A1207FFDBB08}" type="datetime1">
              <a:rPr lang="zh-CN" altLang="en-US" smtClean="0"/>
              <a:t>2025/2/27</a:t>
            </a:fld>
            <a:endParaRPr lang="zh-CN" altLang="en-US"/>
          </a:p>
        </p:txBody>
      </p:sp>
      <p:sp>
        <p:nvSpPr>
          <p:cNvPr id="5" name="页脚占位符 4"/>
          <p:cNvSpPr>
            <a:spLocks noGrp="1"/>
          </p:cNvSpPr>
          <p:nvPr>
            <p:ph type="ftr" sz="quarter" idx="3"/>
          </p:nvPr>
        </p:nvSpPr>
        <p:spPr>
          <a:xfrm>
            <a:off x="4165600" y="6356353"/>
            <a:ext cx="38608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737600" y="6356353"/>
            <a:ext cx="28448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0C913308-F349-4B6D-A68A-DD1791B4A57B}" type="slidenum">
              <a:rPr lang="zh-CN" altLang="en-US" smtClean="0"/>
              <a:pPr/>
              <a:t>‹#›</a:t>
            </a:fld>
            <a:endParaRPr lang="zh-CN" altLang="en-US"/>
          </a:p>
        </p:txBody>
      </p:sp>
    </p:spTree>
  </p:cSld>
  <p:clrMap bg1="lt1" tx1="dk1" bg2="lt2" tx2="dk2" accent1="accent1" accent2="accent2" accent3="accent3" accent4="accent4" accent5="accent5" accent6="accent6" hlink="hlink" folHlink="folHlink"/>
  <p:sldLayoutIdLst>
    <p:sldLayoutId id="2147483653" r:id="rId1"/>
    <p:sldLayoutId id="2147483649" r:id="rId2"/>
    <p:sldLayoutId id="2147483657" r:id="rId3"/>
    <p:sldLayoutId id="2147483659" r:id="rId4"/>
  </p:sldLayoutIdLst>
  <p:hf hdr="0" ftr="0" dt="0"/>
  <p:txStyles>
    <p:titleStyle>
      <a:lvl1pPr algn="ctr" defTabSz="685800" rtl="0" eaLnBrk="1" latinLnBrk="0" hangingPunct="1">
        <a:spcBef>
          <a:spcPct val="0"/>
        </a:spcBef>
        <a:buNone/>
        <a:defRPr sz="3300" kern="1200">
          <a:solidFill>
            <a:schemeClr val="tx1"/>
          </a:solidFill>
          <a:latin typeface="+mj-lt"/>
          <a:ea typeface="+mj-ea"/>
          <a:cs typeface="+mj-cs"/>
        </a:defRPr>
      </a:lvl1pPr>
    </p:titleStyle>
    <p:bodyStyle>
      <a:lvl1pPr marL="257175" indent="-257175" algn="l" defTabSz="685800" rtl="0" eaLnBrk="1" latinLnBrk="0" hangingPunct="1">
        <a:spcBef>
          <a:spcPct val="20000"/>
        </a:spcBef>
        <a:buFont typeface="Arial" pitchFamily="34" charset="0"/>
        <a:buChar char="•"/>
        <a:defRPr sz="2400" kern="1200">
          <a:solidFill>
            <a:schemeClr val="tx1"/>
          </a:solidFill>
          <a:latin typeface="+mn-lt"/>
          <a:ea typeface="+mn-ea"/>
          <a:cs typeface="+mn-cs"/>
        </a:defRPr>
      </a:lvl1pPr>
      <a:lvl2pPr marL="557213" indent="-214313" algn="l" defTabSz="685800" rtl="0" eaLnBrk="1" latinLnBrk="0" hangingPunct="1">
        <a:spcBef>
          <a:spcPct val="20000"/>
        </a:spcBef>
        <a:buFont typeface="Arial" pitchFamily="34" charset="0"/>
        <a:buChar char="–"/>
        <a:defRPr sz="2100" kern="1200">
          <a:solidFill>
            <a:schemeClr val="tx1"/>
          </a:solidFill>
          <a:latin typeface="+mn-lt"/>
          <a:ea typeface="+mn-ea"/>
          <a:cs typeface="+mn-cs"/>
        </a:defRPr>
      </a:lvl2pPr>
      <a:lvl3pPr marL="857250" indent="-171450" algn="l" defTabSz="685800" rtl="0" eaLnBrk="1" latinLnBrk="0" hangingPunct="1">
        <a:spcBef>
          <a:spcPct val="20000"/>
        </a:spcBef>
        <a:buFont typeface="Arial" pitchFamily="34" charset="0"/>
        <a:buChar char="•"/>
        <a:defRPr sz="1800" kern="1200">
          <a:solidFill>
            <a:schemeClr val="tx1"/>
          </a:solidFill>
          <a:latin typeface="+mn-lt"/>
          <a:ea typeface="+mn-ea"/>
          <a:cs typeface="+mn-cs"/>
        </a:defRPr>
      </a:lvl3pPr>
      <a:lvl4pPr marL="12001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4pPr>
      <a:lvl5pPr marL="15430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1.xml"/><Relationship Id="rId1" Type="http://schemas.openxmlformats.org/officeDocument/2006/relationships/vmlDrawing" Target="../drawings/vmlDrawing1.vml"/><Relationship Id="rId6" Type="http://schemas.openxmlformats.org/officeDocument/2006/relationships/image" Target="../media/image12.wmf"/><Relationship Id="rId5" Type="http://schemas.openxmlformats.org/officeDocument/2006/relationships/oleObject" Target="../embeddings/oleObject2.bin"/><Relationship Id="rId4" Type="http://schemas.openxmlformats.org/officeDocument/2006/relationships/image" Target="../media/image11.wmf"/></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1.xml"/><Relationship Id="rId1" Type="http://schemas.openxmlformats.org/officeDocument/2006/relationships/vmlDrawing" Target="../drawings/vmlDrawing2.vml"/><Relationship Id="rId6" Type="http://schemas.openxmlformats.org/officeDocument/2006/relationships/image" Target="../media/image16.wmf"/><Relationship Id="rId5" Type="http://schemas.openxmlformats.org/officeDocument/2006/relationships/oleObject" Target="../embeddings/oleObject4.bin"/><Relationship Id="rId4" Type="http://schemas.openxmlformats.org/officeDocument/2006/relationships/image" Target="../media/image15.wmf"/></Relationships>
</file>

<file path=ppt/slides/_rels/slide46.xml.rels><?xml version="1.0" encoding="UTF-8" standalone="yes"?>
<Relationships xmlns="http://schemas.openxmlformats.org/package/2006/relationships"><Relationship Id="rId8" Type="http://schemas.openxmlformats.org/officeDocument/2006/relationships/image" Target="../media/image19.wmf"/><Relationship Id="rId3" Type="http://schemas.openxmlformats.org/officeDocument/2006/relationships/oleObject" Target="../embeddings/oleObject5.bin"/><Relationship Id="rId7" Type="http://schemas.openxmlformats.org/officeDocument/2006/relationships/oleObject" Target="../embeddings/oleObject7.bin"/><Relationship Id="rId2" Type="http://schemas.openxmlformats.org/officeDocument/2006/relationships/slideLayout" Target="../slideLayouts/slideLayout1.xml"/><Relationship Id="rId1" Type="http://schemas.openxmlformats.org/officeDocument/2006/relationships/vmlDrawing" Target="../drawings/vmlDrawing3.vml"/><Relationship Id="rId6" Type="http://schemas.openxmlformats.org/officeDocument/2006/relationships/image" Target="../media/image18.wmf"/><Relationship Id="rId5" Type="http://schemas.openxmlformats.org/officeDocument/2006/relationships/oleObject" Target="../embeddings/oleObject6.bin"/><Relationship Id="rId4" Type="http://schemas.openxmlformats.org/officeDocument/2006/relationships/image" Target="../media/image17.wmf"/></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8" Type="http://schemas.openxmlformats.org/officeDocument/2006/relationships/image" Target="../media/image22.wmf"/><Relationship Id="rId3" Type="http://schemas.openxmlformats.org/officeDocument/2006/relationships/oleObject" Target="../embeddings/oleObject8.bin"/><Relationship Id="rId7" Type="http://schemas.openxmlformats.org/officeDocument/2006/relationships/oleObject" Target="../embeddings/oleObject10.bin"/><Relationship Id="rId2" Type="http://schemas.openxmlformats.org/officeDocument/2006/relationships/slideLayout" Target="../slideLayouts/slideLayout1.xml"/><Relationship Id="rId1" Type="http://schemas.openxmlformats.org/officeDocument/2006/relationships/vmlDrawing" Target="../drawings/vmlDrawing4.vml"/><Relationship Id="rId6" Type="http://schemas.openxmlformats.org/officeDocument/2006/relationships/image" Target="../media/image21.wmf"/><Relationship Id="rId5" Type="http://schemas.openxmlformats.org/officeDocument/2006/relationships/oleObject" Target="../embeddings/oleObject9.bin"/><Relationship Id="rId4" Type="http://schemas.openxmlformats.org/officeDocument/2006/relationships/image" Target="../media/image20.wmf"/></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Layout" Target="../slideLayouts/slideLayout2.xml"/><Relationship Id="rId1" Type="http://schemas.openxmlformats.org/officeDocument/2006/relationships/vmlDrawing" Target="../drawings/vmlDrawing5.vml"/><Relationship Id="rId4" Type="http://schemas.openxmlformats.org/officeDocument/2006/relationships/image" Target="../media/image23.w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4"/>
          <p:cNvSpPr txBox="1">
            <a:spLocks noChangeArrowheads="1"/>
          </p:cNvSpPr>
          <p:nvPr/>
        </p:nvSpPr>
        <p:spPr bwMode="auto">
          <a:xfrm>
            <a:off x="2393986" y="4293096"/>
            <a:ext cx="7268984" cy="424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57600" tIns="28800" rIns="57600" bIns="2880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lnSpc>
                <a:spcPct val="150000"/>
              </a:lnSpc>
            </a:pPr>
            <a:r>
              <a:rPr lang="zh-CN" altLang="en-US" b="1" dirty="0">
                <a:solidFill>
                  <a:srgbClr val="990000"/>
                </a:solidFill>
                <a:latin typeface="微软雅黑" panose="020B0503020204020204" pitchFamily="34" charset="-122"/>
                <a:ea typeface="微软雅黑" panose="020B0503020204020204" pitchFamily="34" charset="-122"/>
                <a:cs typeface="Times New Roman" panose="02020603050405020304" pitchFamily="18" charset="0"/>
              </a:rPr>
              <a:t>信息管理与工程学院</a:t>
            </a:r>
            <a:endParaRPr lang="en-US" altLang="zh-CN" b="1" dirty="0">
              <a:solidFill>
                <a:srgbClr val="990000"/>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8" name="TextBox 3"/>
          <p:cNvSpPr txBox="1">
            <a:spLocks noChangeArrowheads="1"/>
          </p:cNvSpPr>
          <p:nvPr/>
        </p:nvSpPr>
        <p:spPr bwMode="auto">
          <a:xfrm>
            <a:off x="1924022" y="1772816"/>
            <a:ext cx="8208912" cy="749527"/>
          </a:xfrm>
          <a:prstGeom prst="rect">
            <a:avLst/>
          </a:prstGeom>
          <a:noFill/>
          <a:ln w="9525">
            <a:noFill/>
            <a:miter lim="800000"/>
            <a:headEnd/>
            <a:tailEnd/>
          </a:ln>
        </p:spPr>
        <p:txBody>
          <a:bodyPr wrap="square" lIns="76799" tIns="38399" rIns="76799" bIns="38399">
            <a:spAutoFit/>
          </a:bodyPr>
          <a:lstStyle/>
          <a:p>
            <a:pPr algn="ctr">
              <a:lnSpc>
                <a:spcPct val="150000"/>
              </a:lnSpc>
            </a:pPr>
            <a:r>
              <a:rPr lang="zh-CN" altLang="en-US" sz="3300" b="1" dirty="0">
                <a:solidFill>
                  <a:srgbClr val="740000"/>
                </a:solidFill>
                <a:latin typeface="微软雅黑" pitchFamily="34" charset="-122"/>
                <a:ea typeface="微软雅黑" pitchFamily="34" charset="-122"/>
              </a:rPr>
              <a:t>第一章 集合</a:t>
            </a:r>
            <a:endParaRPr lang="en-US" altLang="zh-CN" sz="3300" b="1" dirty="0">
              <a:solidFill>
                <a:srgbClr val="740000"/>
              </a:solidFill>
              <a:latin typeface="微软雅黑" pitchFamily="34" charset="-122"/>
              <a:ea typeface="微软雅黑" pitchFamily="34" charset="-122"/>
            </a:endParaRPr>
          </a:p>
        </p:txBody>
      </p:sp>
    </p:spTree>
    <p:extLst>
      <p:ext uri="{BB962C8B-B14F-4D97-AF65-F5344CB8AC3E}">
        <p14:creationId xmlns:p14="http://schemas.microsoft.com/office/powerpoint/2010/main" val="15507950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a:extLst>
              <a:ext uri="{FF2B5EF4-FFF2-40B4-BE49-F238E27FC236}">
                <a16:creationId xmlns:a16="http://schemas.microsoft.com/office/drawing/2014/main" id="{F6966B75-0197-4456-AA31-1017F8F98704}"/>
              </a:ext>
            </a:extLst>
          </p:cNvPr>
          <p:cNvSpPr txBox="1">
            <a:spLocks/>
          </p:cNvSpPr>
          <p:nvPr/>
        </p:nvSpPr>
        <p:spPr>
          <a:xfrm>
            <a:off x="1991544" y="332656"/>
            <a:ext cx="7212632" cy="720080"/>
          </a:xfrm>
          <a:prstGeom prst="rect">
            <a:avLst/>
          </a:prstGeom>
        </p:spPr>
        <p:txBody>
          <a:bodyPr/>
          <a:lstStyle>
            <a:lvl1pPr algn="ctr" defTabSz="685800" rtl="0" eaLnBrk="1" latinLnBrk="0" hangingPunct="1">
              <a:spcBef>
                <a:spcPct val="0"/>
              </a:spcBef>
              <a:buNone/>
              <a:defRPr sz="3300" kern="1200">
                <a:solidFill>
                  <a:schemeClr val="tx1"/>
                </a:solidFill>
                <a:latin typeface="+mj-lt"/>
                <a:ea typeface="+mj-ea"/>
                <a:cs typeface="+mj-cs"/>
              </a:defRPr>
            </a:lvl1pPr>
          </a:lstStyle>
          <a:p>
            <a:r>
              <a:rPr lang="zh-CN" altLang="en-US" b="1" dirty="0"/>
              <a:t>本章主要内容：</a:t>
            </a:r>
          </a:p>
        </p:txBody>
      </p:sp>
      <p:sp>
        <p:nvSpPr>
          <p:cNvPr id="5" name="内容占位符 2">
            <a:extLst>
              <a:ext uri="{FF2B5EF4-FFF2-40B4-BE49-F238E27FC236}">
                <a16:creationId xmlns:a16="http://schemas.microsoft.com/office/drawing/2014/main" id="{E7402159-48D1-4B77-AD34-A846DB805B8B}"/>
              </a:ext>
            </a:extLst>
          </p:cNvPr>
          <p:cNvSpPr txBox="1">
            <a:spLocks/>
          </p:cNvSpPr>
          <p:nvPr/>
        </p:nvSpPr>
        <p:spPr>
          <a:xfrm>
            <a:off x="839416" y="1772816"/>
            <a:ext cx="7284989" cy="4104456"/>
          </a:xfrm>
          <a:prstGeom prst="rect">
            <a:avLst/>
          </a:prstGeom>
        </p:spPr>
        <p:txBody>
          <a:bodyPr/>
          <a:lstStyle>
            <a:lvl1pPr marL="257175" indent="-257175" algn="l" defTabSz="685800" rtl="0" eaLnBrk="1" latinLnBrk="0" hangingPunct="1">
              <a:spcBef>
                <a:spcPct val="20000"/>
              </a:spcBef>
              <a:buFont typeface="Arial" pitchFamily="34" charset="0"/>
              <a:buChar char="•"/>
              <a:defRPr sz="2400" kern="1200">
                <a:solidFill>
                  <a:schemeClr val="tx1"/>
                </a:solidFill>
                <a:latin typeface="+mn-lt"/>
                <a:ea typeface="+mn-ea"/>
                <a:cs typeface="+mn-cs"/>
              </a:defRPr>
            </a:lvl1pPr>
            <a:lvl2pPr marL="557213" indent="-214313" algn="l" defTabSz="685800" rtl="0" eaLnBrk="1" latinLnBrk="0" hangingPunct="1">
              <a:spcBef>
                <a:spcPct val="20000"/>
              </a:spcBef>
              <a:buFont typeface="Arial" pitchFamily="34" charset="0"/>
              <a:buChar char="–"/>
              <a:defRPr sz="2100" kern="1200">
                <a:solidFill>
                  <a:schemeClr val="tx1"/>
                </a:solidFill>
                <a:latin typeface="+mn-lt"/>
                <a:ea typeface="+mn-ea"/>
                <a:cs typeface="+mn-cs"/>
              </a:defRPr>
            </a:lvl2pPr>
            <a:lvl3pPr marL="857250" indent="-171450" algn="l" defTabSz="685800" rtl="0" eaLnBrk="1" latinLnBrk="0" hangingPunct="1">
              <a:spcBef>
                <a:spcPct val="20000"/>
              </a:spcBef>
              <a:buFont typeface="Arial" pitchFamily="34" charset="0"/>
              <a:buChar char="•"/>
              <a:defRPr sz="1800" kern="1200">
                <a:solidFill>
                  <a:schemeClr val="tx1"/>
                </a:solidFill>
                <a:latin typeface="+mn-lt"/>
                <a:ea typeface="+mn-ea"/>
                <a:cs typeface="+mn-cs"/>
              </a:defRPr>
            </a:lvl3pPr>
            <a:lvl4pPr marL="12001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4pPr>
            <a:lvl5pPr marL="15430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a:lnSpc>
                <a:spcPct val="150000"/>
              </a:lnSpc>
            </a:pPr>
            <a:r>
              <a:rPr lang="zh-CN" altLang="zh-CN" sz="2800" b="1" dirty="0"/>
              <a:t>集合</a:t>
            </a:r>
          </a:p>
          <a:p>
            <a:pPr>
              <a:lnSpc>
                <a:spcPct val="150000"/>
              </a:lnSpc>
            </a:pPr>
            <a:r>
              <a:rPr lang="zh-CN" altLang="zh-CN" sz="2800" b="1" dirty="0"/>
              <a:t>集合间的关系</a:t>
            </a:r>
          </a:p>
          <a:p>
            <a:pPr>
              <a:lnSpc>
                <a:spcPct val="150000"/>
              </a:lnSpc>
            </a:pPr>
            <a:r>
              <a:rPr lang="zh-CN" altLang="zh-CN" sz="2800" b="1" dirty="0"/>
              <a:t>集合的运算</a:t>
            </a:r>
          </a:p>
          <a:p>
            <a:pPr>
              <a:lnSpc>
                <a:spcPct val="150000"/>
              </a:lnSpc>
            </a:pPr>
            <a:r>
              <a:rPr lang="zh-CN" altLang="zh-CN" sz="2800" b="1" dirty="0"/>
              <a:t>幂集与编码</a:t>
            </a:r>
          </a:p>
          <a:p>
            <a:pPr>
              <a:lnSpc>
                <a:spcPct val="150000"/>
              </a:lnSpc>
            </a:pPr>
            <a:r>
              <a:rPr lang="zh-CN" altLang="zh-CN" sz="2800" b="1" dirty="0"/>
              <a:t>集合恒等式的证明</a:t>
            </a:r>
          </a:p>
        </p:txBody>
      </p:sp>
      <p:sp>
        <p:nvSpPr>
          <p:cNvPr id="6" name="灯片编号占位符 5">
            <a:extLst>
              <a:ext uri="{FF2B5EF4-FFF2-40B4-BE49-F238E27FC236}">
                <a16:creationId xmlns:a16="http://schemas.microsoft.com/office/drawing/2014/main" id="{D42D9718-F7CD-4E6A-8DBC-E5E039CAF9DE}"/>
              </a:ext>
            </a:extLst>
          </p:cNvPr>
          <p:cNvSpPr>
            <a:spLocks noGrp="1"/>
          </p:cNvSpPr>
          <p:nvPr>
            <p:ph type="sldNum" sz="quarter" idx="12"/>
          </p:nvPr>
        </p:nvSpPr>
        <p:spPr/>
        <p:txBody>
          <a:bodyPr/>
          <a:lstStyle/>
          <a:p>
            <a:fld id="{0C913308-F349-4B6D-A68A-DD1791B4A57B}" type="slidenum">
              <a:rPr lang="zh-CN" altLang="en-US" smtClean="0"/>
              <a:pPr/>
              <a:t>2</a:t>
            </a:fld>
            <a:endParaRPr lang="zh-CN" altLang="en-US"/>
          </a:p>
        </p:txBody>
      </p:sp>
    </p:spTree>
    <p:extLst>
      <p:ext uri="{BB962C8B-B14F-4D97-AF65-F5344CB8AC3E}">
        <p14:creationId xmlns:p14="http://schemas.microsoft.com/office/powerpoint/2010/main" val="18783822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a:extLst>
              <a:ext uri="{FF2B5EF4-FFF2-40B4-BE49-F238E27FC236}">
                <a16:creationId xmlns:a16="http://schemas.microsoft.com/office/drawing/2014/main" id="{337A9EBF-206E-4D4C-AD18-BD5FAA02C110}"/>
              </a:ext>
            </a:extLst>
          </p:cNvPr>
          <p:cNvSpPr txBox="1">
            <a:spLocks/>
          </p:cNvSpPr>
          <p:nvPr/>
        </p:nvSpPr>
        <p:spPr>
          <a:xfrm>
            <a:off x="2135560" y="260648"/>
            <a:ext cx="3036168" cy="864096"/>
          </a:xfrm>
          <a:prstGeom prst="rect">
            <a:avLst/>
          </a:prstGeom>
        </p:spPr>
        <p:txBody>
          <a:bodyPr>
            <a:normAutofit/>
          </a:bodyPr>
          <a:lstStyle>
            <a:lvl1pPr algn="ctr" defTabSz="685800" rtl="0" eaLnBrk="1" latinLnBrk="0" hangingPunct="1">
              <a:spcBef>
                <a:spcPct val="0"/>
              </a:spcBef>
              <a:buNone/>
              <a:defRPr sz="3300" kern="1200">
                <a:solidFill>
                  <a:schemeClr val="tx1"/>
                </a:solidFill>
                <a:latin typeface="+mj-lt"/>
                <a:ea typeface="+mj-ea"/>
                <a:cs typeface="+mj-cs"/>
              </a:defRPr>
            </a:lvl1pPr>
          </a:lstStyle>
          <a:p>
            <a:pPr marL="0" lvl="1" algn="l" rtl="0">
              <a:spcBef>
                <a:spcPct val="0"/>
              </a:spcBef>
            </a:pPr>
            <a:r>
              <a:rPr lang="en-US" altLang="zh-CN" sz="4000" b="1" kern="0" dirty="0">
                <a:solidFill>
                  <a:sysClr val="windowText" lastClr="000000"/>
                </a:solidFill>
              </a:rPr>
              <a:t>1.1 </a:t>
            </a:r>
            <a:r>
              <a:rPr lang="zh-CN" altLang="zh-CN" sz="4000" b="1" kern="0" dirty="0">
                <a:solidFill>
                  <a:sysClr val="windowText" lastClr="000000"/>
                </a:solidFill>
              </a:rPr>
              <a:t>集 合</a:t>
            </a:r>
            <a:endParaRPr lang="zh-CN" altLang="en-US" sz="4000" b="1" kern="0" dirty="0">
              <a:solidFill>
                <a:sysClr val="windowText" lastClr="000000"/>
              </a:solidFill>
            </a:endParaRPr>
          </a:p>
        </p:txBody>
      </p:sp>
      <p:sp>
        <p:nvSpPr>
          <p:cNvPr id="5" name="内容占位符 2">
            <a:extLst>
              <a:ext uri="{FF2B5EF4-FFF2-40B4-BE49-F238E27FC236}">
                <a16:creationId xmlns:a16="http://schemas.microsoft.com/office/drawing/2014/main" id="{DE5F1D5B-C352-4220-8FA7-F73191660FB1}"/>
              </a:ext>
            </a:extLst>
          </p:cNvPr>
          <p:cNvSpPr txBox="1">
            <a:spLocks/>
          </p:cNvSpPr>
          <p:nvPr/>
        </p:nvSpPr>
        <p:spPr>
          <a:xfrm>
            <a:off x="407368" y="1412776"/>
            <a:ext cx="11449272" cy="4682920"/>
          </a:xfrm>
          <a:prstGeom prst="rect">
            <a:avLst/>
          </a:prstGeom>
        </p:spPr>
        <p:txBody>
          <a:bodyPr/>
          <a:lstStyle>
            <a:lvl1pPr marL="257175" indent="-257175" algn="l" defTabSz="685800" rtl="0" eaLnBrk="1" latinLnBrk="0" hangingPunct="1">
              <a:spcBef>
                <a:spcPct val="20000"/>
              </a:spcBef>
              <a:buFont typeface="Arial" pitchFamily="34" charset="0"/>
              <a:buChar char="•"/>
              <a:defRPr sz="2400" kern="1200">
                <a:solidFill>
                  <a:schemeClr val="tx1"/>
                </a:solidFill>
                <a:latin typeface="+mn-lt"/>
                <a:ea typeface="+mn-ea"/>
                <a:cs typeface="+mn-cs"/>
              </a:defRPr>
            </a:lvl1pPr>
            <a:lvl2pPr marL="557213" indent="-214313" algn="l" defTabSz="685800" rtl="0" eaLnBrk="1" latinLnBrk="0" hangingPunct="1">
              <a:spcBef>
                <a:spcPct val="20000"/>
              </a:spcBef>
              <a:buFont typeface="Arial" pitchFamily="34" charset="0"/>
              <a:buChar char="–"/>
              <a:defRPr sz="2100" kern="1200">
                <a:solidFill>
                  <a:schemeClr val="tx1"/>
                </a:solidFill>
                <a:latin typeface="+mn-lt"/>
                <a:ea typeface="+mn-ea"/>
                <a:cs typeface="+mn-cs"/>
              </a:defRPr>
            </a:lvl2pPr>
            <a:lvl3pPr marL="857250" indent="-171450" algn="l" defTabSz="685800" rtl="0" eaLnBrk="1" latinLnBrk="0" hangingPunct="1">
              <a:spcBef>
                <a:spcPct val="20000"/>
              </a:spcBef>
              <a:buFont typeface="Arial" pitchFamily="34" charset="0"/>
              <a:buChar char="•"/>
              <a:defRPr sz="1800" kern="1200">
                <a:solidFill>
                  <a:schemeClr val="tx1"/>
                </a:solidFill>
                <a:latin typeface="+mn-lt"/>
                <a:ea typeface="+mn-ea"/>
                <a:cs typeface="+mn-cs"/>
              </a:defRPr>
            </a:lvl3pPr>
            <a:lvl4pPr marL="12001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4pPr>
            <a:lvl5pPr marL="15430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algn="just">
              <a:lnSpc>
                <a:spcPct val="120000"/>
              </a:lnSpc>
              <a:buFontTx/>
              <a:buNone/>
            </a:pPr>
            <a:r>
              <a:rPr lang="en-US" altLang="zh-CN" dirty="0"/>
              <a:t>1.1.1 </a:t>
            </a:r>
            <a:r>
              <a:rPr lang="zh-CN" altLang="en-US" dirty="0"/>
              <a:t>集合的概念</a:t>
            </a:r>
          </a:p>
          <a:p>
            <a:pPr lvl="1" algn="just">
              <a:lnSpc>
                <a:spcPct val="120000"/>
              </a:lnSpc>
              <a:buFontTx/>
              <a:buNone/>
            </a:pPr>
            <a:r>
              <a:rPr lang="zh-CN" altLang="en-US" sz="2400" b="1" dirty="0">
                <a:solidFill>
                  <a:srgbClr val="3308E8"/>
                </a:solidFill>
              </a:rPr>
              <a:t>集合</a:t>
            </a:r>
            <a:r>
              <a:rPr lang="zh-CN" altLang="en-US" sz="2400" dirty="0"/>
              <a:t>是具有某种特定性质的事物的全体。 </a:t>
            </a:r>
          </a:p>
          <a:p>
            <a:pPr lvl="1" algn="just">
              <a:lnSpc>
                <a:spcPct val="120000"/>
              </a:lnSpc>
              <a:buFontTx/>
              <a:buNone/>
            </a:pPr>
            <a:r>
              <a:rPr lang="zh-CN" altLang="en-US" sz="2400" dirty="0"/>
              <a:t>集合中的单个事物通常也称为</a:t>
            </a:r>
            <a:r>
              <a:rPr lang="zh-CN" altLang="en-US" sz="2400" dirty="0">
                <a:latin typeface="Arial"/>
              </a:rPr>
              <a:t>“</a:t>
            </a:r>
            <a:r>
              <a:rPr lang="zh-CN" altLang="en-US" sz="2400" b="1" dirty="0">
                <a:solidFill>
                  <a:srgbClr val="3308E8"/>
                </a:solidFill>
              </a:rPr>
              <a:t>个体</a:t>
            </a:r>
            <a:r>
              <a:rPr lang="zh-CN" altLang="en-US" sz="2400" dirty="0">
                <a:latin typeface="Arial"/>
              </a:rPr>
              <a:t>”</a:t>
            </a:r>
            <a:r>
              <a:rPr lang="zh-CN" altLang="en-US" sz="2400" dirty="0"/>
              <a:t>或</a:t>
            </a:r>
            <a:r>
              <a:rPr lang="zh-CN" altLang="en-US" sz="2400" dirty="0">
                <a:latin typeface="Arial"/>
              </a:rPr>
              <a:t>“</a:t>
            </a:r>
            <a:r>
              <a:rPr lang="zh-CN" altLang="en-US" sz="2400" b="1" dirty="0">
                <a:solidFill>
                  <a:srgbClr val="3308E8"/>
                </a:solidFill>
              </a:rPr>
              <a:t>元素</a:t>
            </a:r>
            <a:r>
              <a:rPr lang="zh-CN" altLang="en-US" sz="2400" dirty="0">
                <a:latin typeface="Arial"/>
              </a:rPr>
              <a:t>”</a:t>
            </a:r>
            <a:r>
              <a:rPr lang="zh-CN" altLang="en-US" sz="2400" dirty="0"/>
              <a:t>。 </a:t>
            </a:r>
          </a:p>
          <a:p>
            <a:pPr algn="just">
              <a:lnSpc>
                <a:spcPct val="120000"/>
              </a:lnSpc>
              <a:buFontTx/>
              <a:buNone/>
            </a:pPr>
            <a:r>
              <a:rPr lang="zh-CN" altLang="en-US" dirty="0"/>
              <a:t>通常用英文大写字母来表示集合，如</a:t>
            </a:r>
            <a:r>
              <a:rPr lang="en-US" altLang="zh-CN" dirty="0"/>
              <a:t>A</a:t>
            </a:r>
            <a:r>
              <a:rPr lang="zh-CN" altLang="en-US" dirty="0"/>
              <a:t>、</a:t>
            </a:r>
            <a:r>
              <a:rPr lang="en-US" altLang="zh-CN" dirty="0"/>
              <a:t>B</a:t>
            </a:r>
            <a:r>
              <a:rPr lang="zh-CN" altLang="en-US" dirty="0"/>
              <a:t>、</a:t>
            </a:r>
            <a:r>
              <a:rPr lang="en-US" altLang="zh-CN" dirty="0"/>
              <a:t>C</a:t>
            </a:r>
            <a:r>
              <a:rPr lang="zh-CN" altLang="en-US" dirty="0"/>
              <a:t>等，用小写字母来表示集合中的元素，如</a:t>
            </a:r>
            <a:r>
              <a:rPr lang="en-US" altLang="zh-CN" dirty="0"/>
              <a:t>a</a:t>
            </a:r>
            <a:r>
              <a:rPr lang="zh-CN" altLang="en-US" dirty="0"/>
              <a:t>、</a:t>
            </a:r>
            <a:r>
              <a:rPr lang="en-US" altLang="zh-CN" dirty="0"/>
              <a:t>b</a:t>
            </a:r>
            <a:r>
              <a:rPr lang="zh-CN" altLang="en-US" dirty="0"/>
              <a:t>、</a:t>
            </a:r>
            <a:r>
              <a:rPr lang="en-US" altLang="zh-CN" dirty="0"/>
              <a:t>c</a:t>
            </a:r>
            <a:r>
              <a:rPr lang="zh-CN" altLang="en-US" dirty="0"/>
              <a:t>等，但不是绝对的，因为一个集合也可以作为另一个集合的元素。如果元素</a:t>
            </a:r>
            <a:r>
              <a:rPr lang="en-US" altLang="zh-CN" dirty="0"/>
              <a:t>a</a:t>
            </a:r>
            <a:r>
              <a:rPr lang="zh-CN" altLang="en-US" dirty="0"/>
              <a:t>是集合</a:t>
            </a:r>
            <a:r>
              <a:rPr lang="en-US" altLang="zh-CN" dirty="0"/>
              <a:t>A</a:t>
            </a:r>
            <a:r>
              <a:rPr lang="zh-CN" altLang="en-US" dirty="0"/>
              <a:t>中的元素，用符号</a:t>
            </a:r>
            <a:r>
              <a:rPr lang="en-US" altLang="zh-CN" dirty="0" err="1"/>
              <a:t>a∈A</a:t>
            </a:r>
            <a:r>
              <a:rPr lang="zh-CN" altLang="en-US" dirty="0"/>
              <a:t>来表示，读作</a:t>
            </a:r>
            <a:r>
              <a:rPr lang="zh-CN" altLang="en-US" dirty="0">
                <a:latin typeface="Arial"/>
              </a:rPr>
              <a:t>“</a:t>
            </a:r>
            <a:r>
              <a:rPr lang="zh-CN" altLang="en-US" dirty="0"/>
              <a:t>元素</a:t>
            </a:r>
            <a:r>
              <a:rPr lang="en-US" altLang="zh-CN" dirty="0"/>
              <a:t>a</a:t>
            </a:r>
            <a:r>
              <a:rPr lang="zh-CN" altLang="en-US" dirty="0"/>
              <a:t>属于集合</a:t>
            </a:r>
            <a:r>
              <a:rPr lang="en-US" altLang="zh-CN" dirty="0"/>
              <a:t>A</a:t>
            </a:r>
            <a:r>
              <a:rPr lang="en-US" altLang="zh-CN" dirty="0">
                <a:latin typeface="Arial"/>
              </a:rPr>
              <a:t>”</a:t>
            </a:r>
            <a:r>
              <a:rPr lang="zh-CN" altLang="en-US" dirty="0"/>
              <a:t>； 反之，如果元素</a:t>
            </a:r>
            <a:r>
              <a:rPr lang="en-US" altLang="zh-CN" dirty="0"/>
              <a:t>a</a:t>
            </a:r>
            <a:r>
              <a:rPr lang="zh-CN" altLang="en-US" dirty="0"/>
              <a:t>不是集合</a:t>
            </a:r>
            <a:r>
              <a:rPr lang="en-US" altLang="zh-CN" dirty="0"/>
              <a:t>A</a:t>
            </a:r>
            <a:r>
              <a:rPr lang="zh-CN" altLang="en-US" dirty="0"/>
              <a:t>中的元素，用符号</a:t>
            </a:r>
            <a:r>
              <a:rPr lang="en-US" altLang="zh-CN" dirty="0" err="1"/>
              <a:t>a</a:t>
            </a:r>
            <a:r>
              <a:rPr lang="en-US" altLang="zh-CN" dirty="0" err="1">
                <a:sym typeface="Symbol" pitchFamily="18" charset="2"/>
              </a:rPr>
              <a:t></a:t>
            </a:r>
            <a:r>
              <a:rPr lang="en-US" altLang="zh-CN" dirty="0" err="1"/>
              <a:t>A</a:t>
            </a:r>
            <a:r>
              <a:rPr lang="zh-CN" altLang="en-US" dirty="0"/>
              <a:t>来表示，读作</a:t>
            </a:r>
            <a:r>
              <a:rPr lang="zh-CN" altLang="en-US" dirty="0">
                <a:latin typeface="Arial"/>
              </a:rPr>
              <a:t>“</a:t>
            </a:r>
            <a:r>
              <a:rPr lang="zh-CN" altLang="en-US" dirty="0"/>
              <a:t>元素</a:t>
            </a:r>
            <a:r>
              <a:rPr lang="en-US" altLang="zh-CN" dirty="0"/>
              <a:t>a</a:t>
            </a:r>
            <a:r>
              <a:rPr lang="zh-CN" altLang="en-US" dirty="0"/>
              <a:t>不属于集合</a:t>
            </a:r>
            <a:r>
              <a:rPr lang="en-US" altLang="zh-CN" dirty="0"/>
              <a:t>A</a:t>
            </a:r>
            <a:r>
              <a:rPr lang="zh-CN" altLang="en-US" dirty="0">
                <a:latin typeface="Arial"/>
              </a:rPr>
              <a:t>”</a:t>
            </a:r>
            <a:r>
              <a:rPr lang="zh-CN" altLang="en-US" dirty="0"/>
              <a:t>。</a:t>
            </a:r>
            <a:r>
              <a:rPr lang="zh-CN" altLang="en-US" b="1" dirty="0">
                <a:solidFill>
                  <a:srgbClr val="3308E8"/>
                </a:solidFill>
              </a:rPr>
              <a:t>集合</a:t>
            </a:r>
            <a:r>
              <a:rPr lang="zh-CN" altLang="en-US" dirty="0"/>
              <a:t>、</a:t>
            </a:r>
            <a:r>
              <a:rPr lang="zh-CN" altLang="en-US" b="1" dirty="0">
                <a:solidFill>
                  <a:srgbClr val="3308E8"/>
                </a:solidFill>
              </a:rPr>
              <a:t>元素</a:t>
            </a:r>
            <a:r>
              <a:rPr lang="zh-CN" altLang="en-US" dirty="0"/>
              <a:t>和</a:t>
            </a:r>
            <a:r>
              <a:rPr lang="zh-CN" altLang="en-US" b="1" dirty="0">
                <a:solidFill>
                  <a:srgbClr val="3308E8"/>
                </a:solidFill>
              </a:rPr>
              <a:t>属于</a:t>
            </a:r>
            <a:r>
              <a:rPr lang="zh-CN" altLang="en-US" dirty="0"/>
              <a:t>是集合论中的三个最基本的概念。</a:t>
            </a:r>
          </a:p>
        </p:txBody>
      </p:sp>
      <p:sp>
        <p:nvSpPr>
          <p:cNvPr id="6" name="灯片编号占位符 5">
            <a:extLst>
              <a:ext uri="{FF2B5EF4-FFF2-40B4-BE49-F238E27FC236}">
                <a16:creationId xmlns:a16="http://schemas.microsoft.com/office/drawing/2014/main" id="{E12DF9AB-86DA-45F1-B890-935529E52EE1}"/>
              </a:ext>
            </a:extLst>
          </p:cNvPr>
          <p:cNvSpPr>
            <a:spLocks noGrp="1"/>
          </p:cNvSpPr>
          <p:nvPr>
            <p:ph type="sldNum" sz="quarter" idx="12"/>
          </p:nvPr>
        </p:nvSpPr>
        <p:spPr/>
        <p:txBody>
          <a:bodyPr/>
          <a:lstStyle/>
          <a:p>
            <a:fld id="{0C913308-F349-4B6D-A68A-DD1791B4A57B}" type="slidenum">
              <a:rPr lang="zh-CN" altLang="en-US" smtClean="0"/>
              <a:pPr/>
              <a:t>3</a:t>
            </a:fld>
            <a:endParaRPr lang="zh-CN" altLang="en-US" dirty="0"/>
          </a:p>
        </p:txBody>
      </p:sp>
    </p:spTree>
    <p:extLst>
      <p:ext uri="{BB962C8B-B14F-4D97-AF65-F5344CB8AC3E}">
        <p14:creationId xmlns:p14="http://schemas.microsoft.com/office/powerpoint/2010/main" val="32820803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2">
            <a:extLst>
              <a:ext uri="{FF2B5EF4-FFF2-40B4-BE49-F238E27FC236}">
                <a16:creationId xmlns:a16="http://schemas.microsoft.com/office/drawing/2014/main" id="{3A959344-4967-4BB7-88D7-9793FB0517A3}"/>
              </a:ext>
            </a:extLst>
          </p:cNvPr>
          <p:cNvSpPr txBox="1">
            <a:spLocks/>
          </p:cNvSpPr>
          <p:nvPr/>
        </p:nvSpPr>
        <p:spPr>
          <a:xfrm>
            <a:off x="457200" y="1772816"/>
            <a:ext cx="8291264" cy="4682920"/>
          </a:xfrm>
          <a:prstGeom prst="rect">
            <a:avLst/>
          </a:prstGeom>
        </p:spPr>
        <p:txBody>
          <a:bodyPr/>
          <a:lstStyle>
            <a:lvl1pPr marL="257175" indent="-257175" algn="l" defTabSz="685800" rtl="0" eaLnBrk="1" latinLnBrk="0" hangingPunct="1">
              <a:spcBef>
                <a:spcPct val="20000"/>
              </a:spcBef>
              <a:buFont typeface="Arial" pitchFamily="34" charset="0"/>
              <a:buChar char="•"/>
              <a:defRPr sz="2400" kern="1200">
                <a:solidFill>
                  <a:schemeClr val="tx1"/>
                </a:solidFill>
                <a:latin typeface="+mn-lt"/>
                <a:ea typeface="+mn-ea"/>
                <a:cs typeface="+mn-cs"/>
              </a:defRPr>
            </a:lvl1pPr>
            <a:lvl2pPr marL="557213" indent="-214313" algn="l" defTabSz="685800" rtl="0" eaLnBrk="1" latinLnBrk="0" hangingPunct="1">
              <a:spcBef>
                <a:spcPct val="20000"/>
              </a:spcBef>
              <a:buFont typeface="Arial" pitchFamily="34" charset="0"/>
              <a:buChar char="–"/>
              <a:defRPr sz="2100" kern="1200">
                <a:solidFill>
                  <a:schemeClr val="tx1"/>
                </a:solidFill>
                <a:latin typeface="+mn-lt"/>
                <a:ea typeface="+mn-ea"/>
                <a:cs typeface="+mn-cs"/>
              </a:defRPr>
            </a:lvl2pPr>
            <a:lvl3pPr marL="857250" indent="-171450" algn="l" defTabSz="685800" rtl="0" eaLnBrk="1" latinLnBrk="0" hangingPunct="1">
              <a:spcBef>
                <a:spcPct val="20000"/>
              </a:spcBef>
              <a:buFont typeface="Arial" pitchFamily="34" charset="0"/>
              <a:buChar char="•"/>
              <a:defRPr sz="1800" kern="1200">
                <a:solidFill>
                  <a:schemeClr val="tx1"/>
                </a:solidFill>
                <a:latin typeface="+mn-lt"/>
                <a:ea typeface="+mn-ea"/>
                <a:cs typeface="+mn-cs"/>
              </a:defRPr>
            </a:lvl3pPr>
            <a:lvl4pPr marL="12001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4pPr>
            <a:lvl5pPr marL="15430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a:lnSpc>
                <a:spcPct val="150000"/>
              </a:lnSpc>
              <a:buFontTx/>
              <a:buNone/>
            </a:pPr>
            <a:r>
              <a:rPr lang="zh-CN" altLang="en-US" sz="2800" b="1" dirty="0">
                <a:solidFill>
                  <a:srgbClr val="3308E8"/>
                </a:solidFill>
              </a:rPr>
              <a:t>例</a:t>
            </a:r>
            <a:r>
              <a:rPr lang="en-US" altLang="zh-CN" sz="2800" b="1" dirty="0">
                <a:solidFill>
                  <a:srgbClr val="3308E8"/>
                </a:solidFill>
              </a:rPr>
              <a:t>1.1 </a:t>
            </a:r>
            <a:r>
              <a:rPr lang="zh-CN" altLang="en-US" sz="2800" dirty="0"/>
              <a:t>判断下列各项是否是集合。</a:t>
            </a:r>
          </a:p>
          <a:p>
            <a:pPr>
              <a:lnSpc>
                <a:spcPct val="150000"/>
              </a:lnSpc>
              <a:buFontTx/>
              <a:buNone/>
            </a:pPr>
            <a:r>
              <a:rPr lang="zh-CN" altLang="en-US" sz="2800" dirty="0"/>
              <a:t>（</a:t>
            </a:r>
            <a:r>
              <a:rPr lang="en-US" altLang="zh-CN" sz="2800" dirty="0"/>
              <a:t>1</a:t>
            </a:r>
            <a:r>
              <a:rPr lang="zh-CN" altLang="en-US" sz="2800" dirty="0"/>
              <a:t>） 英文字母表中的</a:t>
            </a:r>
            <a:r>
              <a:rPr lang="en-US" altLang="zh-CN" sz="2800" dirty="0"/>
              <a:t>26</a:t>
            </a:r>
            <a:r>
              <a:rPr lang="zh-CN" altLang="en-US" sz="2800" dirty="0"/>
              <a:t>个字母； </a:t>
            </a:r>
          </a:p>
          <a:p>
            <a:pPr>
              <a:lnSpc>
                <a:spcPct val="150000"/>
              </a:lnSpc>
              <a:buFontTx/>
              <a:buNone/>
            </a:pPr>
            <a:r>
              <a:rPr lang="zh-CN" altLang="en-US" sz="2800" dirty="0"/>
              <a:t>（</a:t>
            </a:r>
            <a:r>
              <a:rPr lang="en-US" altLang="zh-CN" sz="2800" dirty="0"/>
              <a:t>2</a:t>
            </a:r>
            <a:r>
              <a:rPr lang="zh-CN" altLang="en-US" sz="2800" dirty="0"/>
              <a:t>） 所有的自然数； </a:t>
            </a:r>
          </a:p>
          <a:p>
            <a:pPr>
              <a:lnSpc>
                <a:spcPct val="150000"/>
              </a:lnSpc>
              <a:buFontTx/>
              <a:buNone/>
            </a:pPr>
            <a:r>
              <a:rPr lang="zh-CN" altLang="en-US" sz="2800" dirty="0"/>
              <a:t>（</a:t>
            </a:r>
            <a:r>
              <a:rPr lang="en-US" altLang="zh-CN" sz="2800" dirty="0"/>
              <a:t>3</a:t>
            </a:r>
            <a:r>
              <a:rPr lang="zh-CN" altLang="en-US" sz="2800" dirty="0"/>
              <a:t>） 一些自行车； </a:t>
            </a:r>
          </a:p>
          <a:p>
            <a:pPr>
              <a:lnSpc>
                <a:spcPct val="150000"/>
              </a:lnSpc>
              <a:buFontTx/>
              <a:buNone/>
            </a:pPr>
            <a:r>
              <a:rPr lang="zh-CN" altLang="en-US" sz="2800" dirty="0"/>
              <a:t>（</a:t>
            </a:r>
            <a:r>
              <a:rPr lang="en-US" altLang="zh-CN" sz="2800" dirty="0"/>
              <a:t>4</a:t>
            </a:r>
            <a:r>
              <a:rPr lang="zh-CN" altLang="en-US" sz="2800" dirty="0"/>
              <a:t>） 上海财经大学全体学生的集合。</a:t>
            </a:r>
          </a:p>
        </p:txBody>
      </p:sp>
    </p:spTree>
    <p:extLst>
      <p:ext uri="{BB962C8B-B14F-4D97-AF65-F5344CB8AC3E}">
        <p14:creationId xmlns:p14="http://schemas.microsoft.com/office/powerpoint/2010/main" val="9554007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a:extLst>
              <a:ext uri="{FF2B5EF4-FFF2-40B4-BE49-F238E27FC236}">
                <a16:creationId xmlns:a16="http://schemas.microsoft.com/office/drawing/2014/main" id="{56012CB3-E6F5-4050-B698-7609B71E3F5E}"/>
              </a:ext>
            </a:extLst>
          </p:cNvPr>
          <p:cNvSpPr txBox="1">
            <a:spLocks noChangeArrowheads="1"/>
          </p:cNvSpPr>
          <p:nvPr/>
        </p:nvSpPr>
        <p:spPr>
          <a:xfrm>
            <a:off x="1703512" y="260647"/>
            <a:ext cx="7772400" cy="726405"/>
          </a:xfrm>
          <a:prstGeom prst="rect">
            <a:avLst/>
          </a:prstGeom>
        </p:spPr>
        <p:txBody>
          <a:bodyPr vert="horz" lIns="45720" tIns="0" rIns="45720" bIns="0" anchor="b" anchorCtr="0">
            <a:normAutofit/>
          </a:bodyPr>
          <a:lstStyle>
            <a:lvl1pPr algn="l" rtl="0" eaLnBrk="1" latinLnBrk="0" hangingPunct="1">
              <a:spcBef>
                <a:spcPct val="0"/>
              </a:spcBef>
              <a:buNone/>
              <a:defRPr kumimoji="0" sz="3800" b="1" kern="1200" cap="all" baseline="0">
                <a:ln w="500">
                  <a:solidFill>
                    <a:schemeClr val="tx2">
                      <a:shade val="20000"/>
                      <a:satMod val="120000"/>
                    </a:schemeClr>
                  </a:solidFill>
                </a:ln>
                <a:gradFill>
                  <a:gsLst>
                    <a:gs pos="0">
                      <a:schemeClr val="accent4">
                        <a:tint val="13000"/>
                      </a:schemeClr>
                    </a:gs>
                    <a:gs pos="10000">
                      <a:schemeClr val="accent4">
                        <a:tint val="20000"/>
                      </a:schemeClr>
                    </a:gs>
                    <a:gs pos="49000">
                      <a:schemeClr val="accent4">
                        <a:tint val="70000"/>
                      </a:schemeClr>
                    </a:gs>
                    <a:gs pos="50000">
                      <a:schemeClr val="accent4">
                        <a:tint val="97000"/>
                      </a:schemeClr>
                    </a:gs>
                    <a:gs pos="100000">
                      <a:schemeClr val="accent4">
                        <a:tint val="20000"/>
                      </a:schemeClr>
                    </a:gs>
                  </a:gsLst>
                  <a:lin ang="5400000" scaled="1"/>
                </a:gradFill>
                <a:effectLst/>
                <a:latin typeface="楷体" pitchFamily="49" charset="-122"/>
                <a:ea typeface="楷体" pitchFamily="49" charset="-122"/>
                <a:cs typeface="+mj-cs"/>
              </a:defRPr>
            </a:lvl1pPr>
            <a:extLst/>
          </a:lstStyle>
          <a:p>
            <a:r>
              <a:rPr lang="zh-CN" altLang="en-US" sz="3600" dirty="0"/>
              <a:t>本书中常用的集合以及相应的符号：</a:t>
            </a:r>
          </a:p>
        </p:txBody>
      </p:sp>
      <p:sp>
        <p:nvSpPr>
          <p:cNvPr id="6" name="Rectangle 3">
            <a:extLst>
              <a:ext uri="{FF2B5EF4-FFF2-40B4-BE49-F238E27FC236}">
                <a16:creationId xmlns:a16="http://schemas.microsoft.com/office/drawing/2014/main" id="{234CF340-9D49-48DA-ABB6-0D728FDFE3C1}"/>
              </a:ext>
            </a:extLst>
          </p:cNvPr>
          <p:cNvSpPr txBox="1">
            <a:spLocks noChangeArrowheads="1"/>
          </p:cNvSpPr>
          <p:nvPr/>
        </p:nvSpPr>
        <p:spPr>
          <a:xfrm>
            <a:off x="1753484" y="1340768"/>
            <a:ext cx="7772400" cy="4619625"/>
          </a:xfrm>
          <a:prstGeom prst="rect">
            <a:avLst/>
          </a:prstGeom>
        </p:spPr>
        <p:txBody>
          <a:bodyPr vert="horz">
            <a:normAutofit/>
          </a:bodyPr>
          <a:lstStyle>
            <a:lvl1pPr marL="274320" indent="-274320" algn="l" rtl="0" eaLnBrk="1" latinLnBrk="0" hangingPunct="1">
              <a:spcBef>
                <a:spcPts val="600"/>
              </a:spcBef>
              <a:buClr>
                <a:schemeClr val="tx2"/>
              </a:buClr>
              <a:buSzPct val="80000"/>
              <a:buFont typeface="Wingdings 2"/>
              <a:buChar char=""/>
              <a:defRPr kumimoji="0" sz="3200" b="1" kern="1200" baseline="0">
                <a:solidFill>
                  <a:schemeClr val="tx1"/>
                </a:solidFill>
                <a:latin typeface="楷体" pitchFamily="49" charset="-122"/>
                <a:ea typeface="楷体" pitchFamily="49" charset="-122"/>
                <a:cs typeface="+mn-cs"/>
              </a:defRPr>
            </a:lvl1pPr>
            <a:lvl2pPr marL="521208" indent="-228600" algn="l" rtl="0" eaLnBrk="1" latinLnBrk="0" hangingPunct="1">
              <a:spcBef>
                <a:spcPts val="500"/>
              </a:spcBef>
              <a:buClr>
                <a:schemeClr val="tx2">
                  <a:lumMod val="75000"/>
                </a:schemeClr>
              </a:buClr>
              <a:buSzPct val="80000"/>
              <a:buFont typeface="Wingdings 2" pitchFamily="18" charset="2"/>
              <a:buChar char=""/>
              <a:defRPr kumimoji="0" sz="2800" b="1" kern="1200">
                <a:solidFill>
                  <a:schemeClr val="tx1"/>
                </a:solidFill>
                <a:latin typeface="楷体" pitchFamily="49" charset="-122"/>
                <a:ea typeface="楷体" pitchFamily="49" charset="-122"/>
                <a:cs typeface="+mn-cs"/>
              </a:defRPr>
            </a:lvl2pPr>
            <a:lvl3pPr marL="758952" indent="-228600" algn="l" rtl="0" eaLnBrk="1" latinLnBrk="0" hangingPunct="1">
              <a:spcBef>
                <a:spcPts val="400"/>
              </a:spcBef>
              <a:buClr>
                <a:schemeClr val="tx2">
                  <a:lumMod val="75000"/>
                </a:schemeClr>
              </a:buClr>
              <a:buSzPct val="60000"/>
              <a:buFont typeface="Wingdings" pitchFamily="2" charset="2"/>
              <a:buChar char="l"/>
              <a:defRPr kumimoji="0" sz="2600" b="1" kern="1200">
                <a:solidFill>
                  <a:schemeClr val="tx1"/>
                </a:solidFill>
                <a:latin typeface="楷体" pitchFamily="49" charset="-122"/>
                <a:ea typeface="楷体" pitchFamily="49" charset="-122"/>
                <a:cs typeface="+mn-cs"/>
              </a:defRPr>
            </a:lvl3pPr>
            <a:lvl4pPr marL="1005840" indent="-228600" algn="l" rtl="0" eaLnBrk="1" latinLnBrk="0" hangingPunct="1">
              <a:spcBef>
                <a:spcPct val="20000"/>
              </a:spcBef>
              <a:buClr>
                <a:schemeClr val="tx2">
                  <a:lumMod val="75000"/>
                </a:schemeClr>
              </a:buClr>
              <a:buSzPct val="80000"/>
              <a:buFont typeface="Wingdings" pitchFamily="2" charset="2"/>
              <a:buChar char="p"/>
              <a:defRPr kumimoji="0" sz="2400" b="1" kern="1200">
                <a:solidFill>
                  <a:schemeClr val="tx1"/>
                </a:solidFill>
                <a:latin typeface="楷体" pitchFamily="49" charset="-122"/>
                <a:ea typeface="楷体" pitchFamily="49" charset="-122"/>
                <a:cs typeface="+mn-cs"/>
              </a:defRPr>
            </a:lvl4pPr>
            <a:lvl5pPr marL="1280160" indent="-228600" algn="l" rtl="0" eaLnBrk="1" latinLnBrk="0" hangingPunct="1">
              <a:spcBef>
                <a:spcPts val="400"/>
              </a:spcBef>
              <a:buClr>
                <a:schemeClr val="tx2">
                  <a:lumMod val="75000"/>
                </a:schemeClr>
              </a:buClr>
              <a:buSzPct val="70000"/>
              <a:buFont typeface="Wingdings"/>
              <a:buChar char=""/>
              <a:defRPr kumimoji="0" sz="1800" b="1" kern="1200">
                <a:solidFill>
                  <a:schemeClr val="tx1"/>
                </a:solidFill>
                <a:latin typeface="楷体" pitchFamily="49" charset="-122"/>
                <a:ea typeface="楷体" pitchFamily="49" charset="-122"/>
                <a:cs typeface="+mn-cs"/>
              </a:defRPr>
            </a:lvl5pPr>
            <a:lvl6pPr marL="1472184" indent="-182880" algn="l" rtl="0" eaLnBrk="1" latinLnBrk="0" hangingPunct="1">
              <a:spcBef>
                <a:spcPts val="400"/>
              </a:spcBef>
              <a:buClr>
                <a:schemeClr val="accent4"/>
              </a:buClr>
              <a:buSzPct val="80000"/>
              <a:buFont typeface="Wingdings 2"/>
              <a:buChar char=""/>
              <a:defRPr kumimoji="0" sz="1800" kern="1200">
                <a:solidFill>
                  <a:schemeClr val="tx1">
                    <a:tint val="85000"/>
                  </a:schemeClr>
                </a:solidFill>
                <a:latin typeface="+mn-lt"/>
                <a:ea typeface="+mn-ea"/>
                <a:cs typeface="+mn-cs"/>
              </a:defRPr>
            </a:lvl6pPr>
            <a:lvl7pPr marL="1673352" indent="-182880" algn="l" rtl="0" eaLnBrk="1" latinLnBrk="0" hangingPunct="1">
              <a:spcBef>
                <a:spcPct val="20000"/>
              </a:spcBef>
              <a:buClr>
                <a:schemeClr val="accent4"/>
              </a:buClr>
              <a:buSzPct val="80000"/>
              <a:buFont typeface="Wingdings 2"/>
              <a:buChar char=""/>
              <a:defRPr kumimoji="0" sz="1600" kern="1200" baseline="0">
                <a:solidFill>
                  <a:schemeClr val="tx1"/>
                </a:solidFill>
                <a:latin typeface="+mn-lt"/>
                <a:ea typeface="+mn-ea"/>
                <a:cs typeface="+mn-cs"/>
              </a:defRPr>
            </a:lvl7pPr>
            <a:lvl8pPr marL="1847088" indent="-182880" algn="l" rtl="0" eaLnBrk="1" latinLnBrk="0" hangingPunct="1">
              <a:spcBef>
                <a:spcPts val="300"/>
              </a:spcBef>
              <a:buClr>
                <a:schemeClr val="accent4"/>
              </a:buClr>
              <a:buSzPct val="100000"/>
              <a:buChar char="•"/>
              <a:defRPr kumimoji="0" sz="1600" kern="1200" baseline="0">
                <a:solidFill>
                  <a:schemeClr val="tx1">
                    <a:tint val="85000"/>
                  </a:schemeClr>
                </a:solidFill>
                <a:latin typeface="+mn-lt"/>
                <a:ea typeface="+mn-ea"/>
                <a:cs typeface="+mn-cs"/>
              </a:defRPr>
            </a:lvl8pPr>
            <a:lvl9pPr marL="2057400" indent="-182880" algn="l" rtl="0" eaLnBrk="1" latinLnBrk="0" hangingPunct="1">
              <a:spcBef>
                <a:spcPct val="20000"/>
              </a:spcBef>
              <a:buClr>
                <a:schemeClr val="accent4"/>
              </a:buClr>
              <a:buSzPct val="100000"/>
              <a:buFont typeface="Wingdings"/>
              <a:buChar char="§"/>
              <a:defRPr kumimoji="0" sz="1400" kern="1200" baseline="0">
                <a:solidFill>
                  <a:schemeClr val="tx1"/>
                </a:solidFill>
                <a:latin typeface="+mn-lt"/>
                <a:ea typeface="+mn-ea"/>
                <a:cs typeface="+mn-cs"/>
              </a:defRPr>
            </a:lvl9pPr>
            <a:extLst/>
          </a:lstStyle>
          <a:p>
            <a:pPr>
              <a:buFontTx/>
              <a:buNone/>
            </a:pPr>
            <a:r>
              <a:rPr lang="en-US" altLang="zh-CN" sz="2800" dirty="0"/>
              <a:t>   N</a:t>
            </a:r>
            <a:r>
              <a:rPr lang="zh-CN" altLang="en-US" sz="2800" dirty="0"/>
              <a:t>：全体自然数的集合；</a:t>
            </a:r>
          </a:p>
          <a:p>
            <a:pPr>
              <a:buFontTx/>
              <a:buNone/>
            </a:pPr>
            <a:r>
              <a:rPr lang="zh-CN" altLang="en-US" sz="2800" dirty="0"/>
              <a:t>   </a:t>
            </a:r>
            <a:r>
              <a:rPr lang="en-US" altLang="zh-CN" sz="2800" dirty="0"/>
              <a:t>Q</a:t>
            </a:r>
            <a:r>
              <a:rPr lang="zh-CN" altLang="en-US" sz="2800" dirty="0"/>
              <a:t>：全体有理数的集合；</a:t>
            </a:r>
          </a:p>
          <a:p>
            <a:pPr>
              <a:buFontTx/>
              <a:buNone/>
            </a:pPr>
            <a:r>
              <a:rPr lang="zh-CN" altLang="en-US" sz="2800" dirty="0"/>
              <a:t>   </a:t>
            </a:r>
            <a:r>
              <a:rPr lang="en-US" altLang="zh-CN" sz="2800" dirty="0"/>
              <a:t>R</a:t>
            </a:r>
            <a:r>
              <a:rPr lang="zh-CN" altLang="en-US" sz="2800" dirty="0"/>
              <a:t>：全体实数的集合；</a:t>
            </a:r>
          </a:p>
          <a:p>
            <a:pPr>
              <a:buFontTx/>
              <a:buNone/>
            </a:pPr>
            <a:r>
              <a:rPr lang="zh-CN" altLang="en-US" sz="2800" dirty="0"/>
              <a:t>   </a:t>
            </a:r>
            <a:r>
              <a:rPr lang="en-US" altLang="zh-CN" sz="2800" dirty="0"/>
              <a:t>C</a:t>
            </a:r>
            <a:r>
              <a:rPr lang="zh-CN" altLang="en-US" sz="2800" dirty="0"/>
              <a:t>：全体复数的集合；</a:t>
            </a:r>
          </a:p>
          <a:p>
            <a:pPr>
              <a:buFontTx/>
              <a:buNone/>
            </a:pPr>
            <a:r>
              <a:rPr lang="zh-CN" altLang="en-US" sz="2800" dirty="0"/>
              <a:t>   </a:t>
            </a:r>
            <a:r>
              <a:rPr lang="en-US" altLang="zh-CN" sz="2800" dirty="0"/>
              <a:t>Z</a:t>
            </a:r>
            <a:r>
              <a:rPr lang="zh-CN" altLang="en-US" sz="2800" dirty="0"/>
              <a:t>：全体整数的集合；</a:t>
            </a:r>
          </a:p>
          <a:p>
            <a:pPr>
              <a:buFontTx/>
              <a:buNone/>
            </a:pPr>
            <a:r>
              <a:rPr lang="zh-CN" altLang="en-US" sz="2800" dirty="0"/>
              <a:t>   </a:t>
            </a:r>
            <a:r>
              <a:rPr lang="en-US" altLang="zh-CN" sz="2800" dirty="0"/>
              <a:t>E</a:t>
            </a:r>
            <a:r>
              <a:rPr lang="zh-CN" altLang="en-US" sz="2800" dirty="0"/>
              <a:t>：全体偶数的集合；</a:t>
            </a:r>
          </a:p>
          <a:p>
            <a:pPr>
              <a:buFontTx/>
              <a:buNone/>
            </a:pPr>
            <a:r>
              <a:rPr lang="zh-CN" altLang="en-US" sz="2800" dirty="0"/>
              <a:t>   </a:t>
            </a:r>
            <a:r>
              <a:rPr lang="en-US" altLang="zh-CN" sz="2800" dirty="0"/>
              <a:t>O</a:t>
            </a:r>
            <a:r>
              <a:rPr lang="zh-CN" altLang="en-US" sz="2800" dirty="0"/>
              <a:t>：全体奇数的集合；</a:t>
            </a:r>
          </a:p>
          <a:p>
            <a:pPr>
              <a:buFontTx/>
              <a:buNone/>
            </a:pPr>
            <a:r>
              <a:rPr lang="zh-CN" altLang="en-US" sz="2800" dirty="0"/>
              <a:t>   </a:t>
            </a:r>
            <a:r>
              <a:rPr lang="en-US" altLang="zh-CN" sz="2800" dirty="0"/>
              <a:t>P</a:t>
            </a:r>
            <a:r>
              <a:rPr lang="zh-CN" altLang="en-US" sz="2800" dirty="0"/>
              <a:t>：全体素数的集合。 </a:t>
            </a:r>
          </a:p>
        </p:txBody>
      </p:sp>
      <p:sp>
        <p:nvSpPr>
          <p:cNvPr id="7" name="灯片编号占位符 6">
            <a:extLst>
              <a:ext uri="{FF2B5EF4-FFF2-40B4-BE49-F238E27FC236}">
                <a16:creationId xmlns:a16="http://schemas.microsoft.com/office/drawing/2014/main" id="{B9B5776F-1780-49B5-996F-1D147C49CD13}"/>
              </a:ext>
            </a:extLst>
          </p:cNvPr>
          <p:cNvSpPr>
            <a:spLocks noGrp="1"/>
          </p:cNvSpPr>
          <p:nvPr>
            <p:ph type="sldNum" sz="quarter" idx="12"/>
          </p:nvPr>
        </p:nvSpPr>
        <p:spPr/>
        <p:txBody>
          <a:bodyPr/>
          <a:lstStyle/>
          <a:p>
            <a:fld id="{0C913308-F349-4B6D-A68A-DD1791B4A57B}" type="slidenum">
              <a:rPr lang="zh-CN" altLang="en-US" smtClean="0"/>
              <a:pPr/>
              <a:t>5</a:t>
            </a:fld>
            <a:endParaRPr lang="zh-CN" altLang="en-US"/>
          </a:p>
        </p:txBody>
      </p:sp>
    </p:spTree>
    <p:extLst>
      <p:ext uri="{BB962C8B-B14F-4D97-AF65-F5344CB8AC3E}">
        <p14:creationId xmlns:p14="http://schemas.microsoft.com/office/powerpoint/2010/main" val="27173524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a:extLst>
              <a:ext uri="{FF2B5EF4-FFF2-40B4-BE49-F238E27FC236}">
                <a16:creationId xmlns:a16="http://schemas.microsoft.com/office/drawing/2014/main" id="{DDC28089-A6A7-4076-A313-2A7E23DA3E09}"/>
              </a:ext>
            </a:extLst>
          </p:cNvPr>
          <p:cNvSpPr txBox="1">
            <a:spLocks noChangeArrowheads="1"/>
          </p:cNvSpPr>
          <p:nvPr/>
        </p:nvSpPr>
        <p:spPr>
          <a:xfrm>
            <a:off x="2279576" y="437554"/>
            <a:ext cx="7056784" cy="648072"/>
          </a:xfrm>
          <a:prstGeom prst="rect">
            <a:avLst/>
          </a:prstGeom>
        </p:spPr>
        <p:txBody>
          <a:bodyPr/>
          <a:lstStyle>
            <a:lvl1pPr algn="ctr" defTabSz="685800" rtl="0" eaLnBrk="1" latinLnBrk="0" hangingPunct="1">
              <a:spcBef>
                <a:spcPct val="0"/>
              </a:spcBef>
              <a:buNone/>
              <a:defRPr sz="3300" kern="1200">
                <a:solidFill>
                  <a:schemeClr val="tx1"/>
                </a:solidFill>
                <a:latin typeface="+mj-lt"/>
                <a:ea typeface="+mj-ea"/>
                <a:cs typeface="+mj-cs"/>
              </a:defRPr>
            </a:lvl1pPr>
          </a:lstStyle>
          <a:p>
            <a:r>
              <a:rPr lang="en-US" altLang="zh-CN" b="1" dirty="0"/>
              <a:t>1.1.2 </a:t>
            </a:r>
            <a:r>
              <a:rPr lang="zh-CN" altLang="en-US" b="1" dirty="0"/>
              <a:t>集合的特性</a:t>
            </a:r>
          </a:p>
        </p:txBody>
      </p:sp>
      <p:sp>
        <p:nvSpPr>
          <p:cNvPr id="6" name="Rectangle 3">
            <a:extLst>
              <a:ext uri="{FF2B5EF4-FFF2-40B4-BE49-F238E27FC236}">
                <a16:creationId xmlns:a16="http://schemas.microsoft.com/office/drawing/2014/main" id="{1511F32B-D46C-4C7A-8E24-EF67C6F4E040}"/>
              </a:ext>
            </a:extLst>
          </p:cNvPr>
          <p:cNvSpPr txBox="1">
            <a:spLocks noChangeArrowheads="1"/>
          </p:cNvSpPr>
          <p:nvPr/>
        </p:nvSpPr>
        <p:spPr>
          <a:xfrm>
            <a:off x="479376" y="1700808"/>
            <a:ext cx="10801200" cy="4719638"/>
          </a:xfrm>
          <a:prstGeom prst="rect">
            <a:avLst/>
          </a:prstGeom>
        </p:spPr>
        <p:txBody>
          <a:bodyPr/>
          <a:lstStyle>
            <a:lvl1pPr marL="257175" indent="-257175" algn="l" defTabSz="685800" rtl="0" eaLnBrk="1" latinLnBrk="0" hangingPunct="1">
              <a:spcBef>
                <a:spcPct val="20000"/>
              </a:spcBef>
              <a:buFont typeface="Arial" pitchFamily="34" charset="0"/>
              <a:buChar char="•"/>
              <a:defRPr sz="2400" kern="1200">
                <a:solidFill>
                  <a:schemeClr val="tx1"/>
                </a:solidFill>
                <a:latin typeface="+mn-lt"/>
                <a:ea typeface="+mn-ea"/>
                <a:cs typeface="+mn-cs"/>
              </a:defRPr>
            </a:lvl1pPr>
            <a:lvl2pPr marL="557213" indent="-214313" algn="l" defTabSz="685800" rtl="0" eaLnBrk="1" latinLnBrk="0" hangingPunct="1">
              <a:spcBef>
                <a:spcPct val="20000"/>
              </a:spcBef>
              <a:buFont typeface="Arial" pitchFamily="34" charset="0"/>
              <a:buChar char="–"/>
              <a:defRPr sz="2100" kern="1200">
                <a:solidFill>
                  <a:schemeClr val="tx1"/>
                </a:solidFill>
                <a:latin typeface="+mn-lt"/>
                <a:ea typeface="+mn-ea"/>
                <a:cs typeface="+mn-cs"/>
              </a:defRPr>
            </a:lvl2pPr>
            <a:lvl3pPr marL="857250" indent="-171450" algn="l" defTabSz="685800" rtl="0" eaLnBrk="1" latinLnBrk="0" hangingPunct="1">
              <a:spcBef>
                <a:spcPct val="20000"/>
              </a:spcBef>
              <a:buFont typeface="Arial" pitchFamily="34" charset="0"/>
              <a:buChar char="•"/>
              <a:defRPr sz="1800" kern="1200">
                <a:solidFill>
                  <a:schemeClr val="tx1"/>
                </a:solidFill>
                <a:latin typeface="+mn-lt"/>
                <a:ea typeface="+mn-ea"/>
                <a:cs typeface="+mn-cs"/>
              </a:defRPr>
            </a:lvl3pPr>
            <a:lvl4pPr marL="12001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4pPr>
            <a:lvl5pPr marL="15430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algn="just">
              <a:buFontTx/>
              <a:buNone/>
            </a:pPr>
            <a:r>
              <a:rPr lang="zh-CN" altLang="en-US" sz="2800" b="1" dirty="0">
                <a:solidFill>
                  <a:srgbClr val="3308E8"/>
                </a:solidFill>
              </a:rPr>
              <a:t>互异性：</a:t>
            </a:r>
            <a:r>
              <a:rPr lang="zh-CN" altLang="en-US" sz="2800" dirty="0"/>
              <a:t>互异性是指一个集合的各个元素是可以互相区分开的，并且每个元素只能出现一次，如果某个元素在集合中出现多次，也只能看作是一个元素。</a:t>
            </a:r>
            <a:r>
              <a:rPr lang="zh-CN" altLang="en-US" dirty="0"/>
              <a:t>如：集合</a:t>
            </a:r>
            <a:r>
              <a:rPr lang="en-US" altLang="zh-CN" dirty="0"/>
              <a:t>{1,2,3,2}</a:t>
            </a:r>
            <a:r>
              <a:rPr lang="zh-CN" altLang="en-US" dirty="0"/>
              <a:t>就是集合</a:t>
            </a:r>
            <a:r>
              <a:rPr lang="en-US" altLang="zh-CN" dirty="0"/>
              <a:t>{1,2,3}</a:t>
            </a:r>
            <a:r>
              <a:rPr lang="zh-CN" altLang="en-US" dirty="0"/>
              <a:t>。 </a:t>
            </a:r>
            <a:r>
              <a:rPr lang="zh-CN" altLang="en-US" sz="2800" dirty="0"/>
              <a:t> </a:t>
            </a:r>
            <a:endParaRPr lang="zh-CN" altLang="en-US" sz="2800" dirty="0">
              <a:solidFill>
                <a:schemeClr val="tx2"/>
              </a:solidFill>
            </a:endParaRPr>
          </a:p>
          <a:p>
            <a:pPr algn="just">
              <a:buFontTx/>
              <a:buNone/>
            </a:pPr>
            <a:r>
              <a:rPr lang="zh-CN" altLang="en-US" sz="2800" b="1" dirty="0">
                <a:solidFill>
                  <a:srgbClr val="3308E8"/>
                </a:solidFill>
              </a:rPr>
              <a:t>无序性：</a:t>
            </a:r>
            <a:r>
              <a:rPr lang="zh-CN" altLang="en-US" sz="2800" dirty="0"/>
              <a:t>无序性是指一个集合中所有元素之间的排列次序是任意的，即集合的表示形式是不唯一的。如集合</a:t>
            </a:r>
            <a:r>
              <a:rPr lang="en-US" altLang="zh-CN" sz="2800" dirty="0"/>
              <a:t>{1,2,3}</a:t>
            </a:r>
            <a:r>
              <a:rPr lang="zh-CN" altLang="en-US" sz="2800" dirty="0"/>
              <a:t>和集合</a:t>
            </a:r>
            <a:r>
              <a:rPr lang="en-US" altLang="zh-CN" sz="2800" dirty="0"/>
              <a:t>{2,1,3}</a:t>
            </a:r>
            <a:r>
              <a:rPr lang="zh-CN" altLang="en-US" sz="2800" dirty="0"/>
              <a:t>是同一个集合。  </a:t>
            </a:r>
            <a:endParaRPr lang="zh-CN" altLang="en-US" sz="2800" dirty="0">
              <a:solidFill>
                <a:schemeClr val="tx2"/>
              </a:solidFill>
            </a:endParaRPr>
          </a:p>
          <a:p>
            <a:pPr algn="just">
              <a:buFontTx/>
              <a:buNone/>
            </a:pPr>
            <a:r>
              <a:rPr lang="zh-CN" altLang="en-US" sz="2800" b="1" dirty="0">
                <a:solidFill>
                  <a:srgbClr val="3308E8"/>
                </a:solidFill>
              </a:rPr>
              <a:t>确定性：</a:t>
            </a:r>
            <a:r>
              <a:rPr lang="zh-CN" altLang="en-US" sz="2800" dirty="0"/>
              <a:t>任意一个元素是否属于某一个集合回答是确定的。如给定元素</a:t>
            </a:r>
            <a:r>
              <a:rPr lang="en-US" altLang="zh-CN" sz="2800" dirty="0"/>
              <a:t>a</a:t>
            </a:r>
            <a:r>
              <a:rPr lang="zh-CN" altLang="en-US" sz="2800" dirty="0"/>
              <a:t>和集合</a:t>
            </a:r>
            <a:r>
              <a:rPr lang="en-US" altLang="zh-CN" sz="2800" dirty="0"/>
              <a:t>A</a:t>
            </a:r>
            <a:r>
              <a:rPr lang="zh-CN" altLang="en-US" sz="2800" dirty="0"/>
              <a:t>，元素</a:t>
            </a:r>
            <a:r>
              <a:rPr lang="en-US" altLang="zh-CN" sz="2800" dirty="0"/>
              <a:t>a</a:t>
            </a:r>
            <a:r>
              <a:rPr lang="zh-CN" altLang="en-US" sz="2800" dirty="0"/>
              <a:t>和集合</a:t>
            </a:r>
            <a:r>
              <a:rPr lang="en-US" altLang="zh-CN" sz="2800" dirty="0"/>
              <a:t>A</a:t>
            </a:r>
            <a:r>
              <a:rPr lang="zh-CN" altLang="en-US" sz="2800" dirty="0"/>
              <a:t>之间的关系是确定的， </a:t>
            </a:r>
            <a:r>
              <a:rPr lang="en-US" altLang="zh-CN" b="1" dirty="0" err="1"/>
              <a:t>a∈A</a:t>
            </a:r>
            <a:r>
              <a:rPr lang="zh-CN" altLang="en-US" sz="2800" dirty="0"/>
              <a:t>和</a:t>
            </a:r>
            <a:r>
              <a:rPr lang="en-US" altLang="zh-CN" b="1" dirty="0" err="1"/>
              <a:t>a</a:t>
            </a:r>
            <a:r>
              <a:rPr lang="en-US" altLang="zh-CN" b="1" dirty="0" err="1">
                <a:sym typeface="Symbol" pitchFamily="18" charset="2"/>
              </a:rPr>
              <a:t></a:t>
            </a:r>
            <a:r>
              <a:rPr lang="en-US" altLang="zh-CN" b="1" dirty="0" err="1"/>
              <a:t>A</a:t>
            </a:r>
            <a:r>
              <a:rPr lang="zh-CN" altLang="en-US" sz="2800" dirty="0"/>
              <a:t>二者必有一个成立。 </a:t>
            </a:r>
          </a:p>
        </p:txBody>
      </p:sp>
      <p:sp>
        <p:nvSpPr>
          <p:cNvPr id="7" name="灯片编号占位符 6">
            <a:extLst>
              <a:ext uri="{FF2B5EF4-FFF2-40B4-BE49-F238E27FC236}">
                <a16:creationId xmlns:a16="http://schemas.microsoft.com/office/drawing/2014/main" id="{171AA251-0DB8-4832-9C69-1A20C2EAC2E2}"/>
              </a:ext>
            </a:extLst>
          </p:cNvPr>
          <p:cNvSpPr>
            <a:spLocks noGrp="1"/>
          </p:cNvSpPr>
          <p:nvPr>
            <p:ph type="sldNum" sz="quarter" idx="12"/>
          </p:nvPr>
        </p:nvSpPr>
        <p:spPr/>
        <p:txBody>
          <a:bodyPr/>
          <a:lstStyle/>
          <a:p>
            <a:fld id="{0C913308-F349-4B6D-A68A-DD1791B4A57B}" type="slidenum">
              <a:rPr lang="zh-CN" altLang="en-US" smtClean="0"/>
              <a:pPr/>
              <a:t>6</a:t>
            </a:fld>
            <a:endParaRPr lang="zh-CN" altLang="en-US"/>
          </a:p>
        </p:txBody>
      </p:sp>
    </p:spTree>
    <p:extLst>
      <p:ext uri="{BB962C8B-B14F-4D97-AF65-F5344CB8AC3E}">
        <p14:creationId xmlns:p14="http://schemas.microsoft.com/office/powerpoint/2010/main" val="19036925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3">
            <a:extLst>
              <a:ext uri="{FF2B5EF4-FFF2-40B4-BE49-F238E27FC236}">
                <a16:creationId xmlns:a16="http://schemas.microsoft.com/office/drawing/2014/main" id="{0EC51943-243B-431F-A4EA-9C5DB44FFA79}"/>
              </a:ext>
            </a:extLst>
          </p:cNvPr>
          <p:cNvSpPr txBox="1">
            <a:spLocks noChangeArrowheads="1"/>
          </p:cNvSpPr>
          <p:nvPr/>
        </p:nvSpPr>
        <p:spPr>
          <a:xfrm>
            <a:off x="623392" y="1340768"/>
            <a:ext cx="11161240" cy="4968552"/>
          </a:xfrm>
          <a:prstGeom prst="rect">
            <a:avLst/>
          </a:prstGeom>
        </p:spPr>
        <p:txBody>
          <a:bodyPr/>
          <a:lstStyle>
            <a:lvl1pPr marL="257175" indent="-257175" algn="l" defTabSz="685800" rtl="0" eaLnBrk="1" latinLnBrk="0" hangingPunct="1">
              <a:spcBef>
                <a:spcPct val="20000"/>
              </a:spcBef>
              <a:buFont typeface="Arial" pitchFamily="34" charset="0"/>
              <a:buChar char="•"/>
              <a:defRPr sz="2400" kern="1200">
                <a:solidFill>
                  <a:schemeClr val="tx1"/>
                </a:solidFill>
                <a:latin typeface="+mn-lt"/>
                <a:ea typeface="+mn-ea"/>
                <a:cs typeface="+mn-cs"/>
              </a:defRPr>
            </a:lvl1pPr>
            <a:lvl2pPr marL="557213" indent="-214313" algn="l" defTabSz="685800" rtl="0" eaLnBrk="1" latinLnBrk="0" hangingPunct="1">
              <a:spcBef>
                <a:spcPct val="20000"/>
              </a:spcBef>
              <a:buFont typeface="Arial" pitchFamily="34" charset="0"/>
              <a:buChar char="–"/>
              <a:defRPr sz="2100" kern="1200">
                <a:solidFill>
                  <a:schemeClr val="tx1"/>
                </a:solidFill>
                <a:latin typeface="+mn-lt"/>
                <a:ea typeface="+mn-ea"/>
                <a:cs typeface="+mn-cs"/>
              </a:defRPr>
            </a:lvl2pPr>
            <a:lvl3pPr marL="857250" indent="-171450" algn="l" defTabSz="685800" rtl="0" eaLnBrk="1" latinLnBrk="0" hangingPunct="1">
              <a:spcBef>
                <a:spcPct val="20000"/>
              </a:spcBef>
              <a:buFont typeface="Arial" pitchFamily="34" charset="0"/>
              <a:buChar char="•"/>
              <a:defRPr sz="1800" kern="1200">
                <a:solidFill>
                  <a:schemeClr val="tx1"/>
                </a:solidFill>
                <a:latin typeface="+mn-lt"/>
                <a:ea typeface="+mn-ea"/>
                <a:cs typeface="+mn-cs"/>
              </a:defRPr>
            </a:lvl3pPr>
            <a:lvl4pPr marL="12001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4pPr>
            <a:lvl5pPr marL="15430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algn="just">
              <a:lnSpc>
                <a:spcPct val="130000"/>
              </a:lnSpc>
              <a:buFontTx/>
              <a:buNone/>
            </a:pPr>
            <a:r>
              <a:rPr lang="zh-CN" altLang="en-US" dirty="0"/>
              <a:t>三大</a:t>
            </a:r>
            <a:r>
              <a:rPr lang="zh-CN" altLang="en-US" b="1" dirty="0">
                <a:solidFill>
                  <a:srgbClr val="3308E8"/>
                </a:solidFill>
              </a:rPr>
              <a:t>基本原理</a:t>
            </a:r>
            <a:r>
              <a:rPr lang="en-US" altLang="zh-CN" b="1" dirty="0">
                <a:solidFill>
                  <a:srgbClr val="3308E8"/>
                </a:solidFill>
              </a:rPr>
              <a:t>:</a:t>
            </a:r>
          </a:p>
          <a:p>
            <a:pPr algn="just">
              <a:lnSpc>
                <a:spcPct val="130000"/>
              </a:lnSpc>
              <a:buFontTx/>
              <a:buNone/>
            </a:pPr>
            <a:r>
              <a:rPr lang="en-US" altLang="zh-CN" dirty="0"/>
              <a:t>1.</a:t>
            </a:r>
            <a:r>
              <a:rPr lang="zh-CN" altLang="en-US" b="1" dirty="0">
                <a:solidFill>
                  <a:schemeClr val="accent6">
                    <a:lumMod val="75000"/>
                  </a:schemeClr>
                </a:solidFill>
              </a:rPr>
              <a:t>外延公理</a:t>
            </a:r>
            <a:r>
              <a:rPr lang="en-US" altLang="zh-CN" dirty="0"/>
              <a:t>:</a:t>
            </a:r>
            <a:r>
              <a:rPr lang="zh-CN" altLang="en-US" dirty="0"/>
              <a:t>两个集合和相等的充要条件是他们有相同的元素。</a:t>
            </a:r>
            <a:r>
              <a:rPr lang="en-US" altLang="zh-CN" dirty="0"/>
              <a:t>(</a:t>
            </a:r>
            <a:r>
              <a:rPr lang="zh-CN" altLang="en-US" dirty="0"/>
              <a:t>互异性和无序性</a:t>
            </a:r>
            <a:r>
              <a:rPr lang="en-US" altLang="zh-CN" dirty="0"/>
              <a:t>)</a:t>
            </a:r>
          </a:p>
          <a:p>
            <a:pPr algn="just">
              <a:lnSpc>
                <a:spcPct val="130000"/>
              </a:lnSpc>
              <a:buFontTx/>
              <a:buNone/>
            </a:pPr>
            <a:r>
              <a:rPr lang="en-US" altLang="zh-CN" dirty="0"/>
              <a:t>2.</a:t>
            </a:r>
            <a:r>
              <a:rPr lang="zh-CN" altLang="en-US" b="1" dirty="0">
                <a:solidFill>
                  <a:schemeClr val="accent6">
                    <a:lumMod val="75000"/>
                  </a:schemeClr>
                </a:solidFill>
              </a:rPr>
              <a:t>概括公理</a:t>
            </a:r>
            <a:r>
              <a:rPr lang="en-US" altLang="zh-CN" dirty="0"/>
              <a:t>:</a:t>
            </a:r>
          </a:p>
          <a:p>
            <a:pPr lvl="1" algn="just">
              <a:lnSpc>
                <a:spcPct val="130000"/>
              </a:lnSpc>
              <a:buFontTx/>
              <a:buNone/>
            </a:pPr>
            <a:r>
              <a:rPr lang="zh-CN" altLang="en-US" dirty="0"/>
              <a:t>纯粹性</a:t>
            </a:r>
            <a:r>
              <a:rPr lang="en-US" altLang="zh-CN" dirty="0">
                <a:latin typeface="Arial"/>
              </a:rPr>
              <a:t>—</a:t>
            </a:r>
            <a:r>
              <a:rPr lang="zh-CN" altLang="en-US" dirty="0"/>
              <a:t>凡该集合中的元素都具有某种性质</a:t>
            </a:r>
            <a:r>
              <a:rPr lang="en-US" altLang="zh-CN" dirty="0"/>
              <a:t>.</a:t>
            </a:r>
          </a:p>
          <a:p>
            <a:pPr lvl="1" algn="just">
              <a:lnSpc>
                <a:spcPct val="130000"/>
              </a:lnSpc>
              <a:buFontTx/>
              <a:buNone/>
            </a:pPr>
            <a:r>
              <a:rPr lang="zh-CN" altLang="en-US" dirty="0"/>
              <a:t>完备性</a:t>
            </a:r>
            <a:r>
              <a:rPr lang="en-US" altLang="zh-CN" dirty="0">
                <a:latin typeface="Arial"/>
              </a:rPr>
              <a:t>—</a:t>
            </a:r>
            <a:r>
              <a:rPr lang="zh-CN" altLang="en-US" dirty="0"/>
              <a:t>凡具有某种性质的元素都在该集合中</a:t>
            </a:r>
            <a:r>
              <a:rPr lang="en-US" altLang="zh-CN" dirty="0"/>
              <a:t>.</a:t>
            </a:r>
          </a:p>
          <a:p>
            <a:pPr algn="just">
              <a:lnSpc>
                <a:spcPct val="130000"/>
              </a:lnSpc>
              <a:buFontTx/>
              <a:buNone/>
            </a:pPr>
            <a:r>
              <a:rPr lang="en-US" altLang="zh-CN" dirty="0"/>
              <a:t>3.</a:t>
            </a:r>
            <a:r>
              <a:rPr lang="zh-CN" altLang="en-US" b="1" dirty="0">
                <a:solidFill>
                  <a:schemeClr val="accent6">
                    <a:lumMod val="75000"/>
                  </a:schemeClr>
                </a:solidFill>
              </a:rPr>
              <a:t>正则公理</a:t>
            </a:r>
            <a:r>
              <a:rPr lang="en-US" altLang="zh-CN" dirty="0"/>
              <a:t>:</a:t>
            </a:r>
            <a:r>
              <a:rPr lang="zh-CN" altLang="en-US" dirty="0"/>
              <a:t>不存在集合</a:t>
            </a:r>
            <a:r>
              <a:rPr lang="en-US" altLang="zh-CN" dirty="0"/>
              <a:t>A,B,C,</a:t>
            </a:r>
            <a:r>
              <a:rPr lang="en-US" altLang="zh-CN" dirty="0">
                <a:latin typeface="Arial"/>
              </a:rPr>
              <a:t>…</a:t>
            </a:r>
            <a:r>
              <a:rPr lang="en-US" altLang="zh-CN" dirty="0"/>
              <a:t>,</a:t>
            </a:r>
            <a:r>
              <a:rPr lang="zh-CN" altLang="en-US" dirty="0"/>
              <a:t>使得</a:t>
            </a:r>
            <a:r>
              <a:rPr lang="en-US" altLang="zh-CN" dirty="0">
                <a:latin typeface="Arial"/>
              </a:rPr>
              <a:t>…</a:t>
            </a:r>
            <a:r>
              <a:rPr lang="en-US" altLang="zh-CN" dirty="0">
                <a:sym typeface="Symbol" pitchFamily="18" charset="2"/>
              </a:rPr>
              <a:t>CBA. (----</a:t>
            </a:r>
            <a:r>
              <a:rPr lang="zh-CN" altLang="en-US" dirty="0">
                <a:sym typeface="Symbol" pitchFamily="18" charset="2"/>
              </a:rPr>
              <a:t>消除了悖论</a:t>
            </a:r>
            <a:r>
              <a:rPr lang="en-US" altLang="zh-CN" dirty="0">
                <a:sym typeface="Symbol" pitchFamily="18" charset="2"/>
              </a:rPr>
              <a:t>)</a:t>
            </a:r>
          </a:p>
          <a:p>
            <a:pPr algn="just">
              <a:lnSpc>
                <a:spcPct val="130000"/>
              </a:lnSpc>
              <a:buFontTx/>
              <a:buNone/>
            </a:pPr>
            <a:r>
              <a:rPr lang="zh-CN" altLang="en-US" sz="2400" b="1" dirty="0">
                <a:solidFill>
                  <a:srgbClr val="3308E8"/>
                </a:solidFill>
              </a:rPr>
              <a:t>悖论：     </a:t>
            </a:r>
          </a:p>
          <a:p>
            <a:pPr algn="just">
              <a:lnSpc>
                <a:spcPct val="130000"/>
              </a:lnSpc>
              <a:buFontTx/>
              <a:buNone/>
            </a:pPr>
            <a:r>
              <a:rPr lang="zh-CN" altLang="en-US" sz="2400" dirty="0"/>
              <a:t>     所谓悖论是指：一个命题</a:t>
            </a:r>
            <a:r>
              <a:rPr lang="en-US" altLang="zh-CN" sz="2400" dirty="0"/>
              <a:t>Q</a:t>
            </a:r>
            <a:r>
              <a:rPr lang="zh-CN" altLang="en-US" sz="2400" dirty="0"/>
              <a:t>，如果从</a:t>
            </a:r>
            <a:r>
              <a:rPr lang="en-US" altLang="zh-CN" sz="2400" dirty="0"/>
              <a:t>Q</a:t>
            </a:r>
            <a:r>
              <a:rPr lang="zh-CN" altLang="en-US" sz="2400" dirty="0"/>
              <a:t>为真，可以推导出</a:t>
            </a:r>
            <a:r>
              <a:rPr lang="en-US" altLang="zh-CN" sz="2400" dirty="0"/>
              <a:t>Q</a:t>
            </a:r>
            <a:r>
              <a:rPr lang="zh-CN" altLang="en-US" sz="2400" dirty="0"/>
              <a:t>为假；又从</a:t>
            </a:r>
            <a:r>
              <a:rPr lang="en-US" altLang="zh-CN" sz="2400" dirty="0"/>
              <a:t>Q</a:t>
            </a:r>
            <a:r>
              <a:rPr lang="zh-CN" altLang="en-US" sz="2400" dirty="0"/>
              <a:t>为非真推导出</a:t>
            </a:r>
            <a:r>
              <a:rPr lang="en-US" altLang="zh-CN" sz="2400" dirty="0"/>
              <a:t>Q</a:t>
            </a:r>
            <a:r>
              <a:rPr lang="zh-CN" altLang="en-US" sz="2400" dirty="0"/>
              <a:t>为真，命题</a:t>
            </a:r>
            <a:r>
              <a:rPr lang="en-US" altLang="zh-CN" sz="2400" dirty="0"/>
              <a:t>Q</a:t>
            </a:r>
            <a:r>
              <a:rPr lang="zh-CN" altLang="en-US" sz="2400" dirty="0"/>
              <a:t>是一个悖论。</a:t>
            </a:r>
          </a:p>
        </p:txBody>
      </p:sp>
      <p:sp>
        <p:nvSpPr>
          <p:cNvPr id="6" name="灯片编号占位符 5">
            <a:extLst>
              <a:ext uri="{FF2B5EF4-FFF2-40B4-BE49-F238E27FC236}">
                <a16:creationId xmlns:a16="http://schemas.microsoft.com/office/drawing/2014/main" id="{CE628149-F603-4C61-88D1-5E2C9393C10E}"/>
              </a:ext>
            </a:extLst>
          </p:cNvPr>
          <p:cNvSpPr>
            <a:spLocks noGrp="1"/>
          </p:cNvSpPr>
          <p:nvPr>
            <p:ph type="sldNum" sz="quarter" idx="12"/>
          </p:nvPr>
        </p:nvSpPr>
        <p:spPr/>
        <p:txBody>
          <a:bodyPr/>
          <a:lstStyle/>
          <a:p>
            <a:fld id="{0C913308-F349-4B6D-A68A-DD1791B4A57B}" type="slidenum">
              <a:rPr lang="zh-CN" altLang="en-US" smtClean="0"/>
              <a:pPr/>
              <a:t>7</a:t>
            </a:fld>
            <a:endParaRPr lang="zh-CN" altLang="en-US"/>
          </a:p>
        </p:txBody>
      </p:sp>
    </p:spTree>
    <p:extLst>
      <p:ext uri="{BB962C8B-B14F-4D97-AF65-F5344CB8AC3E}">
        <p14:creationId xmlns:p14="http://schemas.microsoft.com/office/powerpoint/2010/main" val="28046609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a:extLst>
              <a:ext uri="{FF2B5EF4-FFF2-40B4-BE49-F238E27FC236}">
                <a16:creationId xmlns:a16="http://schemas.microsoft.com/office/drawing/2014/main" id="{87F29AD5-94CB-436B-B912-A83DD3A98952}"/>
              </a:ext>
            </a:extLst>
          </p:cNvPr>
          <p:cNvSpPr txBox="1">
            <a:spLocks noChangeArrowheads="1"/>
          </p:cNvSpPr>
          <p:nvPr/>
        </p:nvSpPr>
        <p:spPr>
          <a:xfrm>
            <a:off x="1847528" y="1052736"/>
            <a:ext cx="4248472" cy="776064"/>
          </a:xfrm>
          <a:prstGeom prst="rect">
            <a:avLst/>
          </a:prstGeom>
          <a:noFill/>
          <a:ln/>
        </p:spPr>
        <p:txBody>
          <a:bodyPr anchor="ctr"/>
          <a:lstStyle>
            <a:lvl1pPr algn="ctr" defTabSz="685800" rtl="0" eaLnBrk="1" latinLnBrk="0" hangingPunct="1">
              <a:spcBef>
                <a:spcPct val="0"/>
              </a:spcBef>
              <a:buNone/>
              <a:defRPr sz="3300" kern="1200">
                <a:solidFill>
                  <a:schemeClr val="tx1"/>
                </a:solidFill>
                <a:latin typeface="+mj-lt"/>
                <a:ea typeface="+mj-ea"/>
                <a:cs typeface="+mj-cs"/>
              </a:defRPr>
            </a:lvl1pPr>
          </a:lstStyle>
          <a:p>
            <a:pPr algn="l"/>
            <a:r>
              <a:rPr lang="zh-CN" altLang="en-US" b="1" dirty="0"/>
              <a:t>例</a:t>
            </a:r>
            <a:r>
              <a:rPr lang="en-US" altLang="zh-CN" b="1" dirty="0"/>
              <a:t>1.2  </a:t>
            </a:r>
            <a:r>
              <a:rPr lang="zh-CN" altLang="en-US" b="1" dirty="0"/>
              <a:t>说谎悖论：</a:t>
            </a:r>
          </a:p>
        </p:txBody>
      </p:sp>
      <p:sp>
        <p:nvSpPr>
          <p:cNvPr id="6" name="Rectangle 3">
            <a:extLst>
              <a:ext uri="{FF2B5EF4-FFF2-40B4-BE49-F238E27FC236}">
                <a16:creationId xmlns:a16="http://schemas.microsoft.com/office/drawing/2014/main" id="{9BEE8062-0A59-4E5D-8E5D-1553E554143C}"/>
              </a:ext>
            </a:extLst>
          </p:cNvPr>
          <p:cNvSpPr txBox="1">
            <a:spLocks noChangeArrowheads="1"/>
          </p:cNvSpPr>
          <p:nvPr/>
        </p:nvSpPr>
        <p:spPr>
          <a:xfrm>
            <a:off x="911424" y="1915751"/>
            <a:ext cx="10441160" cy="4302125"/>
          </a:xfrm>
          <a:prstGeom prst="rect">
            <a:avLst/>
          </a:prstGeom>
          <a:noFill/>
          <a:ln/>
        </p:spPr>
        <p:txBody>
          <a:bodyPr/>
          <a:lstStyle>
            <a:lvl1pPr marL="257175" indent="-257175" algn="l" defTabSz="685800" rtl="0" eaLnBrk="1" latinLnBrk="0" hangingPunct="1">
              <a:spcBef>
                <a:spcPct val="20000"/>
              </a:spcBef>
              <a:buFont typeface="Arial" pitchFamily="34" charset="0"/>
              <a:buChar char="•"/>
              <a:defRPr sz="2400" kern="1200">
                <a:solidFill>
                  <a:schemeClr val="tx1"/>
                </a:solidFill>
                <a:latin typeface="+mn-lt"/>
                <a:ea typeface="+mn-ea"/>
                <a:cs typeface="+mn-cs"/>
              </a:defRPr>
            </a:lvl1pPr>
            <a:lvl2pPr marL="557213" indent="-214313" algn="l" defTabSz="685800" rtl="0" eaLnBrk="1" latinLnBrk="0" hangingPunct="1">
              <a:spcBef>
                <a:spcPct val="20000"/>
              </a:spcBef>
              <a:buFont typeface="Arial" pitchFamily="34" charset="0"/>
              <a:buChar char="–"/>
              <a:defRPr sz="2100" kern="1200">
                <a:solidFill>
                  <a:schemeClr val="tx1"/>
                </a:solidFill>
                <a:latin typeface="+mn-lt"/>
                <a:ea typeface="+mn-ea"/>
                <a:cs typeface="+mn-cs"/>
              </a:defRPr>
            </a:lvl2pPr>
            <a:lvl3pPr marL="857250" indent="-171450" algn="l" defTabSz="685800" rtl="0" eaLnBrk="1" latinLnBrk="0" hangingPunct="1">
              <a:spcBef>
                <a:spcPct val="20000"/>
              </a:spcBef>
              <a:buFont typeface="Arial" pitchFamily="34" charset="0"/>
              <a:buChar char="•"/>
              <a:defRPr sz="1800" kern="1200">
                <a:solidFill>
                  <a:schemeClr val="tx1"/>
                </a:solidFill>
                <a:latin typeface="+mn-lt"/>
                <a:ea typeface="+mn-ea"/>
                <a:cs typeface="+mn-cs"/>
              </a:defRPr>
            </a:lvl3pPr>
            <a:lvl4pPr marL="12001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4pPr>
            <a:lvl5pPr marL="15430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a:lnSpc>
                <a:spcPct val="130000"/>
              </a:lnSpc>
              <a:buFontTx/>
              <a:buNone/>
            </a:pPr>
            <a:r>
              <a:rPr lang="en-US" altLang="zh-CN" sz="2800" dirty="0"/>
              <a:t>   </a:t>
            </a:r>
            <a:r>
              <a:rPr lang="en-US" altLang="zh-CN" sz="2800" dirty="0">
                <a:latin typeface="Arial"/>
              </a:rPr>
              <a:t>“</a:t>
            </a:r>
            <a:r>
              <a:rPr lang="zh-CN" altLang="en-US" sz="2800" b="1" dirty="0">
                <a:solidFill>
                  <a:srgbClr val="3308E8"/>
                </a:solidFill>
              </a:rPr>
              <a:t>我正在说谎</a:t>
            </a:r>
            <a:r>
              <a:rPr lang="en-US" altLang="zh-CN" sz="2800" dirty="0"/>
              <a:t>.</a:t>
            </a:r>
            <a:r>
              <a:rPr lang="en-US" altLang="zh-CN" sz="2800" dirty="0">
                <a:latin typeface="Arial"/>
              </a:rPr>
              <a:t>”</a:t>
            </a:r>
            <a:endParaRPr lang="en-US" altLang="zh-CN" sz="2800" dirty="0"/>
          </a:p>
          <a:p>
            <a:pPr>
              <a:lnSpc>
                <a:spcPct val="130000"/>
              </a:lnSpc>
              <a:buFontTx/>
              <a:buNone/>
            </a:pPr>
            <a:r>
              <a:rPr lang="zh-CN" altLang="en-US" dirty="0"/>
              <a:t>问</a:t>
            </a:r>
            <a:r>
              <a:rPr lang="en-US" altLang="zh-CN" dirty="0"/>
              <a:t>: </a:t>
            </a:r>
            <a:r>
              <a:rPr lang="zh-CN" altLang="en-US" dirty="0"/>
              <a:t>这个人是在说谎还是在讲真话</a:t>
            </a:r>
            <a:r>
              <a:rPr lang="en-US" altLang="zh-CN" dirty="0"/>
              <a:t>? </a:t>
            </a:r>
          </a:p>
          <a:p>
            <a:pPr>
              <a:lnSpc>
                <a:spcPct val="130000"/>
              </a:lnSpc>
              <a:buFontTx/>
              <a:buNone/>
            </a:pPr>
            <a:r>
              <a:rPr lang="zh-CN" altLang="en-US" sz="2800" dirty="0">
                <a:solidFill>
                  <a:schemeClr val="hlink"/>
                </a:solidFill>
              </a:rPr>
              <a:t>解</a:t>
            </a:r>
            <a:r>
              <a:rPr lang="zh-CN" altLang="en-US" sz="2800" dirty="0">
                <a:solidFill>
                  <a:srgbClr val="FF9900"/>
                </a:solidFill>
              </a:rPr>
              <a:t> </a:t>
            </a:r>
            <a:r>
              <a:rPr lang="zh-CN" altLang="en-US" sz="2800" dirty="0"/>
              <a:t>  如果他在说谎，这表明他的断言</a:t>
            </a:r>
            <a:r>
              <a:rPr lang="zh-CN" altLang="en-US" sz="2800" dirty="0">
                <a:latin typeface="Arial"/>
              </a:rPr>
              <a:t>“</a:t>
            </a:r>
            <a:r>
              <a:rPr lang="zh-CN" altLang="en-US" sz="2800" dirty="0"/>
              <a:t>我正在说谎</a:t>
            </a:r>
            <a:r>
              <a:rPr lang="zh-CN" altLang="en-US" sz="2800" dirty="0">
                <a:latin typeface="Arial"/>
              </a:rPr>
              <a:t>”</a:t>
            </a:r>
            <a:r>
              <a:rPr lang="zh-CN" altLang="en-US" sz="2800" dirty="0"/>
              <a:t>是谎话，也就是说他在讲真话。即他说谎，推出他是讲真话（即没有说谎）。</a:t>
            </a:r>
          </a:p>
          <a:p>
            <a:pPr>
              <a:lnSpc>
                <a:spcPct val="130000"/>
              </a:lnSpc>
              <a:buFontTx/>
              <a:buNone/>
            </a:pPr>
            <a:r>
              <a:rPr lang="zh-CN" altLang="en-US" sz="2800" dirty="0"/>
              <a:t>另一方面，如果他讲真话，这表明他的断言</a:t>
            </a:r>
            <a:r>
              <a:rPr lang="zh-CN" altLang="en-US" sz="2800" dirty="0">
                <a:latin typeface="Arial"/>
              </a:rPr>
              <a:t>“</a:t>
            </a:r>
            <a:r>
              <a:rPr lang="zh-CN" altLang="en-US" sz="2800" dirty="0"/>
              <a:t>我正在说谎</a:t>
            </a:r>
            <a:r>
              <a:rPr lang="zh-CN" altLang="en-US" sz="2800" dirty="0">
                <a:latin typeface="Arial"/>
              </a:rPr>
              <a:t>”</a:t>
            </a:r>
            <a:r>
              <a:rPr lang="zh-CN" altLang="en-US" sz="2800" dirty="0"/>
              <a:t>是真话，也就是说他正说谎话，即他讲真话，推出他在说谎（即没有讲真话）。 </a:t>
            </a:r>
          </a:p>
        </p:txBody>
      </p:sp>
      <p:sp>
        <p:nvSpPr>
          <p:cNvPr id="7" name="灯片编号占位符 6">
            <a:extLst>
              <a:ext uri="{FF2B5EF4-FFF2-40B4-BE49-F238E27FC236}">
                <a16:creationId xmlns:a16="http://schemas.microsoft.com/office/drawing/2014/main" id="{B7A889F5-D0C0-45FE-8FC6-CD7CF996B258}"/>
              </a:ext>
            </a:extLst>
          </p:cNvPr>
          <p:cNvSpPr>
            <a:spLocks noGrp="1"/>
          </p:cNvSpPr>
          <p:nvPr>
            <p:ph type="sldNum" sz="quarter" idx="12"/>
          </p:nvPr>
        </p:nvSpPr>
        <p:spPr/>
        <p:txBody>
          <a:bodyPr/>
          <a:lstStyle/>
          <a:p>
            <a:fld id="{0C913308-F349-4B6D-A68A-DD1791B4A57B}" type="slidenum">
              <a:rPr lang="zh-CN" altLang="en-US" smtClean="0"/>
              <a:pPr/>
              <a:t>8</a:t>
            </a:fld>
            <a:endParaRPr lang="zh-CN" altLang="en-US"/>
          </a:p>
        </p:txBody>
      </p:sp>
    </p:spTree>
    <p:extLst>
      <p:ext uri="{BB962C8B-B14F-4D97-AF65-F5344CB8AC3E}">
        <p14:creationId xmlns:p14="http://schemas.microsoft.com/office/powerpoint/2010/main" val="38684622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98CB812-C77A-40F9-990F-7D192B60820C}"/>
              </a:ext>
            </a:extLst>
          </p:cNvPr>
          <p:cNvSpPr txBox="1">
            <a:spLocks/>
          </p:cNvSpPr>
          <p:nvPr/>
        </p:nvSpPr>
        <p:spPr>
          <a:xfrm>
            <a:off x="1097280" y="286603"/>
            <a:ext cx="10058400" cy="1450757"/>
          </a:xfrm>
          <a:prstGeom prst="rect">
            <a:avLst/>
          </a:prstGeom>
        </p:spPr>
        <p:txBody>
          <a:bodyPr/>
          <a:lstStyle>
            <a:lvl1pPr algn="ctr" defTabSz="685800" rtl="0" eaLnBrk="1" latinLnBrk="0" hangingPunct="1">
              <a:spcBef>
                <a:spcPct val="0"/>
              </a:spcBef>
              <a:buNone/>
              <a:defRPr sz="3300" kern="1200">
                <a:solidFill>
                  <a:schemeClr val="tx1"/>
                </a:solidFill>
                <a:latin typeface="+mj-lt"/>
                <a:ea typeface="+mj-ea"/>
                <a:cs typeface="+mj-cs"/>
              </a:defRPr>
            </a:lvl1pPr>
          </a:lstStyle>
          <a:p>
            <a:r>
              <a:rPr lang="zh-CN" altLang="en-US" b="1" dirty="0"/>
              <a:t>案例</a:t>
            </a:r>
            <a:r>
              <a:rPr lang="en-US" altLang="zh-CN" b="1" dirty="0"/>
              <a:t>1 </a:t>
            </a:r>
            <a:r>
              <a:rPr lang="zh-CN" altLang="en-US" b="1" dirty="0"/>
              <a:t>朋友悖论</a:t>
            </a:r>
          </a:p>
        </p:txBody>
      </p:sp>
      <p:sp>
        <p:nvSpPr>
          <p:cNvPr id="3" name="内容占位符 2">
            <a:extLst>
              <a:ext uri="{FF2B5EF4-FFF2-40B4-BE49-F238E27FC236}">
                <a16:creationId xmlns:a16="http://schemas.microsoft.com/office/drawing/2014/main" id="{5F785893-BBCD-4204-B492-EA823EB6E7BA}"/>
              </a:ext>
            </a:extLst>
          </p:cNvPr>
          <p:cNvSpPr txBox="1">
            <a:spLocks/>
          </p:cNvSpPr>
          <p:nvPr/>
        </p:nvSpPr>
        <p:spPr>
          <a:xfrm>
            <a:off x="354874" y="1733235"/>
            <a:ext cx="5760720" cy="4023360"/>
          </a:xfrm>
          <a:prstGeom prst="rect">
            <a:avLst/>
          </a:prstGeom>
        </p:spPr>
        <p:txBody>
          <a:bodyPr>
            <a:normAutofit fontScale="85000" lnSpcReduction="10000"/>
          </a:bodyPr>
          <a:lstStyle>
            <a:lvl1pPr marL="257175" indent="-257175" algn="l" defTabSz="685800" rtl="0" eaLnBrk="1" latinLnBrk="0" hangingPunct="1">
              <a:spcBef>
                <a:spcPct val="20000"/>
              </a:spcBef>
              <a:buFont typeface="Arial" pitchFamily="34" charset="0"/>
              <a:buChar char="•"/>
              <a:defRPr sz="2400" kern="1200">
                <a:solidFill>
                  <a:schemeClr val="tx1"/>
                </a:solidFill>
                <a:latin typeface="+mn-lt"/>
                <a:ea typeface="+mn-ea"/>
                <a:cs typeface="+mn-cs"/>
              </a:defRPr>
            </a:lvl1pPr>
            <a:lvl2pPr marL="557213" indent="-214313" algn="l" defTabSz="685800" rtl="0" eaLnBrk="1" latinLnBrk="0" hangingPunct="1">
              <a:spcBef>
                <a:spcPct val="20000"/>
              </a:spcBef>
              <a:buFont typeface="Arial" pitchFamily="34" charset="0"/>
              <a:buChar char="–"/>
              <a:defRPr sz="2100" kern="1200">
                <a:solidFill>
                  <a:schemeClr val="tx1"/>
                </a:solidFill>
                <a:latin typeface="+mn-lt"/>
                <a:ea typeface="+mn-ea"/>
                <a:cs typeface="+mn-cs"/>
              </a:defRPr>
            </a:lvl2pPr>
            <a:lvl3pPr marL="857250" indent="-171450" algn="l" defTabSz="685800" rtl="0" eaLnBrk="1" latinLnBrk="0" hangingPunct="1">
              <a:spcBef>
                <a:spcPct val="20000"/>
              </a:spcBef>
              <a:buFont typeface="Arial" pitchFamily="34" charset="0"/>
              <a:buChar char="•"/>
              <a:defRPr sz="1800" kern="1200">
                <a:solidFill>
                  <a:schemeClr val="tx1"/>
                </a:solidFill>
                <a:latin typeface="+mn-lt"/>
                <a:ea typeface="+mn-ea"/>
                <a:cs typeface="+mn-cs"/>
              </a:defRPr>
            </a:lvl3pPr>
            <a:lvl4pPr marL="12001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4pPr>
            <a:lvl5pPr marL="15430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r>
              <a:rPr lang="zh-CN" altLang="en-US" dirty="0"/>
              <a:t>      一群人朋友的平均朋友数不小于这群人的朋友均数。</a:t>
            </a:r>
            <a:endParaRPr lang="en-US" altLang="zh-CN" dirty="0"/>
          </a:p>
          <a:p>
            <a:endParaRPr lang="en-US" altLang="zh-CN" dirty="0"/>
          </a:p>
          <a:p>
            <a:r>
              <a:rPr lang="zh-CN" altLang="en-US" dirty="0"/>
              <a:t>分析：</a:t>
            </a:r>
            <a:endParaRPr lang="en-US" altLang="zh-CN" dirty="0"/>
          </a:p>
          <a:p>
            <a:pPr marL="0" indent="0">
              <a:buFont typeface="Arial" pitchFamily="34" charset="0"/>
              <a:buNone/>
            </a:pPr>
            <a:r>
              <a:rPr lang="zh-CN" altLang="en-US" dirty="0"/>
              <a:t>“朋友悖论”给出的是平均朋友数，但因为社交网络的幂律分布，交际明星毕竟是少数，所以绝大多数人的朋友数要小于他们朋友的朋友数。</a:t>
            </a:r>
            <a:endParaRPr lang="en-US" altLang="zh-CN" dirty="0"/>
          </a:p>
          <a:p>
            <a:r>
              <a:rPr lang="zh-CN" altLang="en-US" b="1" dirty="0">
                <a:solidFill>
                  <a:srgbClr val="FF0000"/>
                </a:solidFill>
              </a:rPr>
              <a:t>思政元素的引入：</a:t>
            </a:r>
            <a:endParaRPr lang="en-US" altLang="zh-CN" b="1" dirty="0">
              <a:solidFill>
                <a:srgbClr val="FF0000"/>
              </a:solidFill>
            </a:endParaRPr>
          </a:p>
          <a:p>
            <a:r>
              <a:rPr lang="zh-CN" altLang="en-US" dirty="0"/>
              <a:t>        </a:t>
            </a:r>
            <a:r>
              <a:rPr lang="zh-CN" altLang="en-US" dirty="0">
                <a:solidFill>
                  <a:srgbClr val="FF0000"/>
                </a:solidFill>
              </a:rPr>
              <a:t>关于朋友，大家总希望多多益善。然而大多数人注定会失望，因为朋友的朋友数看起来总是比自己的多。朋友悖论解释了原因，我们应该树立正确的价值观念，客观的看待朋友的多少。</a:t>
            </a:r>
            <a:endParaRPr lang="en-US" altLang="zh-CN" dirty="0">
              <a:solidFill>
                <a:srgbClr val="FF0000"/>
              </a:solidFill>
            </a:endParaRPr>
          </a:p>
          <a:p>
            <a:endParaRPr lang="en-US" altLang="zh-CN" dirty="0"/>
          </a:p>
          <a:p>
            <a:endParaRPr lang="zh-CN" altLang="en-US" dirty="0"/>
          </a:p>
        </p:txBody>
      </p:sp>
      <p:pic>
        <p:nvPicPr>
          <p:cNvPr id="4" name="图片 3">
            <a:extLst>
              <a:ext uri="{FF2B5EF4-FFF2-40B4-BE49-F238E27FC236}">
                <a16:creationId xmlns:a16="http://schemas.microsoft.com/office/drawing/2014/main" id="{6B2A1B07-E8C0-47D4-A52F-C02D4B6F763B}"/>
              </a:ext>
            </a:extLst>
          </p:cNvPr>
          <p:cNvPicPr>
            <a:picLocks noChangeAspect="1"/>
          </p:cNvPicPr>
          <p:nvPr/>
        </p:nvPicPr>
        <p:blipFill>
          <a:blip r:embed="rId2"/>
          <a:stretch>
            <a:fillRect/>
          </a:stretch>
        </p:blipFill>
        <p:spPr>
          <a:xfrm>
            <a:off x="6535603" y="1743309"/>
            <a:ext cx="5301523" cy="3487844"/>
          </a:xfrm>
          <a:prstGeom prst="rect">
            <a:avLst/>
          </a:prstGeom>
        </p:spPr>
      </p:pic>
    </p:spTree>
    <p:extLst>
      <p:ext uri="{BB962C8B-B14F-4D97-AF65-F5344CB8AC3E}">
        <p14:creationId xmlns:p14="http://schemas.microsoft.com/office/powerpoint/2010/main" val="9322267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6">
            <a:extLst>
              <a:ext uri="{FF2B5EF4-FFF2-40B4-BE49-F238E27FC236}">
                <a16:creationId xmlns:a16="http://schemas.microsoft.com/office/drawing/2014/main" id="{CC53189D-9DA3-403D-9B42-0C17916FB951}"/>
              </a:ext>
            </a:extLst>
          </p:cNvPr>
          <p:cNvSpPr>
            <a:spLocks noChangeArrowheads="1"/>
          </p:cNvSpPr>
          <p:nvPr/>
        </p:nvSpPr>
        <p:spPr bwMode="auto">
          <a:xfrm>
            <a:off x="457200" y="2057400"/>
            <a:ext cx="10535344" cy="32438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342900" indent="-342900">
              <a:lnSpc>
                <a:spcPct val="130000"/>
              </a:lnSpc>
              <a:spcBef>
                <a:spcPct val="20000"/>
              </a:spcBef>
            </a:pPr>
            <a:r>
              <a:rPr lang="en-US" altLang="zh-CN" sz="2800" b="1" dirty="0"/>
              <a:t>1</a:t>
            </a:r>
            <a:r>
              <a:rPr lang="zh-CN" altLang="en-US" sz="2800" b="1" dirty="0"/>
              <a:t>）罗素将集合分成两类：一类是集合</a:t>
            </a:r>
            <a:r>
              <a:rPr lang="en-US" altLang="zh-CN" sz="2800" b="1" i="1" dirty="0"/>
              <a:t>A</a:t>
            </a:r>
            <a:r>
              <a:rPr lang="zh-CN" altLang="en-US" sz="2800" b="1" dirty="0"/>
              <a:t>本身是</a:t>
            </a:r>
            <a:r>
              <a:rPr lang="en-US" altLang="zh-CN" sz="2800" b="1" i="1" dirty="0"/>
              <a:t>A</a:t>
            </a:r>
            <a:r>
              <a:rPr lang="zh-CN" altLang="en-US" sz="2800" b="1" dirty="0"/>
              <a:t>的一个元素，即</a:t>
            </a:r>
            <a:r>
              <a:rPr lang="en-US" altLang="zh-CN" sz="2800" b="1" i="1" dirty="0"/>
              <a:t>A </a:t>
            </a:r>
            <a:r>
              <a:rPr lang="en-US" altLang="zh-CN" sz="2800" b="1" dirty="0">
                <a:sym typeface="Symbol" pitchFamily="18" charset="2"/>
              </a:rPr>
              <a:t></a:t>
            </a:r>
            <a:r>
              <a:rPr lang="en-US" altLang="zh-CN" sz="2800" b="1" dirty="0"/>
              <a:t> </a:t>
            </a:r>
            <a:r>
              <a:rPr lang="en-US" altLang="zh-CN" sz="2800" b="1" i="1" dirty="0"/>
              <a:t>A</a:t>
            </a:r>
            <a:r>
              <a:rPr lang="zh-CN" altLang="en-US" sz="2800" b="1" dirty="0"/>
              <a:t>；另一类是集合</a:t>
            </a:r>
            <a:r>
              <a:rPr lang="en-US" altLang="zh-CN" sz="2800" b="1" i="1" dirty="0"/>
              <a:t>A</a:t>
            </a:r>
            <a:r>
              <a:rPr lang="zh-CN" altLang="en-US" sz="2800" b="1" dirty="0"/>
              <a:t>本身不是</a:t>
            </a:r>
            <a:r>
              <a:rPr lang="en-US" altLang="zh-CN" sz="2800" b="1" i="1" dirty="0"/>
              <a:t>A</a:t>
            </a:r>
            <a:r>
              <a:rPr lang="zh-CN" altLang="en-US" sz="2800" b="1" dirty="0"/>
              <a:t>的一个元素，即</a:t>
            </a:r>
            <a:r>
              <a:rPr lang="en-US" altLang="zh-CN" sz="2800" b="1" i="1" dirty="0"/>
              <a:t>A</a:t>
            </a:r>
            <a:r>
              <a:rPr lang="en-US" altLang="zh-CN" sz="2800" b="1" dirty="0"/>
              <a:t> </a:t>
            </a:r>
            <a:r>
              <a:rPr lang="en-US" altLang="zh-CN" sz="2800" b="1" dirty="0">
                <a:sym typeface="Symbol" pitchFamily="18" charset="2"/>
              </a:rPr>
              <a:t></a:t>
            </a:r>
            <a:r>
              <a:rPr lang="en-US" altLang="zh-CN" sz="2800" b="1" dirty="0"/>
              <a:t> </a:t>
            </a:r>
            <a:r>
              <a:rPr lang="en-US" altLang="zh-CN" sz="2800" b="1" i="1" dirty="0"/>
              <a:t>A</a:t>
            </a:r>
            <a:r>
              <a:rPr lang="zh-CN" altLang="en-US" sz="2800" b="1" dirty="0"/>
              <a:t>；</a:t>
            </a:r>
          </a:p>
          <a:p>
            <a:pPr marL="342900" indent="-342900">
              <a:lnSpc>
                <a:spcPct val="130000"/>
              </a:lnSpc>
              <a:spcBef>
                <a:spcPct val="20000"/>
              </a:spcBef>
            </a:pPr>
            <a:r>
              <a:rPr lang="en-US" altLang="zh-CN" sz="2800" b="1" dirty="0"/>
              <a:t>2</a:t>
            </a:r>
            <a:r>
              <a:rPr lang="zh-CN" altLang="en-US" sz="2800" b="1" dirty="0"/>
              <a:t>）构造一个集合</a:t>
            </a:r>
            <a:r>
              <a:rPr lang="en-US" altLang="zh-CN" sz="2800" b="1" i="1" dirty="0"/>
              <a:t>S</a:t>
            </a:r>
            <a:r>
              <a:rPr lang="zh-CN" altLang="en-US" sz="2800" b="1" dirty="0"/>
              <a:t>：</a:t>
            </a:r>
            <a:r>
              <a:rPr lang="en-US" altLang="zh-CN" sz="2800" b="1" i="1" dirty="0"/>
              <a:t>S</a:t>
            </a:r>
            <a:r>
              <a:rPr lang="en-US" altLang="zh-CN" sz="2800" b="1" dirty="0"/>
              <a:t>={</a:t>
            </a:r>
            <a:r>
              <a:rPr lang="en-US" altLang="zh-CN" sz="2800" b="1" i="1" dirty="0"/>
              <a:t>A </a:t>
            </a:r>
            <a:r>
              <a:rPr lang="en-US" altLang="zh-CN" sz="2800" b="1" dirty="0"/>
              <a:t>| </a:t>
            </a:r>
            <a:r>
              <a:rPr lang="en-US" altLang="zh-CN" sz="2800" b="1" i="1" dirty="0"/>
              <a:t>A</a:t>
            </a:r>
            <a:r>
              <a:rPr lang="en-US" altLang="zh-CN" sz="2800" b="1" dirty="0">
                <a:sym typeface="Symbol" pitchFamily="18" charset="2"/>
              </a:rPr>
              <a:t></a:t>
            </a:r>
            <a:r>
              <a:rPr lang="en-US" altLang="zh-CN" sz="2800" b="1" i="1" dirty="0"/>
              <a:t>A</a:t>
            </a:r>
            <a:r>
              <a:rPr lang="en-US" altLang="zh-CN" sz="2800" b="1" dirty="0"/>
              <a:t>}}</a:t>
            </a:r>
            <a:r>
              <a:rPr lang="zh-CN" altLang="en-US" sz="2800" b="1" dirty="0"/>
              <a:t>，即，</a:t>
            </a:r>
            <a:r>
              <a:rPr lang="en-US" altLang="zh-CN" sz="2800" b="1" i="1" dirty="0"/>
              <a:t>S</a:t>
            </a:r>
            <a:r>
              <a:rPr lang="zh-CN" altLang="en-US" sz="2800" b="1" dirty="0"/>
              <a:t>是由满足条件</a:t>
            </a:r>
            <a:r>
              <a:rPr lang="en-US" altLang="zh-CN" sz="2800" b="1" i="1" dirty="0"/>
              <a:t>A</a:t>
            </a:r>
            <a:r>
              <a:rPr lang="en-US" altLang="zh-CN" sz="2800" b="1" dirty="0"/>
              <a:t> </a:t>
            </a:r>
            <a:r>
              <a:rPr lang="en-US" altLang="zh-CN" sz="2800" b="1" dirty="0">
                <a:sym typeface="Symbol" pitchFamily="18" charset="2"/>
              </a:rPr>
              <a:t></a:t>
            </a:r>
            <a:r>
              <a:rPr lang="en-US" altLang="zh-CN" sz="2800" b="1" dirty="0"/>
              <a:t> </a:t>
            </a:r>
            <a:r>
              <a:rPr lang="en-US" altLang="zh-CN" sz="2800" b="1" i="1" dirty="0"/>
              <a:t>A</a:t>
            </a:r>
            <a:r>
              <a:rPr lang="zh-CN" altLang="en-US" sz="2800" b="1" dirty="0"/>
              <a:t>的那些</a:t>
            </a:r>
            <a:r>
              <a:rPr lang="en-US" altLang="zh-CN" sz="2800" b="1" i="1" dirty="0"/>
              <a:t>A</a:t>
            </a:r>
            <a:r>
              <a:rPr lang="zh-CN" altLang="en-US" sz="2800" b="1" dirty="0"/>
              <a:t>组成的一个新的集合。</a:t>
            </a:r>
          </a:p>
          <a:p>
            <a:pPr marL="342900" indent="-342900">
              <a:lnSpc>
                <a:spcPct val="130000"/>
              </a:lnSpc>
              <a:spcBef>
                <a:spcPct val="20000"/>
              </a:spcBef>
            </a:pPr>
            <a:r>
              <a:rPr lang="zh-CN" altLang="en-US" sz="2800" b="1" dirty="0"/>
              <a:t>问：</a:t>
            </a:r>
            <a:r>
              <a:rPr lang="en-US" altLang="zh-CN" sz="2800" b="1" i="1" dirty="0">
                <a:solidFill>
                  <a:srgbClr val="3308E8"/>
                </a:solidFill>
              </a:rPr>
              <a:t>S</a:t>
            </a:r>
            <a:r>
              <a:rPr lang="zh-CN" altLang="en-US" sz="2800" b="1" dirty="0">
                <a:solidFill>
                  <a:srgbClr val="3308E8"/>
                </a:solidFill>
              </a:rPr>
              <a:t>是不是它自己的一个元素</a:t>
            </a:r>
            <a:r>
              <a:rPr lang="en-US" altLang="zh-CN" sz="2800" b="1" dirty="0"/>
              <a:t>? </a:t>
            </a:r>
            <a:r>
              <a:rPr lang="zh-CN" altLang="en-US" sz="2800" b="1" dirty="0"/>
              <a:t>即</a:t>
            </a:r>
            <a:r>
              <a:rPr lang="en-US" altLang="zh-CN" sz="2800" b="1" i="1" dirty="0"/>
              <a:t>S</a:t>
            </a:r>
            <a:r>
              <a:rPr lang="en-US" altLang="zh-CN" sz="2800" b="1" dirty="0">
                <a:sym typeface="Symbol" pitchFamily="18" charset="2"/>
              </a:rPr>
              <a:t></a:t>
            </a:r>
            <a:r>
              <a:rPr lang="en-US" altLang="zh-CN" sz="2800" b="1" i="1" dirty="0"/>
              <a:t>S</a:t>
            </a:r>
            <a:r>
              <a:rPr lang="en-US" altLang="zh-CN" sz="2800" b="1" dirty="0"/>
              <a:t>, </a:t>
            </a:r>
            <a:r>
              <a:rPr lang="zh-CN" altLang="en-US" sz="2800" b="1" dirty="0"/>
              <a:t>还是</a:t>
            </a:r>
            <a:r>
              <a:rPr lang="en-US" altLang="zh-CN" sz="2800" b="1" i="1" dirty="0"/>
              <a:t>S</a:t>
            </a:r>
            <a:r>
              <a:rPr lang="en-US" altLang="zh-CN" sz="2800" b="1" dirty="0">
                <a:sym typeface="Symbol" pitchFamily="18" charset="2"/>
              </a:rPr>
              <a:t></a:t>
            </a:r>
            <a:r>
              <a:rPr lang="en-US" altLang="zh-CN" sz="2800" b="1" i="1" dirty="0"/>
              <a:t>S</a:t>
            </a:r>
            <a:r>
              <a:rPr lang="zh-CN" altLang="en-US" sz="2800" b="1" dirty="0"/>
              <a:t>？ </a:t>
            </a:r>
          </a:p>
          <a:p>
            <a:pPr marL="342900" indent="-342900">
              <a:lnSpc>
                <a:spcPct val="130000"/>
              </a:lnSpc>
              <a:spcBef>
                <a:spcPct val="20000"/>
              </a:spcBef>
              <a:buFontTx/>
              <a:buBlip>
                <a:blip r:embed="rId2"/>
              </a:buBlip>
            </a:pPr>
            <a:endParaRPr lang="en-US" altLang="zh-CN" sz="2800" b="1" dirty="0"/>
          </a:p>
        </p:txBody>
      </p:sp>
      <p:sp>
        <p:nvSpPr>
          <p:cNvPr id="6" name="Rectangle 7">
            <a:extLst>
              <a:ext uri="{FF2B5EF4-FFF2-40B4-BE49-F238E27FC236}">
                <a16:creationId xmlns:a16="http://schemas.microsoft.com/office/drawing/2014/main" id="{983D6F7D-57FA-46C2-83FC-EC3E0C2370FE}"/>
              </a:ext>
            </a:extLst>
          </p:cNvPr>
          <p:cNvSpPr txBox="1">
            <a:spLocks noChangeArrowheads="1"/>
          </p:cNvSpPr>
          <p:nvPr/>
        </p:nvSpPr>
        <p:spPr>
          <a:xfrm>
            <a:off x="1991544" y="332656"/>
            <a:ext cx="3468216" cy="720080"/>
          </a:xfrm>
          <a:prstGeom prst="rect">
            <a:avLst/>
          </a:prstGeom>
        </p:spPr>
        <p:txBody>
          <a:bodyPr/>
          <a:lstStyle>
            <a:lvl1pPr algn="ctr" defTabSz="685800" rtl="0" eaLnBrk="1" latinLnBrk="0" hangingPunct="1">
              <a:spcBef>
                <a:spcPct val="0"/>
              </a:spcBef>
              <a:buNone/>
              <a:defRPr sz="3300" kern="1200">
                <a:solidFill>
                  <a:schemeClr val="tx1"/>
                </a:solidFill>
                <a:latin typeface="+mj-lt"/>
                <a:ea typeface="+mj-ea"/>
                <a:cs typeface="+mj-cs"/>
              </a:defRPr>
            </a:lvl1pPr>
          </a:lstStyle>
          <a:p>
            <a:pPr algn="l"/>
            <a:r>
              <a:rPr lang="zh-CN" altLang="en-US" b="1" dirty="0"/>
              <a:t>例</a:t>
            </a:r>
            <a:r>
              <a:rPr lang="en-US" altLang="zh-CN" b="1" dirty="0"/>
              <a:t>1.3   </a:t>
            </a:r>
            <a:r>
              <a:rPr lang="zh-CN" altLang="en-US" b="1" dirty="0"/>
              <a:t>罗素悖论：</a:t>
            </a:r>
          </a:p>
        </p:txBody>
      </p:sp>
      <p:sp>
        <p:nvSpPr>
          <p:cNvPr id="7" name="灯片编号占位符 6">
            <a:extLst>
              <a:ext uri="{FF2B5EF4-FFF2-40B4-BE49-F238E27FC236}">
                <a16:creationId xmlns:a16="http://schemas.microsoft.com/office/drawing/2014/main" id="{0D54F91A-E593-4B1A-AD75-AE33B2804FAF}"/>
              </a:ext>
            </a:extLst>
          </p:cNvPr>
          <p:cNvSpPr>
            <a:spLocks noGrp="1"/>
          </p:cNvSpPr>
          <p:nvPr>
            <p:ph type="sldNum" sz="quarter" idx="12"/>
          </p:nvPr>
        </p:nvSpPr>
        <p:spPr/>
        <p:txBody>
          <a:bodyPr/>
          <a:lstStyle/>
          <a:p>
            <a:fld id="{0C913308-F349-4B6D-A68A-DD1791B4A57B}" type="slidenum">
              <a:rPr lang="zh-CN" altLang="en-US" smtClean="0"/>
              <a:pPr/>
              <a:t>10</a:t>
            </a:fld>
            <a:endParaRPr lang="zh-CN" altLang="en-US"/>
          </a:p>
        </p:txBody>
      </p:sp>
    </p:spTree>
    <p:extLst>
      <p:ext uri="{BB962C8B-B14F-4D97-AF65-F5344CB8AC3E}">
        <p14:creationId xmlns:p14="http://schemas.microsoft.com/office/powerpoint/2010/main" val="34142152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3">
            <a:extLst>
              <a:ext uri="{FF2B5EF4-FFF2-40B4-BE49-F238E27FC236}">
                <a16:creationId xmlns:a16="http://schemas.microsoft.com/office/drawing/2014/main" id="{362DD8AC-C009-41A5-B341-26B18C69FEEC}"/>
              </a:ext>
            </a:extLst>
          </p:cNvPr>
          <p:cNvSpPr txBox="1">
            <a:spLocks noChangeArrowheads="1"/>
          </p:cNvSpPr>
          <p:nvPr/>
        </p:nvSpPr>
        <p:spPr>
          <a:xfrm>
            <a:off x="457200" y="1828800"/>
            <a:ext cx="10967392" cy="4552528"/>
          </a:xfrm>
          <a:prstGeom prst="rect">
            <a:avLst/>
          </a:prstGeom>
          <a:noFill/>
          <a:ln/>
        </p:spPr>
        <p:txBody>
          <a:bodyPr/>
          <a:lstStyle>
            <a:lvl1pPr marL="257175" indent="-257175" algn="l" defTabSz="685800" rtl="0" eaLnBrk="1" latinLnBrk="0" hangingPunct="1">
              <a:spcBef>
                <a:spcPct val="20000"/>
              </a:spcBef>
              <a:buFont typeface="Arial" pitchFamily="34" charset="0"/>
              <a:buChar char="•"/>
              <a:defRPr sz="2400" kern="1200">
                <a:solidFill>
                  <a:schemeClr val="tx1"/>
                </a:solidFill>
                <a:latin typeface="+mn-lt"/>
                <a:ea typeface="+mn-ea"/>
                <a:cs typeface="+mn-cs"/>
              </a:defRPr>
            </a:lvl1pPr>
            <a:lvl2pPr marL="557213" indent="-214313" algn="l" defTabSz="685800" rtl="0" eaLnBrk="1" latinLnBrk="0" hangingPunct="1">
              <a:spcBef>
                <a:spcPct val="20000"/>
              </a:spcBef>
              <a:buFont typeface="Arial" pitchFamily="34" charset="0"/>
              <a:buChar char="–"/>
              <a:defRPr sz="2100" kern="1200">
                <a:solidFill>
                  <a:schemeClr val="tx1"/>
                </a:solidFill>
                <a:latin typeface="+mn-lt"/>
                <a:ea typeface="+mn-ea"/>
                <a:cs typeface="+mn-cs"/>
              </a:defRPr>
            </a:lvl2pPr>
            <a:lvl3pPr marL="857250" indent="-171450" algn="l" defTabSz="685800" rtl="0" eaLnBrk="1" latinLnBrk="0" hangingPunct="1">
              <a:spcBef>
                <a:spcPct val="20000"/>
              </a:spcBef>
              <a:buFont typeface="Arial" pitchFamily="34" charset="0"/>
              <a:buChar char="•"/>
              <a:defRPr sz="1800" kern="1200">
                <a:solidFill>
                  <a:schemeClr val="tx1"/>
                </a:solidFill>
                <a:latin typeface="+mn-lt"/>
                <a:ea typeface="+mn-ea"/>
                <a:cs typeface="+mn-cs"/>
              </a:defRPr>
            </a:lvl3pPr>
            <a:lvl4pPr marL="12001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4pPr>
            <a:lvl5pPr marL="15430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a:lnSpc>
                <a:spcPct val="130000"/>
              </a:lnSpc>
              <a:buFontTx/>
              <a:buNone/>
            </a:pPr>
            <a:r>
              <a:rPr lang="zh-CN" altLang="en-US" sz="2800">
                <a:solidFill>
                  <a:schemeClr val="hlink"/>
                </a:solidFill>
              </a:rPr>
              <a:t>解</a:t>
            </a:r>
            <a:r>
              <a:rPr lang="zh-CN" altLang="en-US" sz="2800"/>
              <a:t>  我们作如下分析：</a:t>
            </a:r>
          </a:p>
          <a:p>
            <a:pPr>
              <a:lnSpc>
                <a:spcPct val="130000"/>
              </a:lnSpc>
              <a:buFontTx/>
              <a:buNone/>
            </a:pPr>
            <a:r>
              <a:rPr lang="zh-CN" altLang="en-US" sz="2800"/>
              <a:t>      如果</a:t>
            </a:r>
            <a:r>
              <a:rPr lang="en-US" altLang="zh-CN" sz="2800"/>
              <a:t>S</a:t>
            </a:r>
            <a:r>
              <a:rPr lang="en-US" altLang="zh-CN" sz="2800">
                <a:sym typeface="Symbol" pitchFamily="18" charset="2"/>
              </a:rPr>
              <a:t></a:t>
            </a:r>
            <a:r>
              <a:rPr lang="en-US" altLang="zh-CN" sz="2800"/>
              <a:t>S, </a:t>
            </a:r>
            <a:r>
              <a:rPr lang="zh-CN" altLang="en-US" sz="2800"/>
              <a:t>因为集合</a:t>
            </a:r>
            <a:r>
              <a:rPr lang="en-US" altLang="zh-CN" sz="2800"/>
              <a:t>S</a:t>
            </a:r>
            <a:r>
              <a:rPr lang="zh-CN" altLang="en-US" sz="2800"/>
              <a:t>由所有满足条件</a:t>
            </a:r>
            <a:r>
              <a:rPr lang="en-US" altLang="zh-CN" sz="2800"/>
              <a:t>A</a:t>
            </a:r>
            <a:r>
              <a:rPr lang="en-US" altLang="zh-CN" sz="2800">
                <a:sym typeface="Symbol" pitchFamily="18" charset="2"/>
              </a:rPr>
              <a:t></a:t>
            </a:r>
            <a:r>
              <a:rPr lang="en-US" altLang="zh-CN" sz="2800"/>
              <a:t>A</a:t>
            </a:r>
            <a:r>
              <a:rPr lang="zh-CN" altLang="en-US" sz="2800"/>
              <a:t>的集合组成</a:t>
            </a:r>
            <a:r>
              <a:rPr lang="en-US" altLang="zh-CN" sz="2800"/>
              <a:t>, </a:t>
            </a:r>
            <a:r>
              <a:rPr lang="zh-CN" altLang="en-US" sz="2800"/>
              <a:t>由于</a:t>
            </a:r>
            <a:r>
              <a:rPr lang="en-US" altLang="zh-CN" sz="2800"/>
              <a:t>S</a:t>
            </a:r>
            <a:r>
              <a:rPr lang="en-US" altLang="zh-CN" sz="2800">
                <a:sym typeface="Symbol" pitchFamily="18" charset="2"/>
              </a:rPr>
              <a:t></a:t>
            </a:r>
            <a:r>
              <a:rPr lang="en-US" altLang="zh-CN" sz="2800"/>
              <a:t>S, </a:t>
            </a:r>
            <a:r>
              <a:rPr lang="zh-CN" altLang="en-US" sz="2800"/>
              <a:t>所以</a:t>
            </a:r>
            <a:r>
              <a:rPr lang="en-US" altLang="zh-CN" sz="2800"/>
              <a:t>S</a:t>
            </a:r>
            <a:r>
              <a:rPr lang="zh-CN" altLang="en-US" sz="2800"/>
              <a:t>满足对于集合</a:t>
            </a:r>
            <a:r>
              <a:rPr lang="en-US" altLang="zh-CN" sz="2800"/>
              <a:t>S</a:t>
            </a:r>
            <a:r>
              <a:rPr lang="zh-CN" altLang="en-US" sz="2800"/>
              <a:t>中元素的定义，即</a:t>
            </a:r>
            <a:r>
              <a:rPr lang="en-US" altLang="zh-CN" sz="2800"/>
              <a:t>S</a:t>
            </a:r>
            <a:r>
              <a:rPr lang="zh-CN" altLang="en-US" sz="2800"/>
              <a:t>是集合</a:t>
            </a:r>
            <a:r>
              <a:rPr lang="en-US" altLang="zh-CN" sz="2800"/>
              <a:t>S</a:t>
            </a:r>
            <a:r>
              <a:rPr lang="zh-CN" altLang="en-US" sz="2800"/>
              <a:t>的元素，也就是说 </a:t>
            </a:r>
            <a:r>
              <a:rPr lang="en-US" altLang="zh-CN" sz="2800"/>
              <a:t>S</a:t>
            </a:r>
            <a:r>
              <a:rPr lang="en-US" altLang="zh-CN" sz="2800">
                <a:sym typeface="Symbol" pitchFamily="18" charset="2"/>
              </a:rPr>
              <a:t></a:t>
            </a:r>
            <a:r>
              <a:rPr lang="en-US" altLang="zh-CN" sz="2800"/>
              <a:t>S</a:t>
            </a:r>
            <a:r>
              <a:rPr lang="zh-CN" altLang="en-US" sz="2800"/>
              <a:t>。</a:t>
            </a:r>
          </a:p>
          <a:p>
            <a:pPr>
              <a:lnSpc>
                <a:spcPct val="130000"/>
              </a:lnSpc>
              <a:buFontTx/>
              <a:buNone/>
            </a:pPr>
            <a:r>
              <a:rPr lang="zh-CN" altLang="en-US" sz="2800"/>
              <a:t>      如果</a:t>
            </a:r>
            <a:r>
              <a:rPr lang="en-US" altLang="zh-CN" sz="2800"/>
              <a:t>S</a:t>
            </a:r>
            <a:r>
              <a:rPr lang="en-US" altLang="zh-CN" sz="2800">
                <a:sym typeface="Symbol" pitchFamily="18" charset="2"/>
              </a:rPr>
              <a:t></a:t>
            </a:r>
            <a:r>
              <a:rPr lang="en-US" altLang="zh-CN" sz="2800"/>
              <a:t>S, </a:t>
            </a:r>
            <a:r>
              <a:rPr lang="zh-CN" altLang="en-US" sz="2800"/>
              <a:t>因为</a:t>
            </a:r>
            <a:r>
              <a:rPr lang="en-US" altLang="zh-CN" sz="2800"/>
              <a:t>S</a:t>
            </a:r>
            <a:r>
              <a:rPr lang="zh-CN" altLang="en-US" sz="2800"/>
              <a:t>中任一元素</a:t>
            </a:r>
            <a:r>
              <a:rPr lang="en-US" altLang="zh-CN" sz="2800"/>
              <a:t>A</a:t>
            </a:r>
            <a:r>
              <a:rPr lang="zh-CN" altLang="en-US" sz="2800"/>
              <a:t>都有</a:t>
            </a:r>
            <a:r>
              <a:rPr lang="en-US" altLang="zh-CN" sz="2800"/>
              <a:t>A</a:t>
            </a:r>
            <a:r>
              <a:rPr lang="en-US" altLang="zh-CN" sz="2800">
                <a:sym typeface="Symbol" pitchFamily="18" charset="2"/>
              </a:rPr>
              <a:t></a:t>
            </a:r>
            <a:r>
              <a:rPr lang="en-US" altLang="zh-CN" sz="2800"/>
              <a:t>A, </a:t>
            </a:r>
            <a:r>
              <a:rPr lang="zh-CN" altLang="en-US" sz="2800"/>
              <a:t>又由于</a:t>
            </a:r>
            <a:r>
              <a:rPr lang="en-US" altLang="zh-CN" sz="2800"/>
              <a:t>S</a:t>
            </a:r>
            <a:r>
              <a:rPr lang="en-US" altLang="zh-CN" sz="2800">
                <a:sym typeface="Symbol" pitchFamily="18" charset="2"/>
              </a:rPr>
              <a:t></a:t>
            </a:r>
            <a:r>
              <a:rPr lang="en-US" altLang="zh-CN" sz="2800"/>
              <a:t>S,</a:t>
            </a:r>
            <a:r>
              <a:rPr lang="zh-CN" altLang="en-US" sz="2800"/>
              <a:t>根据集合</a:t>
            </a:r>
            <a:r>
              <a:rPr lang="en-US" altLang="zh-CN" sz="2800"/>
              <a:t>S</a:t>
            </a:r>
            <a:r>
              <a:rPr lang="zh-CN" altLang="en-US" sz="2800"/>
              <a:t>的规定，知</a:t>
            </a:r>
            <a:r>
              <a:rPr lang="en-US" altLang="zh-CN" sz="2800"/>
              <a:t>S</a:t>
            </a:r>
            <a:r>
              <a:rPr lang="zh-CN" altLang="en-US" sz="2800"/>
              <a:t>不是集合</a:t>
            </a:r>
            <a:r>
              <a:rPr lang="en-US" altLang="zh-CN" sz="2800"/>
              <a:t>S</a:t>
            </a:r>
            <a:r>
              <a:rPr lang="zh-CN" altLang="en-US" sz="2800"/>
              <a:t>的元素</a:t>
            </a:r>
            <a:r>
              <a:rPr lang="en-US" altLang="zh-CN" sz="2800"/>
              <a:t>, </a:t>
            </a:r>
            <a:r>
              <a:rPr lang="zh-CN" altLang="en-US" sz="2800"/>
              <a:t>也就是说</a:t>
            </a:r>
            <a:r>
              <a:rPr lang="en-US" altLang="zh-CN" sz="2800"/>
              <a:t>S</a:t>
            </a:r>
            <a:r>
              <a:rPr lang="en-US" altLang="zh-CN" sz="2800">
                <a:sym typeface="Symbol" pitchFamily="18" charset="2"/>
              </a:rPr>
              <a:t></a:t>
            </a:r>
            <a:r>
              <a:rPr lang="en-US" altLang="zh-CN" sz="2800"/>
              <a:t>S</a:t>
            </a:r>
            <a:r>
              <a:rPr lang="zh-CN" altLang="en-US" sz="2800"/>
              <a:t>。</a:t>
            </a:r>
          </a:p>
          <a:p>
            <a:pPr>
              <a:lnSpc>
                <a:spcPct val="130000"/>
              </a:lnSpc>
              <a:buFontTx/>
              <a:buNone/>
            </a:pPr>
            <a:r>
              <a:rPr lang="zh-CN" altLang="en-US" sz="2800">
                <a:sym typeface="Symbol" pitchFamily="18" charset="2"/>
              </a:rPr>
              <a:t>   既不是</a:t>
            </a:r>
            <a:r>
              <a:rPr lang="en-US" altLang="zh-CN" sz="2800">
                <a:sym typeface="Symbol" pitchFamily="18" charset="2"/>
              </a:rPr>
              <a:t>SS</a:t>
            </a:r>
            <a:r>
              <a:rPr lang="zh-CN" altLang="en-US" sz="2800">
                <a:sym typeface="Symbol" pitchFamily="18" charset="2"/>
              </a:rPr>
              <a:t>，也不是</a:t>
            </a:r>
            <a:r>
              <a:rPr lang="en-US" altLang="zh-CN" sz="2800">
                <a:sym typeface="Symbol" pitchFamily="18" charset="2"/>
              </a:rPr>
              <a:t>SS</a:t>
            </a:r>
            <a:r>
              <a:rPr lang="zh-CN" altLang="en-US" sz="2800">
                <a:sym typeface="Symbol" pitchFamily="18" charset="2"/>
              </a:rPr>
              <a:t>。</a:t>
            </a:r>
            <a:r>
              <a:rPr lang="zh-CN" altLang="en-US" sz="2800"/>
              <a:t> </a:t>
            </a:r>
            <a:endParaRPr lang="zh-CN" altLang="en-US" sz="2800" dirty="0"/>
          </a:p>
        </p:txBody>
      </p:sp>
      <p:sp>
        <p:nvSpPr>
          <p:cNvPr id="6" name="灯片编号占位符 5">
            <a:extLst>
              <a:ext uri="{FF2B5EF4-FFF2-40B4-BE49-F238E27FC236}">
                <a16:creationId xmlns:a16="http://schemas.microsoft.com/office/drawing/2014/main" id="{9FD527B1-A5C0-4347-B5AA-60E1C16EC894}"/>
              </a:ext>
            </a:extLst>
          </p:cNvPr>
          <p:cNvSpPr>
            <a:spLocks noGrp="1"/>
          </p:cNvSpPr>
          <p:nvPr>
            <p:ph type="sldNum" sz="quarter" idx="12"/>
          </p:nvPr>
        </p:nvSpPr>
        <p:spPr/>
        <p:txBody>
          <a:bodyPr/>
          <a:lstStyle/>
          <a:p>
            <a:fld id="{0C913308-F349-4B6D-A68A-DD1791B4A57B}" type="slidenum">
              <a:rPr lang="zh-CN" altLang="en-US" smtClean="0"/>
              <a:pPr/>
              <a:t>11</a:t>
            </a:fld>
            <a:endParaRPr lang="zh-CN" altLang="en-US"/>
          </a:p>
        </p:txBody>
      </p:sp>
    </p:spTree>
    <p:extLst>
      <p:ext uri="{BB962C8B-B14F-4D97-AF65-F5344CB8AC3E}">
        <p14:creationId xmlns:p14="http://schemas.microsoft.com/office/powerpoint/2010/main" val="22657693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3">
            <a:extLst>
              <a:ext uri="{FF2B5EF4-FFF2-40B4-BE49-F238E27FC236}">
                <a16:creationId xmlns:a16="http://schemas.microsoft.com/office/drawing/2014/main" id="{B5ABCFDF-FA17-49DD-8001-CA39EFE94BA7}"/>
              </a:ext>
            </a:extLst>
          </p:cNvPr>
          <p:cNvSpPr txBox="1">
            <a:spLocks noChangeArrowheads="1"/>
          </p:cNvSpPr>
          <p:nvPr/>
        </p:nvSpPr>
        <p:spPr>
          <a:xfrm>
            <a:off x="457200" y="1628800"/>
            <a:ext cx="10967392" cy="4502125"/>
          </a:xfrm>
          <a:prstGeom prst="rect">
            <a:avLst/>
          </a:prstGeom>
          <a:noFill/>
          <a:ln/>
        </p:spPr>
        <p:txBody>
          <a:bodyPr/>
          <a:lstStyle>
            <a:lvl1pPr marL="257175" indent="-257175" algn="l" defTabSz="685800" rtl="0" eaLnBrk="1" latinLnBrk="0" hangingPunct="1">
              <a:spcBef>
                <a:spcPct val="20000"/>
              </a:spcBef>
              <a:buFont typeface="Arial" pitchFamily="34" charset="0"/>
              <a:buChar char="•"/>
              <a:defRPr sz="2400" kern="1200">
                <a:solidFill>
                  <a:schemeClr val="tx1"/>
                </a:solidFill>
                <a:latin typeface="+mn-lt"/>
                <a:ea typeface="+mn-ea"/>
                <a:cs typeface="+mn-cs"/>
              </a:defRPr>
            </a:lvl1pPr>
            <a:lvl2pPr marL="557213" indent="-214313" algn="l" defTabSz="685800" rtl="0" eaLnBrk="1" latinLnBrk="0" hangingPunct="1">
              <a:spcBef>
                <a:spcPct val="20000"/>
              </a:spcBef>
              <a:buFont typeface="Arial" pitchFamily="34" charset="0"/>
              <a:buChar char="–"/>
              <a:defRPr sz="2100" kern="1200">
                <a:solidFill>
                  <a:schemeClr val="tx1"/>
                </a:solidFill>
                <a:latin typeface="+mn-lt"/>
                <a:ea typeface="+mn-ea"/>
                <a:cs typeface="+mn-cs"/>
              </a:defRPr>
            </a:lvl2pPr>
            <a:lvl3pPr marL="857250" indent="-171450" algn="l" defTabSz="685800" rtl="0" eaLnBrk="1" latinLnBrk="0" hangingPunct="1">
              <a:spcBef>
                <a:spcPct val="20000"/>
              </a:spcBef>
              <a:buFont typeface="Arial" pitchFamily="34" charset="0"/>
              <a:buChar char="•"/>
              <a:defRPr sz="1800" kern="1200">
                <a:solidFill>
                  <a:schemeClr val="tx1"/>
                </a:solidFill>
                <a:latin typeface="+mn-lt"/>
                <a:ea typeface="+mn-ea"/>
                <a:cs typeface="+mn-cs"/>
              </a:defRPr>
            </a:lvl3pPr>
            <a:lvl4pPr marL="12001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4pPr>
            <a:lvl5pPr marL="15430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a:lnSpc>
                <a:spcPct val="150000"/>
              </a:lnSpc>
              <a:buFontTx/>
              <a:buNone/>
            </a:pPr>
            <a:r>
              <a:rPr lang="zh-CN" altLang="en-US" sz="2800"/>
              <a:t>罗素悖论的出现</a:t>
            </a:r>
            <a:r>
              <a:rPr lang="en-US" altLang="zh-CN" sz="2800"/>
              <a:t>,</a:t>
            </a:r>
            <a:r>
              <a:rPr lang="zh-CN" altLang="en-US" sz="2800"/>
              <a:t>说明朴素集合论有问题</a:t>
            </a:r>
            <a:r>
              <a:rPr lang="en-US" altLang="zh-CN" sz="2800"/>
              <a:t>,</a:t>
            </a:r>
            <a:r>
              <a:rPr lang="zh-CN" altLang="en-US" sz="2800"/>
              <a:t>从而使数学的基础发生了动摇（第</a:t>
            </a:r>
            <a:r>
              <a:rPr lang="en-US" altLang="zh-CN" sz="2800"/>
              <a:t>3</a:t>
            </a:r>
            <a:r>
              <a:rPr lang="zh-CN" altLang="en-US" sz="2800"/>
              <a:t>次数学危机）</a:t>
            </a:r>
            <a:r>
              <a:rPr lang="en-US" altLang="zh-CN" sz="2800"/>
              <a:t>, </a:t>
            </a:r>
            <a:r>
              <a:rPr lang="zh-CN" altLang="en-US" sz="2800"/>
              <a:t>引起了一些著名数学家的极大重视。经过长期的努力，作出如下</a:t>
            </a:r>
            <a:r>
              <a:rPr lang="zh-CN" altLang="en-US" sz="2800">
                <a:solidFill>
                  <a:srgbClr val="00B0F0"/>
                </a:solidFill>
              </a:rPr>
              <a:t>约定</a:t>
            </a:r>
            <a:r>
              <a:rPr lang="zh-CN" altLang="en-US" sz="2800"/>
              <a:t>： </a:t>
            </a:r>
          </a:p>
          <a:p>
            <a:pPr>
              <a:lnSpc>
                <a:spcPct val="150000"/>
              </a:lnSpc>
              <a:buFontTx/>
              <a:buNone/>
            </a:pPr>
            <a:r>
              <a:rPr lang="zh-CN" altLang="en-US" sz="2800"/>
              <a:t>先有成员才形成集合，一个正在形成的集合不能作为一个实体充当本集合的成员，否则在概念上将产生循环，从而导致悖论。这正是正则公理的内容，从而消除悖论。</a:t>
            </a:r>
            <a:endParaRPr lang="zh-CN" altLang="en-US" sz="2800" dirty="0"/>
          </a:p>
        </p:txBody>
      </p:sp>
      <p:sp>
        <p:nvSpPr>
          <p:cNvPr id="6" name="灯片编号占位符 5">
            <a:extLst>
              <a:ext uri="{FF2B5EF4-FFF2-40B4-BE49-F238E27FC236}">
                <a16:creationId xmlns:a16="http://schemas.microsoft.com/office/drawing/2014/main" id="{5412F75D-653A-484A-8745-141FE909D0C0}"/>
              </a:ext>
            </a:extLst>
          </p:cNvPr>
          <p:cNvSpPr>
            <a:spLocks noGrp="1"/>
          </p:cNvSpPr>
          <p:nvPr>
            <p:ph type="sldNum" sz="quarter" idx="12"/>
          </p:nvPr>
        </p:nvSpPr>
        <p:spPr/>
        <p:txBody>
          <a:bodyPr/>
          <a:lstStyle/>
          <a:p>
            <a:fld id="{0C913308-F349-4B6D-A68A-DD1791B4A57B}" type="slidenum">
              <a:rPr lang="zh-CN" altLang="en-US" smtClean="0"/>
              <a:pPr/>
              <a:t>12</a:t>
            </a:fld>
            <a:endParaRPr lang="zh-CN" altLang="en-US"/>
          </a:p>
        </p:txBody>
      </p:sp>
    </p:spTree>
    <p:extLst>
      <p:ext uri="{BB962C8B-B14F-4D97-AF65-F5344CB8AC3E}">
        <p14:creationId xmlns:p14="http://schemas.microsoft.com/office/powerpoint/2010/main" val="71527548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a:extLst>
              <a:ext uri="{FF2B5EF4-FFF2-40B4-BE49-F238E27FC236}">
                <a16:creationId xmlns:a16="http://schemas.microsoft.com/office/drawing/2014/main" id="{27C741FD-09A0-4DA9-BCD0-5E55066DF582}"/>
              </a:ext>
            </a:extLst>
          </p:cNvPr>
          <p:cNvSpPr txBox="1">
            <a:spLocks noChangeArrowheads="1"/>
          </p:cNvSpPr>
          <p:nvPr/>
        </p:nvSpPr>
        <p:spPr>
          <a:xfrm>
            <a:off x="2711624" y="260648"/>
            <a:ext cx="5628456" cy="792088"/>
          </a:xfrm>
          <a:prstGeom prst="rect">
            <a:avLst/>
          </a:prstGeom>
        </p:spPr>
        <p:txBody>
          <a:bodyPr/>
          <a:lstStyle>
            <a:lvl1pPr algn="ctr" defTabSz="685800" rtl="0" eaLnBrk="1" latinLnBrk="0" hangingPunct="1">
              <a:spcBef>
                <a:spcPct val="0"/>
              </a:spcBef>
              <a:buNone/>
              <a:defRPr sz="3300" kern="1200">
                <a:solidFill>
                  <a:schemeClr val="tx1"/>
                </a:solidFill>
                <a:latin typeface="+mj-lt"/>
                <a:ea typeface="+mj-ea"/>
                <a:cs typeface="+mj-cs"/>
              </a:defRPr>
            </a:lvl1pPr>
          </a:lstStyle>
          <a:p>
            <a:r>
              <a:rPr lang="en-US" altLang="zh-CN" b="1" dirty="0"/>
              <a:t>1.1.3   </a:t>
            </a:r>
            <a:r>
              <a:rPr lang="zh-CN" altLang="en-US" b="1" dirty="0"/>
              <a:t>集合的表示方法</a:t>
            </a:r>
          </a:p>
        </p:txBody>
      </p:sp>
      <p:sp>
        <p:nvSpPr>
          <p:cNvPr id="6" name="Rectangle 3">
            <a:extLst>
              <a:ext uri="{FF2B5EF4-FFF2-40B4-BE49-F238E27FC236}">
                <a16:creationId xmlns:a16="http://schemas.microsoft.com/office/drawing/2014/main" id="{846EC85A-34DE-426A-AE91-0B8242C22C10}"/>
              </a:ext>
            </a:extLst>
          </p:cNvPr>
          <p:cNvSpPr txBox="1">
            <a:spLocks noChangeArrowheads="1"/>
          </p:cNvSpPr>
          <p:nvPr/>
        </p:nvSpPr>
        <p:spPr>
          <a:xfrm>
            <a:off x="1559496" y="1484784"/>
            <a:ext cx="8291264" cy="4682920"/>
          </a:xfrm>
          <a:prstGeom prst="rect">
            <a:avLst/>
          </a:prstGeom>
        </p:spPr>
        <p:txBody>
          <a:bodyPr/>
          <a:lstStyle>
            <a:lvl1pPr marL="257175" indent="-257175" algn="l" defTabSz="685800" rtl="0" eaLnBrk="1" latinLnBrk="0" hangingPunct="1">
              <a:spcBef>
                <a:spcPct val="20000"/>
              </a:spcBef>
              <a:buFont typeface="Arial" pitchFamily="34" charset="0"/>
              <a:buChar char="•"/>
              <a:defRPr sz="2400" kern="1200">
                <a:solidFill>
                  <a:schemeClr val="tx1"/>
                </a:solidFill>
                <a:latin typeface="+mn-lt"/>
                <a:ea typeface="+mn-ea"/>
                <a:cs typeface="+mn-cs"/>
              </a:defRPr>
            </a:lvl1pPr>
            <a:lvl2pPr marL="557213" indent="-214313" algn="l" defTabSz="685800" rtl="0" eaLnBrk="1" latinLnBrk="0" hangingPunct="1">
              <a:spcBef>
                <a:spcPct val="20000"/>
              </a:spcBef>
              <a:buFont typeface="Arial" pitchFamily="34" charset="0"/>
              <a:buChar char="–"/>
              <a:defRPr sz="2100" kern="1200">
                <a:solidFill>
                  <a:schemeClr val="tx1"/>
                </a:solidFill>
                <a:latin typeface="+mn-lt"/>
                <a:ea typeface="+mn-ea"/>
                <a:cs typeface="+mn-cs"/>
              </a:defRPr>
            </a:lvl2pPr>
            <a:lvl3pPr marL="857250" indent="-171450" algn="l" defTabSz="685800" rtl="0" eaLnBrk="1" latinLnBrk="0" hangingPunct="1">
              <a:spcBef>
                <a:spcPct val="20000"/>
              </a:spcBef>
              <a:buFont typeface="Arial" pitchFamily="34" charset="0"/>
              <a:buChar char="•"/>
              <a:defRPr sz="1800" kern="1200">
                <a:solidFill>
                  <a:schemeClr val="tx1"/>
                </a:solidFill>
                <a:latin typeface="+mn-lt"/>
                <a:ea typeface="+mn-ea"/>
                <a:cs typeface="+mn-cs"/>
              </a:defRPr>
            </a:lvl3pPr>
            <a:lvl4pPr marL="12001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4pPr>
            <a:lvl5pPr marL="15430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a:lnSpc>
                <a:spcPct val="150000"/>
              </a:lnSpc>
              <a:buFontTx/>
              <a:buNone/>
            </a:pPr>
            <a:r>
              <a:rPr lang="en-US" altLang="zh-CN" dirty="0"/>
              <a:t>1.</a:t>
            </a:r>
            <a:r>
              <a:rPr lang="zh-CN" altLang="en-US" b="1" dirty="0">
                <a:solidFill>
                  <a:srgbClr val="3308E8"/>
                </a:solidFill>
              </a:rPr>
              <a:t>列举法</a:t>
            </a:r>
            <a:r>
              <a:rPr lang="zh-CN" altLang="en-US" dirty="0"/>
              <a:t>：所谓列举法就是将集合中的元素用一对花括号括起来，这个集合可以是有限集，也可以是无限集。 </a:t>
            </a:r>
          </a:p>
          <a:p>
            <a:pPr lvl="1">
              <a:lnSpc>
                <a:spcPct val="150000"/>
              </a:lnSpc>
              <a:buFontTx/>
              <a:buNone/>
            </a:pPr>
            <a:r>
              <a:rPr lang="zh-CN" altLang="zh-CN" dirty="0"/>
              <a:t>例</a:t>
            </a:r>
            <a:r>
              <a:rPr lang="en-US" altLang="zh-CN" dirty="0"/>
              <a:t>1.4 </a:t>
            </a:r>
          </a:p>
          <a:p>
            <a:pPr lvl="1">
              <a:lnSpc>
                <a:spcPct val="150000"/>
              </a:lnSpc>
              <a:buFontTx/>
              <a:buNone/>
            </a:pPr>
            <a:r>
              <a:rPr lang="zh-CN" altLang="en-US" dirty="0"/>
              <a:t>（</a:t>
            </a:r>
            <a:r>
              <a:rPr lang="en-US" altLang="zh-CN" dirty="0"/>
              <a:t>1</a:t>
            </a:r>
            <a:r>
              <a:rPr lang="zh-CN" altLang="en-US" dirty="0"/>
              <a:t>）</a:t>
            </a:r>
            <a:r>
              <a:rPr lang="en-US" altLang="zh-CN" i="1" dirty="0"/>
              <a:t>A</a:t>
            </a:r>
            <a:r>
              <a:rPr lang="en-US" altLang="zh-CN" dirty="0"/>
              <a:t>={1</a:t>
            </a:r>
            <a:r>
              <a:rPr lang="zh-CN" altLang="en-US" dirty="0"/>
              <a:t>，</a:t>
            </a:r>
            <a:r>
              <a:rPr lang="en-US" altLang="zh-CN" dirty="0"/>
              <a:t>2</a:t>
            </a:r>
            <a:r>
              <a:rPr lang="zh-CN" altLang="en-US" dirty="0"/>
              <a:t>，</a:t>
            </a:r>
            <a:r>
              <a:rPr lang="en-US" altLang="zh-CN" dirty="0"/>
              <a:t>3</a:t>
            </a:r>
            <a:r>
              <a:rPr lang="zh-CN" altLang="en-US" dirty="0"/>
              <a:t>，</a:t>
            </a:r>
            <a:r>
              <a:rPr lang="en-US" altLang="zh-CN" dirty="0"/>
              <a:t>4}</a:t>
            </a:r>
          </a:p>
          <a:p>
            <a:pPr lvl="1">
              <a:lnSpc>
                <a:spcPct val="150000"/>
              </a:lnSpc>
              <a:buFontTx/>
              <a:buNone/>
            </a:pPr>
            <a:r>
              <a:rPr lang="zh-CN" altLang="en-US" dirty="0"/>
              <a:t>（</a:t>
            </a:r>
            <a:r>
              <a:rPr lang="en-US" altLang="zh-CN" dirty="0"/>
              <a:t>2</a:t>
            </a:r>
            <a:r>
              <a:rPr lang="zh-CN" altLang="en-US" dirty="0"/>
              <a:t>）</a:t>
            </a:r>
            <a:r>
              <a:rPr lang="en-US" altLang="zh-CN" i="1" dirty="0"/>
              <a:t>B</a:t>
            </a:r>
            <a:r>
              <a:rPr lang="en-US" altLang="zh-CN" dirty="0"/>
              <a:t>={</a:t>
            </a:r>
            <a:r>
              <a:rPr lang="en-US" altLang="zh-CN" i="1" dirty="0"/>
              <a:t>a</a:t>
            </a:r>
            <a:r>
              <a:rPr lang="zh-CN" altLang="en-US" dirty="0"/>
              <a:t>，</a:t>
            </a:r>
            <a:r>
              <a:rPr lang="en-US" altLang="zh-CN" i="1" dirty="0"/>
              <a:t>b</a:t>
            </a:r>
            <a:r>
              <a:rPr lang="zh-CN" altLang="en-US" dirty="0"/>
              <a:t>，</a:t>
            </a:r>
            <a:r>
              <a:rPr lang="en-US" altLang="zh-CN" i="1" dirty="0"/>
              <a:t>c</a:t>
            </a:r>
            <a:r>
              <a:rPr lang="zh-CN" altLang="en-US" dirty="0"/>
              <a:t>，</a:t>
            </a:r>
            <a:r>
              <a:rPr lang="en-US" altLang="zh-CN" i="1" dirty="0"/>
              <a:t>d</a:t>
            </a:r>
            <a:r>
              <a:rPr lang="zh-CN" altLang="en-US" dirty="0"/>
              <a:t>，</a:t>
            </a:r>
            <a:r>
              <a:rPr lang="en-US" altLang="zh-CN" dirty="0">
                <a:latin typeface="Arial"/>
              </a:rPr>
              <a:t>…</a:t>
            </a:r>
            <a:r>
              <a:rPr lang="zh-CN" altLang="en-US" dirty="0"/>
              <a:t>，</a:t>
            </a:r>
            <a:r>
              <a:rPr lang="en-US" altLang="zh-CN" i="1" dirty="0"/>
              <a:t>x</a:t>
            </a:r>
            <a:r>
              <a:rPr lang="zh-CN" altLang="en-US" dirty="0"/>
              <a:t>，</a:t>
            </a:r>
            <a:r>
              <a:rPr lang="en-US" altLang="zh-CN" i="1" dirty="0"/>
              <a:t>y</a:t>
            </a:r>
            <a:r>
              <a:rPr lang="zh-CN" altLang="en-US" dirty="0"/>
              <a:t>，</a:t>
            </a:r>
            <a:r>
              <a:rPr lang="en-US" altLang="zh-CN" i="1" dirty="0"/>
              <a:t>z</a:t>
            </a:r>
            <a:r>
              <a:rPr lang="en-US" altLang="zh-CN" dirty="0"/>
              <a:t>}</a:t>
            </a:r>
          </a:p>
          <a:p>
            <a:pPr lvl="1">
              <a:lnSpc>
                <a:spcPct val="150000"/>
              </a:lnSpc>
              <a:buFontTx/>
              <a:buNone/>
            </a:pPr>
            <a:r>
              <a:rPr lang="zh-CN" altLang="en-US" dirty="0"/>
              <a:t>（</a:t>
            </a:r>
            <a:r>
              <a:rPr lang="en-US" altLang="zh-CN" dirty="0"/>
              <a:t>3</a:t>
            </a:r>
            <a:r>
              <a:rPr lang="zh-CN" altLang="en-US" dirty="0"/>
              <a:t>）</a:t>
            </a:r>
            <a:r>
              <a:rPr lang="en-US" altLang="zh-CN" i="1" dirty="0"/>
              <a:t>C</a:t>
            </a:r>
            <a:r>
              <a:rPr lang="zh-CN" altLang="en-US" dirty="0"/>
              <a:t>＝</a:t>
            </a:r>
            <a:r>
              <a:rPr lang="en-US" altLang="zh-CN" dirty="0"/>
              <a:t>{</a:t>
            </a:r>
            <a:r>
              <a:rPr lang="zh-CN" altLang="en-US" dirty="0"/>
              <a:t>桌子，椅子</a:t>
            </a:r>
            <a:r>
              <a:rPr lang="en-US" altLang="zh-CN" dirty="0"/>
              <a:t>}</a:t>
            </a:r>
          </a:p>
          <a:p>
            <a:pPr lvl="1">
              <a:lnSpc>
                <a:spcPct val="150000"/>
              </a:lnSpc>
              <a:buFontTx/>
              <a:buNone/>
            </a:pPr>
            <a:r>
              <a:rPr lang="zh-CN" altLang="en-US" dirty="0"/>
              <a:t>（</a:t>
            </a:r>
            <a:r>
              <a:rPr lang="en-US" altLang="zh-CN" dirty="0"/>
              <a:t>4</a:t>
            </a:r>
            <a:r>
              <a:rPr lang="zh-CN" altLang="en-US" dirty="0"/>
              <a:t>）</a:t>
            </a:r>
            <a:r>
              <a:rPr lang="en-US" altLang="zh-CN" i="1" dirty="0"/>
              <a:t>N</a:t>
            </a:r>
            <a:r>
              <a:rPr lang="en-US" altLang="zh-CN" dirty="0"/>
              <a:t>={0</a:t>
            </a:r>
            <a:r>
              <a:rPr lang="zh-CN" altLang="en-US" dirty="0"/>
              <a:t>，</a:t>
            </a:r>
            <a:r>
              <a:rPr lang="en-US" altLang="zh-CN" dirty="0"/>
              <a:t>2</a:t>
            </a:r>
            <a:r>
              <a:rPr lang="zh-CN" altLang="en-US" dirty="0"/>
              <a:t>，</a:t>
            </a:r>
            <a:r>
              <a:rPr lang="en-US" altLang="zh-CN" dirty="0"/>
              <a:t>4</a:t>
            </a:r>
            <a:r>
              <a:rPr lang="zh-CN" altLang="en-US" dirty="0"/>
              <a:t>，</a:t>
            </a:r>
            <a:r>
              <a:rPr lang="en-US" altLang="zh-CN" dirty="0"/>
              <a:t>6</a:t>
            </a:r>
            <a:r>
              <a:rPr lang="zh-CN" altLang="en-US" dirty="0"/>
              <a:t>，</a:t>
            </a:r>
            <a:r>
              <a:rPr lang="en-US" altLang="zh-CN" dirty="0"/>
              <a:t>8</a:t>
            </a:r>
            <a:r>
              <a:rPr lang="zh-CN" altLang="en-US" dirty="0"/>
              <a:t>，</a:t>
            </a:r>
            <a:r>
              <a:rPr lang="en-US" altLang="zh-CN" dirty="0"/>
              <a:t>10</a:t>
            </a:r>
            <a:r>
              <a:rPr lang="zh-CN" altLang="en-US" dirty="0"/>
              <a:t>，</a:t>
            </a:r>
            <a:r>
              <a:rPr lang="en-US" altLang="zh-CN" dirty="0">
                <a:latin typeface="Arial"/>
              </a:rPr>
              <a:t>…</a:t>
            </a:r>
            <a:r>
              <a:rPr lang="en-US" altLang="zh-CN" dirty="0"/>
              <a:t>}</a:t>
            </a:r>
          </a:p>
        </p:txBody>
      </p:sp>
      <p:sp>
        <p:nvSpPr>
          <p:cNvPr id="7" name="灯片编号占位符 6">
            <a:extLst>
              <a:ext uri="{FF2B5EF4-FFF2-40B4-BE49-F238E27FC236}">
                <a16:creationId xmlns:a16="http://schemas.microsoft.com/office/drawing/2014/main" id="{A3F1181D-4D02-4230-8B6C-62B476665435}"/>
              </a:ext>
            </a:extLst>
          </p:cNvPr>
          <p:cNvSpPr>
            <a:spLocks noGrp="1"/>
          </p:cNvSpPr>
          <p:nvPr>
            <p:ph type="sldNum" sz="quarter" idx="12"/>
          </p:nvPr>
        </p:nvSpPr>
        <p:spPr/>
        <p:txBody>
          <a:bodyPr/>
          <a:lstStyle/>
          <a:p>
            <a:fld id="{0C913308-F349-4B6D-A68A-DD1791B4A57B}" type="slidenum">
              <a:rPr lang="zh-CN" altLang="en-US" smtClean="0"/>
              <a:pPr/>
              <a:t>13</a:t>
            </a:fld>
            <a:endParaRPr lang="zh-CN" altLang="en-US"/>
          </a:p>
        </p:txBody>
      </p:sp>
    </p:spTree>
    <p:extLst>
      <p:ext uri="{BB962C8B-B14F-4D97-AF65-F5344CB8AC3E}">
        <p14:creationId xmlns:p14="http://schemas.microsoft.com/office/powerpoint/2010/main" val="22315366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3">
            <a:extLst>
              <a:ext uri="{FF2B5EF4-FFF2-40B4-BE49-F238E27FC236}">
                <a16:creationId xmlns:a16="http://schemas.microsoft.com/office/drawing/2014/main" id="{72692B3C-A0AC-49A4-B9F1-4223BDB9C66A}"/>
              </a:ext>
            </a:extLst>
          </p:cNvPr>
          <p:cNvSpPr txBox="1">
            <a:spLocks noChangeArrowheads="1"/>
          </p:cNvSpPr>
          <p:nvPr/>
        </p:nvSpPr>
        <p:spPr>
          <a:xfrm>
            <a:off x="551384" y="1628800"/>
            <a:ext cx="10441160" cy="4465042"/>
          </a:xfrm>
          <a:prstGeom prst="rect">
            <a:avLst/>
          </a:prstGeom>
        </p:spPr>
        <p:txBody>
          <a:bodyPr/>
          <a:lstStyle>
            <a:lvl1pPr marL="257175" indent="-257175" algn="l" defTabSz="685800" rtl="0" eaLnBrk="1" latinLnBrk="0" hangingPunct="1">
              <a:spcBef>
                <a:spcPct val="20000"/>
              </a:spcBef>
              <a:buFont typeface="Arial" pitchFamily="34" charset="0"/>
              <a:buChar char="•"/>
              <a:defRPr sz="2400" kern="1200">
                <a:solidFill>
                  <a:schemeClr val="tx1"/>
                </a:solidFill>
                <a:latin typeface="+mn-lt"/>
                <a:ea typeface="+mn-ea"/>
                <a:cs typeface="+mn-cs"/>
              </a:defRPr>
            </a:lvl1pPr>
            <a:lvl2pPr marL="557213" indent="-214313" algn="l" defTabSz="685800" rtl="0" eaLnBrk="1" latinLnBrk="0" hangingPunct="1">
              <a:spcBef>
                <a:spcPct val="20000"/>
              </a:spcBef>
              <a:buFont typeface="Arial" pitchFamily="34" charset="0"/>
              <a:buChar char="–"/>
              <a:defRPr sz="2100" kern="1200">
                <a:solidFill>
                  <a:schemeClr val="tx1"/>
                </a:solidFill>
                <a:latin typeface="+mn-lt"/>
                <a:ea typeface="+mn-ea"/>
                <a:cs typeface="+mn-cs"/>
              </a:defRPr>
            </a:lvl2pPr>
            <a:lvl3pPr marL="857250" indent="-171450" algn="l" defTabSz="685800" rtl="0" eaLnBrk="1" latinLnBrk="0" hangingPunct="1">
              <a:spcBef>
                <a:spcPct val="20000"/>
              </a:spcBef>
              <a:buFont typeface="Arial" pitchFamily="34" charset="0"/>
              <a:buChar char="•"/>
              <a:defRPr sz="1800" kern="1200">
                <a:solidFill>
                  <a:schemeClr val="tx1"/>
                </a:solidFill>
                <a:latin typeface="+mn-lt"/>
                <a:ea typeface="+mn-ea"/>
                <a:cs typeface="+mn-cs"/>
              </a:defRPr>
            </a:lvl3pPr>
            <a:lvl4pPr marL="12001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4pPr>
            <a:lvl5pPr marL="15430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a:lnSpc>
                <a:spcPct val="150000"/>
              </a:lnSpc>
              <a:buFontTx/>
              <a:buNone/>
            </a:pPr>
            <a:r>
              <a:rPr lang="en-US" altLang="zh-CN" dirty="0"/>
              <a:t>2.</a:t>
            </a:r>
            <a:r>
              <a:rPr lang="zh-CN" altLang="en-US" b="1" dirty="0">
                <a:solidFill>
                  <a:srgbClr val="3308E8"/>
                </a:solidFill>
              </a:rPr>
              <a:t>描述法</a:t>
            </a:r>
            <a:r>
              <a:rPr lang="zh-CN" altLang="en-US" dirty="0"/>
              <a:t>：描述集合的方法是通过刻画集合中元素所具备的某种特性来表示集合。我们通常用符号</a:t>
            </a:r>
            <a:r>
              <a:rPr lang="en-US" altLang="zh-CN" dirty="0"/>
              <a:t>P(x)</a:t>
            </a:r>
            <a:r>
              <a:rPr lang="zh-CN" altLang="en-US" dirty="0"/>
              <a:t>来表示不同对象</a:t>
            </a:r>
            <a:r>
              <a:rPr lang="en-US" altLang="zh-CN" dirty="0"/>
              <a:t>x</a:t>
            </a:r>
            <a:r>
              <a:rPr lang="zh-CN" altLang="en-US" dirty="0"/>
              <a:t>所具有的性质</a:t>
            </a:r>
            <a:r>
              <a:rPr lang="en-US" altLang="zh-CN" dirty="0"/>
              <a:t>P</a:t>
            </a:r>
            <a:r>
              <a:rPr lang="zh-CN" altLang="en-US" dirty="0"/>
              <a:t>，由</a:t>
            </a:r>
            <a:r>
              <a:rPr lang="en-US" altLang="zh-CN" dirty="0"/>
              <a:t>P (x)</a:t>
            </a:r>
            <a:r>
              <a:rPr lang="zh-CN" altLang="en-US" dirty="0"/>
              <a:t>所定义的集合常记为：</a:t>
            </a:r>
            <a:r>
              <a:rPr lang="en-US" altLang="zh-CN" dirty="0"/>
              <a:t>{x | P(x)}</a:t>
            </a:r>
          </a:p>
          <a:p>
            <a:pPr>
              <a:lnSpc>
                <a:spcPct val="150000"/>
              </a:lnSpc>
              <a:buFontTx/>
              <a:buNone/>
            </a:pPr>
            <a:r>
              <a:rPr lang="zh-CN" altLang="en-US" sz="2000" dirty="0"/>
              <a:t>例</a:t>
            </a:r>
            <a:r>
              <a:rPr lang="en-US" altLang="zh-CN" sz="2000" dirty="0"/>
              <a:t>1.5    </a:t>
            </a:r>
            <a:r>
              <a:rPr lang="zh-CN" altLang="en-US" sz="2000" dirty="0"/>
              <a:t>（</a:t>
            </a:r>
            <a:r>
              <a:rPr lang="en-US" altLang="zh-CN" sz="2000" dirty="0"/>
              <a:t>1</a:t>
            </a:r>
            <a:r>
              <a:rPr lang="zh-CN" altLang="en-US" sz="2000" dirty="0"/>
              <a:t>） </a:t>
            </a:r>
            <a:r>
              <a:rPr lang="en-US" altLang="zh-CN" sz="2000" i="1" dirty="0"/>
              <a:t>A</a:t>
            </a:r>
            <a:r>
              <a:rPr lang="en-US" altLang="zh-CN" sz="2000" dirty="0"/>
              <a:t>= {</a:t>
            </a:r>
            <a:r>
              <a:rPr lang="en-US" altLang="zh-CN" sz="2000" i="1" dirty="0"/>
              <a:t>x</a:t>
            </a:r>
            <a:r>
              <a:rPr lang="en-US" altLang="zh-CN" sz="2000" dirty="0"/>
              <a:t> </a:t>
            </a:r>
            <a:r>
              <a:rPr lang="en-US" altLang="zh-CN" sz="2000" dirty="0">
                <a:sym typeface="Symbol" pitchFamily="18" charset="2"/>
              </a:rPr>
              <a:t></a:t>
            </a:r>
            <a:r>
              <a:rPr lang="en-US" altLang="zh-CN" sz="2000" dirty="0"/>
              <a:t>0&lt;</a:t>
            </a:r>
            <a:r>
              <a:rPr lang="en-US" altLang="zh-CN" sz="2000" i="1" dirty="0"/>
              <a:t>x&lt;</a:t>
            </a:r>
            <a:r>
              <a:rPr lang="en-US" altLang="zh-CN" sz="2000" dirty="0"/>
              <a:t>2</a:t>
            </a:r>
            <a:r>
              <a:rPr lang="zh-CN" altLang="en-US" sz="2000" dirty="0"/>
              <a:t>，</a:t>
            </a:r>
            <a:r>
              <a:rPr lang="en-US" altLang="zh-CN" sz="2000" i="1" dirty="0" err="1"/>
              <a:t>x</a:t>
            </a:r>
            <a:r>
              <a:rPr lang="en-US" altLang="zh-CN" sz="2000" dirty="0" err="1"/>
              <a:t>∈</a:t>
            </a:r>
            <a:r>
              <a:rPr lang="en-US" altLang="zh-CN" sz="2000" i="1" dirty="0" err="1"/>
              <a:t>R</a:t>
            </a:r>
            <a:r>
              <a:rPr lang="en-US" altLang="zh-CN" sz="2000" i="1" dirty="0"/>
              <a:t> </a:t>
            </a:r>
            <a:r>
              <a:rPr lang="en-US" altLang="zh-CN" sz="2000" dirty="0"/>
              <a:t>}</a:t>
            </a:r>
          </a:p>
          <a:p>
            <a:pPr>
              <a:lnSpc>
                <a:spcPct val="150000"/>
              </a:lnSpc>
              <a:buFontTx/>
              <a:buNone/>
            </a:pPr>
            <a:r>
              <a:rPr lang="zh-CN" altLang="en-US" sz="2000" dirty="0"/>
              <a:t>              （</a:t>
            </a:r>
            <a:r>
              <a:rPr lang="en-US" altLang="zh-CN" sz="2000" dirty="0"/>
              <a:t>2</a:t>
            </a:r>
            <a:r>
              <a:rPr lang="zh-CN" altLang="en-US" sz="2000" dirty="0"/>
              <a:t>） </a:t>
            </a:r>
            <a:r>
              <a:rPr lang="en-US" altLang="zh-CN" sz="2000" i="1" dirty="0"/>
              <a:t>B</a:t>
            </a:r>
            <a:r>
              <a:rPr lang="en-US" altLang="zh-CN" sz="2000" dirty="0"/>
              <a:t>={ </a:t>
            </a:r>
            <a:r>
              <a:rPr lang="en-US" altLang="zh-CN" sz="2000" i="1" dirty="0"/>
              <a:t>x</a:t>
            </a:r>
            <a:r>
              <a:rPr lang="en-US" altLang="zh-CN" sz="2000" dirty="0"/>
              <a:t> </a:t>
            </a:r>
            <a:r>
              <a:rPr lang="en-US" altLang="zh-CN" sz="2000" dirty="0">
                <a:sym typeface="Symbol" pitchFamily="18" charset="2"/>
              </a:rPr>
              <a:t></a:t>
            </a:r>
            <a:r>
              <a:rPr lang="en-US" altLang="zh-CN" sz="2000" dirty="0"/>
              <a:t> </a:t>
            </a:r>
            <a:r>
              <a:rPr lang="en-US" altLang="zh-CN" sz="2000" i="1" dirty="0"/>
              <a:t>x</a:t>
            </a:r>
            <a:r>
              <a:rPr lang="en-US" altLang="zh-CN" sz="2000" baseline="30000" dirty="0"/>
              <a:t>2</a:t>
            </a:r>
            <a:r>
              <a:rPr lang="en-US" altLang="zh-CN" sz="2000" dirty="0"/>
              <a:t>-1=0</a:t>
            </a:r>
            <a:r>
              <a:rPr lang="zh-CN" altLang="en-US" sz="2000" dirty="0"/>
              <a:t>，</a:t>
            </a:r>
            <a:r>
              <a:rPr lang="en-US" altLang="zh-CN" sz="2000" i="1" dirty="0" err="1"/>
              <a:t>x</a:t>
            </a:r>
            <a:r>
              <a:rPr lang="en-US" altLang="zh-CN" sz="2000" dirty="0" err="1"/>
              <a:t>∈</a:t>
            </a:r>
            <a:r>
              <a:rPr lang="en-US" altLang="zh-CN" sz="2000" i="1" dirty="0" err="1"/>
              <a:t>R</a:t>
            </a:r>
            <a:r>
              <a:rPr lang="en-US" altLang="zh-CN" sz="2000" i="1" dirty="0"/>
              <a:t> </a:t>
            </a:r>
            <a:r>
              <a:rPr lang="en-US" altLang="zh-CN" sz="2000" dirty="0"/>
              <a:t>}</a:t>
            </a:r>
          </a:p>
          <a:p>
            <a:pPr>
              <a:lnSpc>
                <a:spcPct val="150000"/>
              </a:lnSpc>
              <a:buFontTx/>
              <a:buNone/>
            </a:pPr>
            <a:r>
              <a:rPr lang="zh-CN" altLang="en-US" sz="2000" dirty="0"/>
              <a:t>              （</a:t>
            </a:r>
            <a:r>
              <a:rPr lang="en-US" altLang="zh-CN" sz="2000" dirty="0"/>
              <a:t>3</a:t>
            </a:r>
            <a:r>
              <a:rPr lang="zh-CN" altLang="en-US" sz="2000" dirty="0"/>
              <a:t>） </a:t>
            </a:r>
            <a:r>
              <a:rPr lang="en-US" altLang="zh-CN" sz="2000" i="1" dirty="0"/>
              <a:t>C</a:t>
            </a:r>
            <a:r>
              <a:rPr lang="en-US" altLang="zh-CN" sz="2000" dirty="0"/>
              <a:t>={(</a:t>
            </a:r>
            <a:r>
              <a:rPr lang="en-US" altLang="zh-CN" sz="2000" i="1" dirty="0"/>
              <a:t>x</a:t>
            </a:r>
            <a:r>
              <a:rPr lang="zh-CN" altLang="en-US" sz="2000" dirty="0"/>
              <a:t>，</a:t>
            </a:r>
            <a:r>
              <a:rPr lang="en-US" altLang="zh-CN" sz="2000" i="1" dirty="0"/>
              <a:t>y</a:t>
            </a:r>
            <a:r>
              <a:rPr lang="en-US" altLang="zh-CN" sz="2000" dirty="0"/>
              <a:t>)</a:t>
            </a:r>
            <a:r>
              <a:rPr lang="en-US" altLang="zh-CN" sz="2000" dirty="0">
                <a:sym typeface="Symbol" pitchFamily="18" charset="2"/>
              </a:rPr>
              <a:t></a:t>
            </a:r>
            <a:r>
              <a:rPr lang="en-US" altLang="zh-CN" sz="2000" i="1" dirty="0"/>
              <a:t>x</a:t>
            </a:r>
            <a:r>
              <a:rPr lang="en-US" altLang="zh-CN" sz="2000" baseline="30000" dirty="0"/>
              <a:t>2</a:t>
            </a:r>
            <a:r>
              <a:rPr lang="en-US" altLang="zh-CN" sz="2000" dirty="0"/>
              <a:t>+</a:t>
            </a:r>
            <a:r>
              <a:rPr lang="en-US" altLang="zh-CN" sz="2000" i="1" dirty="0"/>
              <a:t>y</a:t>
            </a:r>
            <a:r>
              <a:rPr lang="en-US" altLang="zh-CN" sz="2000" baseline="30000" dirty="0"/>
              <a:t>2</a:t>
            </a:r>
            <a:r>
              <a:rPr lang="en-US" altLang="zh-CN" sz="2000" dirty="0"/>
              <a:t>≤4</a:t>
            </a:r>
            <a:r>
              <a:rPr lang="zh-CN" altLang="en-US" sz="2000" dirty="0"/>
              <a:t>，</a:t>
            </a:r>
            <a:r>
              <a:rPr lang="en-US" altLang="zh-CN" sz="2000" i="1" dirty="0"/>
              <a:t>x</a:t>
            </a:r>
            <a:r>
              <a:rPr lang="zh-CN" altLang="en-US" sz="2000" dirty="0"/>
              <a:t>，</a:t>
            </a:r>
            <a:r>
              <a:rPr lang="en-US" altLang="zh-CN" sz="2000" i="1" dirty="0" err="1"/>
              <a:t>y</a:t>
            </a:r>
            <a:r>
              <a:rPr lang="en-US" altLang="zh-CN" sz="2000" dirty="0" err="1"/>
              <a:t>∈</a:t>
            </a:r>
            <a:r>
              <a:rPr lang="en-US" altLang="zh-CN" sz="2000" i="1" dirty="0" err="1"/>
              <a:t>R</a:t>
            </a:r>
            <a:r>
              <a:rPr lang="en-US" altLang="zh-CN" sz="2000" i="1" dirty="0"/>
              <a:t> </a:t>
            </a:r>
            <a:r>
              <a:rPr lang="en-US" altLang="zh-CN" sz="2000" dirty="0"/>
              <a:t>}   </a:t>
            </a:r>
          </a:p>
          <a:p>
            <a:pPr>
              <a:lnSpc>
                <a:spcPct val="150000"/>
              </a:lnSpc>
              <a:buFontTx/>
              <a:buNone/>
            </a:pPr>
            <a:r>
              <a:rPr lang="zh-CN" altLang="en-US" sz="2000" dirty="0"/>
              <a:t>              （</a:t>
            </a:r>
            <a:r>
              <a:rPr lang="en-US" altLang="zh-CN" sz="2000" dirty="0"/>
              <a:t>4</a:t>
            </a:r>
            <a:r>
              <a:rPr lang="zh-CN" altLang="en-US" sz="2000" dirty="0"/>
              <a:t>） </a:t>
            </a:r>
            <a:r>
              <a:rPr lang="en-US" altLang="zh-CN" sz="2000" i="1" dirty="0"/>
              <a:t>D</a:t>
            </a:r>
            <a:r>
              <a:rPr lang="en-US" altLang="zh-CN" sz="2000" dirty="0"/>
              <a:t>= {</a:t>
            </a:r>
            <a:r>
              <a:rPr lang="en-US" altLang="zh-CN" sz="2000" i="1" dirty="0"/>
              <a:t>x</a:t>
            </a:r>
            <a:r>
              <a:rPr lang="en-US" altLang="zh-CN" sz="2000" dirty="0"/>
              <a:t> </a:t>
            </a:r>
            <a:r>
              <a:rPr lang="en-US" altLang="zh-CN" sz="2000" dirty="0">
                <a:sym typeface="Symbol" pitchFamily="18" charset="2"/>
              </a:rPr>
              <a:t></a:t>
            </a:r>
            <a:r>
              <a:rPr lang="en-US" altLang="zh-CN" sz="2000" i="1" dirty="0"/>
              <a:t>x</a:t>
            </a:r>
            <a:r>
              <a:rPr lang="zh-CN" altLang="en-US" sz="2000" dirty="0"/>
              <a:t>是动物</a:t>
            </a:r>
            <a:r>
              <a:rPr lang="en-US" altLang="zh-CN" sz="2000" dirty="0"/>
              <a:t>}</a:t>
            </a:r>
          </a:p>
          <a:p>
            <a:pPr>
              <a:lnSpc>
                <a:spcPct val="150000"/>
              </a:lnSpc>
              <a:buFontTx/>
              <a:buNone/>
            </a:pPr>
            <a:r>
              <a:rPr lang="zh-CN" altLang="en-US" sz="2000" dirty="0"/>
              <a:t>说明：描述法中</a:t>
            </a:r>
            <a:r>
              <a:rPr lang="en-US" altLang="zh-CN" sz="2000" i="1" dirty="0"/>
              <a:t>A</a:t>
            </a:r>
            <a:r>
              <a:rPr lang="en-US" altLang="zh-CN" sz="2000" dirty="0"/>
              <a:t>={ </a:t>
            </a:r>
            <a:r>
              <a:rPr lang="en-US" altLang="zh-CN" sz="2000" i="1" dirty="0"/>
              <a:t>x</a:t>
            </a:r>
            <a:r>
              <a:rPr lang="en-US" altLang="zh-CN" sz="2000" dirty="0"/>
              <a:t> </a:t>
            </a:r>
            <a:r>
              <a:rPr lang="en-US" altLang="zh-CN" sz="2000" dirty="0">
                <a:sym typeface="Symbol" pitchFamily="18" charset="2"/>
              </a:rPr>
              <a:t> </a:t>
            </a:r>
            <a:r>
              <a:rPr lang="en-US" altLang="zh-CN" sz="2000" dirty="0"/>
              <a:t>0&lt;</a:t>
            </a:r>
            <a:r>
              <a:rPr lang="en-US" altLang="zh-CN" sz="2000" i="1" dirty="0"/>
              <a:t>x&lt; </a:t>
            </a:r>
            <a:r>
              <a:rPr lang="en-US" altLang="zh-CN" sz="2000" dirty="0"/>
              <a:t>2}</a:t>
            </a:r>
            <a:r>
              <a:rPr lang="zh-CN" altLang="en-US" sz="2000" dirty="0"/>
              <a:t>与</a:t>
            </a:r>
            <a:r>
              <a:rPr lang="en-US" altLang="zh-CN" sz="2000" i="1" dirty="0"/>
              <a:t>A</a:t>
            </a:r>
            <a:r>
              <a:rPr lang="en-US" altLang="zh-CN" sz="2000" dirty="0"/>
              <a:t>={</a:t>
            </a:r>
            <a:r>
              <a:rPr lang="en-US" altLang="zh-CN" sz="2000" i="1" dirty="0"/>
              <a:t>y</a:t>
            </a:r>
            <a:r>
              <a:rPr lang="en-US" altLang="zh-CN" sz="2000" dirty="0">
                <a:sym typeface="Symbol" pitchFamily="18" charset="2"/>
              </a:rPr>
              <a:t> </a:t>
            </a:r>
            <a:r>
              <a:rPr lang="en-US" altLang="zh-CN" sz="2000" dirty="0"/>
              <a:t>0&lt; </a:t>
            </a:r>
            <a:r>
              <a:rPr lang="en-US" altLang="zh-CN" sz="2000" i="1" dirty="0"/>
              <a:t>y &lt; </a:t>
            </a:r>
            <a:r>
              <a:rPr lang="en-US" altLang="zh-CN" sz="2000" dirty="0"/>
              <a:t>2}</a:t>
            </a:r>
            <a:r>
              <a:rPr lang="zh-CN" altLang="en-US" sz="2000" dirty="0"/>
              <a:t>是表示同一个集合。</a:t>
            </a:r>
          </a:p>
        </p:txBody>
      </p:sp>
      <p:sp>
        <p:nvSpPr>
          <p:cNvPr id="6" name="灯片编号占位符 5">
            <a:extLst>
              <a:ext uri="{FF2B5EF4-FFF2-40B4-BE49-F238E27FC236}">
                <a16:creationId xmlns:a16="http://schemas.microsoft.com/office/drawing/2014/main" id="{CF2C348D-C62B-436D-99E4-C49DBC6A0C50}"/>
              </a:ext>
            </a:extLst>
          </p:cNvPr>
          <p:cNvSpPr>
            <a:spLocks noGrp="1"/>
          </p:cNvSpPr>
          <p:nvPr>
            <p:ph type="sldNum" sz="quarter" idx="12"/>
          </p:nvPr>
        </p:nvSpPr>
        <p:spPr/>
        <p:txBody>
          <a:bodyPr/>
          <a:lstStyle/>
          <a:p>
            <a:fld id="{0C913308-F349-4B6D-A68A-DD1791B4A57B}" type="slidenum">
              <a:rPr lang="zh-CN" altLang="en-US" smtClean="0"/>
              <a:pPr/>
              <a:t>14</a:t>
            </a:fld>
            <a:endParaRPr lang="zh-CN" altLang="en-US"/>
          </a:p>
        </p:txBody>
      </p:sp>
    </p:spTree>
    <p:extLst>
      <p:ext uri="{BB962C8B-B14F-4D97-AF65-F5344CB8AC3E}">
        <p14:creationId xmlns:p14="http://schemas.microsoft.com/office/powerpoint/2010/main" val="64656845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3">
            <a:extLst>
              <a:ext uri="{FF2B5EF4-FFF2-40B4-BE49-F238E27FC236}">
                <a16:creationId xmlns:a16="http://schemas.microsoft.com/office/drawing/2014/main" id="{178E1EAA-C9A3-4ED7-BEE9-19D2E2DEE204}"/>
              </a:ext>
            </a:extLst>
          </p:cNvPr>
          <p:cNvSpPr txBox="1">
            <a:spLocks noChangeArrowheads="1"/>
          </p:cNvSpPr>
          <p:nvPr/>
        </p:nvSpPr>
        <p:spPr>
          <a:xfrm>
            <a:off x="457200" y="1772816"/>
            <a:ext cx="11039400" cy="4682920"/>
          </a:xfrm>
          <a:prstGeom prst="rect">
            <a:avLst/>
          </a:prstGeom>
        </p:spPr>
        <p:txBody>
          <a:bodyPr/>
          <a:lstStyle>
            <a:lvl1pPr marL="257175" indent="-257175" algn="l" defTabSz="685800" rtl="0" eaLnBrk="1" latinLnBrk="0" hangingPunct="1">
              <a:spcBef>
                <a:spcPct val="20000"/>
              </a:spcBef>
              <a:buFont typeface="Arial" pitchFamily="34" charset="0"/>
              <a:buChar char="•"/>
              <a:defRPr sz="2400" kern="1200">
                <a:solidFill>
                  <a:schemeClr val="tx1"/>
                </a:solidFill>
                <a:latin typeface="+mn-lt"/>
                <a:ea typeface="+mn-ea"/>
                <a:cs typeface="+mn-cs"/>
              </a:defRPr>
            </a:lvl1pPr>
            <a:lvl2pPr marL="557213" indent="-214313" algn="l" defTabSz="685800" rtl="0" eaLnBrk="1" latinLnBrk="0" hangingPunct="1">
              <a:spcBef>
                <a:spcPct val="20000"/>
              </a:spcBef>
              <a:buFont typeface="Arial" pitchFamily="34" charset="0"/>
              <a:buChar char="–"/>
              <a:defRPr sz="2100" kern="1200">
                <a:solidFill>
                  <a:schemeClr val="tx1"/>
                </a:solidFill>
                <a:latin typeface="+mn-lt"/>
                <a:ea typeface="+mn-ea"/>
                <a:cs typeface="+mn-cs"/>
              </a:defRPr>
            </a:lvl2pPr>
            <a:lvl3pPr marL="857250" indent="-171450" algn="l" defTabSz="685800" rtl="0" eaLnBrk="1" latinLnBrk="0" hangingPunct="1">
              <a:spcBef>
                <a:spcPct val="20000"/>
              </a:spcBef>
              <a:buFont typeface="Arial" pitchFamily="34" charset="0"/>
              <a:buChar char="•"/>
              <a:defRPr sz="1800" kern="1200">
                <a:solidFill>
                  <a:schemeClr val="tx1"/>
                </a:solidFill>
                <a:latin typeface="+mn-lt"/>
                <a:ea typeface="+mn-ea"/>
                <a:cs typeface="+mn-cs"/>
              </a:defRPr>
            </a:lvl3pPr>
            <a:lvl4pPr marL="12001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4pPr>
            <a:lvl5pPr marL="15430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a:lnSpc>
                <a:spcPct val="150000"/>
              </a:lnSpc>
              <a:buFontTx/>
              <a:buNone/>
            </a:pPr>
            <a:r>
              <a:rPr lang="en-US" altLang="zh-CN" dirty="0"/>
              <a:t>3.</a:t>
            </a:r>
            <a:r>
              <a:rPr lang="zh-CN" altLang="en-US" b="1" dirty="0">
                <a:solidFill>
                  <a:srgbClr val="3308E8"/>
                </a:solidFill>
              </a:rPr>
              <a:t>文氏图</a:t>
            </a:r>
          </a:p>
          <a:p>
            <a:pPr lvl="1">
              <a:lnSpc>
                <a:spcPct val="150000"/>
              </a:lnSpc>
              <a:buFontTx/>
              <a:buNone/>
            </a:pPr>
            <a:r>
              <a:rPr lang="zh-CN" altLang="en-US" sz="2400" dirty="0"/>
              <a:t>用平面上封闭曲线包围点集的图形来表示集合（见图</a:t>
            </a:r>
            <a:r>
              <a:rPr lang="en-US" altLang="zh-CN" sz="2400" dirty="0"/>
              <a:t>1.1</a:t>
            </a:r>
            <a:r>
              <a:rPr lang="zh-CN" altLang="en-US" sz="2400" dirty="0"/>
              <a:t>）。文氏图可以形象和直观地描述集合之间的关系和集合之间的有关运算</a:t>
            </a:r>
            <a:r>
              <a:rPr lang="zh-CN" altLang="en-US" dirty="0"/>
              <a:t>。</a:t>
            </a:r>
          </a:p>
        </p:txBody>
      </p:sp>
      <p:sp>
        <p:nvSpPr>
          <p:cNvPr id="7" name="Oval 6">
            <a:extLst>
              <a:ext uri="{FF2B5EF4-FFF2-40B4-BE49-F238E27FC236}">
                <a16:creationId xmlns:a16="http://schemas.microsoft.com/office/drawing/2014/main" id="{5C8D3039-6DCC-4624-9904-722559C1E215}"/>
              </a:ext>
            </a:extLst>
          </p:cNvPr>
          <p:cNvSpPr>
            <a:spLocks noChangeArrowheads="1"/>
          </p:cNvSpPr>
          <p:nvPr/>
        </p:nvSpPr>
        <p:spPr bwMode="auto">
          <a:xfrm>
            <a:off x="3071664" y="3717032"/>
            <a:ext cx="1374924" cy="1342331"/>
          </a:xfrm>
          <a:prstGeom prst="ellipse">
            <a:avLst/>
          </a:prstGeom>
          <a:solidFill>
            <a:srgbClr val="C0C0C0"/>
          </a:solidFill>
          <a:ln w="9525">
            <a:solidFill>
              <a:srgbClr val="000000"/>
            </a:solidFill>
            <a:round/>
            <a:headEnd/>
            <a:tailEnd/>
          </a:ln>
        </p:spPr>
        <p:txBody>
          <a:bodyPr/>
          <a:lstStyle/>
          <a:p>
            <a:pPr algn="ctr"/>
            <a:r>
              <a:rPr kumimoji="1" lang="en-US" altLang="zh-CN" sz="2800" b="0" i="1" dirty="0">
                <a:latin typeface="Times New Roman" pitchFamily="18" charset="0"/>
              </a:rPr>
              <a:t>A</a:t>
            </a:r>
            <a:endParaRPr kumimoji="1" lang="en-US" altLang="zh-CN" sz="2800" b="0" baseline="30000" dirty="0">
              <a:latin typeface="Tahoma" pitchFamily="34" charset="0"/>
            </a:endParaRPr>
          </a:p>
        </p:txBody>
      </p:sp>
      <p:sp>
        <p:nvSpPr>
          <p:cNvPr id="8" name="Rectangle 7">
            <a:extLst>
              <a:ext uri="{FF2B5EF4-FFF2-40B4-BE49-F238E27FC236}">
                <a16:creationId xmlns:a16="http://schemas.microsoft.com/office/drawing/2014/main" id="{AD5BF4F3-B22B-44DF-857A-09D2DBC3BBB0}"/>
              </a:ext>
            </a:extLst>
          </p:cNvPr>
          <p:cNvSpPr>
            <a:spLocks noChangeArrowheads="1"/>
          </p:cNvSpPr>
          <p:nvPr/>
        </p:nvSpPr>
        <p:spPr bwMode="auto">
          <a:xfrm>
            <a:off x="3071664" y="5420999"/>
            <a:ext cx="1458913"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kumimoji="1" lang="zh-CN" altLang="en-US" sz="2400" b="0" baseline="30000" dirty="0">
                <a:latin typeface="Tahoma" pitchFamily="34" charset="0"/>
              </a:rPr>
              <a:t>图</a:t>
            </a:r>
            <a:r>
              <a:rPr kumimoji="1" lang="en-US" altLang="zh-CN" sz="2400" b="0" baseline="30000" dirty="0">
                <a:latin typeface="Tahoma" pitchFamily="34" charset="0"/>
              </a:rPr>
              <a:t>1.1 </a:t>
            </a:r>
            <a:r>
              <a:rPr kumimoji="1" lang="zh-CN" altLang="en-US" sz="2400" b="0" baseline="30000" dirty="0">
                <a:latin typeface="Tahoma" pitchFamily="34" charset="0"/>
              </a:rPr>
              <a:t>集合</a:t>
            </a:r>
            <a:r>
              <a:rPr kumimoji="1" lang="en-US" altLang="zh-CN" sz="2400" b="0" baseline="30000" dirty="0">
                <a:latin typeface="Tahoma" pitchFamily="34" charset="0"/>
              </a:rPr>
              <a:t>A</a:t>
            </a:r>
          </a:p>
        </p:txBody>
      </p:sp>
    </p:spTree>
    <p:extLst>
      <p:ext uri="{BB962C8B-B14F-4D97-AF65-F5344CB8AC3E}">
        <p14:creationId xmlns:p14="http://schemas.microsoft.com/office/powerpoint/2010/main" val="384029556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8A89804B-638B-487B-82C9-82B50621EC0F}"/>
              </a:ext>
            </a:extLst>
          </p:cNvPr>
          <p:cNvSpPr txBox="1">
            <a:spLocks noChangeArrowheads="1"/>
          </p:cNvSpPr>
          <p:nvPr/>
        </p:nvSpPr>
        <p:spPr>
          <a:xfrm>
            <a:off x="479376" y="1340768"/>
            <a:ext cx="5040560" cy="4968552"/>
          </a:xfrm>
          <a:prstGeom prst="rect">
            <a:avLst/>
          </a:prstGeom>
          <a:ln>
            <a:solidFill>
              <a:schemeClr val="accent1"/>
            </a:solidFill>
          </a:ln>
        </p:spPr>
        <p:txBody>
          <a:bodyPr/>
          <a:lstStyle>
            <a:lvl1pPr marL="257175" indent="-257175" algn="l" defTabSz="685800" rtl="0" eaLnBrk="1" latinLnBrk="0" hangingPunct="1">
              <a:spcBef>
                <a:spcPct val="20000"/>
              </a:spcBef>
              <a:buFont typeface="Arial" pitchFamily="34" charset="0"/>
              <a:buChar char="•"/>
              <a:defRPr sz="2400" kern="1200">
                <a:solidFill>
                  <a:schemeClr val="tx1"/>
                </a:solidFill>
                <a:latin typeface="+mn-lt"/>
                <a:ea typeface="+mn-ea"/>
                <a:cs typeface="+mn-cs"/>
              </a:defRPr>
            </a:lvl1pPr>
            <a:lvl2pPr marL="557213" indent="-214313" algn="l" defTabSz="685800" rtl="0" eaLnBrk="1" latinLnBrk="0" hangingPunct="1">
              <a:spcBef>
                <a:spcPct val="20000"/>
              </a:spcBef>
              <a:buFont typeface="Arial" pitchFamily="34" charset="0"/>
              <a:buChar char="–"/>
              <a:defRPr sz="2100" kern="1200">
                <a:solidFill>
                  <a:schemeClr val="tx1"/>
                </a:solidFill>
                <a:latin typeface="+mn-lt"/>
                <a:ea typeface="+mn-ea"/>
                <a:cs typeface="+mn-cs"/>
              </a:defRPr>
            </a:lvl2pPr>
            <a:lvl3pPr marL="857250" indent="-171450" algn="l" defTabSz="685800" rtl="0" eaLnBrk="1" latinLnBrk="0" hangingPunct="1">
              <a:spcBef>
                <a:spcPct val="20000"/>
              </a:spcBef>
              <a:buFont typeface="Arial" pitchFamily="34" charset="0"/>
              <a:buChar char="•"/>
              <a:defRPr sz="1800" kern="1200">
                <a:solidFill>
                  <a:schemeClr val="tx1"/>
                </a:solidFill>
                <a:latin typeface="+mn-lt"/>
                <a:ea typeface="+mn-ea"/>
                <a:cs typeface="+mn-cs"/>
              </a:defRPr>
            </a:lvl3pPr>
            <a:lvl4pPr marL="12001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4pPr>
            <a:lvl5pPr marL="15430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609600" indent="-609600">
              <a:lnSpc>
                <a:spcPct val="150000"/>
              </a:lnSpc>
              <a:buFontTx/>
              <a:buNone/>
            </a:pPr>
            <a:r>
              <a:rPr lang="en-US" altLang="zh-CN" dirty="0"/>
              <a:t>4.</a:t>
            </a:r>
            <a:r>
              <a:rPr lang="en-US" altLang="zh-CN" b="1" dirty="0">
                <a:solidFill>
                  <a:srgbClr val="3308E8"/>
                </a:solidFill>
              </a:rPr>
              <a:t>Backus </a:t>
            </a:r>
            <a:r>
              <a:rPr lang="en-US" altLang="zh-CN" b="1" dirty="0" err="1">
                <a:solidFill>
                  <a:srgbClr val="3308E8"/>
                </a:solidFill>
              </a:rPr>
              <a:t>Naur</a:t>
            </a:r>
            <a:r>
              <a:rPr lang="en-US" altLang="zh-CN" b="1" dirty="0">
                <a:solidFill>
                  <a:srgbClr val="3308E8"/>
                </a:solidFill>
              </a:rPr>
              <a:t> Form(BNF)</a:t>
            </a:r>
          </a:p>
          <a:p>
            <a:pPr marL="990600" lvl="1" indent="-533400">
              <a:lnSpc>
                <a:spcPct val="150000"/>
              </a:lnSpc>
              <a:buFontTx/>
              <a:buNone/>
            </a:pPr>
            <a:r>
              <a:rPr lang="zh-CN" altLang="en-US" dirty="0"/>
              <a:t>常用于定义高级程序设计语言的语法集合。</a:t>
            </a:r>
          </a:p>
          <a:p>
            <a:pPr marL="990600" lvl="1" indent="-533400">
              <a:lnSpc>
                <a:spcPct val="150000"/>
              </a:lnSpc>
              <a:buFontTx/>
              <a:buNone/>
            </a:pPr>
            <a:r>
              <a:rPr lang="zh-CN" altLang="en-US" dirty="0"/>
              <a:t>例</a:t>
            </a:r>
            <a:r>
              <a:rPr lang="en-US" altLang="zh-CN" dirty="0"/>
              <a:t>1. 6</a:t>
            </a:r>
            <a:r>
              <a:rPr lang="en-US" altLang="zh-CN" dirty="0">
                <a:latin typeface="Arial"/>
              </a:rPr>
              <a:t> </a:t>
            </a:r>
            <a:r>
              <a:rPr lang="en-US" altLang="zh-CN" dirty="0"/>
              <a:t> </a:t>
            </a:r>
            <a:r>
              <a:rPr lang="zh-CN" altLang="en-US" dirty="0"/>
              <a:t>在</a:t>
            </a:r>
            <a:r>
              <a:rPr lang="en-US" altLang="zh-CN" dirty="0"/>
              <a:t>PASCAL</a:t>
            </a:r>
            <a:r>
              <a:rPr lang="zh-CN" altLang="en-US" dirty="0"/>
              <a:t>语言中，标识符集合定义如下：</a:t>
            </a:r>
          </a:p>
          <a:p>
            <a:pPr marL="990600" lvl="1" indent="-533400">
              <a:lnSpc>
                <a:spcPct val="150000"/>
              </a:lnSpc>
              <a:buFontTx/>
              <a:buNone/>
            </a:pPr>
            <a:r>
              <a:rPr lang="zh-CN" altLang="en-US" dirty="0"/>
              <a:t>＜</a:t>
            </a:r>
            <a:r>
              <a:rPr lang="en-US" altLang="zh-CN" dirty="0"/>
              <a:t>Letter</a:t>
            </a:r>
            <a:r>
              <a:rPr lang="zh-CN" altLang="en-US" dirty="0"/>
              <a:t>＞</a:t>
            </a:r>
            <a:r>
              <a:rPr lang="en-US" altLang="zh-CN" dirty="0"/>
              <a:t>::=</a:t>
            </a:r>
            <a:r>
              <a:rPr lang="zh-CN" altLang="en-US" dirty="0"/>
              <a:t>＜</a:t>
            </a:r>
            <a:r>
              <a:rPr lang="en-US" altLang="zh-CN" dirty="0"/>
              <a:t>Letter</a:t>
            </a:r>
            <a:r>
              <a:rPr lang="zh-CN" altLang="en-US" dirty="0"/>
              <a:t>＞</a:t>
            </a:r>
            <a:r>
              <a:rPr lang="en-US" altLang="zh-CN" dirty="0"/>
              <a:t>{</a:t>
            </a:r>
            <a:r>
              <a:rPr lang="zh-CN" altLang="en-US" dirty="0"/>
              <a:t>＜</a:t>
            </a:r>
            <a:r>
              <a:rPr lang="en-US" altLang="zh-CN" dirty="0"/>
              <a:t>Letter</a:t>
            </a:r>
            <a:r>
              <a:rPr lang="en-US" altLang="zh-CN" dirty="0">
                <a:latin typeface="Arial"/>
              </a:rPr>
              <a:t> </a:t>
            </a:r>
            <a:r>
              <a:rPr lang="en-US" altLang="zh-CN" dirty="0"/>
              <a:t> or</a:t>
            </a:r>
            <a:r>
              <a:rPr lang="en-US" altLang="zh-CN" dirty="0">
                <a:latin typeface="Arial"/>
              </a:rPr>
              <a:t> </a:t>
            </a:r>
            <a:r>
              <a:rPr lang="en-US" altLang="zh-CN" dirty="0"/>
              <a:t> Digit</a:t>
            </a:r>
            <a:r>
              <a:rPr lang="zh-CN" altLang="en-US" dirty="0"/>
              <a:t>＞</a:t>
            </a:r>
            <a:r>
              <a:rPr lang="en-US" altLang="zh-CN" dirty="0"/>
              <a:t>}</a:t>
            </a:r>
          </a:p>
          <a:p>
            <a:pPr marL="990600" lvl="1" indent="-533400">
              <a:lnSpc>
                <a:spcPct val="150000"/>
              </a:lnSpc>
              <a:buFontTx/>
              <a:buNone/>
            </a:pPr>
            <a:r>
              <a:rPr lang="en-US" altLang="zh-CN" dirty="0"/>
              <a:t>{</a:t>
            </a:r>
            <a:r>
              <a:rPr lang="zh-CN" altLang="en-US" dirty="0"/>
              <a:t>＜</a:t>
            </a:r>
            <a:r>
              <a:rPr lang="en-US" altLang="zh-CN" dirty="0"/>
              <a:t>Letter</a:t>
            </a:r>
            <a:r>
              <a:rPr lang="en-US" altLang="zh-CN" dirty="0">
                <a:latin typeface="Arial"/>
              </a:rPr>
              <a:t> </a:t>
            </a:r>
            <a:r>
              <a:rPr lang="en-US" altLang="zh-CN" dirty="0"/>
              <a:t> or</a:t>
            </a:r>
            <a:r>
              <a:rPr lang="en-US" altLang="zh-CN" dirty="0">
                <a:latin typeface="Arial"/>
              </a:rPr>
              <a:t> </a:t>
            </a:r>
            <a:r>
              <a:rPr lang="en-US" altLang="zh-CN" dirty="0"/>
              <a:t> Digit</a:t>
            </a:r>
            <a:r>
              <a:rPr lang="zh-CN" altLang="en-US" dirty="0"/>
              <a:t>＞</a:t>
            </a:r>
            <a:r>
              <a:rPr lang="en-US" altLang="zh-CN" dirty="0"/>
              <a:t>}::=</a:t>
            </a:r>
            <a:r>
              <a:rPr lang="zh-CN" altLang="en-US" dirty="0"/>
              <a:t>＜</a:t>
            </a:r>
            <a:r>
              <a:rPr lang="en-US" altLang="zh-CN" dirty="0"/>
              <a:t>Letter</a:t>
            </a:r>
            <a:r>
              <a:rPr lang="zh-CN" altLang="en-US" dirty="0"/>
              <a:t>＞</a:t>
            </a:r>
            <a:r>
              <a:rPr lang="en-US" altLang="zh-CN" dirty="0"/>
              <a:t>|</a:t>
            </a:r>
            <a:r>
              <a:rPr lang="zh-CN" altLang="en-US" dirty="0"/>
              <a:t>＜</a:t>
            </a:r>
            <a:r>
              <a:rPr lang="en-US" altLang="zh-CN" dirty="0"/>
              <a:t>Digit</a:t>
            </a:r>
            <a:r>
              <a:rPr lang="zh-CN" altLang="en-US" dirty="0"/>
              <a:t>＞</a:t>
            </a:r>
          </a:p>
        </p:txBody>
      </p:sp>
      <p:sp>
        <p:nvSpPr>
          <p:cNvPr id="7" name="Rectangle 2">
            <a:extLst>
              <a:ext uri="{FF2B5EF4-FFF2-40B4-BE49-F238E27FC236}">
                <a16:creationId xmlns:a16="http://schemas.microsoft.com/office/drawing/2014/main" id="{51188E7D-742F-4CEF-AA97-46C102601DF8}"/>
              </a:ext>
            </a:extLst>
          </p:cNvPr>
          <p:cNvSpPr txBox="1">
            <a:spLocks noChangeArrowheads="1"/>
          </p:cNvSpPr>
          <p:nvPr/>
        </p:nvSpPr>
        <p:spPr>
          <a:xfrm>
            <a:off x="6312024" y="1432654"/>
            <a:ext cx="4536504" cy="4804658"/>
          </a:xfrm>
          <a:prstGeom prst="rect">
            <a:avLst/>
          </a:prstGeom>
          <a:ln>
            <a:solidFill>
              <a:schemeClr val="accent1"/>
            </a:solidFill>
          </a:ln>
        </p:spPr>
        <p:txBody>
          <a:bodyPr/>
          <a:lstStyle>
            <a:lvl1pPr marL="257175" indent="-257175" algn="l" defTabSz="685800" rtl="0" eaLnBrk="1" latinLnBrk="0" hangingPunct="1">
              <a:spcBef>
                <a:spcPct val="20000"/>
              </a:spcBef>
              <a:buFont typeface="Arial" pitchFamily="34" charset="0"/>
              <a:buChar char="•"/>
              <a:defRPr sz="2400" kern="1200">
                <a:solidFill>
                  <a:schemeClr val="tx1"/>
                </a:solidFill>
                <a:latin typeface="+mn-lt"/>
                <a:ea typeface="+mn-ea"/>
                <a:cs typeface="+mn-cs"/>
              </a:defRPr>
            </a:lvl1pPr>
            <a:lvl2pPr marL="557213" indent="-214313" algn="l" defTabSz="685800" rtl="0" eaLnBrk="1" latinLnBrk="0" hangingPunct="1">
              <a:spcBef>
                <a:spcPct val="20000"/>
              </a:spcBef>
              <a:buFont typeface="Arial" pitchFamily="34" charset="0"/>
              <a:buChar char="–"/>
              <a:defRPr sz="2100" kern="1200">
                <a:solidFill>
                  <a:schemeClr val="tx1"/>
                </a:solidFill>
                <a:latin typeface="+mn-lt"/>
                <a:ea typeface="+mn-ea"/>
                <a:cs typeface="+mn-cs"/>
              </a:defRPr>
            </a:lvl2pPr>
            <a:lvl3pPr marL="857250" indent="-171450" algn="l" defTabSz="685800" rtl="0" eaLnBrk="1" latinLnBrk="0" hangingPunct="1">
              <a:spcBef>
                <a:spcPct val="20000"/>
              </a:spcBef>
              <a:buFont typeface="Arial" pitchFamily="34" charset="0"/>
              <a:buChar char="•"/>
              <a:defRPr sz="1800" kern="1200">
                <a:solidFill>
                  <a:schemeClr val="tx1"/>
                </a:solidFill>
                <a:latin typeface="+mn-lt"/>
                <a:ea typeface="+mn-ea"/>
                <a:cs typeface="+mn-cs"/>
              </a:defRPr>
            </a:lvl3pPr>
            <a:lvl4pPr marL="12001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4pPr>
            <a:lvl5pPr marL="15430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609600" indent="-609600">
              <a:lnSpc>
                <a:spcPct val="150000"/>
              </a:lnSpc>
              <a:buFontTx/>
              <a:buNone/>
            </a:pPr>
            <a:r>
              <a:rPr lang="en-US" altLang="zh-CN" dirty="0"/>
              <a:t>5.</a:t>
            </a:r>
            <a:r>
              <a:rPr lang="zh-CN" altLang="en-US" b="1" dirty="0">
                <a:solidFill>
                  <a:srgbClr val="3308E8"/>
                </a:solidFill>
              </a:rPr>
              <a:t>递规定义</a:t>
            </a:r>
          </a:p>
          <a:p>
            <a:pPr marL="990600" lvl="1" indent="-533400">
              <a:lnSpc>
                <a:spcPct val="150000"/>
              </a:lnSpc>
              <a:buFontTx/>
              <a:buNone/>
            </a:pPr>
            <a:r>
              <a:rPr lang="zh-CN" altLang="en-US" dirty="0"/>
              <a:t>给定基础元素，通过计算规则定义集合的其他元素。</a:t>
            </a:r>
          </a:p>
          <a:p>
            <a:pPr marL="1371600" lvl="2" indent="-457200">
              <a:lnSpc>
                <a:spcPct val="150000"/>
              </a:lnSpc>
              <a:buFontTx/>
              <a:buNone/>
            </a:pPr>
            <a:r>
              <a:rPr lang="en-US" altLang="zh-CN" i="1" dirty="0"/>
              <a:t>a</a:t>
            </a:r>
            <a:r>
              <a:rPr lang="en-US" altLang="zh-CN" baseline="-25000" dirty="0"/>
              <a:t>0</a:t>
            </a:r>
            <a:r>
              <a:rPr lang="en-US" altLang="zh-CN" dirty="0"/>
              <a:t>=1</a:t>
            </a:r>
            <a:r>
              <a:rPr lang="zh-CN" altLang="en-US" dirty="0"/>
              <a:t>， </a:t>
            </a:r>
            <a:r>
              <a:rPr lang="en-US" altLang="zh-CN" i="1" dirty="0"/>
              <a:t>a</a:t>
            </a:r>
            <a:r>
              <a:rPr lang="en-US" altLang="zh-CN" baseline="-25000" dirty="0"/>
              <a:t>1</a:t>
            </a:r>
            <a:r>
              <a:rPr lang="en-US" altLang="zh-CN" dirty="0"/>
              <a:t>=1</a:t>
            </a:r>
            <a:r>
              <a:rPr lang="zh-CN" altLang="en-US" dirty="0"/>
              <a:t>， </a:t>
            </a:r>
            <a:r>
              <a:rPr lang="en-US" altLang="zh-CN" i="1" dirty="0"/>
              <a:t>a</a:t>
            </a:r>
            <a:r>
              <a:rPr lang="en-US" altLang="zh-CN" i="1" baseline="-25000" dirty="0"/>
              <a:t>i+1</a:t>
            </a:r>
            <a:r>
              <a:rPr lang="en-US" altLang="zh-CN" dirty="0"/>
              <a:t>=2</a:t>
            </a:r>
            <a:r>
              <a:rPr lang="en-US" altLang="zh-CN" i="1" dirty="0"/>
              <a:t>a</a:t>
            </a:r>
            <a:r>
              <a:rPr lang="en-US" altLang="zh-CN" i="1" baseline="-25000" dirty="0"/>
              <a:t>i</a:t>
            </a:r>
            <a:r>
              <a:rPr lang="en-US" altLang="zh-CN" i="1" dirty="0"/>
              <a:t>+a</a:t>
            </a:r>
            <a:r>
              <a:rPr lang="en-US" altLang="zh-CN" i="1" baseline="-25000" dirty="0"/>
              <a:t>i</a:t>
            </a:r>
            <a:r>
              <a:rPr lang="en-US" altLang="zh-CN" i="1" dirty="0"/>
              <a:t>-1</a:t>
            </a:r>
            <a:r>
              <a:rPr lang="en-US" altLang="zh-CN" dirty="0"/>
              <a:t> (</a:t>
            </a:r>
            <a:r>
              <a:rPr lang="en-US" altLang="zh-CN" i="1" dirty="0"/>
              <a:t>i</a:t>
            </a:r>
            <a:r>
              <a:rPr lang="en-US" altLang="zh-CN" dirty="0"/>
              <a:t>≥1)</a:t>
            </a:r>
            <a:r>
              <a:rPr lang="zh-CN" altLang="en-US" dirty="0"/>
              <a:t>，</a:t>
            </a:r>
          </a:p>
          <a:p>
            <a:pPr marL="990600" lvl="1" indent="-533400">
              <a:lnSpc>
                <a:spcPct val="150000"/>
              </a:lnSpc>
              <a:buFontTx/>
              <a:buNone/>
            </a:pPr>
            <a:r>
              <a:rPr lang="zh-CN" altLang="en-US" dirty="0"/>
              <a:t>于是：</a:t>
            </a:r>
            <a:endParaRPr lang="zh-CN" altLang="en-US" i="1" dirty="0"/>
          </a:p>
          <a:p>
            <a:pPr marL="990600" lvl="1" indent="-533400">
              <a:lnSpc>
                <a:spcPct val="150000"/>
              </a:lnSpc>
              <a:buFontTx/>
              <a:buNone/>
            </a:pPr>
            <a:r>
              <a:rPr lang="en-US" altLang="zh-CN" i="1" dirty="0"/>
              <a:t>S</a:t>
            </a:r>
            <a:r>
              <a:rPr lang="en-US" altLang="zh-CN" dirty="0"/>
              <a:t>={</a:t>
            </a:r>
            <a:r>
              <a:rPr lang="en-US" altLang="zh-CN" i="1" dirty="0"/>
              <a:t>a</a:t>
            </a:r>
            <a:r>
              <a:rPr lang="en-US" altLang="zh-CN" baseline="-25000" dirty="0"/>
              <a:t>0</a:t>
            </a:r>
            <a:r>
              <a:rPr lang="zh-CN" altLang="en-US" dirty="0"/>
              <a:t>，</a:t>
            </a:r>
            <a:r>
              <a:rPr lang="en-US" altLang="zh-CN" i="1" dirty="0"/>
              <a:t>a</a:t>
            </a:r>
            <a:r>
              <a:rPr lang="en-US" altLang="zh-CN" baseline="-25000" dirty="0"/>
              <a:t>1</a:t>
            </a:r>
            <a:r>
              <a:rPr lang="zh-CN" altLang="en-US" dirty="0"/>
              <a:t>，</a:t>
            </a:r>
            <a:r>
              <a:rPr lang="en-US" altLang="zh-CN" dirty="0">
                <a:latin typeface="Arial"/>
              </a:rPr>
              <a:t>…</a:t>
            </a:r>
            <a:r>
              <a:rPr lang="zh-CN" altLang="en-US" dirty="0"/>
              <a:t>，</a:t>
            </a:r>
            <a:r>
              <a:rPr lang="en-US" altLang="zh-CN" i="1" dirty="0"/>
              <a:t>a</a:t>
            </a:r>
            <a:r>
              <a:rPr lang="en-US" altLang="zh-CN" baseline="-25000" dirty="0"/>
              <a:t>n</a:t>
            </a:r>
            <a:r>
              <a:rPr lang="en-US" altLang="zh-CN" dirty="0"/>
              <a:t>}={</a:t>
            </a:r>
            <a:r>
              <a:rPr lang="en-US" altLang="zh-CN" i="1" dirty="0"/>
              <a:t>a </a:t>
            </a:r>
            <a:r>
              <a:rPr lang="en-US" altLang="zh-CN" baseline="-25000" dirty="0"/>
              <a:t>k</a:t>
            </a:r>
            <a:r>
              <a:rPr lang="en-US" altLang="zh-CN" dirty="0"/>
              <a:t> | </a:t>
            </a:r>
            <a:r>
              <a:rPr lang="en-US" altLang="zh-CN" i="1" dirty="0"/>
              <a:t>k</a:t>
            </a:r>
            <a:r>
              <a:rPr lang="en-US" altLang="zh-CN" dirty="0"/>
              <a:t>≥0}</a:t>
            </a:r>
            <a:r>
              <a:rPr lang="en-US" altLang="zh-CN" sz="2400" dirty="0"/>
              <a:t> </a:t>
            </a:r>
          </a:p>
        </p:txBody>
      </p:sp>
    </p:spTree>
    <p:extLst>
      <p:ext uri="{BB962C8B-B14F-4D97-AF65-F5344CB8AC3E}">
        <p14:creationId xmlns:p14="http://schemas.microsoft.com/office/powerpoint/2010/main" val="354339556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DBE053E7-45F7-42F6-A968-244844FC0477}"/>
              </a:ext>
            </a:extLst>
          </p:cNvPr>
          <p:cNvSpPr txBox="1">
            <a:spLocks noChangeArrowheads="1"/>
          </p:cNvSpPr>
          <p:nvPr/>
        </p:nvSpPr>
        <p:spPr>
          <a:xfrm>
            <a:off x="2063552" y="188640"/>
            <a:ext cx="6612904" cy="648072"/>
          </a:xfrm>
          <a:prstGeom prst="rect">
            <a:avLst/>
          </a:prstGeom>
        </p:spPr>
        <p:txBody>
          <a:bodyPr/>
          <a:lstStyle>
            <a:lvl1pPr algn="ctr" defTabSz="685800" rtl="0" eaLnBrk="1" latinLnBrk="0" hangingPunct="1">
              <a:spcBef>
                <a:spcPct val="0"/>
              </a:spcBef>
              <a:buNone/>
              <a:defRPr sz="3300" kern="1200">
                <a:solidFill>
                  <a:schemeClr val="tx1"/>
                </a:solidFill>
                <a:latin typeface="+mj-lt"/>
                <a:ea typeface="+mj-ea"/>
                <a:cs typeface="+mj-cs"/>
              </a:defRPr>
            </a:lvl1pPr>
          </a:lstStyle>
          <a:p>
            <a:r>
              <a:rPr lang="en-US" altLang="zh-CN" b="1" dirty="0"/>
              <a:t>1.2  </a:t>
            </a:r>
            <a:r>
              <a:rPr lang="zh-CN" altLang="en-US" b="1" dirty="0"/>
              <a:t>集合间的关系</a:t>
            </a:r>
          </a:p>
        </p:txBody>
      </p:sp>
      <p:sp>
        <p:nvSpPr>
          <p:cNvPr id="7" name="Rectangle 3">
            <a:extLst>
              <a:ext uri="{FF2B5EF4-FFF2-40B4-BE49-F238E27FC236}">
                <a16:creationId xmlns:a16="http://schemas.microsoft.com/office/drawing/2014/main" id="{44C58C34-A223-42CC-A3B9-D3328C6AAC3A}"/>
              </a:ext>
            </a:extLst>
          </p:cNvPr>
          <p:cNvSpPr txBox="1">
            <a:spLocks noChangeArrowheads="1"/>
          </p:cNvSpPr>
          <p:nvPr/>
        </p:nvSpPr>
        <p:spPr>
          <a:xfrm>
            <a:off x="457200" y="1772816"/>
            <a:ext cx="10895384" cy="4682920"/>
          </a:xfrm>
          <a:prstGeom prst="rect">
            <a:avLst/>
          </a:prstGeom>
        </p:spPr>
        <p:txBody>
          <a:bodyPr/>
          <a:lstStyle>
            <a:lvl1pPr marL="257175" indent="-257175" algn="l" defTabSz="685800" rtl="0" eaLnBrk="1" latinLnBrk="0" hangingPunct="1">
              <a:spcBef>
                <a:spcPct val="20000"/>
              </a:spcBef>
              <a:buFont typeface="Arial" pitchFamily="34" charset="0"/>
              <a:buChar char="•"/>
              <a:defRPr sz="2400" kern="1200">
                <a:solidFill>
                  <a:schemeClr val="tx1"/>
                </a:solidFill>
                <a:latin typeface="+mn-lt"/>
                <a:ea typeface="+mn-ea"/>
                <a:cs typeface="+mn-cs"/>
              </a:defRPr>
            </a:lvl1pPr>
            <a:lvl2pPr marL="557213" indent="-214313" algn="l" defTabSz="685800" rtl="0" eaLnBrk="1" latinLnBrk="0" hangingPunct="1">
              <a:spcBef>
                <a:spcPct val="20000"/>
              </a:spcBef>
              <a:buFont typeface="Arial" pitchFamily="34" charset="0"/>
              <a:buChar char="–"/>
              <a:defRPr sz="2100" kern="1200">
                <a:solidFill>
                  <a:schemeClr val="tx1"/>
                </a:solidFill>
                <a:latin typeface="+mn-lt"/>
                <a:ea typeface="+mn-ea"/>
                <a:cs typeface="+mn-cs"/>
              </a:defRPr>
            </a:lvl2pPr>
            <a:lvl3pPr marL="857250" indent="-171450" algn="l" defTabSz="685800" rtl="0" eaLnBrk="1" latinLnBrk="0" hangingPunct="1">
              <a:spcBef>
                <a:spcPct val="20000"/>
              </a:spcBef>
              <a:buFont typeface="Arial" pitchFamily="34" charset="0"/>
              <a:buChar char="•"/>
              <a:defRPr sz="1800" kern="1200">
                <a:solidFill>
                  <a:schemeClr val="tx1"/>
                </a:solidFill>
                <a:latin typeface="+mn-lt"/>
                <a:ea typeface="+mn-ea"/>
                <a:cs typeface="+mn-cs"/>
              </a:defRPr>
            </a:lvl3pPr>
            <a:lvl4pPr marL="12001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4pPr>
            <a:lvl5pPr marL="15430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a:lnSpc>
                <a:spcPct val="150000"/>
              </a:lnSpc>
              <a:buFontTx/>
              <a:buNone/>
            </a:pPr>
            <a:r>
              <a:rPr lang="en-US" altLang="zh-CN" dirty="0"/>
              <a:t>1.2.1</a:t>
            </a:r>
            <a:r>
              <a:rPr lang="zh-CN" altLang="en-US" b="1" dirty="0">
                <a:solidFill>
                  <a:srgbClr val="3308E8"/>
                </a:solidFill>
              </a:rPr>
              <a:t>包含</a:t>
            </a:r>
            <a:r>
              <a:rPr lang="zh-CN" altLang="en-US" dirty="0"/>
              <a:t>关系</a:t>
            </a:r>
          </a:p>
          <a:p>
            <a:pPr>
              <a:lnSpc>
                <a:spcPct val="150000"/>
              </a:lnSpc>
              <a:buFontTx/>
              <a:buNone/>
            </a:pPr>
            <a:r>
              <a:rPr lang="zh-CN" altLang="en-US" dirty="0">
                <a:solidFill>
                  <a:srgbClr val="FF9900"/>
                </a:solidFill>
              </a:rPr>
              <a:t>定义</a:t>
            </a:r>
            <a:r>
              <a:rPr lang="en-US" altLang="zh-CN" dirty="0">
                <a:solidFill>
                  <a:srgbClr val="FF9900"/>
                </a:solidFill>
              </a:rPr>
              <a:t>1. 1</a:t>
            </a:r>
            <a:r>
              <a:rPr lang="en-US" altLang="zh-CN" dirty="0"/>
              <a:t> </a:t>
            </a:r>
            <a:r>
              <a:rPr lang="zh-CN" altLang="en-US" dirty="0"/>
              <a:t>包含</a:t>
            </a:r>
          </a:p>
          <a:p>
            <a:pPr lvl="1">
              <a:lnSpc>
                <a:spcPct val="150000"/>
              </a:lnSpc>
              <a:buFontTx/>
              <a:buNone/>
            </a:pPr>
            <a:r>
              <a:rPr lang="zh-CN" altLang="en-US" sz="2400" dirty="0"/>
              <a:t>设</a:t>
            </a:r>
            <a:r>
              <a:rPr lang="en-US" altLang="zh-CN" sz="2400" dirty="0"/>
              <a:t>A</a:t>
            </a:r>
            <a:r>
              <a:rPr lang="zh-CN" altLang="en-US" sz="2400" dirty="0"/>
              <a:t>和</a:t>
            </a:r>
            <a:r>
              <a:rPr lang="en-US" altLang="zh-CN" sz="2400" dirty="0"/>
              <a:t>B</a:t>
            </a:r>
            <a:r>
              <a:rPr lang="zh-CN" altLang="en-US" sz="2400" dirty="0"/>
              <a:t>是两个集合</a:t>
            </a:r>
            <a:r>
              <a:rPr lang="en-US" altLang="zh-CN" sz="2400" dirty="0"/>
              <a:t>,</a:t>
            </a:r>
            <a:r>
              <a:rPr lang="zh-CN" altLang="en-US" sz="2400" dirty="0"/>
              <a:t>若</a:t>
            </a:r>
            <a:r>
              <a:rPr lang="en-US" altLang="zh-CN" sz="2400" dirty="0"/>
              <a:t>A</a:t>
            </a:r>
            <a:r>
              <a:rPr lang="zh-CN" altLang="en-US" sz="2400" dirty="0"/>
              <a:t>中的每一个元素都是</a:t>
            </a:r>
            <a:r>
              <a:rPr lang="en-US" altLang="zh-CN" sz="2400" dirty="0"/>
              <a:t>B</a:t>
            </a:r>
            <a:r>
              <a:rPr lang="zh-CN" altLang="en-US" sz="2400" dirty="0"/>
              <a:t>的元素</a:t>
            </a:r>
            <a:r>
              <a:rPr lang="en-US" altLang="zh-CN" sz="2400" dirty="0"/>
              <a:t>,</a:t>
            </a:r>
            <a:r>
              <a:rPr lang="zh-CN" altLang="en-US" sz="2400" dirty="0"/>
              <a:t>则称</a:t>
            </a:r>
            <a:r>
              <a:rPr lang="en-US" altLang="zh-CN" sz="2400" dirty="0"/>
              <a:t>A</a:t>
            </a:r>
            <a:r>
              <a:rPr lang="zh-CN" altLang="en-US" sz="2400" dirty="0"/>
              <a:t>是</a:t>
            </a:r>
            <a:r>
              <a:rPr lang="en-US" altLang="zh-CN" sz="2400" dirty="0"/>
              <a:t>B</a:t>
            </a:r>
            <a:r>
              <a:rPr lang="zh-CN" altLang="en-US" sz="2400" dirty="0"/>
              <a:t>的</a:t>
            </a:r>
            <a:r>
              <a:rPr lang="zh-CN" altLang="en-US" sz="2400" b="1" dirty="0">
                <a:solidFill>
                  <a:srgbClr val="3308E8"/>
                </a:solidFill>
                <a:ea typeface=""/>
                <a:cs typeface=""/>
              </a:rPr>
              <a:t>子集</a:t>
            </a:r>
            <a:r>
              <a:rPr lang="en-US" altLang="zh-CN" sz="2400" dirty="0"/>
              <a:t>,</a:t>
            </a:r>
            <a:r>
              <a:rPr lang="zh-CN" altLang="en-US" sz="2400" dirty="0"/>
              <a:t>记作</a:t>
            </a:r>
            <a:r>
              <a:rPr lang="en-US" altLang="zh-CN" sz="2400" dirty="0"/>
              <a:t>A</a:t>
            </a:r>
            <a:r>
              <a:rPr lang="en-US" altLang="zh-CN" sz="2400" dirty="0">
                <a:sym typeface="Symbol" pitchFamily="18" charset="2"/>
              </a:rPr>
              <a:t>B</a:t>
            </a:r>
            <a:r>
              <a:rPr lang="zh-CN" altLang="en-US" sz="2400" dirty="0">
                <a:sym typeface="Symbol" pitchFamily="18" charset="2"/>
              </a:rPr>
              <a:t>或</a:t>
            </a:r>
            <a:r>
              <a:rPr lang="en-US" altLang="zh-CN" sz="2400" dirty="0">
                <a:sym typeface="Symbol" pitchFamily="18" charset="2"/>
              </a:rPr>
              <a:t>BA .</a:t>
            </a:r>
          </a:p>
          <a:p>
            <a:pPr lvl="1">
              <a:lnSpc>
                <a:spcPct val="150000"/>
              </a:lnSpc>
              <a:buFontTx/>
              <a:buNone/>
            </a:pPr>
            <a:r>
              <a:rPr lang="zh-CN" altLang="en-US" sz="2400" dirty="0">
                <a:sym typeface="Symbol" pitchFamily="18" charset="2"/>
              </a:rPr>
              <a:t>若</a:t>
            </a:r>
            <a:r>
              <a:rPr lang="en-US" altLang="zh-CN" sz="2400" dirty="0">
                <a:sym typeface="Symbol" pitchFamily="18" charset="2"/>
              </a:rPr>
              <a:t>AB</a:t>
            </a:r>
            <a:r>
              <a:rPr lang="zh-CN" altLang="en-US" sz="2400" dirty="0">
                <a:sym typeface="Symbol" pitchFamily="18" charset="2"/>
              </a:rPr>
              <a:t>且</a:t>
            </a:r>
            <a:r>
              <a:rPr lang="en-US" altLang="zh-CN" sz="2400" dirty="0">
                <a:sym typeface="Symbol" pitchFamily="18" charset="2"/>
              </a:rPr>
              <a:t>A</a:t>
            </a:r>
            <a:r>
              <a:rPr lang="en-US" altLang="zh-CN" sz="2400" dirty="0">
                <a:cs typeface="Tahoma" pitchFamily="34" charset="0"/>
                <a:sym typeface="Symbol" pitchFamily="18" charset="2"/>
              </a:rPr>
              <a:t>B,</a:t>
            </a:r>
            <a:r>
              <a:rPr lang="zh-CN" altLang="en-US" sz="2400" dirty="0"/>
              <a:t>则称</a:t>
            </a:r>
            <a:r>
              <a:rPr lang="en-US" altLang="zh-CN" sz="2400" dirty="0"/>
              <a:t>A</a:t>
            </a:r>
            <a:r>
              <a:rPr lang="zh-CN" altLang="en-US" sz="2400" dirty="0"/>
              <a:t>是</a:t>
            </a:r>
            <a:r>
              <a:rPr lang="en-US" altLang="zh-CN" sz="2400" dirty="0"/>
              <a:t>B</a:t>
            </a:r>
            <a:r>
              <a:rPr lang="zh-CN" altLang="en-US" sz="2400" dirty="0"/>
              <a:t>的</a:t>
            </a:r>
            <a:r>
              <a:rPr lang="zh-CN" altLang="en-US" sz="2400" b="1" dirty="0">
                <a:solidFill>
                  <a:srgbClr val="3308E8"/>
                </a:solidFill>
              </a:rPr>
              <a:t>真子集</a:t>
            </a:r>
            <a:r>
              <a:rPr lang="en-US" altLang="zh-CN" sz="2400" dirty="0"/>
              <a:t>,</a:t>
            </a:r>
            <a:r>
              <a:rPr lang="zh-CN" altLang="en-US" sz="2400" dirty="0"/>
              <a:t>记作</a:t>
            </a:r>
            <a:r>
              <a:rPr lang="en-US" altLang="zh-CN" sz="2400" dirty="0"/>
              <a:t>A</a:t>
            </a:r>
            <a:r>
              <a:rPr lang="en-US" altLang="zh-CN" sz="2400" dirty="0">
                <a:sym typeface="Symbol" pitchFamily="18" charset="2"/>
              </a:rPr>
              <a:t>B.B</a:t>
            </a:r>
            <a:r>
              <a:rPr lang="zh-CN" altLang="en-US" sz="2400" dirty="0">
                <a:sym typeface="Symbol" pitchFamily="18" charset="2"/>
              </a:rPr>
              <a:t>称为</a:t>
            </a:r>
            <a:r>
              <a:rPr lang="en-US" altLang="zh-CN" sz="2400" dirty="0">
                <a:sym typeface="Symbol" pitchFamily="18" charset="2"/>
              </a:rPr>
              <a:t>A</a:t>
            </a:r>
            <a:r>
              <a:rPr lang="zh-CN" altLang="en-US" sz="2400" dirty="0">
                <a:sym typeface="Symbol" pitchFamily="18" charset="2"/>
              </a:rPr>
              <a:t>的</a:t>
            </a:r>
            <a:r>
              <a:rPr lang="zh-CN" altLang="en-US" sz="2400" b="1" dirty="0">
                <a:solidFill>
                  <a:srgbClr val="3308E8"/>
                </a:solidFill>
                <a:sym typeface="Symbol" pitchFamily="18" charset="2"/>
              </a:rPr>
              <a:t>超集</a:t>
            </a:r>
            <a:r>
              <a:rPr lang="en-US" altLang="zh-CN" sz="2400" dirty="0">
                <a:sym typeface="Symbol" pitchFamily="18" charset="2"/>
              </a:rPr>
              <a:t>.</a:t>
            </a:r>
          </a:p>
          <a:p>
            <a:pPr lvl="1">
              <a:lnSpc>
                <a:spcPct val="150000"/>
              </a:lnSpc>
              <a:buFontTx/>
              <a:buNone/>
            </a:pPr>
            <a:r>
              <a:rPr lang="zh-CN" altLang="en-US" sz="2400" dirty="0"/>
              <a:t>此外，若存在元素</a:t>
            </a:r>
            <a:r>
              <a:rPr lang="en-US" altLang="zh-CN" sz="2400" dirty="0" err="1"/>
              <a:t>a</a:t>
            </a:r>
            <a:r>
              <a:rPr lang="en-US" altLang="zh-CN" sz="2400" dirty="0" err="1">
                <a:sym typeface="Symbol" pitchFamily="18" charset="2"/>
              </a:rPr>
              <a:t></a:t>
            </a:r>
            <a:r>
              <a:rPr lang="en-US" altLang="zh-CN" sz="2400" dirty="0" err="1"/>
              <a:t>A</a:t>
            </a:r>
            <a:r>
              <a:rPr lang="en-US" altLang="zh-CN" sz="2400" dirty="0"/>
              <a:t>, </a:t>
            </a:r>
            <a:r>
              <a:rPr lang="zh-CN" altLang="en-US" sz="2400" dirty="0"/>
              <a:t>但</a:t>
            </a:r>
            <a:r>
              <a:rPr lang="en-US" altLang="zh-CN" sz="2400" dirty="0" err="1"/>
              <a:t>a</a:t>
            </a:r>
            <a:r>
              <a:rPr lang="en-US" altLang="zh-CN" sz="2400" dirty="0" err="1">
                <a:sym typeface="Symbol" pitchFamily="18" charset="2"/>
              </a:rPr>
              <a:t></a:t>
            </a:r>
            <a:r>
              <a:rPr lang="en-US" altLang="zh-CN" sz="2400" dirty="0" err="1"/>
              <a:t>B</a:t>
            </a:r>
            <a:r>
              <a:rPr lang="en-US" altLang="zh-CN" sz="2400" dirty="0"/>
              <a:t>, </a:t>
            </a:r>
            <a:r>
              <a:rPr lang="zh-CN" altLang="en-US" sz="2400" dirty="0"/>
              <a:t>则</a:t>
            </a:r>
            <a:r>
              <a:rPr lang="en-US" altLang="zh-CN" sz="2400" dirty="0"/>
              <a:t>A</a:t>
            </a:r>
            <a:r>
              <a:rPr lang="zh-CN" altLang="en-US" sz="2400" dirty="0"/>
              <a:t>不是</a:t>
            </a:r>
            <a:r>
              <a:rPr lang="en-US" altLang="zh-CN" sz="2400" dirty="0"/>
              <a:t>B</a:t>
            </a:r>
            <a:r>
              <a:rPr lang="zh-CN" altLang="en-US" sz="2400" dirty="0"/>
              <a:t>的子集</a:t>
            </a:r>
            <a:r>
              <a:rPr lang="en-US" altLang="zh-CN" sz="2400" dirty="0"/>
              <a:t>. </a:t>
            </a:r>
          </a:p>
        </p:txBody>
      </p:sp>
    </p:spTree>
    <p:extLst>
      <p:ext uri="{BB962C8B-B14F-4D97-AF65-F5344CB8AC3E}">
        <p14:creationId xmlns:p14="http://schemas.microsoft.com/office/powerpoint/2010/main" val="154120604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3">
            <a:extLst>
              <a:ext uri="{FF2B5EF4-FFF2-40B4-BE49-F238E27FC236}">
                <a16:creationId xmlns:a16="http://schemas.microsoft.com/office/drawing/2014/main" id="{16848244-C6D7-4215-AF10-11D04A963336}"/>
              </a:ext>
            </a:extLst>
          </p:cNvPr>
          <p:cNvSpPr txBox="1">
            <a:spLocks noChangeArrowheads="1"/>
          </p:cNvSpPr>
          <p:nvPr/>
        </p:nvSpPr>
        <p:spPr>
          <a:xfrm>
            <a:off x="457200" y="1772816"/>
            <a:ext cx="11183416" cy="4682920"/>
          </a:xfrm>
          <a:prstGeom prst="rect">
            <a:avLst/>
          </a:prstGeom>
        </p:spPr>
        <p:txBody>
          <a:bodyPr/>
          <a:lstStyle>
            <a:lvl1pPr marL="257175" indent="-257175" algn="l" defTabSz="685800" rtl="0" eaLnBrk="1" latinLnBrk="0" hangingPunct="1">
              <a:spcBef>
                <a:spcPct val="20000"/>
              </a:spcBef>
              <a:buFont typeface="Arial" pitchFamily="34" charset="0"/>
              <a:buChar char="•"/>
              <a:defRPr sz="2400" kern="1200">
                <a:solidFill>
                  <a:schemeClr val="tx1"/>
                </a:solidFill>
                <a:latin typeface="+mn-lt"/>
                <a:ea typeface="+mn-ea"/>
                <a:cs typeface="+mn-cs"/>
              </a:defRPr>
            </a:lvl1pPr>
            <a:lvl2pPr marL="557213" indent="-214313" algn="l" defTabSz="685800" rtl="0" eaLnBrk="1" latinLnBrk="0" hangingPunct="1">
              <a:spcBef>
                <a:spcPct val="20000"/>
              </a:spcBef>
              <a:buFont typeface="Arial" pitchFamily="34" charset="0"/>
              <a:buChar char="–"/>
              <a:defRPr sz="2100" kern="1200">
                <a:solidFill>
                  <a:schemeClr val="tx1"/>
                </a:solidFill>
                <a:latin typeface="+mn-lt"/>
                <a:ea typeface="+mn-ea"/>
                <a:cs typeface="+mn-cs"/>
              </a:defRPr>
            </a:lvl2pPr>
            <a:lvl3pPr marL="857250" indent="-171450" algn="l" defTabSz="685800" rtl="0" eaLnBrk="1" latinLnBrk="0" hangingPunct="1">
              <a:spcBef>
                <a:spcPct val="20000"/>
              </a:spcBef>
              <a:buFont typeface="Arial" pitchFamily="34" charset="0"/>
              <a:buChar char="•"/>
              <a:defRPr sz="1800" kern="1200">
                <a:solidFill>
                  <a:schemeClr val="tx1"/>
                </a:solidFill>
                <a:latin typeface="+mn-lt"/>
                <a:ea typeface="+mn-ea"/>
                <a:cs typeface="+mn-cs"/>
              </a:defRPr>
            </a:lvl3pPr>
            <a:lvl4pPr marL="12001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4pPr>
            <a:lvl5pPr marL="15430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a:lnSpc>
                <a:spcPct val="150000"/>
              </a:lnSpc>
            </a:pPr>
            <a:r>
              <a:rPr lang="zh-CN" altLang="en-US" sz="3200" dirty="0"/>
              <a:t>例</a:t>
            </a:r>
            <a:r>
              <a:rPr lang="en-US" altLang="zh-CN" sz="3200" dirty="0"/>
              <a:t>1.8       </a:t>
            </a:r>
            <a:r>
              <a:rPr lang="en-US" altLang="zh-CN" sz="3200" i="1" dirty="0"/>
              <a:t>N</a:t>
            </a:r>
            <a:r>
              <a:rPr lang="en-US" altLang="zh-CN" sz="3200" dirty="0"/>
              <a:t> </a:t>
            </a:r>
            <a:r>
              <a:rPr lang="en-US" altLang="zh-CN" sz="3200" dirty="0">
                <a:sym typeface="Symbol" pitchFamily="18" charset="2"/>
              </a:rPr>
              <a:t></a:t>
            </a:r>
            <a:r>
              <a:rPr lang="en-US" altLang="zh-CN" sz="3200" i="1" dirty="0"/>
              <a:t>I </a:t>
            </a:r>
            <a:r>
              <a:rPr lang="en-US" altLang="zh-CN" sz="3200" dirty="0">
                <a:sym typeface="Symbol" pitchFamily="18" charset="2"/>
              </a:rPr>
              <a:t></a:t>
            </a:r>
            <a:r>
              <a:rPr lang="en-US" altLang="zh-CN" sz="3200" i="1" dirty="0"/>
              <a:t>Q </a:t>
            </a:r>
            <a:r>
              <a:rPr lang="en-US" altLang="zh-CN" sz="3200" dirty="0">
                <a:sym typeface="Symbol" pitchFamily="18" charset="2"/>
              </a:rPr>
              <a:t></a:t>
            </a:r>
            <a:r>
              <a:rPr lang="en-US" altLang="zh-CN" sz="3200" i="1" dirty="0"/>
              <a:t>R</a:t>
            </a:r>
            <a:r>
              <a:rPr lang="zh-CN" altLang="en-US" sz="3200" dirty="0"/>
              <a:t>与</a:t>
            </a:r>
            <a:r>
              <a:rPr lang="en-US" altLang="zh-CN" sz="3200" i="1" dirty="0"/>
              <a:t>N</a:t>
            </a:r>
            <a:r>
              <a:rPr lang="en-US" altLang="zh-CN" sz="3200" dirty="0"/>
              <a:t> </a:t>
            </a:r>
            <a:r>
              <a:rPr lang="en-US" altLang="zh-CN" sz="3200" dirty="0">
                <a:sym typeface="Symbol" pitchFamily="18" charset="2"/>
              </a:rPr>
              <a:t></a:t>
            </a:r>
            <a:r>
              <a:rPr lang="en-US" altLang="zh-CN" sz="3200" i="1" dirty="0"/>
              <a:t>I </a:t>
            </a:r>
            <a:r>
              <a:rPr lang="en-US" altLang="zh-CN" sz="3200" dirty="0">
                <a:sym typeface="Symbol" pitchFamily="18" charset="2"/>
              </a:rPr>
              <a:t></a:t>
            </a:r>
            <a:r>
              <a:rPr lang="en-US" altLang="zh-CN" sz="3200" i="1" dirty="0"/>
              <a:t>Q </a:t>
            </a:r>
            <a:r>
              <a:rPr lang="en-US" altLang="zh-CN" sz="3200" dirty="0">
                <a:sym typeface="Symbol" pitchFamily="18" charset="2"/>
              </a:rPr>
              <a:t></a:t>
            </a:r>
            <a:r>
              <a:rPr lang="en-US" altLang="zh-CN" sz="3200" i="1" dirty="0"/>
              <a:t>R</a:t>
            </a:r>
            <a:r>
              <a:rPr lang="zh-CN" altLang="en-US" sz="3200" dirty="0"/>
              <a:t>同时成立。 </a:t>
            </a:r>
          </a:p>
          <a:p>
            <a:pPr>
              <a:lnSpc>
                <a:spcPct val="150000"/>
              </a:lnSpc>
            </a:pPr>
            <a:r>
              <a:rPr lang="zh-CN" altLang="en-US" sz="3200" dirty="0"/>
              <a:t>例</a:t>
            </a:r>
            <a:r>
              <a:rPr lang="en-US" altLang="zh-CN" sz="3200" dirty="0"/>
              <a:t>1.9       </a:t>
            </a:r>
            <a:r>
              <a:rPr lang="en-US" altLang="zh-CN" sz="3200" dirty="0">
                <a:sym typeface="Symbol" pitchFamily="18" charset="2"/>
              </a:rPr>
              <a:t></a:t>
            </a:r>
            <a:r>
              <a:rPr lang="en-US" altLang="zh-CN" sz="3200" dirty="0"/>
              <a:t>{1}</a:t>
            </a:r>
            <a:r>
              <a:rPr lang="en-US" altLang="zh-CN" sz="3200" dirty="0">
                <a:sym typeface="Symbol" pitchFamily="18" charset="2"/>
              </a:rPr>
              <a:t></a:t>
            </a:r>
            <a:r>
              <a:rPr lang="en-US" altLang="zh-CN" sz="3200" dirty="0"/>
              <a:t>{1,2}</a:t>
            </a:r>
            <a:r>
              <a:rPr lang="zh-CN" altLang="en-US" sz="3200" dirty="0"/>
              <a:t>与</a:t>
            </a:r>
            <a:r>
              <a:rPr lang="zh-CN" altLang="en-US" sz="3200" dirty="0">
                <a:sym typeface="Symbol" pitchFamily="18" charset="2"/>
              </a:rPr>
              <a:t> </a:t>
            </a:r>
            <a:r>
              <a:rPr lang="en-US" altLang="zh-CN" sz="3200" dirty="0"/>
              <a:t>{1} </a:t>
            </a:r>
            <a:r>
              <a:rPr lang="en-US" altLang="zh-CN" sz="3200" dirty="0">
                <a:sym typeface="Symbol" pitchFamily="18" charset="2"/>
              </a:rPr>
              <a:t></a:t>
            </a:r>
            <a:r>
              <a:rPr lang="en-US" altLang="zh-CN" sz="3200" dirty="0"/>
              <a:t>{1,2}</a:t>
            </a:r>
            <a:r>
              <a:rPr lang="zh-CN" altLang="en-US" sz="3200" dirty="0"/>
              <a:t>同时成立。 </a:t>
            </a:r>
            <a:endParaRPr lang="en-US" altLang="zh-CN" sz="3200" dirty="0"/>
          </a:p>
          <a:p>
            <a:pPr>
              <a:lnSpc>
                <a:spcPct val="150000"/>
              </a:lnSpc>
            </a:pPr>
            <a:r>
              <a:rPr lang="zh-CN" altLang="en-US" sz="3200" dirty="0"/>
              <a:t>例</a:t>
            </a:r>
            <a:r>
              <a:rPr lang="en-US" altLang="zh-CN" sz="3200" dirty="0"/>
              <a:t>1.10     N⊆N</a:t>
            </a:r>
            <a:r>
              <a:rPr lang="zh-CN" altLang="en-US" sz="3200" dirty="0"/>
              <a:t>成立</a:t>
            </a:r>
            <a:r>
              <a:rPr lang="en-US" altLang="zh-CN" sz="3200" dirty="0"/>
              <a:t>,</a:t>
            </a:r>
            <a:r>
              <a:rPr lang="zh-CN" altLang="en-US" sz="3200" dirty="0"/>
              <a:t>但是 </a:t>
            </a:r>
            <a:r>
              <a:rPr lang="en-US" altLang="zh-CN" sz="3200" dirty="0"/>
              <a:t>N⊂N</a:t>
            </a:r>
            <a:r>
              <a:rPr lang="zh-CN" altLang="en-US" sz="3200" dirty="0"/>
              <a:t>不成立。即一个集合可以是自身的子集</a:t>
            </a:r>
            <a:r>
              <a:rPr lang="en-US" altLang="zh-CN" sz="3200" dirty="0"/>
              <a:t>,</a:t>
            </a:r>
            <a:r>
              <a:rPr lang="zh-CN" altLang="en-US" sz="3200" dirty="0"/>
              <a:t>但不可以是自身的真子集。  </a:t>
            </a:r>
          </a:p>
        </p:txBody>
      </p:sp>
    </p:spTree>
    <p:extLst>
      <p:ext uri="{BB962C8B-B14F-4D97-AF65-F5344CB8AC3E}">
        <p14:creationId xmlns:p14="http://schemas.microsoft.com/office/powerpoint/2010/main" val="345689206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5E4CC316-9806-4AD8-A07E-FE1E3926D2F7}"/>
              </a:ext>
            </a:extLst>
          </p:cNvPr>
          <p:cNvSpPr txBox="1">
            <a:spLocks noChangeArrowheads="1"/>
          </p:cNvSpPr>
          <p:nvPr/>
        </p:nvSpPr>
        <p:spPr>
          <a:xfrm>
            <a:off x="1487488" y="260648"/>
            <a:ext cx="8208912" cy="1143000"/>
          </a:xfrm>
          <a:prstGeom prst="rect">
            <a:avLst/>
          </a:prstGeom>
        </p:spPr>
        <p:txBody>
          <a:bodyPr/>
          <a:lstStyle>
            <a:lvl1pPr algn="ctr" defTabSz="685800" rtl="0" eaLnBrk="1" latinLnBrk="0" hangingPunct="1">
              <a:spcBef>
                <a:spcPct val="0"/>
              </a:spcBef>
              <a:buNone/>
              <a:defRPr sz="3300" kern="1200">
                <a:solidFill>
                  <a:schemeClr val="tx1"/>
                </a:solidFill>
                <a:latin typeface="+mj-lt"/>
                <a:ea typeface="+mj-ea"/>
                <a:cs typeface="+mj-cs"/>
              </a:defRPr>
            </a:lvl1pPr>
          </a:lstStyle>
          <a:p>
            <a:r>
              <a:rPr lang="zh-CN" altLang="en-US" sz="3600" dirty="0"/>
              <a:t>集合间的包含关系具有下列性质： </a:t>
            </a:r>
          </a:p>
        </p:txBody>
      </p:sp>
      <p:sp>
        <p:nvSpPr>
          <p:cNvPr id="3" name="Rectangle 3">
            <a:extLst>
              <a:ext uri="{FF2B5EF4-FFF2-40B4-BE49-F238E27FC236}">
                <a16:creationId xmlns:a16="http://schemas.microsoft.com/office/drawing/2014/main" id="{4A7321F1-55E4-4657-A768-E8A48E30A2D3}"/>
              </a:ext>
            </a:extLst>
          </p:cNvPr>
          <p:cNvSpPr txBox="1">
            <a:spLocks noChangeArrowheads="1"/>
          </p:cNvSpPr>
          <p:nvPr/>
        </p:nvSpPr>
        <p:spPr>
          <a:xfrm>
            <a:off x="457200" y="1772816"/>
            <a:ext cx="8291264" cy="3744416"/>
          </a:xfrm>
          <a:prstGeom prst="rect">
            <a:avLst/>
          </a:prstGeom>
        </p:spPr>
        <p:txBody>
          <a:bodyPr/>
          <a:lstStyle>
            <a:lvl1pPr marL="257175" indent="-257175" algn="l" defTabSz="685800" rtl="0" eaLnBrk="1" latinLnBrk="0" hangingPunct="1">
              <a:spcBef>
                <a:spcPct val="20000"/>
              </a:spcBef>
              <a:buFont typeface="Arial" pitchFamily="34" charset="0"/>
              <a:buChar char="•"/>
              <a:defRPr sz="2400" kern="1200">
                <a:solidFill>
                  <a:schemeClr val="tx1"/>
                </a:solidFill>
                <a:latin typeface="+mn-lt"/>
                <a:ea typeface="+mn-ea"/>
                <a:cs typeface="+mn-cs"/>
              </a:defRPr>
            </a:lvl1pPr>
            <a:lvl2pPr marL="557213" indent="-214313" algn="l" defTabSz="685800" rtl="0" eaLnBrk="1" latinLnBrk="0" hangingPunct="1">
              <a:spcBef>
                <a:spcPct val="20000"/>
              </a:spcBef>
              <a:buFont typeface="Arial" pitchFamily="34" charset="0"/>
              <a:buChar char="–"/>
              <a:defRPr sz="2100" kern="1200">
                <a:solidFill>
                  <a:schemeClr val="tx1"/>
                </a:solidFill>
                <a:latin typeface="+mn-lt"/>
                <a:ea typeface="+mn-ea"/>
                <a:cs typeface="+mn-cs"/>
              </a:defRPr>
            </a:lvl2pPr>
            <a:lvl3pPr marL="857250" indent="-171450" algn="l" defTabSz="685800" rtl="0" eaLnBrk="1" latinLnBrk="0" hangingPunct="1">
              <a:spcBef>
                <a:spcPct val="20000"/>
              </a:spcBef>
              <a:buFont typeface="Arial" pitchFamily="34" charset="0"/>
              <a:buChar char="•"/>
              <a:defRPr sz="1800" kern="1200">
                <a:solidFill>
                  <a:schemeClr val="tx1"/>
                </a:solidFill>
                <a:latin typeface="+mn-lt"/>
                <a:ea typeface="+mn-ea"/>
                <a:cs typeface="+mn-cs"/>
              </a:defRPr>
            </a:lvl3pPr>
            <a:lvl4pPr marL="12001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4pPr>
            <a:lvl5pPr marL="15430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a:lnSpc>
                <a:spcPct val="150000"/>
              </a:lnSpc>
              <a:buFontTx/>
              <a:buNone/>
            </a:pPr>
            <a:r>
              <a:rPr lang="zh-CN" altLang="en-US" sz="3600" b="1" dirty="0">
                <a:solidFill>
                  <a:srgbClr val="3308E8"/>
                </a:solidFill>
              </a:rPr>
              <a:t>自反性</a:t>
            </a:r>
            <a:r>
              <a:rPr lang="zh-CN" altLang="en-US" sz="3600" dirty="0"/>
              <a:t>：</a:t>
            </a:r>
            <a:r>
              <a:rPr lang="en-US" altLang="zh-CN" sz="3600" i="1" dirty="0"/>
              <a:t>A </a:t>
            </a:r>
            <a:r>
              <a:rPr lang="en-US" altLang="zh-CN" sz="3600" dirty="0">
                <a:sym typeface="Symbol" pitchFamily="18" charset="2"/>
              </a:rPr>
              <a:t></a:t>
            </a:r>
            <a:r>
              <a:rPr lang="en-US" altLang="zh-CN" sz="3600" dirty="0"/>
              <a:t> </a:t>
            </a:r>
            <a:r>
              <a:rPr lang="en-US" altLang="zh-CN" sz="3600" i="1" dirty="0"/>
              <a:t>A</a:t>
            </a:r>
            <a:endParaRPr lang="en-US" altLang="zh-CN" sz="3600" dirty="0"/>
          </a:p>
          <a:p>
            <a:pPr>
              <a:lnSpc>
                <a:spcPct val="150000"/>
              </a:lnSpc>
              <a:buFontTx/>
              <a:buNone/>
            </a:pPr>
            <a:r>
              <a:rPr lang="zh-CN" altLang="en-US" sz="3600" b="1" dirty="0">
                <a:solidFill>
                  <a:srgbClr val="3308E8"/>
                </a:solidFill>
              </a:rPr>
              <a:t>反对称性</a:t>
            </a:r>
            <a:r>
              <a:rPr lang="zh-CN" altLang="en-US" sz="3600" dirty="0"/>
              <a:t>：若</a:t>
            </a:r>
            <a:r>
              <a:rPr lang="en-US" altLang="zh-CN" sz="3600" i="1" dirty="0"/>
              <a:t>A</a:t>
            </a:r>
            <a:r>
              <a:rPr lang="en-US" altLang="zh-CN" sz="3600" dirty="0"/>
              <a:t> </a:t>
            </a:r>
            <a:r>
              <a:rPr lang="en-US" altLang="zh-CN" sz="3600" dirty="0">
                <a:sym typeface="Symbol" pitchFamily="18" charset="2"/>
              </a:rPr>
              <a:t></a:t>
            </a:r>
            <a:r>
              <a:rPr lang="en-US" altLang="zh-CN" sz="3600" dirty="0"/>
              <a:t> </a:t>
            </a:r>
            <a:r>
              <a:rPr lang="en-US" altLang="zh-CN" sz="3600" i="1" dirty="0"/>
              <a:t>B</a:t>
            </a:r>
            <a:r>
              <a:rPr lang="zh-CN" altLang="en-US" sz="3600" dirty="0"/>
              <a:t>且</a:t>
            </a:r>
            <a:r>
              <a:rPr lang="en-US" altLang="zh-CN" sz="3600" i="1" dirty="0"/>
              <a:t>B </a:t>
            </a:r>
            <a:r>
              <a:rPr lang="en-US" altLang="zh-CN" sz="3600" dirty="0">
                <a:sym typeface="Symbol" pitchFamily="18" charset="2"/>
              </a:rPr>
              <a:t></a:t>
            </a:r>
            <a:r>
              <a:rPr lang="en-US" altLang="zh-CN" sz="3600" dirty="0"/>
              <a:t> </a:t>
            </a:r>
            <a:r>
              <a:rPr lang="en-US" altLang="zh-CN" sz="3600" i="1" dirty="0"/>
              <a:t>A</a:t>
            </a:r>
            <a:r>
              <a:rPr lang="zh-CN" altLang="en-US" sz="3600" dirty="0"/>
              <a:t>，则</a:t>
            </a:r>
            <a:r>
              <a:rPr lang="en-US" altLang="zh-CN" sz="3600" i="1" dirty="0"/>
              <a:t>A</a:t>
            </a:r>
            <a:r>
              <a:rPr lang="en-US" altLang="zh-CN" sz="3600" dirty="0"/>
              <a:t> = </a:t>
            </a:r>
            <a:r>
              <a:rPr lang="en-US" altLang="zh-CN" sz="3600" i="1" dirty="0"/>
              <a:t>B</a:t>
            </a:r>
            <a:r>
              <a:rPr lang="en-US" altLang="zh-CN" sz="3600" dirty="0"/>
              <a:t> </a:t>
            </a:r>
          </a:p>
          <a:p>
            <a:pPr>
              <a:lnSpc>
                <a:spcPct val="150000"/>
              </a:lnSpc>
              <a:buFontTx/>
              <a:buNone/>
            </a:pPr>
            <a:r>
              <a:rPr lang="zh-CN" altLang="en-US" sz="3600" b="1" dirty="0">
                <a:solidFill>
                  <a:srgbClr val="3308E8"/>
                </a:solidFill>
              </a:rPr>
              <a:t>传递性</a:t>
            </a:r>
            <a:r>
              <a:rPr lang="zh-CN" altLang="en-US" sz="3600" dirty="0"/>
              <a:t>：若</a:t>
            </a:r>
            <a:r>
              <a:rPr lang="en-US" altLang="zh-CN" sz="3600" i="1" dirty="0"/>
              <a:t>A</a:t>
            </a:r>
            <a:r>
              <a:rPr lang="en-US" altLang="zh-CN" sz="3600" dirty="0"/>
              <a:t> </a:t>
            </a:r>
            <a:r>
              <a:rPr lang="en-US" altLang="zh-CN" sz="3600" dirty="0">
                <a:sym typeface="Symbol" pitchFamily="18" charset="2"/>
              </a:rPr>
              <a:t></a:t>
            </a:r>
            <a:r>
              <a:rPr lang="en-US" altLang="zh-CN" sz="3600" dirty="0"/>
              <a:t> </a:t>
            </a:r>
            <a:r>
              <a:rPr lang="en-US" altLang="zh-CN" sz="3600" i="1" dirty="0"/>
              <a:t>B</a:t>
            </a:r>
            <a:r>
              <a:rPr lang="zh-CN" altLang="en-US" sz="3600" dirty="0"/>
              <a:t>且</a:t>
            </a:r>
            <a:r>
              <a:rPr lang="en-US" altLang="zh-CN" sz="3600" i="1" dirty="0"/>
              <a:t>B</a:t>
            </a:r>
            <a:r>
              <a:rPr lang="en-US" altLang="zh-CN" sz="3600" dirty="0"/>
              <a:t> </a:t>
            </a:r>
            <a:r>
              <a:rPr lang="en-US" altLang="zh-CN" sz="3600" dirty="0">
                <a:sym typeface="Symbol" pitchFamily="18" charset="2"/>
              </a:rPr>
              <a:t></a:t>
            </a:r>
            <a:r>
              <a:rPr lang="en-US" altLang="zh-CN" sz="3600" dirty="0"/>
              <a:t> </a:t>
            </a:r>
            <a:r>
              <a:rPr lang="en-US" altLang="zh-CN" sz="3600" i="1" dirty="0"/>
              <a:t>C</a:t>
            </a:r>
            <a:r>
              <a:rPr lang="zh-CN" altLang="en-US" sz="3600" dirty="0"/>
              <a:t>，则</a:t>
            </a:r>
            <a:r>
              <a:rPr lang="en-US" altLang="zh-CN" sz="3600" i="1" dirty="0"/>
              <a:t>A </a:t>
            </a:r>
            <a:r>
              <a:rPr lang="en-US" altLang="zh-CN" sz="3600" dirty="0">
                <a:sym typeface="Symbol" pitchFamily="18" charset="2"/>
              </a:rPr>
              <a:t></a:t>
            </a:r>
            <a:r>
              <a:rPr lang="en-US" altLang="zh-CN" sz="3600" i="1" dirty="0"/>
              <a:t> C</a:t>
            </a:r>
          </a:p>
        </p:txBody>
      </p:sp>
    </p:spTree>
    <p:extLst>
      <p:ext uri="{BB962C8B-B14F-4D97-AF65-F5344CB8AC3E}">
        <p14:creationId xmlns:p14="http://schemas.microsoft.com/office/powerpoint/2010/main" val="358409113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6A9789A-D6F2-44D5-8F3E-73401951FCF0}"/>
              </a:ext>
            </a:extLst>
          </p:cNvPr>
          <p:cNvSpPr txBox="1">
            <a:spLocks/>
          </p:cNvSpPr>
          <p:nvPr/>
        </p:nvSpPr>
        <p:spPr>
          <a:xfrm>
            <a:off x="3215680" y="332656"/>
            <a:ext cx="5052392" cy="648072"/>
          </a:xfrm>
          <a:prstGeom prst="rect">
            <a:avLst/>
          </a:prstGeom>
        </p:spPr>
        <p:txBody>
          <a:bodyPr/>
          <a:lstStyle>
            <a:lvl1pPr algn="ctr" defTabSz="685800" rtl="0" eaLnBrk="1" latinLnBrk="0" hangingPunct="1">
              <a:spcBef>
                <a:spcPct val="0"/>
              </a:spcBef>
              <a:buNone/>
              <a:defRPr sz="3300" kern="1200">
                <a:solidFill>
                  <a:schemeClr val="tx1"/>
                </a:solidFill>
                <a:latin typeface="+mj-lt"/>
                <a:ea typeface="+mj-ea"/>
                <a:cs typeface="+mj-cs"/>
              </a:defRPr>
            </a:lvl1pPr>
          </a:lstStyle>
          <a:p>
            <a:r>
              <a:rPr lang="en-US" altLang="zh-CN" dirty="0"/>
              <a:t>1.2.2   </a:t>
            </a:r>
            <a:r>
              <a:rPr lang="zh-CN" altLang="en-US" dirty="0"/>
              <a:t>相等关系</a:t>
            </a:r>
          </a:p>
        </p:txBody>
      </p:sp>
      <p:sp>
        <p:nvSpPr>
          <p:cNvPr id="3" name="Rectangle 7">
            <a:extLst>
              <a:ext uri="{FF2B5EF4-FFF2-40B4-BE49-F238E27FC236}">
                <a16:creationId xmlns:a16="http://schemas.microsoft.com/office/drawing/2014/main" id="{8E631966-F32C-4228-8AFB-7D250A1DD111}"/>
              </a:ext>
            </a:extLst>
          </p:cNvPr>
          <p:cNvSpPr txBox="1">
            <a:spLocks noChangeArrowheads="1"/>
          </p:cNvSpPr>
          <p:nvPr/>
        </p:nvSpPr>
        <p:spPr>
          <a:xfrm>
            <a:off x="457200" y="1772816"/>
            <a:ext cx="11255424" cy="4248472"/>
          </a:xfrm>
          <a:prstGeom prst="rect">
            <a:avLst/>
          </a:prstGeom>
          <a:noFill/>
          <a:ln/>
        </p:spPr>
        <p:txBody>
          <a:bodyPr/>
          <a:lstStyle>
            <a:lvl1pPr marL="257175" indent="-257175" algn="l" defTabSz="685800" rtl="0" eaLnBrk="1" latinLnBrk="0" hangingPunct="1">
              <a:spcBef>
                <a:spcPct val="20000"/>
              </a:spcBef>
              <a:buFont typeface="Arial" pitchFamily="34" charset="0"/>
              <a:buChar char="•"/>
              <a:defRPr sz="2400" kern="1200">
                <a:solidFill>
                  <a:schemeClr val="tx1"/>
                </a:solidFill>
                <a:latin typeface="+mn-lt"/>
                <a:ea typeface="+mn-ea"/>
                <a:cs typeface="+mn-cs"/>
              </a:defRPr>
            </a:lvl1pPr>
            <a:lvl2pPr marL="557213" indent="-214313" algn="l" defTabSz="685800" rtl="0" eaLnBrk="1" latinLnBrk="0" hangingPunct="1">
              <a:spcBef>
                <a:spcPct val="20000"/>
              </a:spcBef>
              <a:buFont typeface="Arial" pitchFamily="34" charset="0"/>
              <a:buChar char="–"/>
              <a:defRPr sz="2100" kern="1200">
                <a:solidFill>
                  <a:schemeClr val="tx1"/>
                </a:solidFill>
                <a:latin typeface="+mn-lt"/>
                <a:ea typeface="+mn-ea"/>
                <a:cs typeface="+mn-cs"/>
              </a:defRPr>
            </a:lvl2pPr>
            <a:lvl3pPr marL="857250" indent="-171450" algn="l" defTabSz="685800" rtl="0" eaLnBrk="1" latinLnBrk="0" hangingPunct="1">
              <a:spcBef>
                <a:spcPct val="20000"/>
              </a:spcBef>
              <a:buFont typeface="Arial" pitchFamily="34" charset="0"/>
              <a:buChar char="•"/>
              <a:defRPr sz="1800" kern="1200">
                <a:solidFill>
                  <a:schemeClr val="tx1"/>
                </a:solidFill>
                <a:latin typeface="+mn-lt"/>
                <a:ea typeface="+mn-ea"/>
                <a:cs typeface="+mn-cs"/>
              </a:defRPr>
            </a:lvl3pPr>
            <a:lvl4pPr marL="12001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4pPr>
            <a:lvl5pPr marL="15430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a:lnSpc>
                <a:spcPct val="150000"/>
              </a:lnSpc>
              <a:buFontTx/>
              <a:buNone/>
            </a:pPr>
            <a:r>
              <a:rPr lang="zh-CN" altLang="en-US" sz="3200" b="1" dirty="0">
                <a:solidFill>
                  <a:srgbClr val="FF9900"/>
                </a:solidFill>
              </a:rPr>
              <a:t>定义</a:t>
            </a:r>
            <a:r>
              <a:rPr lang="en-US" altLang="zh-CN" sz="3200" b="1" dirty="0">
                <a:solidFill>
                  <a:srgbClr val="FF9900"/>
                </a:solidFill>
              </a:rPr>
              <a:t>1.2</a:t>
            </a:r>
            <a:r>
              <a:rPr lang="en-US" altLang="zh-CN" sz="3200" b="1" dirty="0"/>
              <a:t> </a:t>
            </a:r>
            <a:r>
              <a:rPr lang="zh-CN" altLang="en-US" sz="3200" dirty="0"/>
              <a:t>集合</a:t>
            </a:r>
            <a:r>
              <a:rPr lang="en-US" altLang="zh-CN" sz="3200" dirty="0"/>
              <a:t>A</a:t>
            </a:r>
            <a:r>
              <a:rPr lang="zh-CN" altLang="en-US" sz="3200" dirty="0"/>
              <a:t>和</a:t>
            </a:r>
            <a:r>
              <a:rPr lang="en-US" altLang="zh-CN" sz="3200" dirty="0"/>
              <a:t>B</a:t>
            </a:r>
            <a:r>
              <a:rPr lang="zh-CN" altLang="en-US" sz="3200" dirty="0"/>
              <a:t>的元素全相同，则称</a:t>
            </a:r>
            <a:r>
              <a:rPr lang="en-US" altLang="zh-CN" sz="3200" dirty="0"/>
              <a:t>A</a:t>
            </a:r>
            <a:r>
              <a:rPr lang="zh-CN" altLang="en-US" sz="3200" dirty="0"/>
              <a:t>和</a:t>
            </a:r>
            <a:r>
              <a:rPr lang="en-US" altLang="zh-CN" sz="3200" dirty="0"/>
              <a:t>B</a:t>
            </a:r>
            <a:r>
              <a:rPr lang="zh-CN" altLang="en-US" sz="3200" b="1" dirty="0">
                <a:solidFill>
                  <a:srgbClr val="3308E8"/>
                </a:solidFill>
              </a:rPr>
              <a:t>相等</a:t>
            </a:r>
            <a:r>
              <a:rPr lang="zh-CN" altLang="en-US" sz="3200" dirty="0"/>
              <a:t>，</a:t>
            </a:r>
            <a:r>
              <a:rPr lang="en-US" altLang="zh-CN" sz="3200" dirty="0"/>
              <a:t>A=B</a:t>
            </a:r>
            <a:r>
              <a:rPr lang="zh-CN" altLang="en-US" sz="3200" dirty="0"/>
              <a:t>；否则称</a:t>
            </a:r>
            <a:r>
              <a:rPr lang="en-US" altLang="zh-CN" sz="3200" dirty="0"/>
              <a:t>A</a:t>
            </a:r>
            <a:r>
              <a:rPr lang="zh-CN" altLang="en-US" sz="3200" dirty="0"/>
              <a:t>和</a:t>
            </a:r>
            <a:r>
              <a:rPr lang="en-US" altLang="zh-CN" sz="3200" dirty="0"/>
              <a:t>B</a:t>
            </a:r>
            <a:r>
              <a:rPr lang="zh-CN" altLang="en-US" sz="3200" dirty="0"/>
              <a:t>不相等，</a:t>
            </a:r>
            <a:r>
              <a:rPr lang="en-US" altLang="zh-CN" sz="3200" dirty="0"/>
              <a:t>A</a:t>
            </a:r>
            <a:r>
              <a:rPr lang="en-US" altLang="zh-CN" sz="3200" dirty="0">
                <a:sym typeface="Symbol" pitchFamily="18" charset="2"/>
              </a:rPr>
              <a:t>B</a:t>
            </a:r>
            <a:r>
              <a:rPr lang="zh-CN" altLang="en-US" sz="3200" dirty="0">
                <a:sym typeface="Symbol" pitchFamily="18" charset="2"/>
              </a:rPr>
              <a:t>。</a:t>
            </a:r>
          </a:p>
          <a:p>
            <a:pPr>
              <a:lnSpc>
                <a:spcPct val="150000"/>
              </a:lnSpc>
              <a:buFontTx/>
              <a:buNone/>
            </a:pPr>
            <a:r>
              <a:rPr lang="zh-CN" altLang="en-US" sz="3200" dirty="0">
                <a:sym typeface="Symbol" pitchFamily="18" charset="2"/>
              </a:rPr>
              <a:t>由集合包含关系的定义，我们可以给出集合相等关系的另一种定义形式：</a:t>
            </a:r>
          </a:p>
          <a:p>
            <a:pPr>
              <a:lnSpc>
                <a:spcPct val="150000"/>
              </a:lnSpc>
              <a:buFontTx/>
              <a:buNone/>
            </a:pPr>
            <a:r>
              <a:rPr lang="zh-CN" altLang="en-US" sz="3200" b="1" dirty="0">
                <a:solidFill>
                  <a:srgbClr val="FF9900"/>
                </a:solidFill>
              </a:rPr>
              <a:t>定义</a:t>
            </a:r>
            <a:r>
              <a:rPr lang="en-US" altLang="zh-CN" sz="3200" b="1" dirty="0">
                <a:solidFill>
                  <a:srgbClr val="FF9900"/>
                </a:solidFill>
              </a:rPr>
              <a:t>1.3</a:t>
            </a:r>
            <a:r>
              <a:rPr lang="en-US" altLang="zh-CN" sz="3200" b="1" dirty="0"/>
              <a:t> </a:t>
            </a:r>
            <a:r>
              <a:rPr lang="zh-CN" altLang="en-US" sz="3200" dirty="0"/>
              <a:t>设</a:t>
            </a:r>
            <a:r>
              <a:rPr lang="en-US" altLang="zh-CN" sz="3200" dirty="0"/>
              <a:t>A</a:t>
            </a:r>
            <a:r>
              <a:rPr lang="zh-CN" altLang="en-US" sz="3200" dirty="0"/>
              <a:t>和</a:t>
            </a:r>
            <a:r>
              <a:rPr lang="en-US" altLang="zh-CN" sz="3200" dirty="0"/>
              <a:t>B</a:t>
            </a:r>
            <a:r>
              <a:rPr lang="zh-CN" altLang="en-US" sz="3200" dirty="0"/>
              <a:t>是两个集合，如果</a:t>
            </a:r>
            <a:r>
              <a:rPr lang="en-US" altLang="zh-CN" sz="3200" dirty="0"/>
              <a:t>A</a:t>
            </a:r>
            <a:r>
              <a:rPr lang="en-US" altLang="zh-CN" sz="3200" dirty="0">
                <a:sym typeface="Symbol" pitchFamily="18" charset="2"/>
              </a:rPr>
              <a:t>B</a:t>
            </a:r>
            <a:r>
              <a:rPr lang="zh-CN" altLang="en-US" sz="3200" dirty="0">
                <a:sym typeface="Symbol" pitchFamily="18" charset="2"/>
              </a:rPr>
              <a:t>且</a:t>
            </a:r>
            <a:r>
              <a:rPr lang="en-US" altLang="zh-CN" sz="3200" dirty="0">
                <a:sym typeface="Symbol" pitchFamily="18" charset="2"/>
              </a:rPr>
              <a:t>B  A,</a:t>
            </a:r>
            <a:r>
              <a:rPr lang="zh-CN" altLang="en-US" sz="3200" dirty="0">
                <a:sym typeface="Symbol" pitchFamily="18" charset="2"/>
              </a:rPr>
              <a:t>则称</a:t>
            </a:r>
            <a:r>
              <a:rPr lang="en-US" altLang="zh-CN" sz="3200" dirty="0">
                <a:sym typeface="Symbol" pitchFamily="18" charset="2"/>
              </a:rPr>
              <a:t>A=B.</a:t>
            </a:r>
            <a:endParaRPr lang="en-US" altLang="zh-CN" sz="3200" dirty="0"/>
          </a:p>
        </p:txBody>
      </p:sp>
    </p:spTree>
    <p:extLst>
      <p:ext uri="{BB962C8B-B14F-4D97-AF65-F5344CB8AC3E}">
        <p14:creationId xmlns:p14="http://schemas.microsoft.com/office/powerpoint/2010/main" val="55170375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
            <a:extLst>
              <a:ext uri="{FF2B5EF4-FFF2-40B4-BE49-F238E27FC236}">
                <a16:creationId xmlns:a16="http://schemas.microsoft.com/office/drawing/2014/main" id="{BE5D56C3-CEB6-4540-A192-483AC2738020}"/>
              </a:ext>
            </a:extLst>
          </p:cNvPr>
          <p:cNvSpPr txBox="1">
            <a:spLocks noChangeArrowheads="1"/>
          </p:cNvSpPr>
          <p:nvPr/>
        </p:nvSpPr>
        <p:spPr>
          <a:xfrm>
            <a:off x="457200" y="1772816"/>
            <a:ext cx="11399440" cy="4682920"/>
          </a:xfrm>
          <a:prstGeom prst="rect">
            <a:avLst/>
          </a:prstGeom>
        </p:spPr>
        <p:txBody>
          <a:bodyPr/>
          <a:lstStyle>
            <a:lvl1pPr marL="257175" indent="-257175" algn="l" defTabSz="685800" rtl="0" eaLnBrk="1" latinLnBrk="0" hangingPunct="1">
              <a:spcBef>
                <a:spcPct val="20000"/>
              </a:spcBef>
              <a:buFont typeface="Arial" pitchFamily="34" charset="0"/>
              <a:buChar char="•"/>
              <a:defRPr sz="2400" kern="1200">
                <a:solidFill>
                  <a:schemeClr val="tx1"/>
                </a:solidFill>
                <a:latin typeface="+mn-lt"/>
                <a:ea typeface="+mn-ea"/>
                <a:cs typeface="+mn-cs"/>
              </a:defRPr>
            </a:lvl1pPr>
            <a:lvl2pPr marL="557213" indent="-214313" algn="l" defTabSz="685800" rtl="0" eaLnBrk="1" latinLnBrk="0" hangingPunct="1">
              <a:spcBef>
                <a:spcPct val="20000"/>
              </a:spcBef>
              <a:buFont typeface="Arial" pitchFamily="34" charset="0"/>
              <a:buChar char="–"/>
              <a:defRPr sz="2100" kern="1200">
                <a:solidFill>
                  <a:schemeClr val="tx1"/>
                </a:solidFill>
                <a:latin typeface="+mn-lt"/>
                <a:ea typeface="+mn-ea"/>
                <a:cs typeface="+mn-cs"/>
              </a:defRPr>
            </a:lvl2pPr>
            <a:lvl3pPr marL="857250" indent="-171450" algn="l" defTabSz="685800" rtl="0" eaLnBrk="1" latinLnBrk="0" hangingPunct="1">
              <a:spcBef>
                <a:spcPct val="20000"/>
              </a:spcBef>
              <a:buFont typeface="Arial" pitchFamily="34" charset="0"/>
              <a:buChar char="•"/>
              <a:defRPr sz="1800" kern="1200">
                <a:solidFill>
                  <a:schemeClr val="tx1"/>
                </a:solidFill>
                <a:latin typeface="+mn-lt"/>
                <a:ea typeface="+mn-ea"/>
                <a:cs typeface="+mn-cs"/>
              </a:defRPr>
            </a:lvl3pPr>
            <a:lvl4pPr marL="12001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4pPr>
            <a:lvl5pPr marL="15430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a:lnSpc>
                <a:spcPct val="200000"/>
              </a:lnSpc>
              <a:buFontTx/>
              <a:buNone/>
            </a:pPr>
            <a:r>
              <a:rPr lang="zh-CN" altLang="en-US" sz="3200" dirty="0"/>
              <a:t>例</a:t>
            </a:r>
            <a:r>
              <a:rPr lang="en-US" altLang="zh-CN" sz="3200" dirty="0"/>
              <a:t>1.11 </a:t>
            </a:r>
            <a:r>
              <a:rPr lang="zh-CN" altLang="en-US" sz="3200" dirty="0"/>
              <a:t>集合</a:t>
            </a:r>
            <a:r>
              <a:rPr lang="en-US" altLang="zh-CN" sz="3200" dirty="0"/>
              <a:t>A={2,3}</a:t>
            </a:r>
            <a:r>
              <a:rPr lang="zh-CN" altLang="en-US" sz="3200" dirty="0"/>
              <a:t>，</a:t>
            </a:r>
            <a:r>
              <a:rPr lang="en-US" altLang="zh-CN" sz="3200" dirty="0"/>
              <a:t>B={</a:t>
            </a:r>
            <a:r>
              <a:rPr lang="en-US" altLang="zh-CN" sz="3200" i="1" dirty="0"/>
              <a:t>x </a:t>
            </a:r>
            <a:r>
              <a:rPr lang="en-US" altLang="zh-CN" sz="3200" dirty="0"/>
              <a:t>| </a:t>
            </a:r>
            <a:r>
              <a:rPr lang="en-US" altLang="zh-CN" sz="3200" i="1" dirty="0"/>
              <a:t>x</a:t>
            </a:r>
            <a:r>
              <a:rPr lang="en-US" altLang="zh-CN" sz="3200" baseline="30000" dirty="0"/>
              <a:t>2</a:t>
            </a:r>
            <a:r>
              <a:rPr lang="en-US" altLang="zh-CN" sz="3200" dirty="0"/>
              <a:t>-5</a:t>
            </a:r>
            <a:r>
              <a:rPr lang="en-US" altLang="zh-CN" sz="3200" i="1" dirty="0"/>
              <a:t>x</a:t>
            </a:r>
            <a:r>
              <a:rPr lang="en-US" altLang="zh-CN" sz="3200" dirty="0"/>
              <a:t>+6=0}</a:t>
            </a:r>
            <a:r>
              <a:rPr lang="zh-CN" altLang="en-US" sz="3200" dirty="0"/>
              <a:t>，则有集合</a:t>
            </a:r>
            <a:r>
              <a:rPr lang="en-US" altLang="zh-CN" sz="3200" dirty="0"/>
              <a:t>A=B</a:t>
            </a:r>
            <a:r>
              <a:rPr lang="zh-CN" altLang="en-US" sz="3200" dirty="0"/>
              <a:t>。  </a:t>
            </a:r>
          </a:p>
          <a:p>
            <a:pPr>
              <a:lnSpc>
                <a:spcPct val="200000"/>
              </a:lnSpc>
              <a:buFontTx/>
              <a:buNone/>
            </a:pPr>
            <a:r>
              <a:rPr lang="zh-CN" altLang="en-US" sz="3200" dirty="0"/>
              <a:t>例</a:t>
            </a:r>
            <a:r>
              <a:rPr lang="en-US" altLang="zh-CN" sz="3200" dirty="0"/>
              <a:t>1.12</a:t>
            </a:r>
            <a:r>
              <a:rPr lang="zh-CN" altLang="en-US" sz="3200" dirty="0"/>
              <a:t>集合</a:t>
            </a:r>
            <a:r>
              <a:rPr lang="en-US" altLang="zh-CN" sz="3200" dirty="0"/>
              <a:t>A= </a:t>
            </a:r>
            <a:r>
              <a:rPr lang="en-US" altLang="zh-CN" sz="3200" dirty="0">
                <a:sym typeface="Symbol" pitchFamily="18" charset="2"/>
              </a:rPr>
              <a:t></a:t>
            </a:r>
            <a:r>
              <a:rPr lang="en-US" altLang="zh-CN" sz="3200" dirty="0"/>
              <a:t> </a:t>
            </a:r>
            <a:r>
              <a:rPr lang="zh-CN" altLang="en-US" sz="3200" dirty="0"/>
              <a:t>，</a:t>
            </a:r>
            <a:r>
              <a:rPr lang="en-US" altLang="zh-CN" sz="3200" dirty="0"/>
              <a:t>B={x|x</a:t>
            </a:r>
            <a:r>
              <a:rPr lang="en-US" altLang="zh-CN" sz="3200" baseline="30000" dirty="0"/>
              <a:t>2</a:t>
            </a:r>
            <a:r>
              <a:rPr lang="en-US" altLang="zh-CN" sz="3200" dirty="0"/>
              <a:t>+x+1=0,x∈R}</a:t>
            </a:r>
            <a:r>
              <a:rPr lang="zh-CN" altLang="en-US" sz="3200" dirty="0"/>
              <a:t>，则有集合</a:t>
            </a:r>
            <a:r>
              <a:rPr lang="en-US" altLang="zh-CN" sz="3200" dirty="0"/>
              <a:t>A=B</a:t>
            </a:r>
            <a:r>
              <a:rPr lang="zh-CN" altLang="en-US" sz="3200" dirty="0"/>
              <a:t>。 </a:t>
            </a:r>
          </a:p>
        </p:txBody>
      </p:sp>
    </p:spTree>
    <p:extLst>
      <p:ext uri="{BB962C8B-B14F-4D97-AF65-F5344CB8AC3E}">
        <p14:creationId xmlns:p14="http://schemas.microsoft.com/office/powerpoint/2010/main" val="108892945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5">
            <a:extLst>
              <a:ext uri="{FF2B5EF4-FFF2-40B4-BE49-F238E27FC236}">
                <a16:creationId xmlns:a16="http://schemas.microsoft.com/office/drawing/2014/main" id="{165850C6-89BD-4466-B172-A6FD5BEF1813}"/>
              </a:ext>
            </a:extLst>
          </p:cNvPr>
          <p:cNvSpPr txBox="1">
            <a:spLocks noChangeArrowheads="1"/>
          </p:cNvSpPr>
          <p:nvPr/>
        </p:nvSpPr>
        <p:spPr>
          <a:xfrm>
            <a:off x="437270" y="1124744"/>
            <a:ext cx="11317460" cy="1872208"/>
          </a:xfrm>
          <a:prstGeom prst="rect">
            <a:avLst/>
          </a:prstGeom>
          <a:noFill/>
          <a:ln/>
        </p:spPr>
        <p:txBody>
          <a:bodyPr anchor="ctr">
            <a:normAutofit/>
          </a:bodyPr>
          <a:lstStyle>
            <a:lvl1pPr algn="ctr" defTabSz="685800" rtl="0" eaLnBrk="1" latinLnBrk="0" hangingPunct="1">
              <a:spcBef>
                <a:spcPct val="0"/>
              </a:spcBef>
              <a:buNone/>
              <a:defRPr sz="3300" kern="1200">
                <a:solidFill>
                  <a:schemeClr val="tx1"/>
                </a:solidFill>
                <a:latin typeface="+mj-lt"/>
                <a:ea typeface="+mj-ea"/>
                <a:cs typeface="+mj-cs"/>
              </a:defRPr>
            </a:lvl1pPr>
          </a:lstStyle>
          <a:p>
            <a:pPr algn="l">
              <a:lnSpc>
                <a:spcPct val="150000"/>
              </a:lnSpc>
            </a:pPr>
            <a:r>
              <a:rPr lang="zh-CN" altLang="en-US" sz="3600" b="1" dirty="0">
                <a:solidFill>
                  <a:srgbClr val="3308E8"/>
                </a:solidFill>
                <a:latin typeface="宋体" pitchFamily="2" charset="-122"/>
                <a:ea typeface="宋体" pitchFamily="2" charset="-122"/>
                <a:sym typeface="Symbol" pitchFamily="18" charset="2"/>
              </a:rPr>
              <a:t>定理</a:t>
            </a:r>
            <a:r>
              <a:rPr lang="en-US" altLang="zh-CN" sz="3600" dirty="0">
                <a:latin typeface="宋体" pitchFamily="2" charset="-122"/>
                <a:ea typeface="宋体" pitchFamily="2" charset="-122"/>
                <a:sym typeface="Symbol" pitchFamily="18" charset="2"/>
              </a:rPr>
              <a:t>1.1 </a:t>
            </a:r>
            <a:r>
              <a:rPr lang="zh-CN" altLang="en-US" sz="3600" dirty="0">
                <a:latin typeface="宋体" pitchFamily="2" charset="-122"/>
                <a:ea typeface="宋体" pitchFamily="2" charset="-122"/>
                <a:sym typeface="Symbol" pitchFamily="18" charset="2"/>
              </a:rPr>
              <a:t>设</a:t>
            </a:r>
            <a:r>
              <a:rPr lang="en-US" altLang="zh-CN" sz="3600" dirty="0">
                <a:latin typeface="宋体" pitchFamily="2" charset="-122"/>
                <a:ea typeface="宋体" pitchFamily="2" charset="-122"/>
                <a:sym typeface="Symbol" pitchFamily="18" charset="2"/>
              </a:rPr>
              <a:t>A</a:t>
            </a:r>
            <a:r>
              <a:rPr lang="zh-CN" altLang="en-US" sz="3600" dirty="0">
                <a:latin typeface="宋体" pitchFamily="2" charset="-122"/>
                <a:ea typeface="宋体" pitchFamily="2" charset="-122"/>
                <a:sym typeface="Symbol" pitchFamily="18" charset="2"/>
              </a:rPr>
              <a:t>和</a:t>
            </a:r>
            <a:r>
              <a:rPr lang="en-US" altLang="zh-CN" sz="3600" dirty="0">
                <a:latin typeface="宋体" pitchFamily="2" charset="-122"/>
                <a:ea typeface="宋体" pitchFamily="2" charset="-122"/>
                <a:sym typeface="Symbol" pitchFamily="18" charset="2"/>
              </a:rPr>
              <a:t>B</a:t>
            </a:r>
            <a:r>
              <a:rPr lang="zh-CN" altLang="en-US" sz="3600" dirty="0">
                <a:latin typeface="宋体" pitchFamily="2" charset="-122"/>
                <a:ea typeface="宋体" pitchFamily="2" charset="-122"/>
                <a:sym typeface="Symbol" pitchFamily="18" charset="2"/>
              </a:rPr>
              <a:t>是两个集合，</a:t>
            </a:r>
            <a:r>
              <a:rPr lang="en-US" altLang="zh-CN" sz="3600" dirty="0">
                <a:latin typeface="宋体" pitchFamily="2" charset="-122"/>
                <a:ea typeface="宋体" pitchFamily="2" charset="-122"/>
                <a:sym typeface="Symbol" pitchFamily="18" charset="2"/>
              </a:rPr>
              <a:t>A=B</a:t>
            </a:r>
            <a:r>
              <a:rPr lang="zh-CN" altLang="en-US" sz="3600" dirty="0">
                <a:latin typeface="宋体" pitchFamily="2" charset="-122"/>
                <a:ea typeface="宋体" pitchFamily="2" charset="-122"/>
                <a:sym typeface="Symbol" pitchFamily="18" charset="2"/>
              </a:rPr>
              <a:t>的充要条件是：</a:t>
            </a:r>
            <a:r>
              <a:rPr lang="en-US" altLang="zh-CN" sz="3600" dirty="0">
                <a:latin typeface="宋体" pitchFamily="2" charset="-122"/>
                <a:ea typeface="宋体" pitchFamily="2" charset="-122"/>
              </a:rPr>
              <a:t>A</a:t>
            </a:r>
            <a:r>
              <a:rPr lang="en-US" altLang="zh-CN" sz="3600" dirty="0">
                <a:latin typeface="宋体" pitchFamily="2" charset="-122"/>
                <a:ea typeface="宋体" pitchFamily="2" charset="-122"/>
                <a:sym typeface="Symbol" pitchFamily="18" charset="2"/>
              </a:rPr>
              <a:t>B</a:t>
            </a:r>
            <a:r>
              <a:rPr lang="zh-CN" altLang="en-US" sz="3600" dirty="0">
                <a:latin typeface="宋体" pitchFamily="2" charset="-122"/>
                <a:ea typeface="宋体" pitchFamily="2" charset="-122"/>
                <a:sym typeface="Symbol" pitchFamily="18" charset="2"/>
              </a:rPr>
              <a:t>且</a:t>
            </a:r>
            <a:r>
              <a:rPr lang="en-US" altLang="zh-CN" sz="3600" dirty="0">
                <a:latin typeface="宋体" pitchFamily="2" charset="-122"/>
                <a:ea typeface="宋体" pitchFamily="2" charset="-122"/>
                <a:sym typeface="Symbol" pitchFamily="18" charset="2"/>
              </a:rPr>
              <a:t>B  A</a:t>
            </a:r>
            <a:r>
              <a:rPr lang="zh-CN" altLang="en-US" sz="3600" dirty="0">
                <a:latin typeface="宋体" pitchFamily="2" charset="-122"/>
                <a:ea typeface="宋体" pitchFamily="2" charset="-122"/>
                <a:sym typeface="Symbol" pitchFamily="18" charset="2"/>
              </a:rPr>
              <a:t>，即两个集合相等的充要条件是它们互为子集。 </a:t>
            </a:r>
          </a:p>
        </p:txBody>
      </p:sp>
      <p:sp>
        <p:nvSpPr>
          <p:cNvPr id="3" name="Rectangle 3">
            <a:extLst>
              <a:ext uri="{FF2B5EF4-FFF2-40B4-BE49-F238E27FC236}">
                <a16:creationId xmlns:a16="http://schemas.microsoft.com/office/drawing/2014/main" id="{894E8FC7-74BF-4AFC-A1C6-AD0E729445CA}"/>
              </a:ext>
            </a:extLst>
          </p:cNvPr>
          <p:cNvSpPr txBox="1">
            <a:spLocks noChangeArrowheads="1"/>
          </p:cNvSpPr>
          <p:nvPr/>
        </p:nvSpPr>
        <p:spPr>
          <a:xfrm>
            <a:off x="191344" y="3284984"/>
            <a:ext cx="11809312" cy="2952328"/>
          </a:xfrm>
          <a:prstGeom prst="rect">
            <a:avLst/>
          </a:prstGeom>
          <a:noFill/>
          <a:ln/>
        </p:spPr>
        <p:txBody>
          <a:bodyPr/>
          <a:lstStyle>
            <a:lvl1pPr marL="257175" indent="-257175" algn="l" defTabSz="685800" rtl="0" eaLnBrk="1" latinLnBrk="0" hangingPunct="1">
              <a:spcBef>
                <a:spcPct val="20000"/>
              </a:spcBef>
              <a:buFont typeface="Arial" pitchFamily="34" charset="0"/>
              <a:buChar char="•"/>
              <a:defRPr sz="2400" kern="1200">
                <a:solidFill>
                  <a:schemeClr val="tx1"/>
                </a:solidFill>
                <a:latin typeface="+mn-lt"/>
                <a:ea typeface="+mn-ea"/>
                <a:cs typeface="+mn-cs"/>
              </a:defRPr>
            </a:lvl1pPr>
            <a:lvl2pPr marL="557213" indent="-214313" algn="l" defTabSz="685800" rtl="0" eaLnBrk="1" latinLnBrk="0" hangingPunct="1">
              <a:spcBef>
                <a:spcPct val="20000"/>
              </a:spcBef>
              <a:buFont typeface="Arial" pitchFamily="34" charset="0"/>
              <a:buChar char="–"/>
              <a:defRPr sz="2100" kern="1200">
                <a:solidFill>
                  <a:schemeClr val="tx1"/>
                </a:solidFill>
                <a:latin typeface="+mn-lt"/>
                <a:ea typeface="+mn-ea"/>
                <a:cs typeface="+mn-cs"/>
              </a:defRPr>
            </a:lvl2pPr>
            <a:lvl3pPr marL="857250" indent="-171450" algn="l" defTabSz="685800" rtl="0" eaLnBrk="1" latinLnBrk="0" hangingPunct="1">
              <a:spcBef>
                <a:spcPct val="20000"/>
              </a:spcBef>
              <a:buFont typeface="Arial" pitchFamily="34" charset="0"/>
              <a:buChar char="•"/>
              <a:defRPr sz="1800" kern="1200">
                <a:solidFill>
                  <a:schemeClr val="tx1"/>
                </a:solidFill>
                <a:latin typeface="+mn-lt"/>
                <a:ea typeface="+mn-ea"/>
                <a:cs typeface="+mn-cs"/>
              </a:defRPr>
            </a:lvl3pPr>
            <a:lvl4pPr marL="12001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4pPr>
            <a:lvl5pPr marL="15430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a:buFontTx/>
              <a:buNone/>
            </a:pPr>
            <a:r>
              <a:rPr lang="zh-CN" altLang="en-US" dirty="0">
                <a:sym typeface="Symbol" pitchFamily="18" charset="2"/>
              </a:rPr>
              <a:t>证明：</a:t>
            </a:r>
            <a:r>
              <a:rPr lang="zh-CN" altLang="en-US" b="1" dirty="0">
                <a:solidFill>
                  <a:schemeClr val="hlink"/>
                </a:solidFill>
                <a:sym typeface="Symbol" pitchFamily="18" charset="2"/>
              </a:rPr>
              <a:t>必要性</a:t>
            </a:r>
            <a:r>
              <a:rPr lang="zh-CN" altLang="en-US" dirty="0">
                <a:solidFill>
                  <a:schemeClr val="folHlink"/>
                </a:solidFill>
                <a:sym typeface="Symbol" pitchFamily="18" charset="2"/>
              </a:rPr>
              <a:t> </a:t>
            </a:r>
            <a:r>
              <a:rPr lang="zh-CN" altLang="en-US" dirty="0">
                <a:sym typeface="Symbol" pitchFamily="18" charset="2"/>
              </a:rPr>
              <a:t> </a:t>
            </a:r>
            <a:r>
              <a:rPr lang="en-US" altLang="zh-CN" sz="2800" dirty="0"/>
              <a:t>A=B</a:t>
            </a:r>
            <a:r>
              <a:rPr lang="en-US" altLang="zh-CN" sz="2800" dirty="0">
                <a:sym typeface="Symbol" pitchFamily="18" charset="2"/>
              </a:rPr>
              <a:t> </a:t>
            </a:r>
            <a:r>
              <a:rPr lang="en-US" altLang="zh-CN" dirty="0">
                <a:sym typeface="Symbol" pitchFamily="18" charset="2"/>
              </a:rPr>
              <a:t>AB</a:t>
            </a:r>
            <a:r>
              <a:rPr lang="zh-CN" altLang="en-US" dirty="0">
                <a:sym typeface="Symbol" pitchFamily="18" charset="2"/>
              </a:rPr>
              <a:t>并且</a:t>
            </a:r>
            <a:r>
              <a:rPr lang="en-US" altLang="zh-CN" dirty="0">
                <a:sym typeface="Symbol" pitchFamily="18" charset="2"/>
              </a:rPr>
              <a:t>BA</a:t>
            </a:r>
            <a:r>
              <a:rPr lang="zh-CN" altLang="en-US" dirty="0">
                <a:sym typeface="Symbol" pitchFamily="18" charset="2"/>
              </a:rPr>
              <a:t>。</a:t>
            </a:r>
          </a:p>
          <a:p>
            <a:pPr>
              <a:buFontTx/>
              <a:buNone/>
            </a:pPr>
            <a:r>
              <a:rPr lang="zh-CN" altLang="en-US" dirty="0">
                <a:sym typeface="Symbol" pitchFamily="18" charset="2"/>
              </a:rPr>
              <a:t>  因为</a:t>
            </a:r>
            <a:r>
              <a:rPr lang="en-US" altLang="zh-CN" sz="2800" dirty="0"/>
              <a:t>A=B</a:t>
            </a:r>
            <a:r>
              <a:rPr lang="zh-CN" altLang="en-US" sz="2800" dirty="0"/>
              <a:t>，由定义</a:t>
            </a:r>
            <a:r>
              <a:rPr lang="en-US" altLang="zh-CN" sz="2800" dirty="0"/>
              <a:t>A</a:t>
            </a:r>
            <a:r>
              <a:rPr lang="zh-CN" altLang="en-US" sz="2800" dirty="0"/>
              <a:t>中的每个元素是在</a:t>
            </a:r>
            <a:r>
              <a:rPr lang="en-US" altLang="zh-CN" sz="2800" dirty="0"/>
              <a:t>B</a:t>
            </a:r>
            <a:r>
              <a:rPr lang="zh-CN" altLang="en-US" sz="2800" dirty="0"/>
              <a:t>中，所以</a:t>
            </a:r>
            <a:r>
              <a:rPr lang="en-US" altLang="zh-CN" dirty="0">
                <a:sym typeface="Symbol" pitchFamily="18" charset="2"/>
              </a:rPr>
              <a:t>AB</a:t>
            </a:r>
            <a:r>
              <a:rPr lang="zh-CN" altLang="en-US" dirty="0">
                <a:sym typeface="Symbol" pitchFamily="18" charset="2"/>
              </a:rPr>
              <a:t>，同理</a:t>
            </a:r>
            <a:r>
              <a:rPr lang="en-US" altLang="zh-CN" sz="2800" dirty="0"/>
              <a:t>B</a:t>
            </a:r>
            <a:r>
              <a:rPr lang="zh-CN" altLang="en-US" sz="2800" dirty="0"/>
              <a:t>中的每个元素是在</a:t>
            </a:r>
            <a:r>
              <a:rPr lang="en-US" altLang="zh-CN" sz="2800" dirty="0"/>
              <a:t>A</a:t>
            </a:r>
            <a:r>
              <a:rPr lang="zh-CN" altLang="en-US" sz="2800" dirty="0"/>
              <a:t>中，所以</a:t>
            </a:r>
            <a:r>
              <a:rPr lang="en-US" altLang="zh-CN" dirty="0">
                <a:sym typeface="Symbol" pitchFamily="18" charset="2"/>
              </a:rPr>
              <a:t>BA</a:t>
            </a:r>
            <a:r>
              <a:rPr lang="zh-CN" altLang="en-US" dirty="0">
                <a:sym typeface="Symbol" pitchFamily="18" charset="2"/>
              </a:rPr>
              <a:t>。</a:t>
            </a:r>
          </a:p>
          <a:p>
            <a:pPr>
              <a:buFontTx/>
              <a:buNone/>
            </a:pPr>
            <a:r>
              <a:rPr lang="zh-CN" altLang="en-US" b="1" dirty="0">
                <a:solidFill>
                  <a:schemeClr val="hlink"/>
                </a:solidFill>
                <a:sym typeface="Symbol" pitchFamily="18" charset="2"/>
              </a:rPr>
              <a:t>充分性</a:t>
            </a:r>
            <a:r>
              <a:rPr lang="zh-CN" altLang="en-US" dirty="0">
                <a:sym typeface="Symbol" pitchFamily="18" charset="2"/>
              </a:rPr>
              <a:t> </a:t>
            </a:r>
            <a:r>
              <a:rPr lang="en-US" altLang="zh-CN" dirty="0">
                <a:sym typeface="Symbol" pitchFamily="18" charset="2"/>
              </a:rPr>
              <a:t>AB</a:t>
            </a:r>
            <a:r>
              <a:rPr lang="zh-CN" altLang="en-US" dirty="0">
                <a:sym typeface="Symbol" pitchFamily="18" charset="2"/>
              </a:rPr>
              <a:t>并且</a:t>
            </a:r>
            <a:r>
              <a:rPr lang="en-US" altLang="zh-CN" dirty="0">
                <a:sym typeface="Symbol" pitchFamily="18" charset="2"/>
              </a:rPr>
              <a:t>BA </a:t>
            </a:r>
            <a:r>
              <a:rPr lang="en-US" altLang="zh-CN" sz="2800" dirty="0">
                <a:sym typeface="Symbol" pitchFamily="18" charset="2"/>
              </a:rPr>
              <a:t> </a:t>
            </a:r>
            <a:r>
              <a:rPr lang="en-US" altLang="zh-CN" sz="2800" dirty="0"/>
              <a:t>A=B</a:t>
            </a:r>
            <a:r>
              <a:rPr lang="zh-CN" altLang="en-US" sz="2800" dirty="0"/>
              <a:t>。</a:t>
            </a:r>
          </a:p>
          <a:p>
            <a:pPr>
              <a:buFontTx/>
              <a:buNone/>
            </a:pPr>
            <a:r>
              <a:rPr lang="zh-CN" altLang="en-US" sz="2800" dirty="0"/>
              <a:t>   反证法。如果</a:t>
            </a:r>
            <a:r>
              <a:rPr lang="en-US" altLang="zh-CN" sz="2800" dirty="0"/>
              <a:t>A</a:t>
            </a:r>
            <a:r>
              <a:rPr lang="en-US" altLang="zh-CN" sz="2800" dirty="0">
                <a:sym typeface="Symbol" pitchFamily="18" charset="2"/>
              </a:rPr>
              <a:t></a:t>
            </a:r>
            <a:r>
              <a:rPr lang="en-US" altLang="zh-CN" sz="2800" dirty="0"/>
              <a:t>B</a:t>
            </a:r>
            <a:r>
              <a:rPr lang="zh-CN" altLang="en-US" sz="2800" dirty="0"/>
              <a:t>，则</a:t>
            </a:r>
            <a:r>
              <a:rPr lang="en-US" altLang="zh-CN" sz="2800" dirty="0"/>
              <a:t>A</a:t>
            </a:r>
            <a:r>
              <a:rPr lang="zh-CN" altLang="en-US" sz="2800" dirty="0"/>
              <a:t>中至少有一个元素不在</a:t>
            </a:r>
            <a:r>
              <a:rPr lang="en-US" altLang="zh-CN" sz="2800" dirty="0"/>
              <a:t>B</a:t>
            </a:r>
            <a:r>
              <a:rPr lang="zh-CN" altLang="en-US" sz="2800" dirty="0"/>
              <a:t>中，与</a:t>
            </a:r>
            <a:r>
              <a:rPr lang="en-US" altLang="zh-CN" dirty="0">
                <a:sym typeface="Symbol" pitchFamily="18" charset="2"/>
              </a:rPr>
              <a:t>AB</a:t>
            </a:r>
            <a:r>
              <a:rPr lang="zh-CN" altLang="en-US" sz="2800" dirty="0"/>
              <a:t>矛盾；或者</a:t>
            </a:r>
            <a:r>
              <a:rPr lang="en-US" altLang="zh-CN" sz="2800" dirty="0"/>
              <a:t>B</a:t>
            </a:r>
            <a:r>
              <a:rPr lang="zh-CN" altLang="en-US" sz="2800" dirty="0"/>
              <a:t>中至少有一个元素不在</a:t>
            </a:r>
            <a:r>
              <a:rPr lang="en-US" altLang="zh-CN" sz="2800" dirty="0"/>
              <a:t>A</a:t>
            </a:r>
            <a:r>
              <a:rPr lang="zh-CN" altLang="en-US" sz="2800" dirty="0"/>
              <a:t>中，与</a:t>
            </a:r>
            <a:r>
              <a:rPr lang="en-US" altLang="zh-CN" dirty="0">
                <a:sym typeface="Symbol" pitchFamily="18" charset="2"/>
              </a:rPr>
              <a:t>BA</a:t>
            </a:r>
            <a:r>
              <a:rPr lang="zh-CN" altLang="en-US" sz="2800" dirty="0"/>
              <a:t>矛盾。所以</a:t>
            </a:r>
            <a:r>
              <a:rPr lang="en-US" altLang="zh-CN" sz="2800" dirty="0"/>
              <a:t>A</a:t>
            </a:r>
            <a:r>
              <a:rPr lang="en-US" altLang="zh-CN" sz="2800" dirty="0">
                <a:sym typeface="Symbol" pitchFamily="18" charset="2"/>
              </a:rPr>
              <a:t></a:t>
            </a:r>
            <a:r>
              <a:rPr lang="en-US" altLang="zh-CN" sz="2800" dirty="0"/>
              <a:t>B</a:t>
            </a:r>
            <a:r>
              <a:rPr lang="zh-CN" altLang="en-US" sz="2800" dirty="0"/>
              <a:t>不可能成立。所以</a:t>
            </a:r>
            <a:r>
              <a:rPr lang="en-US" altLang="zh-CN" sz="2800" dirty="0"/>
              <a:t>A=B</a:t>
            </a:r>
            <a:r>
              <a:rPr lang="zh-CN" altLang="en-US" sz="2800" dirty="0"/>
              <a:t>。</a:t>
            </a:r>
          </a:p>
        </p:txBody>
      </p:sp>
    </p:spTree>
    <p:extLst>
      <p:ext uri="{BB962C8B-B14F-4D97-AF65-F5344CB8AC3E}">
        <p14:creationId xmlns:p14="http://schemas.microsoft.com/office/powerpoint/2010/main" val="221007052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
            <a:extLst>
              <a:ext uri="{FF2B5EF4-FFF2-40B4-BE49-F238E27FC236}">
                <a16:creationId xmlns:a16="http://schemas.microsoft.com/office/drawing/2014/main" id="{473A34F2-7B68-4E52-AEC7-6E6CDEEBAA23}"/>
              </a:ext>
            </a:extLst>
          </p:cNvPr>
          <p:cNvSpPr txBox="1">
            <a:spLocks noChangeArrowheads="1"/>
          </p:cNvSpPr>
          <p:nvPr/>
        </p:nvSpPr>
        <p:spPr>
          <a:xfrm>
            <a:off x="1127448" y="1484784"/>
            <a:ext cx="8291264" cy="4682920"/>
          </a:xfrm>
          <a:prstGeom prst="rect">
            <a:avLst/>
          </a:prstGeom>
        </p:spPr>
        <p:txBody>
          <a:bodyPr/>
          <a:lstStyle>
            <a:lvl1pPr marL="257175" indent="-257175" algn="l" defTabSz="685800" rtl="0" eaLnBrk="1" latinLnBrk="0" hangingPunct="1">
              <a:spcBef>
                <a:spcPct val="20000"/>
              </a:spcBef>
              <a:buFont typeface="Arial" pitchFamily="34" charset="0"/>
              <a:buChar char="•"/>
              <a:defRPr sz="2400" kern="1200">
                <a:solidFill>
                  <a:schemeClr val="tx1"/>
                </a:solidFill>
                <a:latin typeface="+mn-lt"/>
                <a:ea typeface="+mn-ea"/>
                <a:cs typeface="+mn-cs"/>
              </a:defRPr>
            </a:lvl1pPr>
            <a:lvl2pPr marL="557213" indent="-214313" algn="l" defTabSz="685800" rtl="0" eaLnBrk="1" latinLnBrk="0" hangingPunct="1">
              <a:spcBef>
                <a:spcPct val="20000"/>
              </a:spcBef>
              <a:buFont typeface="Arial" pitchFamily="34" charset="0"/>
              <a:buChar char="–"/>
              <a:defRPr sz="2100" kern="1200">
                <a:solidFill>
                  <a:schemeClr val="tx1"/>
                </a:solidFill>
                <a:latin typeface="+mn-lt"/>
                <a:ea typeface="+mn-ea"/>
                <a:cs typeface="+mn-cs"/>
              </a:defRPr>
            </a:lvl2pPr>
            <a:lvl3pPr marL="857250" indent="-171450" algn="l" defTabSz="685800" rtl="0" eaLnBrk="1" latinLnBrk="0" hangingPunct="1">
              <a:spcBef>
                <a:spcPct val="20000"/>
              </a:spcBef>
              <a:buFont typeface="Arial" pitchFamily="34" charset="0"/>
              <a:buChar char="•"/>
              <a:defRPr sz="1800" kern="1200">
                <a:solidFill>
                  <a:schemeClr val="tx1"/>
                </a:solidFill>
                <a:latin typeface="+mn-lt"/>
                <a:ea typeface="+mn-ea"/>
                <a:cs typeface="+mn-cs"/>
              </a:defRPr>
            </a:lvl3pPr>
            <a:lvl4pPr marL="12001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4pPr>
            <a:lvl5pPr marL="15430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a:lnSpc>
                <a:spcPct val="200000"/>
              </a:lnSpc>
              <a:buFontTx/>
              <a:buNone/>
            </a:pPr>
            <a:r>
              <a:rPr lang="zh-CN" altLang="en-US" sz="3200" b="1" dirty="0">
                <a:solidFill>
                  <a:srgbClr val="3308E8"/>
                </a:solidFill>
              </a:rPr>
              <a:t>自反性</a:t>
            </a:r>
            <a:r>
              <a:rPr lang="en-US" altLang="zh-CN" sz="3200" dirty="0"/>
              <a:t>:A</a:t>
            </a:r>
            <a:r>
              <a:rPr lang="en-US" altLang="zh-CN" sz="3200" dirty="0">
                <a:sym typeface="Symbol" pitchFamily="18" charset="2"/>
              </a:rPr>
              <a:t>=A</a:t>
            </a:r>
            <a:endParaRPr lang="en-US" altLang="zh-CN" sz="3200" dirty="0"/>
          </a:p>
          <a:p>
            <a:pPr>
              <a:lnSpc>
                <a:spcPct val="200000"/>
              </a:lnSpc>
              <a:buFontTx/>
              <a:buNone/>
            </a:pPr>
            <a:r>
              <a:rPr lang="zh-CN" altLang="en-US" sz="3200" b="1" dirty="0">
                <a:solidFill>
                  <a:srgbClr val="3308E8"/>
                </a:solidFill>
              </a:rPr>
              <a:t>对称性</a:t>
            </a:r>
            <a:r>
              <a:rPr lang="en-US" altLang="zh-CN" sz="3200" dirty="0"/>
              <a:t>: </a:t>
            </a:r>
            <a:r>
              <a:rPr lang="zh-CN" altLang="en-US" sz="3200" dirty="0"/>
              <a:t>若</a:t>
            </a:r>
            <a:r>
              <a:rPr lang="en-US" altLang="zh-CN" sz="3200" dirty="0"/>
              <a:t>A</a:t>
            </a:r>
            <a:r>
              <a:rPr lang="en-US" altLang="zh-CN" sz="3200" dirty="0">
                <a:sym typeface="Symbol" pitchFamily="18" charset="2"/>
              </a:rPr>
              <a:t>=B,</a:t>
            </a:r>
            <a:r>
              <a:rPr lang="zh-CN" altLang="en-US" sz="3200" dirty="0">
                <a:sym typeface="Symbol" pitchFamily="18" charset="2"/>
              </a:rPr>
              <a:t>则</a:t>
            </a:r>
            <a:r>
              <a:rPr lang="en-US" altLang="zh-CN" sz="3200" dirty="0">
                <a:sym typeface="Symbol" pitchFamily="18" charset="2"/>
              </a:rPr>
              <a:t>B=A</a:t>
            </a:r>
            <a:endParaRPr lang="en-US" altLang="zh-CN" sz="3200" dirty="0"/>
          </a:p>
          <a:p>
            <a:pPr>
              <a:lnSpc>
                <a:spcPct val="200000"/>
              </a:lnSpc>
              <a:buFontTx/>
              <a:buNone/>
            </a:pPr>
            <a:r>
              <a:rPr lang="zh-CN" altLang="en-US" sz="3200" b="1" dirty="0">
                <a:solidFill>
                  <a:srgbClr val="3308E8"/>
                </a:solidFill>
              </a:rPr>
              <a:t>传递性</a:t>
            </a:r>
            <a:r>
              <a:rPr lang="en-US" altLang="zh-CN" sz="3200" dirty="0"/>
              <a:t>: </a:t>
            </a:r>
            <a:r>
              <a:rPr lang="zh-CN" altLang="en-US" sz="3200" dirty="0"/>
              <a:t>若</a:t>
            </a:r>
            <a:r>
              <a:rPr lang="en-US" altLang="zh-CN" sz="3200" dirty="0"/>
              <a:t>A</a:t>
            </a:r>
            <a:r>
              <a:rPr lang="en-US" altLang="zh-CN" sz="3200" dirty="0">
                <a:sym typeface="Symbol" pitchFamily="18" charset="2"/>
              </a:rPr>
              <a:t>=B</a:t>
            </a:r>
            <a:r>
              <a:rPr lang="zh-CN" altLang="en-US" sz="3200" dirty="0">
                <a:sym typeface="Symbol" pitchFamily="18" charset="2"/>
              </a:rPr>
              <a:t>且</a:t>
            </a:r>
            <a:r>
              <a:rPr lang="en-US" altLang="zh-CN" sz="3200" dirty="0">
                <a:sym typeface="Symbol" pitchFamily="18" charset="2"/>
              </a:rPr>
              <a:t>B=C,</a:t>
            </a:r>
            <a:r>
              <a:rPr lang="zh-CN" altLang="en-US" sz="3200" dirty="0">
                <a:sym typeface="Symbol" pitchFamily="18" charset="2"/>
              </a:rPr>
              <a:t>则</a:t>
            </a:r>
            <a:r>
              <a:rPr lang="en-US" altLang="zh-CN" sz="3200" dirty="0"/>
              <a:t>A</a:t>
            </a:r>
            <a:r>
              <a:rPr lang="en-US" altLang="zh-CN" sz="3200" dirty="0">
                <a:sym typeface="Symbol" pitchFamily="18" charset="2"/>
              </a:rPr>
              <a:t>=C</a:t>
            </a:r>
          </a:p>
        </p:txBody>
      </p:sp>
      <p:sp>
        <p:nvSpPr>
          <p:cNvPr id="3" name="Rectangle 5">
            <a:extLst>
              <a:ext uri="{FF2B5EF4-FFF2-40B4-BE49-F238E27FC236}">
                <a16:creationId xmlns:a16="http://schemas.microsoft.com/office/drawing/2014/main" id="{160D4803-4C60-4A28-AD63-1BE3CF570CD4}"/>
              </a:ext>
            </a:extLst>
          </p:cNvPr>
          <p:cNvSpPr txBox="1">
            <a:spLocks noChangeArrowheads="1"/>
          </p:cNvSpPr>
          <p:nvPr/>
        </p:nvSpPr>
        <p:spPr>
          <a:xfrm>
            <a:off x="1919536" y="188640"/>
            <a:ext cx="6756920" cy="648072"/>
          </a:xfrm>
          <a:prstGeom prst="rect">
            <a:avLst/>
          </a:prstGeom>
        </p:spPr>
        <p:txBody>
          <a:bodyPr/>
          <a:lstStyle>
            <a:lvl1pPr algn="ctr" defTabSz="685800" rtl="0" eaLnBrk="1" latinLnBrk="0" hangingPunct="1">
              <a:spcBef>
                <a:spcPct val="0"/>
              </a:spcBef>
              <a:buNone/>
              <a:defRPr sz="3300" kern="1200">
                <a:solidFill>
                  <a:schemeClr val="tx1"/>
                </a:solidFill>
                <a:latin typeface="+mj-lt"/>
                <a:ea typeface="+mj-ea"/>
                <a:cs typeface="+mj-cs"/>
              </a:defRPr>
            </a:lvl1pPr>
          </a:lstStyle>
          <a:p>
            <a:r>
              <a:rPr lang="zh-CN" altLang="en-US" dirty="0"/>
              <a:t>集合间相等关系的性质</a:t>
            </a:r>
            <a:r>
              <a:rPr lang="en-US" altLang="zh-CN" dirty="0"/>
              <a:t>:</a:t>
            </a:r>
          </a:p>
        </p:txBody>
      </p:sp>
    </p:spTree>
    <p:extLst>
      <p:ext uri="{BB962C8B-B14F-4D97-AF65-F5344CB8AC3E}">
        <p14:creationId xmlns:p14="http://schemas.microsoft.com/office/powerpoint/2010/main" val="59982096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
            <a:extLst>
              <a:ext uri="{FF2B5EF4-FFF2-40B4-BE49-F238E27FC236}">
                <a16:creationId xmlns:a16="http://schemas.microsoft.com/office/drawing/2014/main" id="{8E472AEF-3166-4E91-A2C3-03337F2AD64B}"/>
              </a:ext>
            </a:extLst>
          </p:cNvPr>
          <p:cNvSpPr txBox="1">
            <a:spLocks noChangeArrowheads="1"/>
          </p:cNvSpPr>
          <p:nvPr/>
        </p:nvSpPr>
        <p:spPr>
          <a:xfrm>
            <a:off x="457200" y="1196752"/>
            <a:ext cx="10175304" cy="5258984"/>
          </a:xfrm>
          <a:prstGeom prst="rect">
            <a:avLst/>
          </a:prstGeom>
        </p:spPr>
        <p:txBody>
          <a:bodyPr/>
          <a:lstStyle>
            <a:lvl1pPr marL="257175" indent="-257175" algn="l" defTabSz="685800" rtl="0" eaLnBrk="1" latinLnBrk="0" hangingPunct="1">
              <a:spcBef>
                <a:spcPct val="20000"/>
              </a:spcBef>
              <a:buFont typeface="Arial" pitchFamily="34" charset="0"/>
              <a:buChar char="•"/>
              <a:defRPr sz="2400" kern="1200">
                <a:solidFill>
                  <a:schemeClr val="tx1"/>
                </a:solidFill>
                <a:latin typeface="+mn-lt"/>
                <a:ea typeface="+mn-ea"/>
                <a:cs typeface="+mn-cs"/>
              </a:defRPr>
            </a:lvl1pPr>
            <a:lvl2pPr marL="557213" indent="-214313" algn="l" defTabSz="685800" rtl="0" eaLnBrk="1" latinLnBrk="0" hangingPunct="1">
              <a:spcBef>
                <a:spcPct val="20000"/>
              </a:spcBef>
              <a:buFont typeface="Arial" pitchFamily="34" charset="0"/>
              <a:buChar char="–"/>
              <a:defRPr sz="2100" kern="1200">
                <a:solidFill>
                  <a:schemeClr val="tx1"/>
                </a:solidFill>
                <a:latin typeface="+mn-lt"/>
                <a:ea typeface="+mn-ea"/>
                <a:cs typeface="+mn-cs"/>
              </a:defRPr>
            </a:lvl2pPr>
            <a:lvl3pPr marL="857250" indent="-171450" algn="l" defTabSz="685800" rtl="0" eaLnBrk="1" latinLnBrk="0" hangingPunct="1">
              <a:spcBef>
                <a:spcPct val="20000"/>
              </a:spcBef>
              <a:buFont typeface="Arial" pitchFamily="34" charset="0"/>
              <a:buChar char="•"/>
              <a:defRPr sz="1800" kern="1200">
                <a:solidFill>
                  <a:schemeClr val="tx1"/>
                </a:solidFill>
                <a:latin typeface="+mn-lt"/>
                <a:ea typeface="+mn-ea"/>
                <a:cs typeface="+mn-cs"/>
              </a:defRPr>
            </a:lvl3pPr>
            <a:lvl4pPr marL="12001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4pPr>
            <a:lvl5pPr marL="15430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a:lnSpc>
                <a:spcPct val="130000"/>
              </a:lnSpc>
              <a:buFontTx/>
              <a:buNone/>
            </a:pPr>
            <a:r>
              <a:rPr lang="zh-CN" altLang="en-US" sz="2800" b="1">
                <a:solidFill>
                  <a:schemeClr val="hlink"/>
                </a:solidFill>
              </a:rPr>
              <a:t>定义</a:t>
            </a:r>
            <a:r>
              <a:rPr lang="en-US" altLang="zh-CN" sz="2800" b="1">
                <a:solidFill>
                  <a:schemeClr val="hlink"/>
                </a:solidFill>
              </a:rPr>
              <a:t>1. 4</a:t>
            </a:r>
            <a:r>
              <a:rPr lang="en-US" altLang="zh-CN" sz="2800"/>
              <a:t> </a:t>
            </a:r>
            <a:r>
              <a:rPr lang="zh-CN" altLang="en-US" sz="2800"/>
              <a:t>集合</a:t>
            </a:r>
            <a:r>
              <a:rPr lang="en-US" altLang="zh-CN" sz="2800"/>
              <a:t>A</a:t>
            </a:r>
            <a:r>
              <a:rPr lang="zh-CN" altLang="en-US" sz="2800"/>
              <a:t>中所包含的不同元素的个数，称为集合</a:t>
            </a:r>
            <a:r>
              <a:rPr lang="en-US" altLang="zh-CN" sz="2800"/>
              <a:t>A</a:t>
            </a:r>
            <a:r>
              <a:rPr lang="zh-CN" altLang="en-US" sz="2800"/>
              <a:t>的</a:t>
            </a:r>
            <a:r>
              <a:rPr lang="zh-CN" altLang="en-US" sz="2800" b="1"/>
              <a:t>基数</a:t>
            </a:r>
            <a:r>
              <a:rPr lang="zh-CN" altLang="en-US" sz="2800"/>
              <a:t>，通常用</a:t>
            </a:r>
            <a:r>
              <a:rPr lang="en-US" altLang="zh-CN" sz="2800"/>
              <a:t>| </a:t>
            </a:r>
            <a:r>
              <a:rPr lang="en-US" altLang="zh-CN" sz="2800" i="1"/>
              <a:t>A</a:t>
            </a:r>
            <a:r>
              <a:rPr lang="en-US" altLang="zh-CN" sz="2800"/>
              <a:t> |</a:t>
            </a:r>
            <a:r>
              <a:rPr lang="zh-CN" altLang="en-US" sz="2800"/>
              <a:t>或</a:t>
            </a:r>
            <a:r>
              <a:rPr lang="en-US" altLang="zh-CN" sz="2800" i="1"/>
              <a:t>Card </a:t>
            </a:r>
            <a:r>
              <a:rPr lang="en-US" altLang="zh-CN" sz="2800"/>
              <a:t>(A)</a:t>
            </a:r>
            <a:r>
              <a:rPr lang="zh-CN" altLang="en-US" sz="2800"/>
              <a:t>表示。</a:t>
            </a:r>
          </a:p>
          <a:p>
            <a:pPr lvl="2">
              <a:lnSpc>
                <a:spcPct val="130000"/>
              </a:lnSpc>
              <a:buFont typeface="Arial" pitchFamily="34" charset="0"/>
              <a:buNone/>
            </a:pPr>
            <a:r>
              <a:rPr lang="zh-CN" altLang="en-US" sz="2400"/>
              <a:t>例</a:t>
            </a:r>
            <a:r>
              <a:rPr lang="en-US" altLang="zh-CN" sz="2400"/>
              <a:t>1.13 </a:t>
            </a:r>
            <a:r>
              <a:rPr lang="zh-CN" altLang="en-US" sz="2400"/>
              <a:t>计算下列集合的基数。 </a:t>
            </a:r>
            <a:endParaRPr lang="en-US" altLang="zh-CN" sz="2400"/>
          </a:p>
          <a:p>
            <a:pPr lvl="2">
              <a:lnSpc>
                <a:spcPct val="130000"/>
              </a:lnSpc>
              <a:buFont typeface="Arial" pitchFamily="34" charset="0"/>
              <a:buNone/>
            </a:pPr>
            <a:r>
              <a:rPr lang="en-US" altLang="zh-CN" sz="2400"/>
              <a:t>(1)</a:t>
            </a:r>
            <a:r>
              <a:rPr lang="zh-CN" altLang="en-US" sz="2400"/>
              <a:t>集合</a:t>
            </a:r>
            <a:r>
              <a:rPr lang="en-US" altLang="zh-CN" sz="2400"/>
              <a:t>A={0,1,2}</a:t>
            </a:r>
            <a:r>
              <a:rPr lang="zh-CN" altLang="en-US" sz="2400"/>
              <a:t>。 </a:t>
            </a:r>
            <a:endParaRPr lang="en-US" altLang="zh-CN" sz="2400"/>
          </a:p>
          <a:p>
            <a:pPr lvl="2">
              <a:lnSpc>
                <a:spcPct val="130000"/>
              </a:lnSpc>
              <a:buFont typeface="Arial" pitchFamily="34" charset="0"/>
              <a:buNone/>
            </a:pPr>
            <a:r>
              <a:rPr lang="en-US" altLang="zh-CN" sz="2400"/>
              <a:t>(2)</a:t>
            </a:r>
            <a:r>
              <a:rPr lang="zh-CN" altLang="en-US" sz="2400"/>
              <a:t>空集</a:t>
            </a:r>
            <a:r>
              <a:rPr lang="el-GR" altLang="zh-CN" sz="2400">
                <a:latin typeface="Sitka Banner" panose="02000505000000020004" pitchFamily="2" charset="0"/>
              </a:rPr>
              <a:t>Φ</a:t>
            </a:r>
            <a:r>
              <a:rPr lang="zh-CN" altLang="en-US" sz="2400"/>
              <a:t>。 </a:t>
            </a:r>
            <a:endParaRPr lang="en-US" altLang="zh-CN" sz="2400"/>
          </a:p>
          <a:p>
            <a:pPr lvl="2">
              <a:lnSpc>
                <a:spcPct val="130000"/>
              </a:lnSpc>
              <a:buFont typeface="Arial" pitchFamily="34" charset="0"/>
              <a:buNone/>
            </a:pPr>
            <a:r>
              <a:rPr lang="en-US" altLang="zh-CN" sz="2400"/>
              <a:t> (3)</a:t>
            </a:r>
            <a:r>
              <a:rPr lang="zh-CN" altLang="en-US" sz="2400"/>
              <a:t>集合</a:t>
            </a:r>
            <a:r>
              <a:rPr lang="en-US" altLang="zh-CN" sz="2400"/>
              <a:t>B={x|x</a:t>
            </a:r>
            <a:r>
              <a:rPr lang="en-US" altLang="zh-CN" sz="2400" baseline="30000"/>
              <a:t>2</a:t>
            </a:r>
            <a:r>
              <a:rPr lang="en-US" altLang="zh-CN" sz="2400"/>
              <a:t>-2x+1=0}</a:t>
            </a:r>
            <a:r>
              <a:rPr lang="zh-CN" altLang="en-US" sz="2400"/>
              <a:t>。 </a:t>
            </a:r>
            <a:endParaRPr lang="en-US" altLang="zh-CN" sz="2400"/>
          </a:p>
          <a:p>
            <a:pPr lvl="2">
              <a:lnSpc>
                <a:spcPct val="130000"/>
              </a:lnSpc>
              <a:buFont typeface="Arial" pitchFamily="34" charset="0"/>
              <a:buNone/>
            </a:pPr>
            <a:r>
              <a:rPr lang="en-US" altLang="zh-CN" sz="2400"/>
              <a:t>(4)</a:t>
            </a:r>
            <a:r>
              <a:rPr lang="zh-CN" altLang="en-US" sz="2400"/>
              <a:t>自然数集 </a:t>
            </a:r>
            <a:r>
              <a:rPr lang="en-US" altLang="zh-CN" sz="2400"/>
              <a:t>N</a:t>
            </a:r>
            <a:r>
              <a:rPr lang="zh-CN" altLang="en-US" sz="2400"/>
              <a:t>。 </a:t>
            </a:r>
            <a:endParaRPr lang="en-US" altLang="zh-CN" sz="2400"/>
          </a:p>
          <a:p>
            <a:pPr lvl="2">
              <a:lnSpc>
                <a:spcPct val="130000"/>
              </a:lnSpc>
              <a:buFont typeface="Arial" pitchFamily="34" charset="0"/>
              <a:buNone/>
            </a:pPr>
            <a:r>
              <a:rPr lang="en-US" altLang="zh-CN" sz="2400"/>
              <a:t>(5)</a:t>
            </a:r>
            <a:r>
              <a:rPr lang="zh-CN" altLang="en-US" sz="2400"/>
              <a:t>集合</a:t>
            </a:r>
            <a:r>
              <a:rPr lang="en-US" altLang="zh-CN" sz="2400"/>
              <a:t>C={(x,y)|x</a:t>
            </a:r>
            <a:r>
              <a:rPr lang="en-US" altLang="zh-CN" sz="2400" baseline="30000"/>
              <a:t>2</a:t>
            </a:r>
            <a:r>
              <a:rPr lang="en-US" altLang="zh-CN" sz="2400"/>
              <a:t>+y</a:t>
            </a:r>
            <a:r>
              <a:rPr lang="en-US" altLang="zh-CN" sz="2400" baseline="30000"/>
              <a:t>2</a:t>
            </a:r>
            <a:r>
              <a:rPr lang="en-US" altLang="zh-CN" sz="2400"/>
              <a:t>≤4}</a:t>
            </a:r>
            <a:r>
              <a:rPr lang="zh-CN" altLang="en-US" sz="2400"/>
              <a:t>。 </a:t>
            </a:r>
            <a:endParaRPr lang="en-US" altLang="zh-CN" sz="2400"/>
          </a:p>
          <a:p>
            <a:pPr lvl="2">
              <a:lnSpc>
                <a:spcPct val="130000"/>
              </a:lnSpc>
              <a:buFont typeface="Arial" pitchFamily="34" charset="0"/>
              <a:buNone/>
            </a:pPr>
            <a:r>
              <a:rPr lang="en-US" altLang="zh-CN" sz="2400"/>
              <a:t>(6)</a:t>
            </a:r>
            <a:r>
              <a:rPr lang="zh-CN" altLang="en-US" sz="2400"/>
              <a:t>集合</a:t>
            </a:r>
            <a:r>
              <a:rPr lang="en-US" altLang="zh-CN" sz="2400"/>
              <a:t>D={</a:t>
            </a:r>
            <a:r>
              <a:rPr lang="el-GR" altLang="zh-CN" sz="2400">
                <a:latin typeface="Sitka Banner" panose="02000505000000020004" pitchFamily="2" charset="0"/>
              </a:rPr>
              <a:t>Φ</a:t>
            </a:r>
            <a:r>
              <a:rPr lang="en-US" altLang="zh-CN" sz="2400"/>
              <a:t>,{1},{2},{1,2}}</a:t>
            </a:r>
            <a:r>
              <a:rPr lang="zh-CN" altLang="en-US" sz="2400"/>
              <a:t>。</a:t>
            </a:r>
            <a:endParaRPr lang="en-US" altLang="zh-CN" sz="2400" dirty="0"/>
          </a:p>
        </p:txBody>
      </p:sp>
    </p:spTree>
    <p:extLst>
      <p:ext uri="{BB962C8B-B14F-4D97-AF65-F5344CB8AC3E}">
        <p14:creationId xmlns:p14="http://schemas.microsoft.com/office/powerpoint/2010/main" val="98162912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
            <a:extLst>
              <a:ext uri="{FF2B5EF4-FFF2-40B4-BE49-F238E27FC236}">
                <a16:creationId xmlns:a16="http://schemas.microsoft.com/office/drawing/2014/main" id="{13CF2211-A13F-4A38-BA26-87A2CE825407}"/>
              </a:ext>
            </a:extLst>
          </p:cNvPr>
          <p:cNvSpPr txBox="1">
            <a:spLocks noChangeArrowheads="1"/>
          </p:cNvSpPr>
          <p:nvPr/>
        </p:nvSpPr>
        <p:spPr>
          <a:xfrm>
            <a:off x="407368" y="1412776"/>
            <a:ext cx="10967392" cy="4682920"/>
          </a:xfrm>
          <a:prstGeom prst="rect">
            <a:avLst/>
          </a:prstGeom>
        </p:spPr>
        <p:txBody>
          <a:bodyPr/>
          <a:lstStyle>
            <a:lvl1pPr marL="257175" indent="-257175" algn="l" defTabSz="685800" rtl="0" eaLnBrk="1" latinLnBrk="0" hangingPunct="1">
              <a:spcBef>
                <a:spcPct val="20000"/>
              </a:spcBef>
              <a:buFont typeface="Arial" pitchFamily="34" charset="0"/>
              <a:buChar char="•"/>
              <a:defRPr sz="2400" kern="1200">
                <a:solidFill>
                  <a:schemeClr val="tx1"/>
                </a:solidFill>
                <a:latin typeface="+mn-lt"/>
                <a:ea typeface="+mn-ea"/>
                <a:cs typeface="+mn-cs"/>
              </a:defRPr>
            </a:lvl1pPr>
            <a:lvl2pPr marL="557213" indent="-214313" algn="l" defTabSz="685800" rtl="0" eaLnBrk="1" latinLnBrk="0" hangingPunct="1">
              <a:spcBef>
                <a:spcPct val="20000"/>
              </a:spcBef>
              <a:buFont typeface="Arial" pitchFamily="34" charset="0"/>
              <a:buChar char="–"/>
              <a:defRPr sz="2100" kern="1200">
                <a:solidFill>
                  <a:schemeClr val="tx1"/>
                </a:solidFill>
                <a:latin typeface="+mn-lt"/>
                <a:ea typeface="+mn-ea"/>
                <a:cs typeface="+mn-cs"/>
              </a:defRPr>
            </a:lvl2pPr>
            <a:lvl3pPr marL="857250" indent="-171450" algn="l" defTabSz="685800" rtl="0" eaLnBrk="1" latinLnBrk="0" hangingPunct="1">
              <a:spcBef>
                <a:spcPct val="20000"/>
              </a:spcBef>
              <a:buFont typeface="Arial" pitchFamily="34" charset="0"/>
              <a:buChar char="•"/>
              <a:defRPr sz="1800" kern="1200">
                <a:solidFill>
                  <a:schemeClr val="tx1"/>
                </a:solidFill>
                <a:latin typeface="+mn-lt"/>
                <a:ea typeface="+mn-ea"/>
                <a:cs typeface="+mn-cs"/>
              </a:defRPr>
            </a:lvl3pPr>
            <a:lvl4pPr marL="12001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4pPr>
            <a:lvl5pPr marL="15430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a:lnSpc>
                <a:spcPct val="200000"/>
              </a:lnSpc>
              <a:buFontTx/>
              <a:buNone/>
            </a:pPr>
            <a:r>
              <a:rPr lang="zh-CN" altLang="en-US" sz="3200" b="1" dirty="0">
                <a:solidFill>
                  <a:schemeClr val="hlink"/>
                </a:solidFill>
              </a:rPr>
              <a:t>定义</a:t>
            </a:r>
            <a:r>
              <a:rPr lang="en-US" altLang="zh-CN" sz="3200" b="1" dirty="0">
                <a:solidFill>
                  <a:schemeClr val="hlink"/>
                </a:solidFill>
              </a:rPr>
              <a:t>1. 5</a:t>
            </a:r>
            <a:r>
              <a:rPr lang="en-US" altLang="zh-CN" sz="3200" dirty="0"/>
              <a:t> </a:t>
            </a:r>
            <a:r>
              <a:rPr lang="zh-CN" altLang="en-US" sz="3200" dirty="0"/>
              <a:t>设</a:t>
            </a:r>
            <a:r>
              <a:rPr lang="en-US" altLang="zh-CN" sz="3200" i="1" dirty="0"/>
              <a:t>A</a:t>
            </a:r>
            <a:r>
              <a:rPr lang="zh-CN" altLang="en-US" sz="3200" dirty="0"/>
              <a:t>是集合，如果</a:t>
            </a:r>
            <a:r>
              <a:rPr lang="en-US" altLang="zh-CN" sz="3200" i="1" dirty="0"/>
              <a:t>A</a:t>
            </a:r>
            <a:r>
              <a:rPr lang="zh-CN" altLang="en-US" sz="3200" dirty="0"/>
              <a:t>中有有限个不同的元素，则称</a:t>
            </a:r>
            <a:r>
              <a:rPr lang="en-US" altLang="zh-CN" sz="3200" i="1" dirty="0"/>
              <a:t>A</a:t>
            </a:r>
            <a:r>
              <a:rPr lang="zh-CN" altLang="en-US" sz="3200" dirty="0"/>
              <a:t>为</a:t>
            </a:r>
            <a:r>
              <a:rPr lang="zh-CN" altLang="en-US" sz="3200" b="1" dirty="0">
                <a:solidFill>
                  <a:srgbClr val="3308E8"/>
                </a:solidFill>
              </a:rPr>
              <a:t>有限集</a:t>
            </a:r>
            <a:r>
              <a:rPr lang="zh-CN" altLang="en-US" sz="3200" dirty="0"/>
              <a:t>，否则称</a:t>
            </a:r>
            <a:r>
              <a:rPr lang="en-US" altLang="zh-CN" sz="3200" i="1" dirty="0"/>
              <a:t>A</a:t>
            </a:r>
            <a:r>
              <a:rPr lang="zh-CN" altLang="en-US" sz="3200" dirty="0"/>
              <a:t>为</a:t>
            </a:r>
            <a:r>
              <a:rPr lang="zh-CN" altLang="en-US" sz="3200" b="1" dirty="0">
                <a:solidFill>
                  <a:srgbClr val="3308E8"/>
                </a:solidFill>
              </a:rPr>
              <a:t>无限集</a:t>
            </a:r>
            <a:r>
              <a:rPr lang="zh-CN" altLang="en-US" sz="3200" dirty="0"/>
              <a:t>。对有限集</a:t>
            </a:r>
            <a:r>
              <a:rPr lang="en-US" altLang="zh-CN" sz="3200" i="1" dirty="0"/>
              <a:t>A</a:t>
            </a:r>
            <a:r>
              <a:rPr lang="zh-CN" altLang="en-US" sz="3200" dirty="0"/>
              <a:t>，如果含有</a:t>
            </a:r>
            <a:r>
              <a:rPr lang="en-US" altLang="zh-CN" sz="3200" i="1" dirty="0"/>
              <a:t>n</a:t>
            </a:r>
            <a:r>
              <a:rPr lang="zh-CN" altLang="en-US" sz="3200" dirty="0"/>
              <a:t>个不同的元素，简称</a:t>
            </a:r>
            <a:r>
              <a:rPr lang="en-US" altLang="zh-CN" sz="3200" i="1" dirty="0"/>
              <a:t>A</a:t>
            </a:r>
            <a:r>
              <a:rPr lang="zh-CN" altLang="en-US" sz="3200" dirty="0"/>
              <a:t>为</a:t>
            </a:r>
            <a:r>
              <a:rPr lang="en-US" altLang="zh-CN" sz="3200" b="1" i="1" dirty="0">
                <a:solidFill>
                  <a:srgbClr val="3308E8"/>
                </a:solidFill>
              </a:rPr>
              <a:t>n</a:t>
            </a:r>
            <a:r>
              <a:rPr lang="zh-CN" altLang="en-US" sz="3200" b="1" dirty="0">
                <a:solidFill>
                  <a:srgbClr val="3308E8"/>
                </a:solidFill>
              </a:rPr>
              <a:t>元集</a:t>
            </a:r>
            <a:r>
              <a:rPr lang="zh-CN" altLang="en-US" sz="3200" dirty="0"/>
              <a:t>，它的基数为</a:t>
            </a:r>
            <a:r>
              <a:rPr lang="en-US" altLang="zh-CN" sz="3200" i="1" dirty="0"/>
              <a:t>m</a:t>
            </a:r>
            <a:r>
              <a:rPr lang="zh-CN" altLang="en-US" sz="3200" dirty="0"/>
              <a:t>（</a:t>
            </a:r>
            <a:r>
              <a:rPr lang="en-US" altLang="zh-CN" sz="3200" dirty="0"/>
              <a:t>0</a:t>
            </a:r>
            <a:r>
              <a:rPr lang="en-US" altLang="zh-CN" sz="3200" dirty="0">
                <a:sym typeface="Symbol" pitchFamily="18" charset="2"/>
              </a:rPr>
              <a:t></a:t>
            </a:r>
            <a:r>
              <a:rPr lang="en-US" altLang="zh-CN" sz="3200" i="1" dirty="0"/>
              <a:t>m</a:t>
            </a:r>
            <a:r>
              <a:rPr lang="en-US" altLang="zh-CN" sz="3200" dirty="0">
                <a:sym typeface="Symbol" pitchFamily="18" charset="2"/>
              </a:rPr>
              <a:t></a:t>
            </a:r>
            <a:r>
              <a:rPr lang="en-US" altLang="zh-CN" sz="3200" i="1" dirty="0"/>
              <a:t>n</a:t>
            </a:r>
            <a:r>
              <a:rPr lang="zh-CN" altLang="en-US" sz="3200" dirty="0"/>
              <a:t>）的子集称为它的</a:t>
            </a:r>
            <a:r>
              <a:rPr lang="en-US" altLang="zh-CN" sz="3200" b="1" i="1" dirty="0">
                <a:solidFill>
                  <a:srgbClr val="3308E8"/>
                </a:solidFill>
              </a:rPr>
              <a:t>m</a:t>
            </a:r>
            <a:r>
              <a:rPr lang="zh-CN" altLang="en-US" sz="3200" b="1" dirty="0">
                <a:solidFill>
                  <a:srgbClr val="3308E8"/>
                </a:solidFill>
              </a:rPr>
              <a:t>元子集</a:t>
            </a:r>
            <a:r>
              <a:rPr lang="zh-CN" altLang="en-US" sz="3200" dirty="0"/>
              <a:t>。</a:t>
            </a:r>
          </a:p>
        </p:txBody>
      </p:sp>
    </p:spTree>
    <p:extLst>
      <p:ext uri="{BB962C8B-B14F-4D97-AF65-F5344CB8AC3E}">
        <p14:creationId xmlns:p14="http://schemas.microsoft.com/office/powerpoint/2010/main" val="42886378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
            <a:extLst>
              <a:ext uri="{FF2B5EF4-FFF2-40B4-BE49-F238E27FC236}">
                <a16:creationId xmlns:a16="http://schemas.microsoft.com/office/drawing/2014/main" id="{1AF9F100-BCA9-4F84-B660-321C68245A38}"/>
              </a:ext>
            </a:extLst>
          </p:cNvPr>
          <p:cNvSpPr txBox="1">
            <a:spLocks noChangeArrowheads="1"/>
          </p:cNvSpPr>
          <p:nvPr/>
        </p:nvSpPr>
        <p:spPr>
          <a:xfrm>
            <a:off x="695400" y="1371600"/>
            <a:ext cx="10585176" cy="4937720"/>
          </a:xfrm>
          <a:prstGeom prst="rect">
            <a:avLst/>
          </a:prstGeom>
        </p:spPr>
        <p:txBody>
          <a:bodyPr/>
          <a:lstStyle>
            <a:lvl1pPr marL="257175" indent="-257175" algn="l" defTabSz="685800" rtl="0" eaLnBrk="1" latinLnBrk="0" hangingPunct="1">
              <a:spcBef>
                <a:spcPct val="20000"/>
              </a:spcBef>
              <a:buFont typeface="Arial" pitchFamily="34" charset="0"/>
              <a:buChar char="•"/>
              <a:defRPr sz="2400" kern="1200">
                <a:solidFill>
                  <a:schemeClr val="tx1"/>
                </a:solidFill>
                <a:latin typeface="+mn-lt"/>
                <a:ea typeface="+mn-ea"/>
                <a:cs typeface="+mn-cs"/>
              </a:defRPr>
            </a:lvl1pPr>
            <a:lvl2pPr marL="557213" indent="-214313" algn="l" defTabSz="685800" rtl="0" eaLnBrk="1" latinLnBrk="0" hangingPunct="1">
              <a:spcBef>
                <a:spcPct val="20000"/>
              </a:spcBef>
              <a:buFont typeface="Arial" pitchFamily="34" charset="0"/>
              <a:buChar char="–"/>
              <a:defRPr sz="2100" kern="1200">
                <a:solidFill>
                  <a:schemeClr val="tx1"/>
                </a:solidFill>
                <a:latin typeface="+mn-lt"/>
                <a:ea typeface="+mn-ea"/>
                <a:cs typeface="+mn-cs"/>
              </a:defRPr>
            </a:lvl2pPr>
            <a:lvl3pPr marL="857250" indent="-171450" algn="l" defTabSz="685800" rtl="0" eaLnBrk="1" latinLnBrk="0" hangingPunct="1">
              <a:spcBef>
                <a:spcPct val="20000"/>
              </a:spcBef>
              <a:buFont typeface="Arial" pitchFamily="34" charset="0"/>
              <a:buChar char="•"/>
              <a:defRPr sz="1800" kern="1200">
                <a:solidFill>
                  <a:schemeClr val="tx1"/>
                </a:solidFill>
                <a:latin typeface="+mn-lt"/>
                <a:ea typeface="+mn-ea"/>
                <a:cs typeface="+mn-cs"/>
              </a:defRPr>
            </a:lvl3pPr>
            <a:lvl4pPr marL="12001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4pPr>
            <a:lvl5pPr marL="15430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a:lnSpc>
                <a:spcPct val="150000"/>
              </a:lnSpc>
              <a:buFontTx/>
              <a:buNone/>
            </a:pPr>
            <a:r>
              <a:rPr lang="zh-CN" altLang="en-US" b="1" dirty="0">
                <a:solidFill>
                  <a:srgbClr val="3308E8"/>
                </a:solidFill>
              </a:rPr>
              <a:t>例</a:t>
            </a:r>
            <a:r>
              <a:rPr lang="en-US" altLang="zh-CN" b="1" dirty="0">
                <a:solidFill>
                  <a:srgbClr val="3308E8"/>
                </a:solidFill>
              </a:rPr>
              <a:t>1.14   </a:t>
            </a:r>
            <a:r>
              <a:rPr lang="zh-CN" altLang="en-US" dirty="0"/>
              <a:t>设集合</a:t>
            </a:r>
            <a:r>
              <a:rPr lang="en-US" altLang="zh-CN" i="1" dirty="0"/>
              <a:t>A</a:t>
            </a:r>
            <a:r>
              <a:rPr lang="en-US" altLang="zh-CN" dirty="0"/>
              <a:t>={</a:t>
            </a:r>
            <a:r>
              <a:rPr lang="en-US" altLang="zh-CN" i="1" dirty="0"/>
              <a:t>a</a:t>
            </a:r>
            <a:r>
              <a:rPr lang="en-US" altLang="zh-CN" dirty="0"/>
              <a:t>, </a:t>
            </a:r>
            <a:r>
              <a:rPr lang="en-US" altLang="zh-CN" i="1" dirty="0"/>
              <a:t>b</a:t>
            </a:r>
            <a:r>
              <a:rPr lang="en-US" altLang="zh-CN" dirty="0"/>
              <a:t>, </a:t>
            </a:r>
            <a:r>
              <a:rPr lang="en-US" altLang="zh-CN" i="1" dirty="0"/>
              <a:t>c</a:t>
            </a:r>
            <a:r>
              <a:rPr lang="en-US" altLang="zh-CN" dirty="0"/>
              <a:t>}</a:t>
            </a:r>
            <a:r>
              <a:rPr lang="zh-CN" altLang="en-US" dirty="0"/>
              <a:t>，写出它的全部子集。</a:t>
            </a:r>
          </a:p>
          <a:p>
            <a:pPr>
              <a:lnSpc>
                <a:spcPct val="150000"/>
              </a:lnSpc>
              <a:buFontTx/>
              <a:buNone/>
            </a:pPr>
            <a:r>
              <a:rPr lang="zh-CN" altLang="en-US" dirty="0"/>
              <a:t>解</a:t>
            </a:r>
            <a:r>
              <a:rPr lang="en-US" altLang="zh-CN" dirty="0"/>
              <a:t>:</a:t>
            </a:r>
            <a:r>
              <a:rPr lang="zh-CN" altLang="en-US" dirty="0"/>
              <a:t>     </a:t>
            </a:r>
            <a:r>
              <a:rPr lang="en-US" altLang="zh-CN" dirty="0"/>
              <a:t>0</a:t>
            </a:r>
            <a:r>
              <a:rPr lang="zh-CN" altLang="en-US" dirty="0"/>
              <a:t>元子集，有</a:t>
            </a:r>
            <a:r>
              <a:rPr lang="en-US" altLang="zh-CN" dirty="0"/>
              <a:t>C</a:t>
            </a:r>
            <a:r>
              <a:rPr lang="en-US" altLang="zh-CN" baseline="-25000" dirty="0"/>
              <a:t>3</a:t>
            </a:r>
            <a:r>
              <a:rPr lang="en-US" altLang="zh-CN" baseline="30000" dirty="0"/>
              <a:t>0</a:t>
            </a:r>
            <a:r>
              <a:rPr lang="zh-CN" altLang="en-US" dirty="0"/>
              <a:t>＝</a:t>
            </a:r>
            <a:r>
              <a:rPr lang="en-US" altLang="zh-CN" dirty="0"/>
              <a:t>1</a:t>
            </a:r>
            <a:r>
              <a:rPr lang="zh-CN" altLang="en-US" dirty="0"/>
              <a:t>个：</a:t>
            </a:r>
            <a:r>
              <a:rPr lang="zh-CN" altLang="en-US" dirty="0">
                <a:sym typeface="Symbol" pitchFamily="18" charset="2"/>
              </a:rPr>
              <a:t></a:t>
            </a:r>
            <a:r>
              <a:rPr lang="zh-CN" altLang="en-US" dirty="0"/>
              <a:t>；</a:t>
            </a:r>
          </a:p>
          <a:p>
            <a:pPr>
              <a:lnSpc>
                <a:spcPct val="150000"/>
              </a:lnSpc>
              <a:buFontTx/>
              <a:buNone/>
            </a:pPr>
            <a:r>
              <a:rPr lang="zh-CN" altLang="en-US" dirty="0"/>
              <a:t>          </a:t>
            </a:r>
            <a:r>
              <a:rPr lang="en-US" altLang="zh-CN" dirty="0"/>
              <a:t>1</a:t>
            </a:r>
            <a:r>
              <a:rPr lang="zh-CN" altLang="en-US" dirty="0"/>
              <a:t>元子集，有</a:t>
            </a:r>
            <a:r>
              <a:rPr lang="en-US" altLang="zh-CN" dirty="0"/>
              <a:t>C</a:t>
            </a:r>
            <a:r>
              <a:rPr lang="en-US" altLang="zh-CN" baseline="-25000" dirty="0"/>
              <a:t>3</a:t>
            </a:r>
            <a:r>
              <a:rPr lang="en-US" altLang="zh-CN" baseline="30000" dirty="0"/>
              <a:t>1</a:t>
            </a:r>
            <a:r>
              <a:rPr lang="en-US" altLang="zh-CN" dirty="0"/>
              <a:t> </a:t>
            </a:r>
            <a:r>
              <a:rPr lang="zh-CN" altLang="en-US" dirty="0"/>
              <a:t>＝</a:t>
            </a:r>
            <a:r>
              <a:rPr lang="en-US" altLang="zh-CN" dirty="0"/>
              <a:t>3</a:t>
            </a:r>
            <a:r>
              <a:rPr lang="zh-CN" altLang="en-US" dirty="0"/>
              <a:t>个：</a:t>
            </a:r>
            <a:r>
              <a:rPr lang="en-US" altLang="zh-CN" dirty="0"/>
              <a:t>{</a:t>
            </a:r>
            <a:r>
              <a:rPr lang="en-US" altLang="zh-CN" i="1" dirty="0"/>
              <a:t>a</a:t>
            </a:r>
            <a:r>
              <a:rPr lang="en-US" altLang="zh-CN" dirty="0"/>
              <a:t>},{</a:t>
            </a:r>
            <a:r>
              <a:rPr lang="en-US" altLang="zh-CN" i="1" dirty="0"/>
              <a:t>b</a:t>
            </a:r>
            <a:r>
              <a:rPr lang="en-US" altLang="zh-CN" dirty="0"/>
              <a:t>},{c}</a:t>
            </a:r>
            <a:r>
              <a:rPr lang="zh-CN" altLang="en-US" dirty="0"/>
              <a:t>；</a:t>
            </a:r>
          </a:p>
          <a:p>
            <a:pPr>
              <a:lnSpc>
                <a:spcPct val="150000"/>
              </a:lnSpc>
              <a:buFontTx/>
              <a:buNone/>
            </a:pPr>
            <a:r>
              <a:rPr lang="zh-CN" altLang="en-US" dirty="0"/>
              <a:t>          </a:t>
            </a:r>
            <a:r>
              <a:rPr lang="en-US" altLang="zh-CN" dirty="0"/>
              <a:t>2</a:t>
            </a:r>
            <a:r>
              <a:rPr lang="zh-CN" altLang="en-US" dirty="0"/>
              <a:t>元子集，有</a:t>
            </a:r>
            <a:r>
              <a:rPr lang="en-US" altLang="zh-CN" dirty="0"/>
              <a:t>C</a:t>
            </a:r>
            <a:r>
              <a:rPr lang="en-US" altLang="zh-CN" baseline="-25000" dirty="0"/>
              <a:t>3</a:t>
            </a:r>
            <a:r>
              <a:rPr lang="en-US" altLang="zh-CN" baseline="30000" dirty="0"/>
              <a:t>2</a:t>
            </a:r>
            <a:r>
              <a:rPr lang="en-US" altLang="zh-CN" dirty="0"/>
              <a:t> </a:t>
            </a:r>
            <a:r>
              <a:rPr lang="zh-CN" altLang="en-US" dirty="0"/>
              <a:t>＝</a:t>
            </a:r>
            <a:r>
              <a:rPr lang="en-US" altLang="zh-CN" dirty="0"/>
              <a:t>3</a:t>
            </a:r>
            <a:r>
              <a:rPr lang="zh-CN" altLang="en-US" dirty="0"/>
              <a:t>个：</a:t>
            </a:r>
            <a:r>
              <a:rPr lang="en-US" altLang="zh-CN" dirty="0"/>
              <a:t>{</a:t>
            </a:r>
            <a:r>
              <a:rPr lang="en-US" altLang="zh-CN" i="1" dirty="0"/>
              <a:t>a</a:t>
            </a:r>
            <a:r>
              <a:rPr lang="en-US" altLang="zh-CN" dirty="0"/>
              <a:t>, </a:t>
            </a:r>
            <a:r>
              <a:rPr lang="en-US" altLang="zh-CN" i="1" dirty="0"/>
              <a:t>b</a:t>
            </a:r>
            <a:r>
              <a:rPr lang="en-US" altLang="zh-CN" dirty="0"/>
              <a:t>},{</a:t>
            </a:r>
            <a:r>
              <a:rPr lang="en-US" altLang="zh-CN" i="1" dirty="0"/>
              <a:t>a</a:t>
            </a:r>
            <a:r>
              <a:rPr lang="en-US" altLang="zh-CN" dirty="0"/>
              <a:t>, </a:t>
            </a:r>
            <a:r>
              <a:rPr lang="en-US" altLang="zh-CN" i="1" dirty="0"/>
              <a:t>c</a:t>
            </a:r>
            <a:r>
              <a:rPr lang="en-US" altLang="zh-CN" dirty="0"/>
              <a:t>},{</a:t>
            </a:r>
            <a:r>
              <a:rPr lang="en-US" altLang="zh-CN" i="1" dirty="0"/>
              <a:t>b</a:t>
            </a:r>
            <a:r>
              <a:rPr lang="en-US" altLang="zh-CN" dirty="0"/>
              <a:t>, </a:t>
            </a:r>
            <a:r>
              <a:rPr lang="en-US" altLang="zh-CN" i="1" dirty="0"/>
              <a:t>c</a:t>
            </a:r>
            <a:r>
              <a:rPr lang="en-US" altLang="zh-CN" dirty="0"/>
              <a:t>}</a:t>
            </a:r>
            <a:r>
              <a:rPr lang="zh-CN" altLang="en-US" dirty="0"/>
              <a:t>；</a:t>
            </a:r>
          </a:p>
          <a:p>
            <a:pPr>
              <a:lnSpc>
                <a:spcPct val="150000"/>
              </a:lnSpc>
              <a:buFontTx/>
              <a:buNone/>
            </a:pPr>
            <a:r>
              <a:rPr lang="zh-CN" altLang="en-US" dirty="0"/>
              <a:t>          </a:t>
            </a:r>
            <a:r>
              <a:rPr lang="en-US" altLang="zh-CN" dirty="0"/>
              <a:t>3</a:t>
            </a:r>
            <a:r>
              <a:rPr lang="zh-CN" altLang="en-US" dirty="0"/>
              <a:t>元子集，有</a:t>
            </a:r>
            <a:r>
              <a:rPr lang="en-US" altLang="zh-CN" dirty="0"/>
              <a:t>C</a:t>
            </a:r>
            <a:r>
              <a:rPr lang="en-US" altLang="zh-CN" baseline="-25000" dirty="0"/>
              <a:t>3</a:t>
            </a:r>
            <a:r>
              <a:rPr lang="en-US" altLang="zh-CN" baseline="30000" dirty="0"/>
              <a:t>3</a:t>
            </a:r>
            <a:r>
              <a:rPr lang="zh-CN" altLang="en-US" dirty="0"/>
              <a:t>＝</a:t>
            </a:r>
            <a:r>
              <a:rPr lang="en-US" altLang="zh-CN" dirty="0"/>
              <a:t>1</a:t>
            </a:r>
            <a:r>
              <a:rPr lang="zh-CN" altLang="en-US" dirty="0"/>
              <a:t>个：</a:t>
            </a:r>
            <a:r>
              <a:rPr lang="en-US" altLang="zh-CN" dirty="0"/>
              <a:t>{</a:t>
            </a:r>
            <a:r>
              <a:rPr lang="en-US" altLang="zh-CN" i="1" dirty="0"/>
              <a:t>a</a:t>
            </a:r>
            <a:r>
              <a:rPr lang="en-US" altLang="zh-CN" dirty="0"/>
              <a:t>, </a:t>
            </a:r>
            <a:r>
              <a:rPr lang="en-US" altLang="zh-CN" i="1" dirty="0"/>
              <a:t>b</a:t>
            </a:r>
            <a:r>
              <a:rPr lang="en-US" altLang="zh-CN" dirty="0"/>
              <a:t>, </a:t>
            </a:r>
            <a:r>
              <a:rPr lang="en-US" altLang="zh-CN" i="1" dirty="0"/>
              <a:t>c</a:t>
            </a:r>
            <a:r>
              <a:rPr lang="en-US" altLang="zh-CN" dirty="0"/>
              <a:t>}</a:t>
            </a:r>
            <a:r>
              <a:rPr lang="zh-CN" altLang="en-US" dirty="0"/>
              <a:t>。</a:t>
            </a:r>
          </a:p>
          <a:p>
            <a:pPr>
              <a:lnSpc>
                <a:spcPct val="150000"/>
              </a:lnSpc>
              <a:buFontTx/>
              <a:buNone/>
            </a:pPr>
            <a:r>
              <a:rPr lang="zh-CN" altLang="en-US" dirty="0"/>
              <a:t>        共有</a:t>
            </a:r>
            <a:r>
              <a:rPr lang="en-US" altLang="zh-CN" dirty="0"/>
              <a:t>C</a:t>
            </a:r>
            <a:r>
              <a:rPr lang="en-US" altLang="zh-CN" baseline="-25000" dirty="0"/>
              <a:t>3</a:t>
            </a:r>
            <a:r>
              <a:rPr lang="en-US" altLang="zh-CN" baseline="30000" dirty="0"/>
              <a:t>0</a:t>
            </a:r>
            <a:r>
              <a:rPr lang="zh-CN" altLang="en-US" dirty="0"/>
              <a:t>＋</a:t>
            </a:r>
            <a:r>
              <a:rPr lang="en-US" altLang="zh-CN" dirty="0"/>
              <a:t>C</a:t>
            </a:r>
            <a:r>
              <a:rPr lang="en-US" altLang="zh-CN" baseline="-25000" dirty="0"/>
              <a:t>3</a:t>
            </a:r>
            <a:r>
              <a:rPr lang="en-US" altLang="zh-CN" baseline="30000" dirty="0"/>
              <a:t>1</a:t>
            </a:r>
            <a:r>
              <a:rPr lang="zh-CN" altLang="en-US" dirty="0"/>
              <a:t>＋</a:t>
            </a:r>
            <a:r>
              <a:rPr lang="en-US" altLang="zh-CN" dirty="0"/>
              <a:t>C</a:t>
            </a:r>
            <a:r>
              <a:rPr lang="en-US" altLang="zh-CN" baseline="-25000" dirty="0"/>
              <a:t>3</a:t>
            </a:r>
            <a:r>
              <a:rPr lang="en-US" altLang="zh-CN" baseline="30000" dirty="0"/>
              <a:t>2</a:t>
            </a:r>
            <a:r>
              <a:rPr lang="zh-CN" altLang="en-US" dirty="0"/>
              <a:t>＋</a:t>
            </a:r>
            <a:r>
              <a:rPr lang="en-US" altLang="zh-CN" dirty="0"/>
              <a:t>C</a:t>
            </a:r>
            <a:r>
              <a:rPr lang="en-US" altLang="zh-CN" baseline="-25000" dirty="0"/>
              <a:t>3</a:t>
            </a:r>
            <a:r>
              <a:rPr lang="en-US" altLang="zh-CN" baseline="30000" dirty="0"/>
              <a:t>3</a:t>
            </a:r>
            <a:r>
              <a:rPr lang="en-US" altLang="zh-CN" dirty="0"/>
              <a:t> </a:t>
            </a:r>
            <a:r>
              <a:rPr lang="zh-CN" altLang="en-US" dirty="0"/>
              <a:t>＝</a:t>
            </a:r>
            <a:r>
              <a:rPr lang="en-US" altLang="zh-CN" dirty="0"/>
              <a:t>8</a:t>
            </a:r>
            <a:r>
              <a:rPr lang="zh-CN" altLang="en-US" dirty="0"/>
              <a:t>个子集。</a:t>
            </a:r>
            <a:endParaRPr lang="en-US" altLang="zh-CN" dirty="0"/>
          </a:p>
          <a:p>
            <a:pPr>
              <a:lnSpc>
                <a:spcPct val="150000"/>
              </a:lnSpc>
              <a:buNone/>
            </a:pPr>
            <a:r>
              <a:rPr lang="zh-CN" altLang="en-US" b="1" dirty="0">
                <a:solidFill>
                  <a:srgbClr val="FF0000"/>
                </a:solidFill>
              </a:rPr>
              <a:t>例：</a:t>
            </a:r>
            <a:r>
              <a:rPr lang="en-US" altLang="zh-CN" b="1" dirty="0">
                <a:solidFill>
                  <a:srgbClr val="FF0000"/>
                </a:solidFill>
              </a:rPr>
              <a:t> </a:t>
            </a:r>
            <a:r>
              <a:rPr lang="zh-CN" altLang="en-US" b="1" dirty="0">
                <a:solidFill>
                  <a:srgbClr val="FF0000"/>
                </a:solidFill>
              </a:rPr>
              <a:t>设集合</a:t>
            </a:r>
            <a:r>
              <a:rPr lang="en-US" altLang="zh-CN" b="1" dirty="0">
                <a:solidFill>
                  <a:srgbClr val="FF0000"/>
                </a:solidFill>
              </a:rPr>
              <a:t>A={</a:t>
            </a:r>
            <a:r>
              <a:rPr lang="el-GR" altLang="zh-CN" b="1" dirty="0">
                <a:solidFill>
                  <a:srgbClr val="FF0000"/>
                </a:solidFill>
              </a:rPr>
              <a:t>Φ</a:t>
            </a:r>
            <a:r>
              <a:rPr lang="en-US" altLang="zh-CN" b="1" dirty="0">
                <a:solidFill>
                  <a:srgbClr val="FF0000"/>
                </a:solidFill>
              </a:rPr>
              <a:t>,{a},{b},{c}},</a:t>
            </a:r>
            <a:r>
              <a:rPr lang="zh-CN" altLang="en-US" b="1" dirty="0">
                <a:solidFill>
                  <a:srgbClr val="FF0000"/>
                </a:solidFill>
              </a:rPr>
              <a:t>写出它的全部子集。</a:t>
            </a:r>
          </a:p>
          <a:p>
            <a:pPr>
              <a:lnSpc>
                <a:spcPct val="150000"/>
              </a:lnSpc>
              <a:buFontTx/>
              <a:buNone/>
            </a:pPr>
            <a:endParaRPr lang="zh-CN" altLang="en-US" dirty="0"/>
          </a:p>
        </p:txBody>
      </p:sp>
    </p:spTree>
    <p:extLst>
      <p:ext uri="{BB962C8B-B14F-4D97-AF65-F5344CB8AC3E}">
        <p14:creationId xmlns:p14="http://schemas.microsoft.com/office/powerpoint/2010/main" val="418829463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Rectangle 2">
                <a:extLst>
                  <a:ext uri="{FF2B5EF4-FFF2-40B4-BE49-F238E27FC236}">
                    <a16:creationId xmlns:a16="http://schemas.microsoft.com/office/drawing/2014/main" id="{1CD39CD1-86E8-443F-8BB1-7F9218376396}"/>
                  </a:ext>
                </a:extLst>
              </p:cNvPr>
              <p:cNvSpPr txBox="1">
                <a:spLocks noChangeArrowheads="1"/>
              </p:cNvSpPr>
              <p:nvPr/>
            </p:nvSpPr>
            <p:spPr>
              <a:xfrm>
                <a:off x="457200" y="1772816"/>
                <a:ext cx="11543456" cy="4392488"/>
              </a:xfrm>
              <a:prstGeom prst="rect">
                <a:avLst/>
              </a:prstGeom>
            </p:spPr>
            <p:txBody>
              <a:bodyPr/>
              <a:lstStyle>
                <a:lvl1pPr marL="257175" indent="-257175" algn="l" defTabSz="685800" rtl="0" eaLnBrk="1" latinLnBrk="0" hangingPunct="1">
                  <a:spcBef>
                    <a:spcPct val="20000"/>
                  </a:spcBef>
                  <a:buFont typeface="Arial" pitchFamily="34" charset="0"/>
                  <a:buChar char="•"/>
                  <a:defRPr sz="2400" kern="1200">
                    <a:solidFill>
                      <a:schemeClr val="tx1"/>
                    </a:solidFill>
                    <a:latin typeface="+mn-lt"/>
                    <a:ea typeface="+mn-ea"/>
                    <a:cs typeface="+mn-cs"/>
                  </a:defRPr>
                </a:lvl1pPr>
                <a:lvl2pPr marL="557213" indent="-214313" algn="l" defTabSz="685800" rtl="0" eaLnBrk="1" latinLnBrk="0" hangingPunct="1">
                  <a:spcBef>
                    <a:spcPct val="20000"/>
                  </a:spcBef>
                  <a:buFont typeface="Arial" pitchFamily="34" charset="0"/>
                  <a:buChar char="–"/>
                  <a:defRPr sz="2100" kern="1200">
                    <a:solidFill>
                      <a:schemeClr val="tx1"/>
                    </a:solidFill>
                    <a:latin typeface="+mn-lt"/>
                    <a:ea typeface="+mn-ea"/>
                    <a:cs typeface="+mn-cs"/>
                  </a:defRPr>
                </a:lvl2pPr>
                <a:lvl3pPr marL="857250" indent="-171450" algn="l" defTabSz="685800" rtl="0" eaLnBrk="1" latinLnBrk="0" hangingPunct="1">
                  <a:spcBef>
                    <a:spcPct val="20000"/>
                  </a:spcBef>
                  <a:buFont typeface="Arial" pitchFamily="34" charset="0"/>
                  <a:buChar char="•"/>
                  <a:defRPr sz="1800" kern="1200">
                    <a:solidFill>
                      <a:schemeClr val="tx1"/>
                    </a:solidFill>
                    <a:latin typeface="+mn-lt"/>
                    <a:ea typeface="+mn-ea"/>
                    <a:cs typeface="+mn-cs"/>
                  </a:defRPr>
                </a:lvl3pPr>
                <a:lvl4pPr marL="12001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4pPr>
                <a:lvl5pPr marL="15430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a:lnSpc>
                    <a:spcPct val="200000"/>
                  </a:lnSpc>
                  <a:buFontTx/>
                  <a:buNone/>
                </a:pPr>
                <a:r>
                  <a:rPr lang="zh-CN" altLang="en-US" sz="2800" dirty="0"/>
                  <a:t>一般地，对于</a:t>
                </a:r>
                <a:r>
                  <a:rPr lang="en-US" altLang="zh-CN" sz="2800" dirty="0"/>
                  <a:t>n</a:t>
                </a:r>
                <a:r>
                  <a:rPr lang="zh-CN" altLang="en-US" sz="2800" dirty="0"/>
                  <a:t>元子集，它的</a:t>
                </a:r>
                <a:r>
                  <a:rPr lang="en-US" altLang="zh-CN" sz="2800" dirty="0"/>
                  <a:t>m</a:t>
                </a:r>
                <a:r>
                  <a:rPr lang="zh-CN" altLang="en-US" sz="2800" dirty="0"/>
                  <a:t>（</a:t>
                </a:r>
                <a:r>
                  <a:rPr lang="en-US" altLang="zh-CN" sz="2800" dirty="0"/>
                  <a:t>0</a:t>
                </a:r>
                <a:r>
                  <a:rPr lang="en-US" altLang="zh-CN" sz="2800" dirty="0">
                    <a:sym typeface="Symbol" pitchFamily="18" charset="2"/>
                  </a:rPr>
                  <a:t></a:t>
                </a:r>
                <a:r>
                  <a:rPr lang="en-US" altLang="zh-CN" sz="2800" i="1" dirty="0"/>
                  <a:t>m</a:t>
                </a:r>
                <a:r>
                  <a:rPr lang="en-US" altLang="zh-CN" sz="2800" dirty="0">
                    <a:sym typeface="Symbol" pitchFamily="18" charset="2"/>
                  </a:rPr>
                  <a:t></a:t>
                </a:r>
                <a:r>
                  <a:rPr lang="en-US" altLang="zh-CN" sz="2800" i="1" dirty="0"/>
                  <a:t>n</a:t>
                </a:r>
                <a:r>
                  <a:rPr lang="zh-CN" altLang="en-US" sz="2800" dirty="0"/>
                  <a:t>）元子集有</a:t>
                </a:r>
                <a14:m>
                  <m:oMath xmlns:m="http://schemas.openxmlformats.org/officeDocument/2006/math">
                    <m:sSubSup>
                      <m:sSubSupPr>
                        <m:ctrlPr>
                          <a:rPr lang="en-US" altLang="zh-CN" sz="2800" i="1" smtClean="0">
                            <a:latin typeface="Cambria Math" panose="02040503050406030204" pitchFamily="18" charset="0"/>
                          </a:rPr>
                        </m:ctrlPr>
                      </m:sSubSupPr>
                      <m:e>
                        <m:r>
                          <m:rPr>
                            <m:sty m:val="p"/>
                          </m:rPr>
                          <a:rPr lang="en-US" altLang="zh-CN" sz="2800" i="1">
                            <a:latin typeface="Cambria Math" panose="02040503050406030204" pitchFamily="18" charset="0"/>
                          </a:rPr>
                          <m:t>C</m:t>
                        </m:r>
                      </m:e>
                      <m:sub>
                        <m:r>
                          <a:rPr lang="en-US" altLang="zh-CN" sz="2800" b="0" i="1" smtClean="0">
                            <a:latin typeface="Cambria Math" panose="02040503050406030204" pitchFamily="18" charset="0"/>
                          </a:rPr>
                          <m:t>𝑛</m:t>
                        </m:r>
                      </m:sub>
                      <m:sup>
                        <m:r>
                          <a:rPr lang="en-US" altLang="zh-CN" sz="2800" b="0" i="1" smtClean="0">
                            <a:latin typeface="Cambria Math" panose="02040503050406030204" pitchFamily="18" charset="0"/>
                          </a:rPr>
                          <m:t>𝑚</m:t>
                        </m:r>
                      </m:sup>
                    </m:sSubSup>
                  </m:oMath>
                </a14:m>
                <a:r>
                  <a:rPr lang="zh-CN" altLang="en-US" sz="2800" dirty="0"/>
                  <a:t>个，所以集合</a:t>
                </a:r>
                <a:r>
                  <a:rPr lang="en-US" altLang="zh-CN" sz="2800" dirty="0"/>
                  <a:t>A</a:t>
                </a:r>
                <a:r>
                  <a:rPr lang="zh-CN" altLang="en-US" sz="2800" dirty="0"/>
                  <a:t>的不同子集总数有</a:t>
                </a:r>
                <a:r>
                  <a:rPr lang="en-US" altLang="zh-CN" sz="2800" dirty="0"/>
                  <a:t>C</a:t>
                </a:r>
                <a:r>
                  <a:rPr lang="en-US" altLang="zh-CN" sz="2800" baseline="-25000" dirty="0"/>
                  <a:t>n</a:t>
                </a:r>
                <a:r>
                  <a:rPr lang="en-US" altLang="zh-CN" sz="2800" baseline="30000" dirty="0"/>
                  <a:t>0</a:t>
                </a:r>
                <a:r>
                  <a:rPr lang="zh-CN" altLang="en-US" sz="2800" dirty="0"/>
                  <a:t>＋</a:t>
                </a:r>
                <a:r>
                  <a:rPr lang="en-US" altLang="zh-CN" sz="2800" dirty="0"/>
                  <a:t>C</a:t>
                </a:r>
                <a:r>
                  <a:rPr lang="en-US" altLang="zh-CN" sz="2800" baseline="-25000" dirty="0"/>
                  <a:t>n</a:t>
                </a:r>
                <a:r>
                  <a:rPr lang="en-US" altLang="zh-CN" sz="2800" baseline="30000" dirty="0"/>
                  <a:t>1</a:t>
                </a:r>
                <a:r>
                  <a:rPr lang="zh-CN" altLang="en-US" sz="2800" dirty="0"/>
                  <a:t>＋</a:t>
                </a:r>
                <a:r>
                  <a:rPr lang="en-US" altLang="zh-CN" sz="2800" dirty="0">
                    <a:latin typeface="Arial"/>
                  </a:rPr>
                  <a:t>…</a:t>
                </a:r>
                <a:r>
                  <a:rPr lang="zh-CN" altLang="en-US" sz="2800" dirty="0"/>
                  <a:t>＋ </a:t>
                </a:r>
                <a:r>
                  <a:rPr lang="en-US" altLang="zh-CN" sz="2800" dirty="0" err="1"/>
                  <a:t>C</a:t>
                </a:r>
                <a:r>
                  <a:rPr lang="en-US" altLang="zh-CN" sz="2800" baseline="-25000" dirty="0" err="1"/>
                  <a:t>n</a:t>
                </a:r>
                <a:r>
                  <a:rPr lang="en-US" altLang="zh-CN" sz="2800" baseline="30000" dirty="0" err="1"/>
                  <a:t>n</a:t>
                </a:r>
                <a:r>
                  <a:rPr lang="en-US" altLang="zh-CN" sz="2800" dirty="0"/>
                  <a:t> </a:t>
                </a:r>
                <a:r>
                  <a:rPr lang="zh-CN" altLang="en-US" sz="2800" dirty="0"/>
                  <a:t>＝</a:t>
                </a:r>
                <a:r>
                  <a:rPr lang="en-US" altLang="zh-CN" sz="2800" dirty="0"/>
                  <a:t>2</a:t>
                </a:r>
                <a:r>
                  <a:rPr lang="en-US" altLang="zh-CN" sz="2800" baseline="30000" dirty="0"/>
                  <a:t>n</a:t>
                </a:r>
                <a:r>
                  <a:rPr lang="zh-CN" altLang="en-US" sz="2800" dirty="0"/>
                  <a:t>个。</a:t>
                </a:r>
              </a:p>
              <a:p>
                <a:pPr>
                  <a:lnSpc>
                    <a:spcPct val="200000"/>
                  </a:lnSpc>
                  <a:buFontTx/>
                  <a:buNone/>
                </a:pPr>
                <a:r>
                  <a:rPr lang="zh-CN" altLang="en-US" sz="2800" b="1" dirty="0">
                    <a:solidFill>
                      <a:schemeClr val="hlink"/>
                    </a:solidFill>
                  </a:rPr>
                  <a:t>定义</a:t>
                </a:r>
                <a:r>
                  <a:rPr lang="en-US" altLang="zh-CN" sz="2800" b="1" dirty="0">
                    <a:solidFill>
                      <a:schemeClr val="hlink"/>
                    </a:solidFill>
                  </a:rPr>
                  <a:t>1.6</a:t>
                </a:r>
                <a:r>
                  <a:rPr lang="en-US" altLang="zh-CN" sz="2800" b="1" dirty="0"/>
                  <a:t> </a:t>
                </a:r>
                <a:r>
                  <a:rPr lang="zh-CN" altLang="en-US" sz="2800" dirty="0"/>
                  <a:t>对于每个非空集合</a:t>
                </a:r>
                <a:r>
                  <a:rPr lang="en-US" altLang="zh-CN" sz="2800" i="1" dirty="0"/>
                  <a:t>S</a:t>
                </a:r>
                <a:r>
                  <a:rPr lang="zh-CN" altLang="en-US" sz="2800" dirty="0"/>
                  <a:t>，至少有两个不同的子集 </a:t>
                </a:r>
                <a:r>
                  <a:rPr lang="en-US" altLang="zh-CN" sz="2800" dirty="0">
                    <a:latin typeface="Arial"/>
                  </a:rPr>
                  <a:t>Ø</a:t>
                </a:r>
                <a:r>
                  <a:rPr lang="zh-CN" altLang="en-US" sz="2800" dirty="0"/>
                  <a:t>和</a:t>
                </a:r>
                <a:r>
                  <a:rPr lang="en-US" altLang="zh-CN" sz="2800" i="1" dirty="0"/>
                  <a:t>S</a:t>
                </a:r>
                <a:r>
                  <a:rPr lang="zh-CN" altLang="en-US" sz="2800" dirty="0"/>
                  <a:t>，称</a:t>
                </a:r>
                <a:r>
                  <a:rPr lang="en-US" altLang="zh-CN" sz="2800" dirty="0">
                    <a:latin typeface="Arial"/>
                  </a:rPr>
                  <a:t>Ø</a:t>
                </a:r>
                <a:r>
                  <a:rPr lang="zh-CN" altLang="en-US" sz="2800" dirty="0"/>
                  <a:t>和</a:t>
                </a:r>
                <a:r>
                  <a:rPr lang="en-US" altLang="zh-CN" sz="2800" i="1" dirty="0"/>
                  <a:t>S</a:t>
                </a:r>
                <a:r>
                  <a:rPr lang="zh-CN" altLang="en-US" sz="2800" dirty="0"/>
                  <a:t>是</a:t>
                </a:r>
                <a:r>
                  <a:rPr lang="en-US" altLang="zh-CN" sz="2800" i="1" dirty="0"/>
                  <a:t>S</a:t>
                </a:r>
                <a:r>
                  <a:rPr lang="zh-CN" altLang="en-US" sz="2800" dirty="0"/>
                  <a:t>的</a:t>
                </a:r>
                <a:r>
                  <a:rPr lang="zh-CN" altLang="en-US" sz="2800" b="1" dirty="0">
                    <a:solidFill>
                      <a:srgbClr val="FF0000"/>
                    </a:solidFill>
                  </a:rPr>
                  <a:t>平凡子集</a:t>
                </a:r>
                <a:r>
                  <a:rPr lang="zh-CN" altLang="en-US" sz="2800" dirty="0"/>
                  <a:t>。</a:t>
                </a:r>
              </a:p>
            </p:txBody>
          </p:sp>
        </mc:Choice>
        <mc:Fallback>
          <p:sp>
            <p:nvSpPr>
              <p:cNvPr id="3" name="Rectangle 2">
                <a:extLst>
                  <a:ext uri="{FF2B5EF4-FFF2-40B4-BE49-F238E27FC236}">
                    <a16:creationId xmlns:a16="http://schemas.microsoft.com/office/drawing/2014/main" id="{1CD39CD1-86E8-443F-8BB1-7F9218376396}"/>
                  </a:ext>
                </a:extLst>
              </p:cNvPr>
              <p:cNvSpPr txBox="1">
                <a:spLocks noRot="1" noChangeAspect="1" noMove="1" noResize="1" noEditPoints="1" noAdjustHandles="1" noChangeArrowheads="1" noChangeShapeType="1" noTextEdit="1"/>
              </p:cNvSpPr>
              <p:nvPr/>
            </p:nvSpPr>
            <p:spPr>
              <a:xfrm>
                <a:off x="457200" y="1772816"/>
                <a:ext cx="11543456" cy="4392488"/>
              </a:xfrm>
              <a:prstGeom prst="rect">
                <a:avLst/>
              </a:prstGeom>
              <a:blipFill>
                <a:blip r:embed="rId2"/>
                <a:stretch>
                  <a:fillRect l="-1056"/>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414523729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3DA1C610-9B1F-4129-8ED4-04A587F519F5}"/>
              </a:ext>
            </a:extLst>
          </p:cNvPr>
          <p:cNvSpPr txBox="1">
            <a:spLocks noChangeArrowheads="1"/>
          </p:cNvSpPr>
          <p:nvPr/>
        </p:nvSpPr>
        <p:spPr>
          <a:xfrm>
            <a:off x="1847528" y="365447"/>
            <a:ext cx="5124400" cy="720080"/>
          </a:xfrm>
          <a:prstGeom prst="rect">
            <a:avLst/>
          </a:prstGeom>
        </p:spPr>
        <p:txBody>
          <a:bodyPr/>
          <a:lstStyle>
            <a:lvl1pPr algn="ctr" defTabSz="685800" rtl="0" eaLnBrk="1" latinLnBrk="0" hangingPunct="1">
              <a:spcBef>
                <a:spcPct val="0"/>
              </a:spcBef>
              <a:buNone/>
              <a:defRPr sz="3300" kern="1200">
                <a:solidFill>
                  <a:schemeClr val="tx1"/>
                </a:solidFill>
                <a:latin typeface="+mj-lt"/>
                <a:ea typeface="+mj-ea"/>
                <a:cs typeface="+mj-cs"/>
              </a:defRPr>
            </a:lvl1pPr>
          </a:lstStyle>
          <a:p>
            <a:r>
              <a:rPr lang="en-US" altLang="zh-CN" dirty="0"/>
              <a:t>1.2.3 </a:t>
            </a:r>
            <a:r>
              <a:rPr lang="zh-CN" altLang="en-US" dirty="0"/>
              <a:t>特殊的集合</a:t>
            </a:r>
          </a:p>
        </p:txBody>
      </p:sp>
      <p:sp>
        <p:nvSpPr>
          <p:cNvPr id="3" name="Rectangle 3">
            <a:extLst>
              <a:ext uri="{FF2B5EF4-FFF2-40B4-BE49-F238E27FC236}">
                <a16:creationId xmlns:a16="http://schemas.microsoft.com/office/drawing/2014/main" id="{2EA2005E-52E2-4A0E-8ED9-D015D2C1D799}"/>
              </a:ext>
            </a:extLst>
          </p:cNvPr>
          <p:cNvSpPr txBox="1">
            <a:spLocks noChangeArrowheads="1"/>
          </p:cNvSpPr>
          <p:nvPr/>
        </p:nvSpPr>
        <p:spPr>
          <a:xfrm>
            <a:off x="563267" y="1085526"/>
            <a:ext cx="11365381" cy="5655841"/>
          </a:xfrm>
          <a:prstGeom prst="rect">
            <a:avLst/>
          </a:prstGeom>
        </p:spPr>
        <p:txBody>
          <a:bodyPr/>
          <a:lstStyle>
            <a:lvl1pPr marL="257175" indent="-257175" algn="l" defTabSz="685800" rtl="0" eaLnBrk="1" latinLnBrk="0" hangingPunct="1">
              <a:spcBef>
                <a:spcPct val="20000"/>
              </a:spcBef>
              <a:buFont typeface="Arial" pitchFamily="34" charset="0"/>
              <a:buChar char="•"/>
              <a:defRPr sz="2400" kern="1200">
                <a:solidFill>
                  <a:schemeClr val="tx1"/>
                </a:solidFill>
                <a:latin typeface="+mn-lt"/>
                <a:ea typeface="+mn-ea"/>
                <a:cs typeface="+mn-cs"/>
              </a:defRPr>
            </a:lvl1pPr>
            <a:lvl2pPr marL="557213" indent="-214313" algn="l" defTabSz="685800" rtl="0" eaLnBrk="1" latinLnBrk="0" hangingPunct="1">
              <a:spcBef>
                <a:spcPct val="20000"/>
              </a:spcBef>
              <a:buFont typeface="Arial" pitchFamily="34" charset="0"/>
              <a:buChar char="–"/>
              <a:defRPr sz="2100" kern="1200">
                <a:solidFill>
                  <a:schemeClr val="tx1"/>
                </a:solidFill>
                <a:latin typeface="+mn-lt"/>
                <a:ea typeface="+mn-ea"/>
                <a:cs typeface="+mn-cs"/>
              </a:defRPr>
            </a:lvl2pPr>
            <a:lvl3pPr marL="857250" indent="-171450" algn="l" defTabSz="685800" rtl="0" eaLnBrk="1" latinLnBrk="0" hangingPunct="1">
              <a:spcBef>
                <a:spcPct val="20000"/>
              </a:spcBef>
              <a:buFont typeface="Arial" pitchFamily="34" charset="0"/>
              <a:buChar char="•"/>
              <a:defRPr sz="1800" kern="1200">
                <a:solidFill>
                  <a:schemeClr val="tx1"/>
                </a:solidFill>
                <a:latin typeface="+mn-lt"/>
                <a:ea typeface="+mn-ea"/>
                <a:cs typeface="+mn-cs"/>
              </a:defRPr>
            </a:lvl3pPr>
            <a:lvl4pPr marL="12001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4pPr>
            <a:lvl5pPr marL="15430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a:lnSpc>
                <a:spcPct val="130000"/>
              </a:lnSpc>
              <a:buFontTx/>
              <a:buNone/>
            </a:pPr>
            <a:r>
              <a:rPr lang="zh-CN" altLang="en-US" sz="2800" b="1" dirty="0">
                <a:solidFill>
                  <a:schemeClr val="hlink"/>
                </a:solidFill>
              </a:rPr>
              <a:t>定义</a:t>
            </a:r>
            <a:r>
              <a:rPr lang="en-US" altLang="zh-CN" sz="2800" b="1" dirty="0">
                <a:solidFill>
                  <a:schemeClr val="hlink"/>
                </a:solidFill>
              </a:rPr>
              <a:t>1.7</a:t>
            </a:r>
            <a:r>
              <a:rPr lang="en-US" altLang="zh-CN" sz="2800" b="1" dirty="0"/>
              <a:t> </a:t>
            </a:r>
            <a:r>
              <a:rPr lang="zh-CN" altLang="en-US" sz="2800" dirty="0"/>
              <a:t>不包含任何元素的集合称为</a:t>
            </a:r>
            <a:r>
              <a:rPr lang="zh-CN" altLang="en-US" sz="2800" b="1" dirty="0"/>
              <a:t>空集</a:t>
            </a:r>
            <a:r>
              <a:rPr lang="zh-CN" altLang="en-US" sz="2800" dirty="0"/>
              <a:t>，用符号</a:t>
            </a:r>
            <a:r>
              <a:rPr lang="zh-CN" altLang="en-US" sz="2800" dirty="0">
                <a:sym typeface="Symbol" pitchFamily="18" charset="2"/>
              </a:rPr>
              <a:t></a:t>
            </a:r>
            <a:r>
              <a:rPr lang="zh-CN" altLang="en-US" sz="2800" i="1" dirty="0"/>
              <a:t> </a:t>
            </a:r>
            <a:r>
              <a:rPr lang="zh-CN" altLang="en-US" sz="2800" dirty="0"/>
              <a:t>或</a:t>
            </a:r>
            <a:r>
              <a:rPr lang="en-US" altLang="zh-CN" sz="2800" dirty="0"/>
              <a:t>{}</a:t>
            </a:r>
            <a:r>
              <a:rPr lang="zh-CN" altLang="en-US" sz="2800" dirty="0"/>
              <a:t>表示。 </a:t>
            </a:r>
          </a:p>
          <a:p>
            <a:pPr>
              <a:lnSpc>
                <a:spcPct val="130000"/>
              </a:lnSpc>
              <a:buFontTx/>
              <a:buNone/>
            </a:pPr>
            <a:r>
              <a:rPr lang="zh-CN" altLang="en-US" sz="2800" b="1" dirty="0">
                <a:solidFill>
                  <a:schemeClr val="hlink"/>
                </a:solidFill>
              </a:rPr>
              <a:t>定理</a:t>
            </a:r>
            <a:r>
              <a:rPr lang="en-US" altLang="zh-CN" sz="2800" b="1" dirty="0">
                <a:solidFill>
                  <a:schemeClr val="hlink"/>
                </a:solidFill>
              </a:rPr>
              <a:t>1.2</a:t>
            </a:r>
            <a:r>
              <a:rPr lang="en-US" altLang="zh-CN" sz="2800" dirty="0"/>
              <a:t> </a:t>
            </a:r>
            <a:r>
              <a:rPr lang="en-US" altLang="zh-CN" sz="2800" dirty="0">
                <a:sym typeface="Symbol" pitchFamily="18" charset="2"/>
              </a:rPr>
              <a:t></a:t>
            </a:r>
            <a:r>
              <a:rPr lang="zh-CN" altLang="en-US" sz="2800" dirty="0"/>
              <a:t>是一切集合的子集</a:t>
            </a:r>
            <a:r>
              <a:rPr lang="en-US" altLang="zh-CN" sz="2800" dirty="0"/>
              <a:t>.</a:t>
            </a:r>
          </a:p>
          <a:p>
            <a:pPr>
              <a:lnSpc>
                <a:spcPct val="130000"/>
              </a:lnSpc>
              <a:buFontTx/>
              <a:buNone/>
            </a:pPr>
            <a:r>
              <a:rPr lang="zh-CN" altLang="en-US" sz="2800" b="1" dirty="0">
                <a:solidFill>
                  <a:schemeClr val="hlink"/>
                </a:solidFill>
              </a:rPr>
              <a:t>证明</a:t>
            </a:r>
            <a:r>
              <a:rPr lang="zh-CN" altLang="en-US" sz="2800" b="1" dirty="0"/>
              <a:t> </a:t>
            </a:r>
            <a:r>
              <a:rPr lang="zh-CN" altLang="en-US" sz="2800" dirty="0"/>
              <a:t>反证法。</a:t>
            </a:r>
          </a:p>
          <a:p>
            <a:pPr>
              <a:lnSpc>
                <a:spcPct val="130000"/>
              </a:lnSpc>
              <a:buFontTx/>
              <a:buNone/>
            </a:pPr>
            <a:r>
              <a:rPr lang="zh-CN" altLang="en-US" sz="2800" dirty="0"/>
              <a:t>设存在某一集合</a:t>
            </a:r>
            <a:r>
              <a:rPr lang="en-US" altLang="zh-CN" sz="2800" dirty="0"/>
              <a:t>A</a:t>
            </a:r>
            <a:r>
              <a:rPr lang="zh-CN" altLang="en-US" sz="2800" dirty="0"/>
              <a:t>，使得</a:t>
            </a:r>
            <a:r>
              <a:rPr lang="zh-CN" altLang="en-US" sz="2800" dirty="0">
                <a:sym typeface="Symbol" pitchFamily="18" charset="2"/>
              </a:rPr>
              <a:t></a:t>
            </a:r>
            <a:r>
              <a:rPr lang="zh-CN" altLang="en-US" sz="2800" dirty="0"/>
              <a:t>不是集合</a:t>
            </a:r>
            <a:r>
              <a:rPr lang="en-US" altLang="zh-CN" sz="2800" dirty="0"/>
              <a:t>A</a:t>
            </a:r>
            <a:r>
              <a:rPr lang="zh-CN" altLang="en-US" sz="2800" dirty="0"/>
              <a:t>的子集，则存在</a:t>
            </a:r>
            <a:r>
              <a:rPr lang="en-US" altLang="zh-CN" sz="2800" dirty="0"/>
              <a:t>x∈ </a:t>
            </a:r>
            <a:r>
              <a:rPr lang="en-US" altLang="zh-CN" sz="2800" dirty="0">
                <a:sym typeface="Symbol" pitchFamily="18" charset="2"/>
              </a:rPr>
              <a:t></a:t>
            </a:r>
            <a:r>
              <a:rPr lang="zh-CN" altLang="en-US" sz="2800" dirty="0"/>
              <a:t>且</a:t>
            </a:r>
            <a:r>
              <a:rPr lang="en-US" altLang="zh-CN" sz="2800" dirty="0"/>
              <a:t>x </a:t>
            </a:r>
            <a:r>
              <a:rPr lang="en-US" altLang="zh-CN" sz="2800" dirty="0">
                <a:sym typeface="Symbol" pitchFamily="18" charset="2"/>
              </a:rPr>
              <a:t>A</a:t>
            </a:r>
            <a:r>
              <a:rPr lang="zh-CN" altLang="en-US" sz="2800" dirty="0"/>
              <a:t>。这与</a:t>
            </a:r>
            <a:r>
              <a:rPr lang="zh-CN" altLang="en-US" sz="2800" dirty="0">
                <a:sym typeface="Symbol" pitchFamily="18" charset="2"/>
              </a:rPr>
              <a:t></a:t>
            </a:r>
            <a:r>
              <a:rPr lang="zh-CN" altLang="en-US" sz="2800" dirty="0"/>
              <a:t>的定义相矛盾。因此定理成立。 </a:t>
            </a:r>
          </a:p>
          <a:p>
            <a:pPr>
              <a:lnSpc>
                <a:spcPct val="130000"/>
              </a:lnSpc>
              <a:buFontTx/>
              <a:buNone/>
            </a:pPr>
            <a:r>
              <a:rPr lang="zh-CN" altLang="en-US" sz="2800" b="1" dirty="0">
                <a:solidFill>
                  <a:schemeClr val="hlink"/>
                </a:solidFill>
              </a:rPr>
              <a:t>定理</a:t>
            </a:r>
            <a:r>
              <a:rPr lang="en-US" altLang="zh-CN" sz="2800" b="1" dirty="0">
                <a:solidFill>
                  <a:schemeClr val="hlink"/>
                </a:solidFill>
              </a:rPr>
              <a:t>1.3</a:t>
            </a:r>
            <a:r>
              <a:rPr lang="zh-CN" altLang="en-US" sz="2800" dirty="0"/>
              <a:t>空集是唯一的</a:t>
            </a:r>
            <a:r>
              <a:rPr lang="en-US" altLang="zh-CN" sz="2800" dirty="0"/>
              <a:t>.</a:t>
            </a:r>
          </a:p>
          <a:p>
            <a:pPr>
              <a:lnSpc>
                <a:spcPct val="130000"/>
              </a:lnSpc>
              <a:buFontTx/>
              <a:buNone/>
            </a:pPr>
            <a:r>
              <a:rPr lang="zh-CN" altLang="en-US" sz="2800" b="1" dirty="0">
                <a:solidFill>
                  <a:schemeClr val="hlink"/>
                </a:solidFill>
              </a:rPr>
              <a:t>证明</a:t>
            </a:r>
            <a:r>
              <a:rPr lang="zh-CN" altLang="en-US" sz="2800" dirty="0"/>
              <a:t> 假设有</a:t>
            </a:r>
            <a:r>
              <a:rPr lang="en-US" altLang="zh-CN" sz="2800" dirty="0"/>
              <a:t>2</a:t>
            </a:r>
            <a:r>
              <a:rPr lang="zh-CN" altLang="en-US" sz="2800" dirty="0"/>
              <a:t>个空集</a:t>
            </a:r>
            <a:r>
              <a:rPr lang="zh-CN" altLang="en-US" sz="2800" dirty="0">
                <a:sym typeface="Symbol" pitchFamily="18" charset="2"/>
              </a:rPr>
              <a:t></a:t>
            </a:r>
            <a:r>
              <a:rPr lang="en-US" altLang="zh-CN" sz="2800" baseline="-25000" dirty="0"/>
              <a:t>1</a:t>
            </a:r>
            <a:r>
              <a:rPr lang="zh-CN" altLang="en-US" sz="2800" dirty="0"/>
              <a:t>和</a:t>
            </a:r>
            <a:r>
              <a:rPr lang="zh-CN" altLang="en-US" sz="2800" dirty="0">
                <a:sym typeface="Symbol" pitchFamily="18" charset="2"/>
              </a:rPr>
              <a:t></a:t>
            </a:r>
            <a:r>
              <a:rPr lang="en-US" altLang="zh-CN" sz="2800" baseline="-25000" dirty="0"/>
              <a:t>2</a:t>
            </a:r>
            <a:r>
              <a:rPr lang="zh-CN" altLang="en-US" sz="2800" dirty="0"/>
              <a:t>，由定理</a:t>
            </a:r>
            <a:r>
              <a:rPr lang="en-US" altLang="zh-CN" sz="2800" dirty="0"/>
              <a:t>1.2</a:t>
            </a:r>
            <a:r>
              <a:rPr lang="zh-CN" altLang="en-US" sz="2800" dirty="0"/>
              <a:t>得出</a:t>
            </a:r>
            <a:r>
              <a:rPr lang="zh-CN" altLang="en-US" sz="2800" dirty="0">
                <a:sym typeface="Symbol" pitchFamily="18" charset="2"/>
              </a:rPr>
              <a:t></a:t>
            </a:r>
            <a:r>
              <a:rPr lang="en-US" altLang="zh-CN" sz="2800" baseline="-25000" dirty="0"/>
              <a:t>1</a:t>
            </a:r>
            <a:r>
              <a:rPr lang="en-US" altLang="zh-CN" sz="2800" dirty="0"/>
              <a:t> </a:t>
            </a:r>
            <a:r>
              <a:rPr lang="en-US" altLang="zh-CN" sz="2800" dirty="0">
                <a:sym typeface="Symbol" pitchFamily="18" charset="2"/>
              </a:rPr>
              <a:t></a:t>
            </a:r>
            <a:r>
              <a:rPr lang="en-US" altLang="zh-CN" sz="2800" dirty="0"/>
              <a:t> </a:t>
            </a:r>
            <a:r>
              <a:rPr lang="en-US" altLang="zh-CN" sz="2800" dirty="0">
                <a:sym typeface="Symbol" pitchFamily="18" charset="2"/>
              </a:rPr>
              <a:t></a:t>
            </a:r>
            <a:r>
              <a:rPr lang="en-US" altLang="zh-CN" sz="2800" baseline="-25000" dirty="0"/>
              <a:t>2</a:t>
            </a:r>
            <a:r>
              <a:rPr lang="en-US" altLang="zh-CN" sz="2800" dirty="0"/>
              <a:t> </a:t>
            </a:r>
            <a:r>
              <a:rPr lang="zh-CN" altLang="en-US" sz="2800" dirty="0"/>
              <a:t>，且</a:t>
            </a:r>
            <a:r>
              <a:rPr lang="zh-CN" altLang="en-US" sz="2800" dirty="0">
                <a:sym typeface="Symbol" pitchFamily="18" charset="2"/>
              </a:rPr>
              <a:t></a:t>
            </a:r>
            <a:r>
              <a:rPr lang="en-US" altLang="zh-CN" sz="2800" baseline="-25000" dirty="0"/>
              <a:t>2</a:t>
            </a:r>
            <a:r>
              <a:rPr lang="en-US" altLang="zh-CN" sz="2800" dirty="0"/>
              <a:t> </a:t>
            </a:r>
            <a:r>
              <a:rPr lang="en-US" altLang="zh-CN" sz="2800" dirty="0">
                <a:sym typeface="Symbol" pitchFamily="18" charset="2"/>
              </a:rPr>
              <a:t></a:t>
            </a:r>
            <a:r>
              <a:rPr lang="en-US" altLang="zh-CN" sz="2800" dirty="0"/>
              <a:t> </a:t>
            </a:r>
            <a:r>
              <a:rPr lang="en-US" altLang="zh-CN" sz="2800" dirty="0">
                <a:sym typeface="Symbol" pitchFamily="18" charset="2"/>
              </a:rPr>
              <a:t></a:t>
            </a:r>
            <a:r>
              <a:rPr lang="en-US" altLang="zh-CN" sz="2800" baseline="-25000" dirty="0"/>
              <a:t>1</a:t>
            </a:r>
            <a:r>
              <a:rPr lang="en-US" altLang="zh-CN" sz="2800" dirty="0"/>
              <a:t> </a:t>
            </a:r>
            <a:r>
              <a:rPr lang="zh-CN" altLang="en-US" sz="2800" dirty="0"/>
              <a:t>。再由集合相等的定义有</a:t>
            </a:r>
            <a:r>
              <a:rPr lang="zh-CN" altLang="en-US" sz="2800" dirty="0">
                <a:sym typeface="Symbol" pitchFamily="18" charset="2"/>
              </a:rPr>
              <a:t></a:t>
            </a:r>
            <a:r>
              <a:rPr lang="en-US" altLang="zh-CN" sz="2800" baseline="-25000" dirty="0"/>
              <a:t>1</a:t>
            </a:r>
            <a:r>
              <a:rPr lang="en-US" altLang="zh-CN" sz="2800" dirty="0"/>
              <a:t> = </a:t>
            </a:r>
            <a:r>
              <a:rPr lang="en-US" altLang="zh-CN" sz="2800" dirty="0">
                <a:sym typeface="Symbol" pitchFamily="18" charset="2"/>
              </a:rPr>
              <a:t></a:t>
            </a:r>
            <a:r>
              <a:rPr lang="en-US" altLang="zh-CN" sz="2800" baseline="-25000" dirty="0"/>
              <a:t>2</a:t>
            </a:r>
            <a:r>
              <a:rPr lang="en-US" altLang="zh-CN" sz="2800" dirty="0"/>
              <a:t> </a:t>
            </a:r>
            <a:r>
              <a:rPr lang="zh-CN" altLang="en-US" sz="2800" dirty="0"/>
              <a:t>。故空集是唯一的。</a:t>
            </a:r>
          </a:p>
          <a:p>
            <a:pPr>
              <a:lnSpc>
                <a:spcPct val="130000"/>
              </a:lnSpc>
              <a:buFontTx/>
              <a:buNone/>
            </a:pPr>
            <a:r>
              <a:rPr lang="zh-CN" altLang="en-US" sz="2800" b="1" dirty="0"/>
              <a:t>例</a:t>
            </a:r>
            <a:r>
              <a:rPr lang="en-US" altLang="zh-CN" sz="2800" b="1" dirty="0"/>
              <a:t>1.17 </a:t>
            </a:r>
            <a:r>
              <a:rPr lang="zh-CN" altLang="en-US" sz="2800" dirty="0"/>
              <a:t>：</a:t>
            </a:r>
            <a:r>
              <a:rPr lang="en-US" altLang="zh-CN" sz="2800" dirty="0"/>
              <a:t>A={x</a:t>
            </a:r>
            <a:r>
              <a:rPr lang="en-US" altLang="zh-CN" sz="2800" dirty="0">
                <a:latin typeface="宋体" pitchFamily="2" charset="-122"/>
                <a:sym typeface="Symbol" pitchFamily="18" charset="2"/>
              </a:rPr>
              <a:t></a:t>
            </a:r>
            <a:r>
              <a:rPr lang="en-US" altLang="zh-CN" sz="2800" dirty="0"/>
              <a:t>x</a:t>
            </a:r>
            <a:r>
              <a:rPr lang="en-US" altLang="zh-CN" sz="2800" baseline="30000" dirty="0"/>
              <a:t>2</a:t>
            </a:r>
            <a:r>
              <a:rPr lang="en-US" altLang="zh-CN" sz="2800" dirty="0"/>
              <a:t>+x+2=0,x</a:t>
            </a:r>
            <a:r>
              <a:rPr lang="en-US" altLang="zh-CN" sz="2800" dirty="0">
                <a:latin typeface="宋体" pitchFamily="2" charset="-122"/>
                <a:sym typeface="Symbol" pitchFamily="18" charset="2"/>
              </a:rPr>
              <a:t></a:t>
            </a:r>
            <a:r>
              <a:rPr lang="en-US" altLang="zh-CN" sz="2800" dirty="0"/>
              <a:t>R}</a:t>
            </a:r>
            <a:r>
              <a:rPr lang="zh-CN" altLang="en-US" sz="2800" dirty="0"/>
              <a:t>，这是空集。</a:t>
            </a:r>
            <a:r>
              <a:rPr lang="zh-CN" altLang="en-US" sz="2800" dirty="0">
                <a:cs typeface="Tahoma" pitchFamily="34" charset="0"/>
              </a:rPr>
              <a:t> </a:t>
            </a:r>
          </a:p>
        </p:txBody>
      </p:sp>
    </p:spTree>
    <p:extLst>
      <p:ext uri="{BB962C8B-B14F-4D97-AF65-F5344CB8AC3E}">
        <p14:creationId xmlns:p14="http://schemas.microsoft.com/office/powerpoint/2010/main" val="382449371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
            <a:extLst>
              <a:ext uri="{FF2B5EF4-FFF2-40B4-BE49-F238E27FC236}">
                <a16:creationId xmlns:a16="http://schemas.microsoft.com/office/drawing/2014/main" id="{A3D1A54D-8837-4753-A41F-68ED9C069DC0}"/>
              </a:ext>
            </a:extLst>
          </p:cNvPr>
          <p:cNvSpPr txBox="1">
            <a:spLocks noChangeArrowheads="1"/>
          </p:cNvSpPr>
          <p:nvPr/>
        </p:nvSpPr>
        <p:spPr>
          <a:xfrm>
            <a:off x="396280" y="1340768"/>
            <a:ext cx="11399440" cy="4682920"/>
          </a:xfrm>
          <a:prstGeom prst="rect">
            <a:avLst/>
          </a:prstGeom>
        </p:spPr>
        <p:txBody>
          <a:bodyPr/>
          <a:lstStyle>
            <a:lvl1pPr marL="257175" indent="-257175" algn="l" defTabSz="685800" rtl="0" eaLnBrk="1" latinLnBrk="0" hangingPunct="1">
              <a:spcBef>
                <a:spcPct val="20000"/>
              </a:spcBef>
              <a:buFont typeface="Arial" pitchFamily="34" charset="0"/>
              <a:buChar char="•"/>
              <a:defRPr sz="2400" kern="1200">
                <a:solidFill>
                  <a:schemeClr val="tx1"/>
                </a:solidFill>
                <a:latin typeface="+mn-lt"/>
                <a:ea typeface="+mn-ea"/>
                <a:cs typeface="+mn-cs"/>
              </a:defRPr>
            </a:lvl1pPr>
            <a:lvl2pPr marL="557213" indent="-214313" algn="l" defTabSz="685800" rtl="0" eaLnBrk="1" latinLnBrk="0" hangingPunct="1">
              <a:spcBef>
                <a:spcPct val="20000"/>
              </a:spcBef>
              <a:buFont typeface="Arial" pitchFamily="34" charset="0"/>
              <a:buChar char="–"/>
              <a:defRPr sz="2100" kern="1200">
                <a:solidFill>
                  <a:schemeClr val="tx1"/>
                </a:solidFill>
                <a:latin typeface="+mn-lt"/>
                <a:ea typeface="+mn-ea"/>
                <a:cs typeface="+mn-cs"/>
              </a:defRPr>
            </a:lvl2pPr>
            <a:lvl3pPr marL="857250" indent="-171450" algn="l" defTabSz="685800" rtl="0" eaLnBrk="1" latinLnBrk="0" hangingPunct="1">
              <a:spcBef>
                <a:spcPct val="20000"/>
              </a:spcBef>
              <a:buFont typeface="Arial" pitchFamily="34" charset="0"/>
              <a:buChar char="•"/>
              <a:defRPr sz="1800" kern="1200">
                <a:solidFill>
                  <a:schemeClr val="tx1"/>
                </a:solidFill>
                <a:latin typeface="+mn-lt"/>
                <a:ea typeface="+mn-ea"/>
                <a:cs typeface="+mn-cs"/>
              </a:defRPr>
            </a:lvl3pPr>
            <a:lvl4pPr marL="12001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4pPr>
            <a:lvl5pPr marL="15430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a:lnSpc>
                <a:spcPct val="130000"/>
              </a:lnSpc>
              <a:buFontTx/>
              <a:buNone/>
            </a:pPr>
            <a:r>
              <a:rPr lang="zh-CN" altLang="en-US" sz="2800" b="1">
                <a:solidFill>
                  <a:schemeClr val="hlink"/>
                </a:solidFill>
              </a:rPr>
              <a:t>定义</a:t>
            </a:r>
            <a:r>
              <a:rPr lang="en-US" altLang="zh-CN" sz="2800" b="1">
                <a:solidFill>
                  <a:schemeClr val="hlink"/>
                </a:solidFill>
              </a:rPr>
              <a:t>1.8</a:t>
            </a:r>
            <a:r>
              <a:rPr lang="zh-CN" altLang="en-US" sz="2800"/>
              <a:t>在一定范围内，如果所有集合均为某一集合的子集，则称该集合为</a:t>
            </a:r>
            <a:r>
              <a:rPr lang="zh-CN" altLang="en-US" sz="2800" b="1">
                <a:solidFill>
                  <a:srgbClr val="00B0F0"/>
                </a:solidFill>
              </a:rPr>
              <a:t>全集</a:t>
            </a:r>
            <a:r>
              <a:rPr lang="zh-CN" altLang="en-US" sz="2800"/>
              <a:t>。记作</a:t>
            </a:r>
            <a:r>
              <a:rPr lang="en-US" altLang="zh-CN" sz="2800"/>
              <a:t>U</a:t>
            </a:r>
            <a:r>
              <a:rPr lang="zh-CN" altLang="en-US" sz="2800"/>
              <a:t>。</a:t>
            </a:r>
          </a:p>
          <a:p>
            <a:pPr>
              <a:lnSpc>
                <a:spcPct val="130000"/>
              </a:lnSpc>
              <a:buFontTx/>
              <a:buNone/>
            </a:pPr>
            <a:r>
              <a:rPr lang="zh-CN" altLang="en-US" sz="2800"/>
              <a:t>例如全体自然数组成了全集。</a:t>
            </a:r>
          </a:p>
          <a:p>
            <a:pPr>
              <a:lnSpc>
                <a:spcPct val="130000"/>
              </a:lnSpc>
              <a:buFontTx/>
              <a:buNone/>
            </a:pPr>
            <a:r>
              <a:rPr lang="zh-CN" altLang="en-US" sz="2800"/>
              <a:t>全集的概念是相对的。不同的问题有不同的全集，即使同一问题也可以取不同的全集，全集的选取要看具体研究的问题。如要研究</a:t>
            </a:r>
            <a:r>
              <a:rPr lang="en-US" altLang="zh-CN" sz="2800"/>
              <a:t>2007</a:t>
            </a:r>
            <a:r>
              <a:rPr lang="zh-CN" altLang="en-US" sz="2800"/>
              <a:t>年全国毕业大学生的就业情况，则将</a:t>
            </a:r>
            <a:r>
              <a:rPr lang="en-US" altLang="zh-CN" sz="2800"/>
              <a:t>2007</a:t>
            </a:r>
            <a:r>
              <a:rPr lang="zh-CN" altLang="en-US" sz="2800"/>
              <a:t>年毕业的所有的大学生全体作为全集；若只研究上海市</a:t>
            </a:r>
            <a:r>
              <a:rPr lang="en-US" altLang="zh-CN" sz="2800"/>
              <a:t>2007</a:t>
            </a:r>
            <a:r>
              <a:rPr lang="zh-CN" altLang="en-US" sz="2800"/>
              <a:t>年毕业的大学生就业情况时，只需将</a:t>
            </a:r>
            <a:r>
              <a:rPr lang="en-US" altLang="zh-CN" sz="2800"/>
              <a:t>2007</a:t>
            </a:r>
            <a:r>
              <a:rPr lang="zh-CN" altLang="en-US" sz="2800"/>
              <a:t>年上海市毕业的大学生全体作为全集。</a:t>
            </a:r>
            <a:endParaRPr lang="zh-CN" altLang="en-US" sz="2800" dirty="0"/>
          </a:p>
        </p:txBody>
      </p:sp>
    </p:spTree>
    <p:extLst>
      <p:ext uri="{BB962C8B-B14F-4D97-AF65-F5344CB8AC3E}">
        <p14:creationId xmlns:p14="http://schemas.microsoft.com/office/powerpoint/2010/main" val="372392635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9146CDD-164F-4A82-BC5B-D1F3A1CDBF3A}"/>
              </a:ext>
            </a:extLst>
          </p:cNvPr>
          <p:cNvSpPr txBox="1">
            <a:spLocks/>
          </p:cNvSpPr>
          <p:nvPr/>
        </p:nvSpPr>
        <p:spPr>
          <a:xfrm>
            <a:off x="2279576" y="332656"/>
            <a:ext cx="6564560" cy="648072"/>
          </a:xfrm>
          <a:prstGeom prst="rect">
            <a:avLst/>
          </a:prstGeom>
        </p:spPr>
        <p:txBody>
          <a:bodyPr/>
          <a:lstStyle>
            <a:lvl1pPr algn="ctr" defTabSz="685800" rtl="0" eaLnBrk="1" latinLnBrk="0" hangingPunct="1">
              <a:spcBef>
                <a:spcPct val="0"/>
              </a:spcBef>
              <a:buNone/>
              <a:defRPr sz="3300" kern="1200">
                <a:solidFill>
                  <a:schemeClr val="tx1"/>
                </a:solidFill>
                <a:latin typeface="+mj-lt"/>
                <a:ea typeface="+mj-ea"/>
                <a:cs typeface="+mj-cs"/>
              </a:defRPr>
            </a:lvl1pPr>
          </a:lstStyle>
          <a:p>
            <a:r>
              <a:rPr lang="en-US" altLang="zh-CN" dirty="0"/>
              <a:t>1.3 </a:t>
            </a:r>
            <a:r>
              <a:rPr lang="zh-CN" altLang="en-US" dirty="0"/>
              <a:t>集合的运算</a:t>
            </a:r>
          </a:p>
        </p:txBody>
      </p:sp>
      <p:sp>
        <p:nvSpPr>
          <p:cNvPr id="3" name="内容占位符 2">
            <a:extLst>
              <a:ext uri="{FF2B5EF4-FFF2-40B4-BE49-F238E27FC236}">
                <a16:creationId xmlns:a16="http://schemas.microsoft.com/office/drawing/2014/main" id="{8901DC5A-80BC-4B6F-A8ED-64CA61E8B767}"/>
              </a:ext>
            </a:extLst>
          </p:cNvPr>
          <p:cNvSpPr txBox="1">
            <a:spLocks/>
          </p:cNvSpPr>
          <p:nvPr/>
        </p:nvSpPr>
        <p:spPr>
          <a:xfrm>
            <a:off x="457200" y="1772816"/>
            <a:ext cx="11543456" cy="4608512"/>
          </a:xfrm>
          <a:prstGeom prst="rect">
            <a:avLst/>
          </a:prstGeom>
        </p:spPr>
        <p:txBody>
          <a:bodyPr/>
          <a:lstStyle>
            <a:lvl1pPr marL="257175" indent="-257175" algn="l" defTabSz="685800" rtl="0" eaLnBrk="1" latinLnBrk="0" hangingPunct="1">
              <a:spcBef>
                <a:spcPct val="20000"/>
              </a:spcBef>
              <a:buFont typeface="Arial" pitchFamily="34" charset="0"/>
              <a:buChar char="•"/>
              <a:defRPr sz="2400" kern="1200">
                <a:solidFill>
                  <a:schemeClr val="tx1"/>
                </a:solidFill>
                <a:latin typeface="+mn-lt"/>
                <a:ea typeface="+mn-ea"/>
                <a:cs typeface="+mn-cs"/>
              </a:defRPr>
            </a:lvl1pPr>
            <a:lvl2pPr marL="557213" indent="-214313" algn="l" defTabSz="685800" rtl="0" eaLnBrk="1" latinLnBrk="0" hangingPunct="1">
              <a:spcBef>
                <a:spcPct val="20000"/>
              </a:spcBef>
              <a:buFont typeface="Arial" pitchFamily="34" charset="0"/>
              <a:buChar char="–"/>
              <a:defRPr sz="2100" kern="1200">
                <a:solidFill>
                  <a:schemeClr val="tx1"/>
                </a:solidFill>
                <a:latin typeface="+mn-lt"/>
                <a:ea typeface="+mn-ea"/>
                <a:cs typeface="+mn-cs"/>
              </a:defRPr>
            </a:lvl2pPr>
            <a:lvl3pPr marL="857250" indent="-171450" algn="l" defTabSz="685800" rtl="0" eaLnBrk="1" latinLnBrk="0" hangingPunct="1">
              <a:spcBef>
                <a:spcPct val="20000"/>
              </a:spcBef>
              <a:buFont typeface="Arial" pitchFamily="34" charset="0"/>
              <a:buChar char="•"/>
              <a:defRPr sz="1800" kern="1200">
                <a:solidFill>
                  <a:schemeClr val="tx1"/>
                </a:solidFill>
                <a:latin typeface="+mn-lt"/>
                <a:ea typeface="+mn-ea"/>
                <a:cs typeface="+mn-cs"/>
              </a:defRPr>
            </a:lvl3pPr>
            <a:lvl4pPr marL="12001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4pPr>
            <a:lvl5pPr marL="15430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a:lnSpc>
                <a:spcPct val="200000"/>
              </a:lnSpc>
            </a:pPr>
            <a:r>
              <a:rPr lang="zh-CN" altLang="en-US" sz="3200" b="1" dirty="0">
                <a:solidFill>
                  <a:srgbClr val="3308E8"/>
                </a:solidFill>
              </a:rPr>
              <a:t>定义</a:t>
            </a:r>
            <a:r>
              <a:rPr lang="en-US" altLang="zh-CN" sz="3200" dirty="0"/>
              <a:t>1.9 </a:t>
            </a:r>
            <a:r>
              <a:rPr lang="zh-CN" altLang="en-US" sz="3200" dirty="0"/>
              <a:t>设 </a:t>
            </a:r>
            <a:r>
              <a:rPr lang="en-US" altLang="zh-CN" sz="3200" dirty="0"/>
              <a:t>A</a:t>
            </a:r>
            <a:r>
              <a:rPr lang="zh-CN" altLang="en-US" sz="3200" dirty="0"/>
              <a:t>、</a:t>
            </a:r>
            <a:r>
              <a:rPr lang="en-US" altLang="zh-CN" sz="3200" dirty="0"/>
              <a:t>B </a:t>
            </a:r>
            <a:r>
              <a:rPr lang="zh-CN" altLang="en-US" sz="3200" dirty="0"/>
              <a:t>是两个集合</a:t>
            </a:r>
            <a:r>
              <a:rPr lang="en-US" altLang="zh-CN" sz="3200" dirty="0"/>
              <a:t>,</a:t>
            </a:r>
            <a:r>
              <a:rPr lang="zh-CN" altLang="en-US" sz="3200" dirty="0"/>
              <a:t>由集合 </a:t>
            </a:r>
            <a:r>
              <a:rPr lang="en-US" altLang="zh-CN" sz="3200" dirty="0"/>
              <a:t>A </a:t>
            </a:r>
            <a:r>
              <a:rPr lang="zh-CN" altLang="en-US" sz="3200" dirty="0"/>
              <a:t>和</a:t>
            </a:r>
            <a:r>
              <a:rPr lang="en-US" altLang="zh-CN" sz="3200" dirty="0"/>
              <a:t>B </a:t>
            </a:r>
            <a:r>
              <a:rPr lang="zh-CN" altLang="en-US" sz="3200" dirty="0"/>
              <a:t>中所有的元素组成的集合称为集合</a:t>
            </a:r>
            <a:r>
              <a:rPr lang="en-US" altLang="zh-CN" sz="3200" dirty="0"/>
              <a:t>A </a:t>
            </a:r>
            <a:r>
              <a:rPr lang="zh-CN" altLang="en-US" sz="3200" dirty="0"/>
              <a:t>与</a:t>
            </a:r>
            <a:r>
              <a:rPr lang="en-US" altLang="zh-CN" sz="3200" dirty="0"/>
              <a:t>B </a:t>
            </a:r>
            <a:r>
              <a:rPr lang="zh-CN" altLang="en-US" sz="3200" dirty="0"/>
              <a:t>的并集</a:t>
            </a:r>
            <a:r>
              <a:rPr lang="en-US" altLang="zh-CN" sz="3200" dirty="0"/>
              <a:t>,</a:t>
            </a:r>
            <a:r>
              <a:rPr lang="zh-CN" altLang="en-US" sz="3200" dirty="0"/>
              <a:t>记作</a:t>
            </a:r>
            <a:r>
              <a:rPr lang="en-US" altLang="zh-CN" sz="3200" dirty="0"/>
              <a:t>A∪B,</a:t>
            </a:r>
            <a:r>
              <a:rPr lang="zh-CN" altLang="en-US" sz="3200" dirty="0"/>
              <a:t>读作“</a:t>
            </a:r>
            <a:r>
              <a:rPr lang="en-US" altLang="zh-CN" sz="3200" dirty="0"/>
              <a:t>A </a:t>
            </a:r>
            <a:r>
              <a:rPr lang="zh-CN" altLang="en-US" sz="3200" dirty="0"/>
              <a:t>并</a:t>
            </a:r>
            <a:r>
              <a:rPr lang="en-US" altLang="zh-CN" sz="3200" dirty="0"/>
              <a:t>B”</a:t>
            </a:r>
            <a:r>
              <a:rPr lang="zh-CN" altLang="en-US" sz="3200" dirty="0"/>
              <a:t>。即</a:t>
            </a:r>
            <a:r>
              <a:rPr lang="en-US" altLang="zh-CN" sz="3200" dirty="0"/>
              <a:t>A∪B </a:t>
            </a:r>
            <a:r>
              <a:rPr lang="zh-CN" altLang="en-US" sz="3200" dirty="0"/>
              <a:t>是由属于</a:t>
            </a:r>
            <a:r>
              <a:rPr lang="en-US" altLang="zh-CN" sz="3200" dirty="0"/>
              <a:t>A</a:t>
            </a:r>
            <a:r>
              <a:rPr lang="zh-CN" altLang="en-US" sz="3200" dirty="0"/>
              <a:t>或属于</a:t>
            </a:r>
            <a:r>
              <a:rPr lang="en-US" altLang="zh-CN" sz="3200" dirty="0"/>
              <a:t>B</a:t>
            </a:r>
            <a:r>
              <a:rPr lang="zh-CN" altLang="en-US" sz="3200" dirty="0"/>
              <a:t>的元素所组成</a:t>
            </a:r>
            <a:r>
              <a:rPr lang="en-US" altLang="zh-CN" sz="3200" dirty="0"/>
              <a:t>,</a:t>
            </a:r>
            <a:r>
              <a:rPr lang="zh-CN" altLang="en-US" sz="3200" dirty="0"/>
              <a:t>用符号表示为</a:t>
            </a:r>
            <a:endParaRPr lang="en-US" altLang="zh-CN" sz="3200" dirty="0"/>
          </a:p>
          <a:p>
            <a:pPr marL="731520" lvl="3" indent="0">
              <a:lnSpc>
                <a:spcPct val="200000"/>
              </a:lnSpc>
              <a:buFont typeface="Arial" pitchFamily="34" charset="0"/>
              <a:buNone/>
            </a:pPr>
            <a:r>
              <a:rPr lang="en-US" altLang="zh-CN" sz="3200" dirty="0"/>
              <a:t>   A∪B ={</a:t>
            </a:r>
            <a:r>
              <a:rPr lang="en-US" altLang="zh-CN" sz="3200" dirty="0" err="1"/>
              <a:t>x|x∈A</a:t>
            </a:r>
            <a:r>
              <a:rPr lang="en-US" altLang="zh-CN" sz="3200" dirty="0"/>
              <a:t> </a:t>
            </a:r>
            <a:r>
              <a:rPr lang="zh-CN" altLang="en-US" sz="3200" dirty="0"/>
              <a:t>或</a:t>
            </a:r>
            <a:r>
              <a:rPr lang="en-US" altLang="zh-CN" sz="3200" dirty="0" err="1"/>
              <a:t>x∈B</a:t>
            </a:r>
            <a:r>
              <a:rPr lang="en-US" altLang="zh-CN" sz="3200" dirty="0"/>
              <a:t>}</a:t>
            </a:r>
          </a:p>
        </p:txBody>
      </p:sp>
    </p:spTree>
    <p:extLst>
      <p:ext uri="{BB962C8B-B14F-4D97-AF65-F5344CB8AC3E}">
        <p14:creationId xmlns:p14="http://schemas.microsoft.com/office/powerpoint/2010/main" val="114640254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
            <a:extLst>
              <a:ext uri="{FF2B5EF4-FFF2-40B4-BE49-F238E27FC236}">
                <a16:creationId xmlns:a16="http://schemas.microsoft.com/office/drawing/2014/main" id="{4AA5BA8F-2460-43C9-8585-BD2B7B890B25}"/>
              </a:ext>
            </a:extLst>
          </p:cNvPr>
          <p:cNvSpPr txBox="1">
            <a:spLocks noChangeArrowheads="1"/>
          </p:cNvSpPr>
          <p:nvPr/>
        </p:nvSpPr>
        <p:spPr>
          <a:xfrm>
            <a:off x="323528" y="1772816"/>
            <a:ext cx="11101064" cy="4682920"/>
          </a:xfrm>
          <a:prstGeom prst="rect">
            <a:avLst/>
          </a:prstGeom>
        </p:spPr>
        <p:txBody>
          <a:bodyPr/>
          <a:lstStyle>
            <a:lvl1pPr marL="257175" indent="-257175" algn="l" defTabSz="685800" rtl="0" eaLnBrk="1" latinLnBrk="0" hangingPunct="1">
              <a:spcBef>
                <a:spcPct val="20000"/>
              </a:spcBef>
              <a:buFont typeface="Arial" pitchFamily="34" charset="0"/>
              <a:buChar char="•"/>
              <a:defRPr sz="2400" kern="1200">
                <a:solidFill>
                  <a:schemeClr val="tx1"/>
                </a:solidFill>
                <a:latin typeface="+mn-lt"/>
                <a:ea typeface="+mn-ea"/>
                <a:cs typeface="+mn-cs"/>
              </a:defRPr>
            </a:lvl1pPr>
            <a:lvl2pPr marL="557213" indent="-214313" algn="l" defTabSz="685800" rtl="0" eaLnBrk="1" latinLnBrk="0" hangingPunct="1">
              <a:spcBef>
                <a:spcPct val="20000"/>
              </a:spcBef>
              <a:buFont typeface="Arial" pitchFamily="34" charset="0"/>
              <a:buChar char="–"/>
              <a:defRPr sz="2100" kern="1200">
                <a:solidFill>
                  <a:schemeClr val="tx1"/>
                </a:solidFill>
                <a:latin typeface="+mn-lt"/>
                <a:ea typeface="+mn-ea"/>
                <a:cs typeface="+mn-cs"/>
              </a:defRPr>
            </a:lvl2pPr>
            <a:lvl3pPr marL="857250" indent="-171450" algn="l" defTabSz="685800" rtl="0" eaLnBrk="1" latinLnBrk="0" hangingPunct="1">
              <a:spcBef>
                <a:spcPct val="20000"/>
              </a:spcBef>
              <a:buFont typeface="Arial" pitchFamily="34" charset="0"/>
              <a:buChar char="•"/>
              <a:defRPr sz="1800" kern="1200">
                <a:solidFill>
                  <a:schemeClr val="tx1"/>
                </a:solidFill>
                <a:latin typeface="+mn-lt"/>
                <a:ea typeface="+mn-ea"/>
                <a:cs typeface="+mn-cs"/>
              </a:defRPr>
            </a:lvl3pPr>
            <a:lvl4pPr marL="12001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4pPr>
            <a:lvl5pPr marL="15430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a:lnSpc>
                <a:spcPct val="200000"/>
              </a:lnSpc>
              <a:buFontTx/>
              <a:buNone/>
            </a:pPr>
            <a:r>
              <a:rPr lang="zh-CN" altLang="en-US" sz="2800" dirty="0"/>
              <a:t>例</a:t>
            </a:r>
            <a:r>
              <a:rPr lang="en-US" altLang="zh-CN" sz="2800" dirty="0"/>
              <a:t>1.18   </a:t>
            </a:r>
            <a:r>
              <a:rPr lang="zh-CN" altLang="en-US" sz="2800" dirty="0"/>
              <a:t>设集合</a:t>
            </a:r>
            <a:r>
              <a:rPr lang="en-US" altLang="zh-CN" sz="2800" dirty="0"/>
              <a:t>A={1,2,3},</a:t>
            </a:r>
            <a:r>
              <a:rPr lang="zh-CN" altLang="en-US" sz="2800" dirty="0"/>
              <a:t>集合</a:t>
            </a:r>
            <a:r>
              <a:rPr lang="en-US" altLang="zh-CN" sz="2800" dirty="0"/>
              <a:t>B={</a:t>
            </a:r>
            <a:r>
              <a:rPr lang="en-US" altLang="zh-CN" sz="2800" dirty="0" err="1"/>
              <a:t>a,b</a:t>
            </a:r>
            <a:r>
              <a:rPr lang="en-US" altLang="zh-CN" sz="2800" dirty="0"/>
              <a:t>}</a:t>
            </a:r>
            <a:r>
              <a:rPr lang="zh-CN" altLang="en-US" sz="2800" dirty="0"/>
              <a:t>，则</a:t>
            </a:r>
            <a:r>
              <a:rPr lang="en-US" altLang="zh-CN" sz="2800" dirty="0"/>
              <a:t>A∪B</a:t>
            </a:r>
            <a:r>
              <a:rPr lang="zh-CN" altLang="en-US" sz="2800" dirty="0"/>
              <a:t>＝</a:t>
            </a:r>
            <a:r>
              <a:rPr lang="en-US" altLang="zh-CN" sz="2800" dirty="0"/>
              <a:t>{1,2,3,a,b}</a:t>
            </a:r>
            <a:r>
              <a:rPr lang="zh-CN" altLang="en-US" sz="2800" dirty="0"/>
              <a:t>。</a:t>
            </a:r>
          </a:p>
          <a:p>
            <a:pPr>
              <a:lnSpc>
                <a:spcPct val="200000"/>
              </a:lnSpc>
              <a:buFontTx/>
              <a:buNone/>
            </a:pPr>
            <a:r>
              <a:rPr lang="zh-CN" altLang="en-US" sz="2800" dirty="0"/>
              <a:t>例</a:t>
            </a:r>
            <a:r>
              <a:rPr lang="en-US" altLang="zh-CN" sz="2800" dirty="0"/>
              <a:t>1.19   </a:t>
            </a:r>
            <a:r>
              <a:rPr lang="zh-CN" altLang="en-US" sz="2800" dirty="0"/>
              <a:t>设集合</a:t>
            </a:r>
            <a:r>
              <a:rPr lang="en-US" altLang="zh-CN" sz="2800" dirty="0"/>
              <a:t>A={1,2,3},</a:t>
            </a:r>
            <a:r>
              <a:rPr lang="zh-CN" altLang="en-US" sz="2800" dirty="0"/>
              <a:t>集合</a:t>
            </a:r>
            <a:r>
              <a:rPr lang="en-US" altLang="zh-CN" sz="2800" dirty="0"/>
              <a:t>B={a,b,1,2}</a:t>
            </a:r>
            <a:r>
              <a:rPr lang="zh-CN" altLang="en-US" sz="2800" dirty="0"/>
              <a:t>，则</a:t>
            </a:r>
            <a:r>
              <a:rPr lang="en-US" altLang="zh-CN" sz="2800" dirty="0"/>
              <a:t>A∪B</a:t>
            </a:r>
            <a:r>
              <a:rPr lang="zh-CN" altLang="en-US" sz="2800" dirty="0"/>
              <a:t>＝</a:t>
            </a:r>
            <a:r>
              <a:rPr lang="en-US" altLang="zh-CN" sz="2800" dirty="0"/>
              <a:t>{1,2,3,a,b}</a:t>
            </a:r>
            <a:r>
              <a:rPr lang="zh-CN" altLang="en-US" sz="2800" dirty="0"/>
              <a:t>。</a:t>
            </a:r>
            <a:endParaRPr lang="en-US" altLang="zh-CN" sz="2800" dirty="0"/>
          </a:p>
          <a:p>
            <a:pPr>
              <a:lnSpc>
                <a:spcPct val="200000"/>
              </a:lnSpc>
              <a:buFontTx/>
              <a:buNone/>
            </a:pPr>
            <a:r>
              <a:rPr lang="zh-CN" altLang="en-US" sz="2800" dirty="0"/>
              <a:t>例</a:t>
            </a:r>
            <a:r>
              <a:rPr lang="en-US" altLang="zh-CN" sz="2800" dirty="0"/>
              <a:t>1.20   </a:t>
            </a:r>
            <a:r>
              <a:rPr lang="zh-CN" altLang="en-US" sz="2800" dirty="0"/>
              <a:t>设集合</a:t>
            </a:r>
            <a:r>
              <a:rPr lang="en-US" altLang="zh-CN" sz="2800" dirty="0"/>
              <a:t>A={1,2,3},</a:t>
            </a:r>
            <a:r>
              <a:rPr lang="zh-CN" altLang="en-US" sz="2800" dirty="0"/>
              <a:t>集合</a:t>
            </a:r>
            <a:r>
              <a:rPr lang="en-US" altLang="zh-CN" sz="2800" dirty="0"/>
              <a:t>B={x|x</a:t>
            </a:r>
            <a:r>
              <a:rPr lang="en-US" altLang="zh-CN" sz="2800" baseline="30000" dirty="0"/>
              <a:t>2</a:t>
            </a:r>
            <a:r>
              <a:rPr lang="en-US" altLang="zh-CN" sz="2800" dirty="0"/>
              <a:t>+x+2=0, </a:t>
            </a:r>
            <a:r>
              <a:rPr lang="en-US" altLang="zh-CN" sz="2800" dirty="0" err="1"/>
              <a:t>x∈R</a:t>
            </a:r>
            <a:r>
              <a:rPr lang="en-US" altLang="zh-CN" sz="2800" dirty="0"/>
              <a:t>},</a:t>
            </a:r>
            <a:r>
              <a:rPr lang="zh-CN" altLang="en-US" sz="2800" dirty="0"/>
              <a:t>则</a:t>
            </a:r>
            <a:r>
              <a:rPr lang="en-US" altLang="zh-CN" sz="2800" dirty="0"/>
              <a:t>A∪B={1,2,3}</a:t>
            </a:r>
            <a:r>
              <a:rPr lang="zh-CN" altLang="en-US" sz="2800" dirty="0"/>
              <a:t>。</a:t>
            </a:r>
          </a:p>
        </p:txBody>
      </p:sp>
    </p:spTree>
    <p:extLst>
      <p:ext uri="{BB962C8B-B14F-4D97-AF65-F5344CB8AC3E}">
        <p14:creationId xmlns:p14="http://schemas.microsoft.com/office/powerpoint/2010/main" val="81016709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3">
            <a:extLst>
              <a:ext uri="{FF2B5EF4-FFF2-40B4-BE49-F238E27FC236}">
                <a16:creationId xmlns:a16="http://schemas.microsoft.com/office/drawing/2014/main" id="{FE903C35-F4A8-473B-96AF-4E002BE0D445}"/>
              </a:ext>
            </a:extLst>
          </p:cNvPr>
          <p:cNvSpPr txBox="1">
            <a:spLocks noChangeArrowheads="1"/>
          </p:cNvSpPr>
          <p:nvPr/>
        </p:nvSpPr>
        <p:spPr>
          <a:xfrm>
            <a:off x="457200" y="1772816"/>
            <a:ext cx="11183416" cy="4536504"/>
          </a:xfrm>
          <a:prstGeom prst="rect">
            <a:avLst/>
          </a:prstGeom>
        </p:spPr>
        <p:txBody>
          <a:bodyPr/>
          <a:lstStyle>
            <a:lvl1pPr marL="257175" indent="-257175" algn="l" defTabSz="685800" rtl="0" eaLnBrk="1" latinLnBrk="0" hangingPunct="1">
              <a:spcBef>
                <a:spcPct val="20000"/>
              </a:spcBef>
              <a:buFont typeface="Arial" pitchFamily="34" charset="0"/>
              <a:buChar char="•"/>
              <a:defRPr sz="2400" kern="1200">
                <a:solidFill>
                  <a:schemeClr val="tx1"/>
                </a:solidFill>
                <a:latin typeface="+mn-lt"/>
                <a:ea typeface="+mn-ea"/>
                <a:cs typeface="+mn-cs"/>
              </a:defRPr>
            </a:lvl1pPr>
            <a:lvl2pPr marL="557213" indent="-214313" algn="l" defTabSz="685800" rtl="0" eaLnBrk="1" latinLnBrk="0" hangingPunct="1">
              <a:spcBef>
                <a:spcPct val="20000"/>
              </a:spcBef>
              <a:buFont typeface="Arial" pitchFamily="34" charset="0"/>
              <a:buChar char="–"/>
              <a:defRPr sz="2100" kern="1200">
                <a:solidFill>
                  <a:schemeClr val="tx1"/>
                </a:solidFill>
                <a:latin typeface="+mn-lt"/>
                <a:ea typeface="+mn-ea"/>
                <a:cs typeface="+mn-cs"/>
              </a:defRPr>
            </a:lvl2pPr>
            <a:lvl3pPr marL="857250" indent="-171450" algn="l" defTabSz="685800" rtl="0" eaLnBrk="1" latinLnBrk="0" hangingPunct="1">
              <a:spcBef>
                <a:spcPct val="20000"/>
              </a:spcBef>
              <a:buFont typeface="Arial" pitchFamily="34" charset="0"/>
              <a:buChar char="•"/>
              <a:defRPr sz="1800" kern="1200">
                <a:solidFill>
                  <a:schemeClr val="tx1"/>
                </a:solidFill>
                <a:latin typeface="+mn-lt"/>
                <a:ea typeface="+mn-ea"/>
                <a:cs typeface="+mn-cs"/>
              </a:defRPr>
            </a:lvl3pPr>
            <a:lvl4pPr marL="12001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4pPr>
            <a:lvl5pPr marL="15430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a:lnSpc>
                <a:spcPct val="200000"/>
              </a:lnSpc>
              <a:buFontTx/>
              <a:buNone/>
            </a:pPr>
            <a:r>
              <a:rPr lang="zh-CN" altLang="en-US" sz="3200" b="1" dirty="0">
                <a:solidFill>
                  <a:schemeClr val="hlink"/>
                </a:solidFill>
              </a:rPr>
              <a:t>定义</a:t>
            </a:r>
            <a:r>
              <a:rPr lang="en-US" altLang="zh-CN" sz="3200" b="1" dirty="0">
                <a:solidFill>
                  <a:schemeClr val="hlink"/>
                </a:solidFill>
              </a:rPr>
              <a:t>1.10</a:t>
            </a:r>
            <a:r>
              <a:rPr lang="en-US" altLang="zh-CN" sz="3200" dirty="0"/>
              <a:t> </a:t>
            </a:r>
            <a:r>
              <a:rPr lang="zh-CN" altLang="en-US" sz="3200" dirty="0"/>
              <a:t>设</a:t>
            </a:r>
            <a:r>
              <a:rPr lang="en-US" altLang="zh-CN" sz="3200" dirty="0"/>
              <a:t>A</a:t>
            </a:r>
            <a:r>
              <a:rPr lang="zh-CN" altLang="en-US" sz="3200" dirty="0"/>
              <a:t>、</a:t>
            </a:r>
            <a:r>
              <a:rPr lang="en-US" altLang="zh-CN" sz="3200" dirty="0"/>
              <a:t>B</a:t>
            </a:r>
            <a:r>
              <a:rPr lang="zh-CN" altLang="en-US" sz="3200" dirty="0"/>
              <a:t>是两个集合，由集合</a:t>
            </a:r>
            <a:r>
              <a:rPr lang="en-US" altLang="zh-CN" sz="3200" dirty="0"/>
              <a:t>A</a:t>
            </a:r>
            <a:r>
              <a:rPr lang="zh-CN" altLang="en-US" sz="3200" dirty="0"/>
              <a:t>和</a:t>
            </a:r>
            <a:r>
              <a:rPr lang="en-US" altLang="zh-CN" sz="3200" dirty="0"/>
              <a:t>B</a:t>
            </a:r>
            <a:r>
              <a:rPr lang="zh-CN" altLang="en-US" sz="3200" dirty="0"/>
              <a:t>中公共元素组成的集合称为集合</a:t>
            </a:r>
            <a:r>
              <a:rPr lang="en-US" altLang="zh-CN" sz="3200" dirty="0"/>
              <a:t>A</a:t>
            </a:r>
            <a:r>
              <a:rPr lang="zh-CN" altLang="en-US" sz="3200" dirty="0"/>
              <a:t>与</a:t>
            </a:r>
            <a:r>
              <a:rPr lang="en-US" altLang="zh-CN" sz="3200" dirty="0"/>
              <a:t>B</a:t>
            </a:r>
            <a:r>
              <a:rPr lang="zh-CN" altLang="en-US" sz="3200" dirty="0"/>
              <a:t>的</a:t>
            </a:r>
            <a:r>
              <a:rPr lang="zh-CN" altLang="en-US" sz="3200" b="1" dirty="0">
                <a:solidFill>
                  <a:srgbClr val="3308E8"/>
                </a:solidFill>
              </a:rPr>
              <a:t>交集</a:t>
            </a:r>
            <a:r>
              <a:rPr lang="zh-CN" altLang="en-US" sz="3200" dirty="0"/>
              <a:t>，记作</a:t>
            </a:r>
            <a:r>
              <a:rPr lang="en-US" altLang="zh-CN" sz="3200" dirty="0"/>
              <a:t>A∩B</a:t>
            </a:r>
            <a:r>
              <a:rPr lang="zh-CN" altLang="en-US" sz="3200" dirty="0"/>
              <a:t>，即</a:t>
            </a:r>
            <a:r>
              <a:rPr lang="en-US" altLang="zh-CN" sz="3200" dirty="0"/>
              <a:t>A∩B</a:t>
            </a:r>
            <a:r>
              <a:rPr lang="zh-CN" altLang="en-US" sz="3200" dirty="0"/>
              <a:t>是由既属于</a:t>
            </a:r>
            <a:r>
              <a:rPr lang="en-US" altLang="zh-CN" sz="3200" dirty="0"/>
              <a:t>A</a:t>
            </a:r>
            <a:r>
              <a:rPr lang="zh-CN" altLang="en-US" sz="3200" dirty="0"/>
              <a:t>又属于</a:t>
            </a:r>
            <a:r>
              <a:rPr lang="en-US" altLang="zh-CN" sz="3200" dirty="0"/>
              <a:t>B</a:t>
            </a:r>
            <a:r>
              <a:rPr lang="zh-CN" altLang="en-US" sz="3200" dirty="0"/>
              <a:t>的元素组成，用符号表示为：</a:t>
            </a:r>
          </a:p>
          <a:p>
            <a:pPr algn="ctr">
              <a:lnSpc>
                <a:spcPct val="200000"/>
              </a:lnSpc>
              <a:buFontTx/>
              <a:buNone/>
            </a:pPr>
            <a:r>
              <a:rPr lang="zh-CN" altLang="en-US" sz="3200" dirty="0"/>
              <a:t>             </a:t>
            </a:r>
            <a:r>
              <a:rPr lang="en-US" altLang="zh-CN" sz="3200" dirty="0"/>
              <a:t>A∩B</a:t>
            </a:r>
            <a:r>
              <a:rPr lang="zh-CN" altLang="en-US" sz="3200" dirty="0"/>
              <a:t>＝</a:t>
            </a:r>
            <a:r>
              <a:rPr lang="en-US" altLang="zh-CN" sz="3200" dirty="0"/>
              <a:t>{</a:t>
            </a:r>
            <a:r>
              <a:rPr lang="en-US" altLang="zh-CN" sz="3200" dirty="0" err="1"/>
              <a:t>x|x∈A</a:t>
            </a:r>
            <a:r>
              <a:rPr lang="zh-CN" altLang="en-US" sz="3200" dirty="0"/>
              <a:t>且</a:t>
            </a:r>
            <a:r>
              <a:rPr lang="en-US" altLang="zh-CN" sz="3200" dirty="0" err="1"/>
              <a:t>x∈B</a:t>
            </a:r>
            <a:r>
              <a:rPr lang="en-US" altLang="zh-CN" sz="3200" dirty="0"/>
              <a:t> }</a:t>
            </a:r>
          </a:p>
        </p:txBody>
      </p:sp>
    </p:spTree>
    <p:extLst>
      <p:ext uri="{BB962C8B-B14F-4D97-AF65-F5344CB8AC3E}">
        <p14:creationId xmlns:p14="http://schemas.microsoft.com/office/powerpoint/2010/main" val="276366267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E0172F7F-049E-40EE-95DC-E2B724C1B52F}"/>
              </a:ext>
            </a:extLst>
          </p:cNvPr>
          <p:cNvSpPr txBox="1">
            <a:spLocks noChangeArrowheads="1"/>
          </p:cNvSpPr>
          <p:nvPr/>
        </p:nvSpPr>
        <p:spPr>
          <a:xfrm>
            <a:off x="457200" y="1772816"/>
            <a:ext cx="11183416" cy="4682920"/>
          </a:xfrm>
          <a:prstGeom prst="rect">
            <a:avLst/>
          </a:prstGeom>
        </p:spPr>
        <p:txBody>
          <a:bodyPr/>
          <a:lstStyle>
            <a:lvl1pPr marL="257175" indent="-257175" algn="l" defTabSz="685800" rtl="0" eaLnBrk="1" latinLnBrk="0" hangingPunct="1">
              <a:spcBef>
                <a:spcPct val="20000"/>
              </a:spcBef>
              <a:buFont typeface="Arial" pitchFamily="34" charset="0"/>
              <a:buChar char="•"/>
              <a:defRPr sz="2400" kern="1200">
                <a:solidFill>
                  <a:schemeClr val="tx1"/>
                </a:solidFill>
                <a:latin typeface="+mn-lt"/>
                <a:ea typeface="+mn-ea"/>
                <a:cs typeface="+mn-cs"/>
              </a:defRPr>
            </a:lvl1pPr>
            <a:lvl2pPr marL="557213" indent="-214313" algn="l" defTabSz="685800" rtl="0" eaLnBrk="1" latinLnBrk="0" hangingPunct="1">
              <a:spcBef>
                <a:spcPct val="20000"/>
              </a:spcBef>
              <a:buFont typeface="Arial" pitchFamily="34" charset="0"/>
              <a:buChar char="–"/>
              <a:defRPr sz="2100" kern="1200">
                <a:solidFill>
                  <a:schemeClr val="tx1"/>
                </a:solidFill>
                <a:latin typeface="+mn-lt"/>
                <a:ea typeface="+mn-ea"/>
                <a:cs typeface="+mn-cs"/>
              </a:defRPr>
            </a:lvl2pPr>
            <a:lvl3pPr marL="857250" indent="-171450" algn="l" defTabSz="685800" rtl="0" eaLnBrk="1" latinLnBrk="0" hangingPunct="1">
              <a:spcBef>
                <a:spcPct val="20000"/>
              </a:spcBef>
              <a:buFont typeface="Arial" pitchFamily="34" charset="0"/>
              <a:buChar char="•"/>
              <a:defRPr sz="1800" kern="1200">
                <a:solidFill>
                  <a:schemeClr val="tx1"/>
                </a:solidFill>
                <a:latin typeface="+mn-lt"/>
                <a:ea typeface="+mn-ea"/>
                <a:cs typeface="+mn-cs"/>
              </a:defRPr>
            </a:lvl3pPr>
            <a:lvl4pPr marL="12001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4pPr>
            <a:lvl5pPr marL="15430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a:lnSpc>
                <a:spcPct val="200000"/>
              </a:lnSpc>
              <a:buFontTx/>
              <a:buNone/>
            </a:pPr>
            <a:r>
              <a:rPr lang="zh-CN" altLang="en-US" sz="2800" dirty="0"/>
              <a:t>例</a:t>
            </a:r>
            <a:r>
              <a:rPr lang="en-US" altLang="zh-CN" sz="2800" dirty="0"/>
              <a:t>1.21  </a:t>
            </a:r>
            <a:r>
              <a:rPr lang="zh-CN" altLang="en-US" sz="2800" dirty="0"/>
              <a:t>设集合</a:t>
            </a:r>
            <a:r>
              <a:rPr lang="en-US" altLang="zh-CN" sz="2800" dirty="0"/>
              <a:t>A={1,2,3},</a:t>
            </a:r>
            <a:r>
              <a:rPr lang="zh-CN" altLang="en-US" sz="2800" dirty="0"/>
              <a:t>集合</a:t>
            </a:r>
            <a:r>
              <a:rPr lang="en-US" altLang="zh-CN" sz="2800" dirty="0"/>
              <a:t>B={</a:t>
            </a:r>
            <a:r>
              <a:rPr lang="en-US" altLang="zh-CN" sz="2800" dirty="0" err="1"/>
              <a:t>a,b</a:t>
            </a:r>
            <a:r>
              <a:rPr lang="en-US" altLang="zh-CN" sz="2800" dirty="0"/>
              <a:t>}</a:t>
            </a:r>
            <a:r>
              <a:rPr lang="zh-CN" altLang="en-US" sz="2800" dirty="0"/>
              <a:t>，则</a:t>
            </a:r>
            <a:r>
              <a:rPr lang="en-US" altLang="zh-CN" sz="2800" dirty="0"/>
              <a:t>A∩B</a:t>
            </a:r>
            <a:r>
              <a:rPr lang="zh-CN" altLang="en-US" sz="2800" dirty="0"/>
              <a:t>＝</a:t>
            </a:r>
            <a:r>
              <a:rPr lang="zh-CN" altLang="en-US" sz="2800" dirty="0">
                <a:sym typeface="Symbol" pitchFamily="18" charset="2"/>
              </a:rPr>
              <a:t></a:t>
            </a:r>
            <a:r>
              <a:rPr lang="zh-CN" altLang="en-US" sz="2800" dirty="0"/>
              <a:t>。</a:t>
            </a:r>
          </a:p>
          <a:p>
            <a:pPr>
              <a:lnSpc>
                <a:spcPct val="200000"/>
              </a:lnSpc>
              <a:buFontTx/>
              <a:buNone/>
            </a:pPr>
            <a:r>
              <a:rPr lang="zh-CN" altLang="en-US" sz="2800" dirty="0"/>
              <a:t>例</a:t>
            </a:r>
            <a:r>
              <a:rPr lang="en-US" altLang="zh-CN" sz="2800" dirty="0"/>
              <a:t>1.22  </a:t>
            </a:r>
            <a:r>
              <a:rPr lang="zh-CN" altLang="en-US" sz="2800" dirty="0"/>
              <a:t>设集合</a:t>
            </a:r>
            <a:r>
              <a:rPr lang="en-US" altLang="zh-CN" sz="2800" dirty="0"/>
              <a:t>A={1,2,3},</a:t>
            </a:r>
            <a:r>
              <a:rPr lang="zh-CN" altLang="en-US" sz="2800" dirty="0"/>
              <a:t>集合</a:t>
            </a:r>
            <a:r>
              <a:rPr lang="en-US" altLang="zh-CN" sz="2800" dirty="0"/>
              <a:t>B={a,b,1,2}</a:t>
            </a:r>
            <a:r>
              <a:rPr lang="zh-CN" altLang="en-US" sz="2800" dirty="0"/>
              <a:t>，则</a:t>
            </a:r>
            <a:r>
              <a:rPr lang="en-US" altLang="zh-CN" sz="2800" dirty="0"/>
              <a:t>A∩B</a:t>
            </a:r>
            <a:r>
              <a:rPr lang="zh-CN" altLang="en-US" sz="2800" dirty="0"/>
              <a:t>＝</a:t>
            </a:r>
            <a:r>
              <a:rPr lang="en-US" altLang="zh-CN" sz="2800" dirty="0"/>
              <a:t>{1,2}</a:t>
            </a:r>
            <a:r>
              <a:rPr lang="zh-CN" altLang="en-US" sz="2800" dirty="0"/>
              <a:t>。</a:t>
            </a:r>
            <a:endParaRPr lang="en-US" altLang="zh-CN" sz="2800" dirty="0"/>
          </a:p>
          <a:p>
            <a:pPr>
              <a:lnSpc>
                <a:spcPct val="200000"/>
              </a:lnSpc>
              <a:buFontTx/>
              <a:buNone/>
            </a:pPr>
            <a:r>
              <a:rPr lang="zh-CN" altLang="en-US" sz="2800" dirty="0"/>
              <a:t>例</a:t>
            </a:r>
            <a:r>
              <a:rPr lang="en-US" altLang="zh-CN" sz="2800" dirty="0"/>
              <a:t>1.23  </a:t>
            </a:r>
            <a:r>
              <a:rPr lang="zh-CN" altLang="en-US" sz="2800" dirty="0"/>
              <a:t>设集合</a:t>
            </a:r>
            <a:r>
              <a:rPr lang="en-US" altLang="zh-CN" sz="2800" dirty="0"/>
              <a:t>A={1,2,3},</a:t>
            </a:r>
            <a:r>
              <a:rPr lang="zh-CN" altLang="en-US" sz="2800" dirty="0"/>
              <a:t>集合</a:t>
            </a:r>
            <a:r>
              <a:rPr lang="en-US" altLang="zh-CN" sz="2800" dirty="0"/>
              <a:t>B={x|x</a:t>
            </a:r>
            <a:r>
              <a:rPr lang="en-US" altLang="zh-CN" sz="2800" baseline="30000" dirty="0"/>
              <a:t>2</a:t>
            </a:r>
            <a:r>
              <a:rPr lang="en-US" altLang="zh-CN" sz="2800" dirty="0"/>
              <a:t>+x+2=0,x∈R},</a:t>
            </a:r>
            <a:r>
              <a:rPr lang="zh-CN" altLang="en-US" sz="2800" dirty="0"/>
              <a:t>则</a:t>
            </a:r>
            <a:r>
              <a:rPr lang="en-US" altLang="zh-CN" sz="2800" dirty="0"/>
              <a:t>A∩B=</a:t>
            </a:r>
            <a:r>
              <a:rPr lang="zh-CN" altLang="en-US" sz="2800" dirty="0">
                <a:sym typeface="Symbol" pitchFamily="18" charset="2"/>
              </a:rPr>
              <a:t>  </a:t>
            </a:r>
            <a:r>
              <a:rPr lang="zh-CN" altLang="en-US" sz="2800" dirty="0"/>
              <a:t>。</a:t>
            </a:r>
          </a:p>
        </p:txBody>
      </p:sp>
    </p:spTree>
    <p:extLst>
      <p:ext uri="{BB962C8B-B14F-4D97-AF65-F5344CB8AC3E}">
        <p14:creationId xmlns:p14="http://schemas.microsoft.com/office/powerpoint/2010/main" val="26664213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
            <a:extLst>
              <a:ext uri="{FF2B5EF4-FFF2-40B4-BE49-F238E27FC236}">
                <a16:creationId xmlns:a16="http://schemas.microsoft.com/office/drawing/2014/main" id="{9CA1FD8B-78D0-4723-870C-DF64DC49456B}"/>
              </a:ext>
            </a:extLst>
          </p:cNvPr>
          <p:cNvSpPr txBox="1">
            <a:spLocks noChangeArrowheads="1"/>
          </p:cNvSpPr>
          <p:nvPr/>
        </p:nvSpPr>
        <p:spPr>
          <a:xfrm>
            <a:off x="457200" y="1772816"/>
            <a:ext cx="10895384" cy="1584747"/>
          </a:xfrm>
          <a:prstGeom prst="rect">
            <a:avLst/>
          </a:prstGeom>
        </p:spPr>
        <p:txBody>
          <a:bodyPr/>
          <a:lstStyle>
            <a:lvl1pPr marL="257175" indent="-257175" algn="l" defTabSz="685800" rtl="0" eaLnBrk="1" latinLnBrk="0" hangingPunct="1">
              <a:spcBef>
                <a:spcPct val="20000"/>
              </a:spcBef>
              <a:buFont typeface="Arial" pitchFamily="34" charset="0"/>
              <a:buChar char="•"/>
              <a:defRPr sz="2400" kern="1200">
                <a:solidFill>
                  <a:schemeClr val="tx1"/>
                </a:solidFill>
                <a:latin typeface="+mn-lt"/>
                <a:ea typeface="+mn-ea"/>
                <a:cs typeface="+mn-cs"/>
              </a:defRPr>
            </a:lvl1pPr>
            <a:lvl2pPr marL="557213" indent="-214313" algn="l" defTabSz="685800" rtl="0" eaLnBrk="1" latinLnBrk="0" hangingPunct="1">
              <a:spcBef>
                <a:spcPct val="20000"/>
              </a:spcBef>
              <a:buFont typeface="Arial" pitchFamily="34" charset="0"/>
              <a:buChar char="–"/>
              <a:defRPr sz="2100" kern="1200">
                <a:solidFill>
                  <a:schemeClr val="tx1"/>
                </a:solidFill>
                <a:latin typeface="+mn-lt"/>
                <a:ea typeface="+mn-ea"/>
                <a:cs typeface="+mn-cs"/>
              </a:defRPr>
            </a:lvl2pPr>
            <a:lvl3pPr marL="857250" indent="-171450" algn="l" defTabSz="685800" rtl="0" eaLnBrk="1" latinLnBrk="0" hangingPunct="1">
              <a:spcBef>
                <a:spcPct val="20000"/>
              </a:spcBef>
              <a:buFont typeface="Arial" pitchFamily="34" charset="0"/>
              <a:buChar char="•"/>
              <a:defRPr sz="1800" kern="1200">
                <a:solidFill>
                  <a:schemeClr val="tx1"/>
                </a:solidFill>
                <a:latin typeface="+mn-lt"/>
                <a:ea typeface="+mn-ea"/>
                <a:cs typeface="+mn-cs"/>
              </a:defRPr>
            </a:lvl3pPr>
            <a:lvl4pPr marL="12001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4pPr>
            <a:lvl5pPr marL="15430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a:lnSpc>
                <a:spcPct val="150000"/>
              </a:lnSpc>
              <a:buFontTx/>
              <a:buNone/>
            </a:pPr>
            <a:r>
              <a:rPr lang="zh-CN" altLang="en-US" sz="3200" dirty="0"/>
              <a:t>两个集合的并和交运算可以推广成</a:t>
            </a:r>
            <a:r>
              <a:rPr lang="en-US" altLang="zh-CN" sz="3200" dirty="0"/>
              <a:t>n</a:t>
            </a:r>
            <a:r>
              <a:rPr lang="zh-CN" altLang="en-US" sz="3200" dirty="0"/>
              <a:t>个集合的并和交，我们用公式表示如下：</a:t>
            </a:r>
          </a:p>
        </p:txBody>
      </p:sp>
      <p:graphicFrame>
        <p:nvGraphicFramePr>
          <p:cNvPr id="3" name="Object 4">
            <a:extLst>
              <a:ext uri="{FF2B5EF4-FFF2-40B4-BE49-F238E27FC236}">
                <a16:creationId xmlns:a16="http://schemas.microsoft.com/office/drawing/2014/main" id="{C8B2CA18-60C3-47AF-B8C2-73CDA9C9BA59}"/>
              </a:ext>
            </a:extLst>
          </p:cNvPr>
          <p:cNvGraphicFramePr>
            <a:graphicFrameLocks noChangeAspect="1"/>
          </p:cNvGraphicFramePr>
          <p:nvPr>
            <p:extLst>
              <p:ext uri="{D42A27DB-BD31-4B8C-83A1-F6EECF244321}">
                <p14:modId xmlns:p14="http://schemas.microsoft.com/office/powerpoint/2010/main" val="3006398874"/>
              </p:ext>
            </p:extLst>
          </p:nvPr>
        </p:nvGraphicFramePr>
        <p:xfrm>
          <a:off x="3925279" y="3357563"/>
          <a:ext cx="3959225" cy="1066800"/>
        </p:xfrm>
        <a:graphic>
          <a:graphicData uri="http://schemas.openxmlformats.org/presentationml/2006/ole">
            <mc:AlternateContent xmlns:mc="http://schemas.openxmlformats.org/markup-compatibility/2006">
              <mc:Choice xmlns:v="urn:schemas-microsoft-com:vml" Requires="v">
                <p:oleObj spid="_x0000_s7186" name="公式" r:id="rId3" imgW="1587500" imgH="431800" progId="Equation.3">
                  <p:embed/>
                </p:oleObj>
              </mc:Choice>
              <mc:Fallback>
                <p:oleObj name="公式" r:id="rId3" imgW="1587500" imgH="431800" progId="Equation.3">
                  <p:embed/>
                  <p:pic>
                    <p:nvPicPr>
                      <p:cNvPr id="3" name="Object 4">
                        <a:extLst>
                          <a:ext uri="{FF2B5EF4-FFF2-40B4-BE49-F238E27FC236}">
                            <a16:creationId xmlns:a16="http://schemas.microsoft.com/office/drawing/2014/main" id="{6BC44CB3-3004-42AA-9A3B-1CB62607C24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25279" y="3357563"/>
                        <a:ext cx="3959225" cy="1066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 name="Object 6">
            <a:extLst>
              <a:ext uri="{FF2B5EF4-FFF2-40B4-BE49-F238E27FC236}">
                <a16:creationId xmlns:a16="http://schemas.microsoft.com/office/drawing/2014/main" id="{444BC240-606A-4CC3-A31E-4C6532AC6ABB}"/>
              </a:ext>
            </a:extLst>
          </p:cNvPr>
          <p:cNvGraphicFramePr>
            <a:graphicFrameLocks noChangeAspect="1"/>
          </p:cNvGraphicFramePr>
          <p:nvPr>
            <p:extLst>
              <p:ext uri="{D42A27DB-BD31-4B8C-83A1-F6EECF244321}">
                <p14:modId xmlns:p14="http://schemas.microsoft.com/office/powerpoint/2010/main" val="1336726540"/>
              </p:ext>
            </p:extLst>
          </p:nvPr>
        </p:nvGraphicFramePr>
        <p:xfrm>
          <a:off x="3925279" y="4897213"/>
          <a:ext cx="4103687" cy="1106488"/>
        </p:xfrm>
        <a:graphic>
          <a:graphicData uri="http://schemas.openxmlformats.org/presentationml/2006/ole">
            <mc:AlternateContent xmlns:mc="http://schemas.openxmlformats.org/markup-compatibility/2006">
              <mc:Choice xmlns:v="urn:schemas-microsoft-com:vml" Requires="v">
                <p:oleObj spid="_x0000_s7187" name="公式" r:id="rId5" imgW="1587500" imgH="431800" progId="Equation.3">
                  <p:embed/>
                </p:oleObj>
              </mc:Choice>
              <mc:Fallback>
                <p:oleObj name="公式" r:id="rId5" imgW="1587500" imgH="431800" progId="Equation.3">
                  <p:embed/>
                  <p:pic>
                    <p:nvPicPr>
                      <p:cNvPr id="4" name="Object 6">
                        <a:extLst>
                          <a:ext uri="{FF2B5EF4-FFF2-40B4-BE49-F238E27FC236}">
                            <a16:creationId xmlns:a16="http://schemas.microsoft.com/office/drawing/2014/main" id="{4979BB24-BB01-41D3-AF2A-C622D4ACAD6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925279" y="4897213"/>
                        <a:ext cx="4103687" cy="11064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20928016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
            <a:extLst>
              <a:ext uri="{FF2B5EF4-FFF2-40B4-BE49-F238E27FC236}">
                <a16:creationId xmlns:a16="http://schemas.microsoft.com/office/drawing/2014/main" id="{053A9064-7EF1-447D-8C11-5679546A7ACE}"/>
              </a:ext>
            </a:extLst>
          </p:cNvPr>
          <p:cNvSpPr txBox="1">
            <a:spLocks noChangeArrowheads="1"/>
          </p:cNvSpPr>
          <p:nvPr/>
        </p:nvSpPr>
        <p:spPr>
          <a:xfrm>
            <a:off x="457200" y="1772816"/>
            <a:ext cx="11327432" cy="4320480"/>
          </a:xfrm>
          <a:prstGeom prst="rect">
            <a:avLst/>
          </a:prstGeom>
        </p:spPr>
        <p:txBody>
          <a:bodyPr/>
          <a:lstStyle>
            <a:lvl1pPr marL="257175" indent="-257175" algn="l" defTabSz="685800" rtl="0" eaLnBrk="1" latinLnBrk="0" hangingPunct="1">
              <a:spcBef>
                <a:spcPct val="20000"/>
              </a:spcBef>
              <a:buFont typeface="Arial" pitchFamily="34" charset="0"/>
              <a:buChar char="•"/>
              <a:defRPr sz="2400" kern="1200">
                <a:solidFill>
                  <a:schemeClr val="tx1"/>
                </a:solidFill>
                <a:latin typeface="+mn-lt"/>
                <a:ea typeface="+mn-ea"/>
                <a:cs typeface="+mn-cs"/>
              </a:defRPr>
            </a:lvl1pPr>
            <a:lvl2pPr marL="557213" indent="-214313" algn="l" defTabSz="685800" rtl="0" eaLnBrk="1" latinLnBrk="0" hangingPunct="1">
              <a:spcBef>
                <a:spcPct val="20000"/>
              </a:spcBef>
              <a:buFont typeface="Arial" pitchFamily="34" charset="0"/>
              <a:buChar char="–"/>
              <a:defRPr sz="2100" kern="1200">
                <a:solidFill>
                  <a:schemeClr val="tx1"/>
                </a:solidFill>
                <a:latin typeface="+mn-lt"/>
                <a:ea typeface="+mn-ea"/>
                <a:cs typeface="+mn-cs"/>
              </a:defRPr>
            </a:lvl2pPr>
            <a:lvl3pPr marL="857250" indent="-171450" algn="l" defTabSz="685800" rtl="0" eaLnBrk="1" latinLnBrk="0" hangingPunct="1">
              <a:spcBef>
                <a:spcPct val="20000"/>
              </a:spcBef>
              <a:buFont typeface="Arial" pitchFamily="34" charset="0"/>
              <a:buChar char="•"/>
              <a:defRPr sz="1800" kern="1200">
                <a:solidFill>
                  <a:schemeClr val="tx1"/>
                </a:solidFill>
                <a:latin typeface="+mn-lt"/>
                <a:ea typeface="+mn-ea"/>
                <a:cs typeface="+mn-cs"/>
              </a:defRPr>
            </a:lvl3pPr>
            <a:lvl4pPr marL="12001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4pPr>
            <a:lvl5pPr marL="15430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a:lnSpc>
                <a:spcPct val="200000"/>
              </a:lnSpc>
              <a:buFontTx/>
              <a:buNone/>
            </a:pPr>
            <a:r>
              <a:rPr lang="zh-CN" altLang="en-US" sz="3200" b="1" dirty="0">
                <a:solidFill>
                  <a:schemeClr val="hlink"/>
                </a:solidFill>
              </a:rPr>
              <a:t>定义</a:t>
            </a:r>
            <a:r>
              <a:rPr lang="en-US" altLang="zh-CN" sz="3200" b="1" dirty="0">
                <a:solidFill>
                  <a:schemeClr val="hlink"/>
                </a:solidFill>
              </a:rPr>
              <a:t>1.11</a:t>
            </a:r>
            <a:r>
              <a:rPr lang="en-US" altLang="zh-CN" sz="3200" dirty="0"/>
              <a:t> </a:t>
            </a:r>
            <a:r>
              <a:rPr lang="zh-CN" altLang="en-US" sz="3200" dirty="0"/>
              <a:t>设</a:t>
            </a:r>
            <a:r>
              <a:rPr lang="en-US" altLang="zh-CN" sz="3200" dirty="0"/>
              <a:t>A</a:t>
            </a:r>
            <a:r>
              <a:rPr lang="zh-CN" altLang="en-US" sz="3200" dirty="0"/>
              <a:t>、</a:t>
            </a:r>
            <a:r>
              <a:rPr lang="en-US" altLang="zh-CN" sz="3200" dirty="0"/>
              <a:t>B</a:t>
            </a:r>
            <a:r>
              <a:rPr lang="zh-CN" altLang="en-US" sz="3200" dirty="0"/>
              <a:t>是两个集合，由在集合</a:t>
            </a:r>
            <a:r>
              <a:rPr lang="en-US" altLang="zh-CN" sz="3200" dirty="0"/>
              <a:t>A</a:t>
            </a:r>
            <a:r>
              <a:rPr lang="zh-CN" altLang="en-US" sz="3200" dirty="0"/>
              <a:t>中且不在集合</a:t>
            </a:r>
            <a:r>
              <a:rPr lang="en-US" altLang="zh-CN" sz="3200" dirty="0"/>
              <a:t>B</a:t>
            </a:r>
            <a:r>
              <a:rPr lang="zh-CN" altLang="en-US" sz="3200" dirty="0"/>
              <a:t>中的所有元素组成的集合，称为集合</a:t>
            </a:r>
            <a:r>
              <a:rPr lang="en-US" altLang="zh-CN" sz="3200" dirty="0"/>
              <a:t>B</a:t>
            </a:r>
            <a:r>
              <a:rPr lang="zh-CN" altLang="en-US" sz="3200" dirty="0"/>
              <a:t>对</a:t>
            </a:r>
            <a:r>
              <a:rPr lang="en-US" altLang="zh-CN" sz="3200" dirty="0"/>
              <a:t>A</a:t>
            </a:r>
            <a:r>
              <a:rPr lang="zh-CN" altLang="en-US" sz="3200" dirty="0"/>
              <a:t>的</a:t>
            </a:r>
            <a:r>
              <a:rPr lang="zh-CN" altLang="en-US" sz="3200" b="1" dirty="0">
                <a:solidFill>
                  <a:srgbClr val="3308E8"/>
                </a:solidFill>
              </a:rPr>
              <a:t>相对补集</a:t>
            </a:r>
            <a:r>
              <a:rPr lang="zh-CN" altLang="en-US" sz="3200" dirty="0"/>
              <a:t>，记作</a:t>
            </a:r>
            <a:r>
              <a:rPr lang="en-US" altLang="zh-CN" sz="3200" dirty="0"/>
              <a:t>A-B</a:t>
            </a:r>
            <a:r>
              <a:rPr lang="zh-CN" altLang="en-US" sz="3200" dirty="0"/>
              <a:t>，用符号表示为：</a:t>
            </a:r>
          </a:p>
          <a:p>
            <a:pPr>
              <a:lnSpc>
                <a:spcPct val="200000"/>
              </a:lnSpc>
              <a:buFontTx/>
              <a:buNone/>
            </a:pPr>
            <a:r>
              <a:rPr lang="zh-CN" altLang="en-US" sz="3200" dirty="0"/>
              <a:t>            </a:t>
            </a:r>
            <a:r>
              <a:rPr lang="en-US" altLang="zh-CN" sz="3200" dirty="0"/>
              <a:t>A</a:t>
            </a:r>
            <a:r>
              <a:rPr lang="zh-CN" altLang="en-US" sz="3200" dirty="0"/>
              <a:t>－</a:t>
            </a:r>
            <a:r>
              <a:rPr lang="en-US" altLang="zh-CN" sz="3200" dirty="0"/>
              <a:t>B</a:t>
            </a:r>
            <a:r>
              <a:rPr lang="zh-CN" altLang="en-US" sz="3200" dirty="0"/>
              <a:t>＝</a:t>
            </a:r>
            <a:r>
              <a:rPr lang="en-US" altLang="zh-CN" sz="3200" dirty="0"/>
              <a:t>{</a:t>
            </a:r>
            <a:r>
              <a:rPr lang="en-US" altLang="zh-CN" sz="3200" dirty="0" err="1"/>
              <a:t>x|x∈A</a:t>
            </a:r>
            <a:r>
              <a:rPr lang="zh-CN" altLang="en-US" sz="3200" dirty="0"/>
              <a:t>且</a:t>
            </a:r>
            <a:r>
              <a:rPr lang="en-US" altLang="zh-CN" sz="3200" dirty="0"/>
              <a:t>x </a:t>
            </a:r>
            <a:r>
              <a:rPr lang="en-US" altLang="zh-CN" sz="3200" dirty="0">
                <a:sym typeface="Symbol" pitchFamily="18" charset="2"/>
              </a:rPr>
              <a:t></a:t>
            </a:r>
            <a:r>
              <a:rPr lang="en-US" altLang="zh-CN" sz="3200" dirty="0"/>
              <a:t>B } </a:t>
            </a:r>
          </a:p>
        </p:txBody>
      </p:sp>
    </p:spTree>
    <p:extLst>
      <p:ext uri="{BB962C8B-B14F-4D97-AF65-F5344CB8AC3E}">
        <p14:creationId xmlns:p14="http://schemas.microsoft.com/office/powerpoint/2010/main" val="113967426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
            <a:extLst>
              <a:ext uri="{FF2B5EF4-FFF2-40B4-BE49-F238E27FC236}">
                <a16:creationId xmlns:a16="http://schemas.microsoft.com/office/drawing/2014/main" id="{161EB9D3-D5F0-4733-B9B9-1E05FBF025FE}"/>
              </a:ext>
            </a:extLst>
          </p:cNvPr>
          <p:cNvSpPr txBox="1">
            <a:spLocks noChangeArrowheads="1"/>
          </p:cNvSpPr>
          <p:nvPr/>
        </p:nvSpPr>
        <p:spPr>
          <a:xfrm>
            <a:off x="457200" y="1772816"/>
            <a:ext cx="10895384" cy="4682920"/>
          </a:xfrm>
          <a:prstGeom prst="rect">
            <a:avLst/>
          </a:prstGeom>
        </p:spPr>
        <p:txBody>
          <a:bodyPr/>
          <a:lstStyle>
            <a:lvl1pPr marL="257175" indent="-257175" algn="l" defTabSz="685800" rtl="0" eaLnBrk="1" latinLnBrk="0" hangingPunct="1">
              <a:spcBef>
                <a:spcPct val="20000"/>
              </a:spcBef>
              <a:buFont typeface="Arial" pitchFamily="34" charset="0"/>
              <a:buChar char="•"/>
              <a:defRPr sz="2400" kern="1200">
                <a:solidFill>
                  <a:schemeClr val="tx1"/>
                </a:solidFill>
                <a:latin typeface="+mn-lt"/>
                <a:ea typeface="+mn-ea"/>
                <a:cs typeface="+mn-cs"/>
              </a:defRPr>
            </a:lvl1pPr>
            <a:lvl2pPr marL="557213" indent="-214313" algn="l" defTabSz="685800" rtl="0" eaLnBrk="1" latinLnBrk="0" hangingPunct="1">
              <a:spcBef>
                <a:spcPct val="20000"/>
              </a:spcBef>
              <a:buFont typeface="Arial" pitchFamily="34" charset="0"/>
              <a:buChar char="–"/>
              <a:defRPr sz="2100" kern="1200">
                <a:solidFill>
                  <a:schemeClr val="tx1"/>
                </a:solidFill>
                <a:latin typeface="+mn-lt"/>
                <a:ea typeface="+mn-ea"/>
                <a:cs typeface="+mn-cs"/>
              </a:defRPr>
            </a:lvl2pPr>
            <a:lvl3pPr marL="857250" indent="-171450" algn="l" defTabSz="685800" rtl="0" eaLnBrk="1" latinLnBrk="0" hangingPunct="1">
              <a:spcBef>
                <a:spcPct val="20000"/>
              </a:spcBef>
              <a:buFont typeface="Arial" pitchFamily="34" charset="0"/>
              <a:buChar char="•"/>
              <a:defRPr sz="1800" kern="1200">
                <a:solidFill>
                  <a:schemeClr val="tx1"/>
                </a:solidFill>
                <a:latin typeface="+mn-lt"/>
                <a:ea typeface="+mn-ea"/>
                <a:cs typeface="+mn-cs"/>
              </a:defRPr>
            </a:lvl3pPr>
            <a:lvl4pPr marL="12001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4pPr>
            <a:lvl5pPr marL="15430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a:lnSpc>
                <a:spcPct val="200000"/>
              </a:lnSpc>
              <a:buFontTx/>
              <a:buNone/>
            </a:pPr>
            <a:r>
              <a:rPr lang="zh-CN" altLang="en-US" sz="3200" dirty="0"/>
              <a:t>例</a:t>
            </a:r>
            <a:r>
              <a:rPr lang="en-US" altLang="zh-CN" sz="3200" dirty="0"/>
              <a:t>1.24  </a:t>
            </a:r>
            <a:r>
              <a:rPr lang="zh-CN" altLang="en-US" sz="3200" dirty="0"/>
              <a:t>设集合</a:t>
            </a:r>
            <a:r>
              <a:rPr lang="en-US" altLang="zh-CN" sz="3200" dirty="0"/>
              <a:t>A={1,2,3},</a:t>
            </a:r>
            <a:r>
              <a:rPr lang="zh-CN" altLang="en-US" sz="3200" dirty="0"/>
              <a:t>集合</a:t>
            </a:r>
            <a:r>
              <a:rPr lang="en-US" altLang="zh-CN" sz="3200" dirty="0"/>
              <a:t>B={</a:t>
            </a:r>
            <a:r>
              <a:rPr lang="en-US" altLang="zh-CN" sz="3200" dirty="0" err="1"/>
              <a:t>a,b</a:t>
            </a:r>
            <a:r>
              <a:rPr lang="en-US" altLang="zh-CN" sz="3200" dirty="0"/>
              <a:t>}</a:t>
            </a:r>
            <a:r>
              <a:rPr lang="zh-CN" altLang="en-US" sz="3200" dirty="0"/>
              <a:t>，则</a:t>
            </a:r>
            <a:r>
              <a:rPr lang="en-US" altLang="zh-CN" sz="3200" dirty="0"/>
              <a:t>A-B</a:t>
            </a:r>
            <a:r>
              <a:rPr lang="zh-CN" altLang="en-US" sz="3200" dirty="0"/>
              <a:t>＝</a:t>
            </a:r>
            <a:r>
              <a:rPr lang="en-US" altLang="zh-CN" sz="3200" dirty="0"/>
              <a:t>{1,2,3}</a:t>
            </a:r>
            <a:r>
              <a:rPr lang="zh-CN" altLang="en-US" sz="3200" dirty="0"/>
              <a:t>。</a:t>
            </a:r>
          </a:p>
          <a:p>
            <a:pPr>
              <a:lnSpc>
                <a:spcPct val="200000"/>
              </a:lnSpc>
              <a:buFontTx/>
              <a:buNone/>
            </a:pPr>
            <a:r>
              <a:rPr lang="zh-CN" altLang="en-US" sz="3200" dirty="0"/>
              <a:t>例</a:t>
            </a:r>
            <a:r>
              <a:rPr lang="en-US" altLang="zh-CN" sz="3200" dirty="0"/>
              <a:t>1.25 </a:t>
            </a:r>
            <a:r>
              <a:rPr lang="zh-CN" altLang="en-US" sz="3200" dirty="0"/>
              <a:t>设集合</a:t>
            </a:r>
            <a:r>
              <a:rPr lang="en-US" altLang="zh-CN" sz="3200" dirty="0"/>
              <a:t>A={1,2,3},</a:t>
            </a:r>
            <a:r>
              <a:rPr lang="zh-CN" altLang="en-US" sz="3200" dirty="0"/>
              <a:t>集合</a:t>
            </a:r>
            <a:r>
              <a:rPr lang="en-US" altLang="zh-CN" sz="3200" dirty="0"/>
              <a:t>B={a,b,1,2}</a:t>
            </a:r>
            <a:r>
              <a:rPr lang="zh-CN" altLang="en-US" sz="3200" dirty="0"/>
              <a:t>，则</a:t>
            </a:r>
            <a:r>
              <a:rPr lang="en-US" altLang="zh-CN" sz="3200" dirty="0"/>
              <a:t>A-B</a:t>
            </a:r>
            <a:r>
              <a:rPr lang="zh-CN" altLang="en-US" sz="3200" dirty="0"/>
              <a:t>＝</a:t>
            </a:r>
            <a:r>
              <a:rPr lang="en-US" altLang="zh-CN" sz="3200" dirty="0"/>
              <a:t>{3}</a:t>
            </a:r>
            <a:r>
              <a:rPr lang="zh-CN" altLang="en-US" sz="3200" dirty="0"/>
              <a:t>。</a:t>
            </a:r>
            <a:endParaRPr lang="en-US" altLang="zh-CN" sz="3200" dirty="0"/>
          </a:p>
          <a:p>
            <a:pPr>
              <a:lnSpc>
                <a:spcPct val="200000"/>
              </a:lnSpc>
              <a:buFontTx/>
              <a:buNone/>
            </a:pPr>
            <a:r>
              <a:rPr lang="zh-CN" altLang="en-US" sz="3200" dirty="0"/>
              <a:t>例</a:t>
            </a:r>
            <a:r>
              <a:rPr lang="en-US" altLang="zh-CN" sz="3200" dirty="0"/>
              <a:t>1.26  </a:t>
            </a:r>
            <a:r>
              <a:rPr lang="zh-CN" altLang="en-US" sz="3200" dirty="0"/>
              <a:t>设集合</a:t>
            </a:r>
            <a:r>
              <a:rPr lang="en-US" altLang="zh-CN" sz="3200" dirty="0"/>
              <a:t>A={1,2,3},</a:t>
            </a:r>
            <a:r>
              <a:rPr lang="zh-CN" altLang="en-US" sz="3200" dirty="0"/>
              <a:t>集合</a:t>
            </a:r>
            <a:r>
              <a:rPr lang="en-US" altLang="zh-CN" sz="3200" dirty="0"/>
              <a:t>B={x|x</a:t>
            </a:r>
            <a:r>
              <a:rPr lang="en-US" altLang="zh-CN" sz="3200" baseline="30000" dirty="0"/>
              <a:t>2</a:t>
            </a:r>
            <a:r>
              <a:rPr lang="en-US" altLang="zh-CN" sz="3200" dirty="0"/>
              <a:t>+x+2=0,x∈R},</a:t>
            </a:r>
            <a:r>
              <a:rPr lang="zh-CN" altLang="en-US" sz="3200" dirty="0"/>
              <a:t>则</a:t>
            </a:r>
            <a:r>
              <a:rPr lang="en-US" altLang="zh-CN" sz="3200" dirty="0"/>
              <a:t>A-B=A</a:t>
            </a:r>
            <a:r>
              <a:rPr lang="zh-CN" altLang="en-US" sz="3200" dirty="0"/>
              <a:t>。 </a:t>
            </a:r>
          </a:p>
        </p:txBody>
      </p:sp>
    </p:spTree>
    <p:extLst>
      <p:ext uri="{BB962C8B-B14F-4D97-AF65-F5344CB8AC3E}">
        <p14:creationId xmlns:p14="http://schemas.microsoft.com/office/powerpoint/2010/main" val="238577161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
            <a:extLst>
              <a:ext uri="{FF2B5EF4-FFF2-40B4-BE49-F238E27FC236}">
                <a16:creationId xmlns:a16="http://schemas.microsoft.com/office/drawing/2014/main" id="{09CDAFD3-8F15-4EBD-BEED-B1824DF95895}"/>
              </a:ext>
            </a:extLst>
          </p:cNvPr>
          <p:cNvSpPr txBox="1">
            <a:spLocks noChangeArrowheads="1"/>
          </p:cNvSpPr>
          <p:nvPr/>
        </p:nvSpPr>
        <p:spPr>
          <a:xfrm>
            <a:off x="457200" y="1484784"/>
            <a:ext cx="11471448" cy="4970952"/>
          </a:xfrm>
          <a:prstGeom prst="rect">
            <a:avLst/>
          </a:prstGeom>
        </p:spPr>
        <p:txBody>
          <a:bodyPr/>
          <a:lstStyle>
            <a:lvl1pPr marL="257175" indent="-257175" algn="l" defTabSz="685800" rtl="0" eaLnBrk="1" latinLnBrk="0" hangingPunct="1">
              <a:spcBef>
                <a:spcPct val="20000"/>
              </a:spcBef>
              <a:buFont typeface="Arial" pitchFamily="34" charset="0"/>
              <a:buChar char="•"/>
              <a:defRPr sz="2400" kern="1200">
                <a:solidFill>
                  <a:schemeClr val="tx1"/>
                </a:solidFill>
                <a:latin typeface="+mn-lt"/>
                <a:ea typeface="+mn-ea"/>
                <a:cs typeface="+mn-cs"/>
              </a:defRPr>
            </a:lvl1pPr>
            <a:lvl2pPr marL="557213" indent="-214313" algn="l" defTabSz="685800" rtl="0" eaLnBrk="1" latinLnBrk="0" hangingPunct="1">
              <a:spcBef>
                <a:spcPct val="20000"/>
              </a:spcBef>
              <a:buFont typeface="Arial" pitchFamily="34" charset="0"/>
              <a:buChar char="–"/>
              <a:defRPr sz="2100" kern="1200">
                <a:solidFill>
                  <a:schemeClr val="tx1"/>
                </a:solidFill>
                <a:latin typeface="+mn-lt"/>
                <a:ea typeface="+mn-ea"/>
                <a:cs typeface="+mn-cs"/>
              </a:defRPr>
            </a:lvl2pPr>
            <a:lvl3pPr marL="857250" indent="-171450" algn="l" defTabSz="685800" rtl="0" eaLnBrk="1" latinLnBrk="0" hangingPunct="1">
              <a:spcBef>
                <a:spcPct val="20000"/>
              </a:spcBef>
              <a:buFont typeface="Arial" pitchFamily="34" charset="0"/>
              <a:buChar char="•"/>
              <a:defRPr sz="1800" kern="1200">
                <a:solidFill>
                  <a:schemeClr val="tx1"/>
                </a:solidFill>
                <a:latin typeface="+mn-lt"/>
                <a:ea typeface="+mn-ea"/>
                <a:cs typeface="+mn-cs"/>
              </a:defRPr>
            </a:lvl3pPr>
            <a:lvl4pPr marL="12001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4pPr>
            <a:lvl5pPr marL="15430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a:lnSpc>
                <a:spcPct val="130000"/>
              </a:lnSpc>
              <a:buFontTx/>
              <a:buNone/>
            </a:pPr>
            <a:r>
              <a:rPr lang="zh-CN" altLang="en-US" sz="2800" b="1" dirty="0">
                <a:solidFill>
                  <a:schemeClr val="hlink"/>
                </a:solidFill>
              </a:rPr>
              <a:t>定义</a:t>
            </a:r>
            <a:r>
              <a:rPr lang="en-US" altLang="zh-CN" sz="2800" b="1" dirty="0">
                <a:solidFill>
                  <a:schemeClr val="hlink"/>
                </a:solidFill>
              </a:rPr>
              <a:t>1.12</a:t>
            </a:r>
            <a:r>
              <a:rPr lang="en-US" altLang="zh-CN" sz="2800" dirty="0"/>
              <a:t> </a:t>
            </a:r>
            <a:r>
              <a:rPr lang="zh-CN" altLang="en-US" sz="2800" dirty="0"/>
              <a:t>集合的绝对补，是对于全集而言的，设</a:t>
            </a:r>
            <a:r>
              <a:rPr lang="en-US" altLang="zh-CN" sz="2800" dirty="0"/>
              <a:t>U</a:t>
            </a:r>
            <a:r>
              <a:rPr lang="zh-CN" altLang="en-US" sz="2800" dirty="0"/>
              <a:t>为全集，则集合</a:t>
            </a:r>
            <a:r>
              <a:rPr lang="en-US" altLang="zh-CN" sz="2800" dirty="0"/>
              <a:t>A</a:t>
            </a:r>
            <a:r>
              <a:rPr lang="zh-CN" altLang="en-US" sz="2800" dirty="0"/>
              <a:t>的绝对补集是由不在集合</a:t>
            </a:r>
            <a:r>
              <a:rPr lang="en-US" altLang="zh-CN" sz="2800" dirty="0"/>
              <a:t>A</a:t>
            </a:r>
            <a:r>
              <a:rPr lang="zh-CN" altLang="en-US" sz="2800" dirty="0"/>
              <a:t>中的所有的元素构成的集合，称为</a:t>
            </a:r>
            <a:r>
              <a:rPr lang="en-US" altLang="zh-CN" sz="2800" dirty="0"/>
              <a:t>A</a:t>
            </a:r>
            <a:r>
              <a:rPr lang="zh-CN" altLang="en-US" sz="2800" dirty="0"/>
              <a:t>的</a:t>
            </a:r>
            <a:r>
              <a:rPr lang="zh-CN" altLang="en-US" sz="2800" b="1" dirty="0">
                <a:solidFill>
                  <a:srgbClr val="3308E8"/>
                </a:solidFill>
              </a:rPr>
              <a:t>绝对补集</a:t>
            </a:r>
            <a:r>
              <a:rPr lang="zh-CN" altLang="en-US" sz="2800" dirty="0"/>
              <a:t>，记作或</a:t>
            </a:r>
            <a:r>
              <a:rPr lang="en-US" altLang="zh-CN" sz="2800" dirty="0"/>
              <a:t>A</a:t>
            </a:r>
            <a:r>
              <a:rPr lang="en-US" altLang="zh-CN" sz="2800" dirty="0">
                <a:sym typeface="Symbol" pitchFamily="18" charset="2"/>
              </a:rPr>
              <a:t></a:t>
            </a:r>
            <a:r>
              <a:rPr lang="zh-CN" altLang="en-US" sz="2800" dirty="0"/>
              <a:t>表示，绝对补集也简称为</a:t>
            </a:r>
            <a:r>
              <a:rPr lang="zh-CN" altLang="en-US" sz="2800" b="1" dirty="0">
                <a:solidFill>
                  <a:srgbClr val="3308E8"/>
                </a:solidFill>
              </a:rPr>
              <a:t>补集</a:t>
            </a:r>
            <a:r>
              <a:rPr lang="zh-CN" altLang="en-US" sz="2800" dirty="0"/>
              <a:t>，用符号表示为：</a:t>
            </a:r>
          </a:p>
          <a:p>
            <a:pPr>
              <a:lnSpc>
                <a:spcPct val="130000"/>
              </a:lnSpc>
              <a:buFontTx/>
              <a:buNone/>
            </a:pPr>
            <a:r>
              <a:rPr lang="zh-CN" altLang="en-US" sz="2800" dirty="0"/>
              <a:t>           </a:t>
            </a:r>
            <a:r>
              <a:rPr lang="en-US" altLang="zh-CN" sz="2800" dirty="0"/>
              <a:t>A</a:t>
            </a:r>
            <a:r>
              <a:rPr lang="en-US" altLang="zh-CN" sz="2800" dirty="0">
                <a:sym typeface="Symbol" pitchFamily="18" charset="2"/>
              </a:rPr>
              <a:t></a:t>
            </a:r>
            <a:r>
              <a:rPr lang="en-US" altLang="zh-CN" sz="2800" dirty="0"/>
              <a:t>=U-A ={</a:t>
            </a:r>
            <a:r>
              <a:rPr lang="en-US" altLang="zh-CN" sz="2800" dirty="0" err="1"/>
              <a:t>x|x</a:t>
            </a:r>
            <a:r>
              <a:rPr lang="en-US" altLang="zh-CN" sz="2800" dirty="0"/>
              <a:t> </a:t>
            </a:r>
            <a:r>
              <a:rPr lang="en-US" altLang="zh-CN" sz="2800" dirty="0">
                <a:sym typeface="Symbol" pitchFamily="18" charset="2"/>
              </a:rPr>
              <a:t></a:t>
            </a:r>
            <a:r>
              <a:rPr lang="en-US" altLang="zh-CN" sz="2800" dirty="0"/>
              <a:t> U</a:t>
            </a:r>
            <a:r>
              <a:rPr lang="zh-CN" altLang="en-US" sz="2800" dirty="0"/>
              <a:t>且 </a:t>
            </a:r>
            <a:r>
              <a:rPr lang="en-US" altLang="zh-CN" sz="2800" dirty="0"/>
              <a:t>x </a:t>
            </a:r>
            <a:r>
              <a:rPr lang="en-US" altLang="zh-CN" sz="2800" dirty="0">
                <a:sym typeface="Symbol" pitchFamily="18" charset="2"/>
              </a:rPr>
              <a:t></a:t>
            </a:r>
            <a:r>
              <a:rPr lang="en-US" altLang="zh-CN" sz="2800" dirty="0"/>
              <a:t> A} </a:t>
            </a:r>
          </a:p>
          <a:p>
            <a:pPr>
              <a:lnSpc>
                <a:spcPct val="130000"/>
              </a:lnSpc>
              <a:buFontTx/>
              <a:buNone/>
            </a:pPr>
            <a:r>
              <a:rPr lang="zh-CN" altLang="en-US" sz="2800" dirty="0"/>
              <a:t>例</a:t>
            </a:r>
            <a:r>
              <a:rPr lang="en-US" altLang="zh-CN" sz="2800" dirty="0"/>
              <a:t>1.27  </a:t>
            </a:r>
            <a:r>
              <a:rPr lang="zh-CN" altLang="en-US" sz="2800" dirty="0"/>
              <a:t>设集合</a:t>
            </a:r>
            <a:r>
              <a:rPr lang="en-US" altLang="zh-CN" sz="2800" dirty="0"/>
              <a:t>U={1,2,3},</a:t>
            </a:r>
            <a:r>
              <a:rPr lang="zh-CN" altLang="en-US" sz="2800" dirty="0"/>
              <a:t>求下列集合的补集。</a:t>
            </a:r>
            <a:endParaRPr lang="en-US" altLang="zh-CN" sz="2800" dirty="0"/>
          </a:p>
          <a:p>
            <a:pPr>
              <a:lnSpc>
                <a:spcPct val="130000"/>
              </a:lnSpc>
              <a:buFontTx/>
              <a:buNone/>
            </a:pPr>
            <a:r>
              <a:rPr lang="zh-CN" altLang="en-US" sz="2800" dirty="0"/>
              <a:t>（</a:t>
            </a:r>
            <a:r>
              <a:rPr lang="en-US" altLang="zh-CN" sz="2800" dirty="0"/>
              <a:t>1</a:t>
            </a:r>
            <a:r>
              <a:rPr lang="zh-CN" altLang="en-US" sz="2800" dirty="0"/>
              <a:t>）集合</a:t>
            </a:r>
            <a:r>
              <a:rPr lang="en-US" altLang="zh-CN" sz="2800" dirty="0"/>
              <a:t>A={1,2}</a:t>
            </a:r>
            <a:r>
              <a:rPr lang="zh-CN" altLang="en-US" sz="2800" dirty="0"/>
              <a:t> 。</a:t>
            </a:r>
            <a:endParaRPr lang="en-US" altLang="zh-CN" sz="2800" dirty="0"/>
          </a:p>
          <a:p>
            <a:pPr>
              <a:lnSpc>
                <a:spcPct val="130000"/>
              </a:lnSpc>
              <a:buFontTx/>
              <a:buNone/>
            </a:pPr>
            <a:r>
              <a:rPr lang="zh-CN" altLang="en-US" sz="2800" dirty="0"/>
              <a:t>（</a:t>
            </a:r>
            <a:r>
              <a:rPr lang="en-US" altLang="zh-CN" sz="2800" dirty="0"/>
              <a:t>2</a:t>
            </a:r>
            <a:r>
              <a:rPr lang="zh-CN" altLang="en-US" sz="2800" dirty="0"/>
              <a:t>）集合</a:t>
            </a:r>
            <a:r>
              <a:rPr lang="en-US" altLang="zh-CN" sz="2800" dirty="0"/>
              <a:t>A</a:t>
            </a:r>
            <a:r>
              <a:rPr lang="zh-CN" altLang="en-US" sz="2800" dirty="0"/>
              <a:t>＝</a:t>
            </a:r>
            <a:r>
              <a:rPr lang="zh-CN" altLang="en-US" sz="2800" dirty="0">
                <a:sym typeface="Symbol" pitchFamily="18" charset="2"/>
              </a:rPr>
              <a:t>  </a:t>
            </a:r>
            <a:r>
              <a:rPr lang="zh-CN" altLang="en-US" sz="2800" dirty="0"/>
              <a:t>。</a:t>
            </a:r>
          </a:p>
        </p:txBody>
      </p:sp>
    </p:spTree>
    <p:extLst>
      <p:ext uri="{BB962C8B-B14F-4D97-AF65-F5344CB8AC3E}">
        <p14:creationId xmlns:p14="http://schemas.microsoft.com/office/powerpoint/2010/main" val="69658275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3">
            <a:extLst>
              <a:ext uri="{FF2B5EF4-FFF2-40B4-BE49-F238E27FC236}">
                <a16:creationId xmlns:a16="http://schemas.microsoft.com/office/drawing/2014/main" id="{1D0BBC5D-7B8A-49D2-884B-725E29CB60D5}"/>
              </a:ext>
            </a:extLst>
          </p:cNvPr>
          <p:cNvSpPr txBox="1">
            <a:spLocks noChangeArrowheads="1"/>
          </p:cNvSpPr>
          <p:nvPr/>
        </p:nvSpPr>
        <p:spPr>
          <a:xfrm>
            <a:off x="457200" y="1772816"/>
            <a:ext cx="11399440" cy="4682920"/>
          </a:xfrm>
          <a:prstGeom prst="rect">
            <a:avLst/>
          </a:prstGeom>
        </p:spPr>
        <p:txBody>
          <a:bodyPr/>
          <a:lstStyle>
            <a:lvl1pPr marL="257175" indent="-257175" algn="l" defTabSz="685800" rtl="0" eaLnBrk="1" latinLnBrk="0" hangingPunct="1">
              <a:spcBef>
                <a:spcPct val="20000"/>
              </a:spcBef>
              <a:buFont typeface="Arial" pitchFamily="34" charset="0"/>
              <a:buChar char="•"/>
              <a:defRPr sz="2400" kern="1200">
                <a:solidFill>
                  <a:schemeClr val="tx1"/>
                </a:solidFill>
                <a:latin typeface="+mn-lt"/>
                <a:ea typeface="+mn-ea"/>
                <a:cs typeface="+mn-cs"/>
              </a:defRPr>
            </a:lvl1pPr>
            <a:lvl2pPr marL="557213" indent="-214313" algn="l" defTabSz="685800" rtl="0" eaLnBrk="1" latinLnBrk="0" hangingPunct="1">
              <a:spcBef>
                <a:spcPct val="20000"/>
              </a:spcBef>
              <a:buFont typeface="Arial" pitchFamily="34" charset="0"/>
              <a:buChar char="–"/>
              <a:defRPr sz="2100" kern="1200">
                <a:solidFill>
                  <a:schemeClr val="tx1"/>
                </a:solidFill>
                <a:latin typeface="+mn-lt"/>
                <a:ea typeface="+mn-ea"/>
                <a:cs typeface="+mn-cs"/>
              </a:defRPr>
            </a:lvl2pPr>
            <a:lvl3pPr marL="857250" indent="-171450" algn="l" defTabSz="685800" rtl="0" eaLnBrk="1" latinLnBrk="0" hangingPunct="1">
              <a:spcBef>
                <a:spcPct val="20000"/>
              </a:spcBef>
              <a:buFont typeface="Arial" pitchFamily="34" charset="0"/>
              <a:buChar char="•"/>
              <a:defRPr sz="1800" kern="1200">
                <a:solidFill>
                  <a:schemeClr val="tx1"/>
                </a:solidFill>
                <a:latin typeface="+mn-lt"/>
                <a:ea typeface="+mn-ea"/>
                <a:cs typeface="+mn-cs"/>
              </a:defRPr>
            </a:lvl3pPr>
            <a:lvl4pPr marL="12001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4pPr>
            <a:lvl5pPr marL="15430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a:lnSpc>
                <a:spcPct val="150000"/>
              </a:lnSpc>
              <a:buFontTx/>
              <a:buNone/>
            </a:pPr>
            <a:r>
              <a:rPr lang="zh-CN" altLang="en-US" sz="2800" b="1" dirty="0">
                <a:solidFill>
                  <a:schemeClr val="hlink"/>
                </a:solidFill>
              </a:rPr>
              <a:t>定义</a:t>
            </a:r>
            <a:r>
              <a:rPr lang="en-US" altLang="zh-CN" sz="2800" b="1" dirty="0">
                <a:solidFill>
                  <a:schemeClr val="hlink"/>
                </a:solidFill>
              </a:rPr>
              <a:t>1.13</a:t>
            </a:r>
            <a:r>
              <a:rPr lang="en-US" altLang="zh-CN" sz="2800" dirty="0"/>
              <a:t> </a:t>
            </a:r>
            <a:r>
              <a:rPr lang="zh-CN" altLang="en-US" sz="2800" dirty="0"/>
              <a:t>集合</a:t>
            </a:r>
            <a:r>
              <a:rPr lang="en-US" altLang="zh-CN" sz="2800" dirty="0"/>
              <a:t>A</a:t>
            </a:r>
            <a:r>
              <a:rPr lang="zh-CN" altLang="en-US" sz="2800" dirty="0"/>
              <a:t>和</a:t>
            </a:r>
            <a:r>
              <a:rPr lang="en-US" altLang="zh-CN" sz="2800" dirty="0"/>
              <a:t>B</a:t>
            </a:r>
            <a:r>
              <a:rPr lang="zh-CN" altLang="en-US" sz="2800" dirty="0"/>
              <a:t>的</a:t>
            </a:r>
            <a:r>
              <a:rPr lang="zh-CN" altLang="en-US" sz="2800" b="1" dirty="0">
                <a:solidFill>
                  <a:srgbClr val="3308E8"/>
                </a:solidFill>
              </a:rPr>
              <a:t>对称差</a:t>
            </a:r>
            <a:r>
              <a:rPr lang="zh-CN" altLang="en-US" sz="2800" dirty="0"/>
              <a:t>定义如下式所示：</a:t>
            </a:r>
          </a:p>
          <a:p>
            <a:pPr>
              <a:lnSpc>
                <a:spcPct val="150000"/>
              </a:lnSpc>
              <a:buFontTx/>
              <a:buNone/>
            </a:pPr>
            <a:r>
              <a:rPr lang="zh-CN" altLang="en-US" sz="2800" dirty="0"/>
              <a:t>                                          </a:t>
            </a:r>
            <a:r>
              <a:rPr lang="en-US" altLang="zh-CN" sz="2800" dirty="0"/>
              <a:t>A</a:t>
            </a:r>
            <a:r>
              <a:rPr lang="en-US" altLang="zh-CN" sz="2800" dirty="0">
                <a:sym typeface="Symbol" pitchFamily="18" charset="2"/>
              </a:rPr>
              <a:t></a:t>
            </a:r>
            <a:r>
              <a:rPr lang="en-US" altLang="zh-CN" sz="2800" dirty="0"/>
              <a:t>B =</a:t>
            </a:r>
            <a:r>
              <a:rPr lang="zh-CN" altLang="en-US" sz="2800" dirty="0"/>
              <a:t>（</a:t>
            </a:r>
            <a:r>
              <a:rPr lang="en-US" altLang="zh-CN" sz="2800" dirty="0"/>
              <a:t>A-B)∪(B-A)</a:t>
            </a:r>
          </a:p>
          <a:p>
            <a:pPr>
              <a:lnSpc>
                <a:spcPct val="150000"/>
              </a:lnSpc>
              <a:buFontTx/>
              <a:buNone/>
            </a:pPr>
            <a:r>
              <a:rPr lang="zh-CN" altLang="en-US" sz="2800" dirty="0"/>
              <a:t>或用符号表示为：</a:t>
            </a:r>
          </a:p>
          <a:p>
            <a:pPr algn="ctr">
              <a:lnSpc>
                <a:spcPct val="150000"/>
              </a:lnSpc>
              <a:buFontTx/>
              <a:buNone/>
            </a:pPr>
            <a:r>
              <a:rPr lang="zh-CN" altLang="en-US" sz="2800" dirty="0"/>
              <a:t>        </a:t>
            </a:r>
            <a:r>
              <a:rPr lang="en-US" altLang="zh-CN" sz="2800" dirty="0"/>
              <a:t>A</a:t>
            </a:r>
            <a:r>
              <a:rPr lang="en-US" altLang="zh-CN" sz="2800" dirty="0">
                <a:sym typeface="Symbol" pitchFamily="18" charset="2"/>
              </a:rPr>
              <a:t></a:t>
            </a:r>
            <a:r>
              <a:rPr lang="en-US" altLang="zh-CN" sz="2800" dirty="0"/>
              <a:t>B={</a:t>
            </a:r>
            <a:r>
              <a:rPr lang="en-US" altLang="zh-CN" sz="2800" dirty="0" err="1"/>
              <a:t>x|x</a:t>
            </a:r>
            <a:r>
              <a:rPr lang="en-US" altLang="zh-CN" sz="2800" dirty="0" err="1">
                <a:sym typeface="Symbol" pitchFamily="18" charset="2"/>
              </a:rPr>
              <a:t></a:t>
            </a:r>
            <a:r>
              <a:rPr lang="en-US" altLang="zh-CN" sz="2800" dirty="0" err="1"/>
              <a:t>A</a:t>
            </a:r>
            <a:r>
              <a:rPr lang="zh-CN" altLang="en-US" sz="2800" dirty="0"/>
              <a:t>且</a:t>
            </a:r>
            <a:r>
              <a:rPr lang="en-US" altLang="zh-CN" sz="2800" dirty="0" err="1"/>
              <a:t>x</a:t>
            </a:r>
            <a:r>
              <a:rPr lang="en-US" altLang="zh-CN" sz="2800" dirty="0" err="1">
                <a:sym typeface="Symbol" pitchFamily="18" charset="2"/>
              </a:rPr>
              <a:t></a:t>
            </a:r>
            <a:r>
              <a:rPr lang="en-US" altLang="zh-CN" sz="2800" dirty="0" err="1"/>
              <a:t>B</a:t>
            </a:r>
            <a:r>
              <a:rPr lang="en-US" altLang="zh-CN" sz="2800" dirty="0"/>
              <a:t>,</a:t>
            </a:r>
            <a:r>
              <a:rPr lang="zh-CN" altLang="en-US" sz="2800" dirty="0"/>
              <a:t>或</a:t>
            </a:r>
            <a:r>
              <a:rPr lang="en-US" altLang="zh-CN" sz="2800" dirty="0" err="1"/>
              <a:t>x</a:t>
            </a:r>
            <a:r>
              <a:rPr lang="en-US" altLang="zh-CN" sz="2800" dirty="0" err="1">
                <a:sym typeface="Symbol" pitchFamily="18" charset="2"/>
              </a:rPr>
              <a:t></a:t>
            </a:r>
            <a:r>
              <a:rPr lang="en-US" altLang="zh-CN" sz="2800" dirty="0" err="1"/>
              <a:t>B</a:t>
            </a:r>
            <a:r>
              <a:rPr lang="zh-CN" altLang="en-US" sz="2800" dirty="0"/>
              <a:t>且</a:t>
            </a:r>
            <a:r>
              <a:rPr lang="en-US" altLang="zh-CN" sz="2800" dirty="0" err="1"/>
              <a:t>x</a:t>
            </a:r>
            <a:r>
              <a:rPr lang="en-US" altLang="zh-CN" sz="2800" dirty="0" err="1">
                <a:sym typeface="Symbol" pitchFamily="18" charset="2"/>
              </a:rPr>
              <a:t></a:t>
            </a:r>
            <a:r>
              <a:rPr lang="en-US" altLang="zh-CN" sz="2800" dirty="0" err="1"/>
              <a:t>A</a:t>
            </a:r>
            <a:r>
              <a:rPr lang="en-US" altLang="zh-CN" sz="2800" dirty="0"/>
              <a:t>}</a:t>
            </a:r>
          </a:p>
          <a:p>
            <a:pPr>
              <a:lnSpc>
                <a:spcPct val="150000"/>
              </a:lnSpc>
              <a:buFontTx/>
              <a:buNone/>
            </a:pPr>
            <a:r>
              <a:rPr lang="zh-CN" altLang="en-US" sz="2800" dirty="0">
                <a:solidFill>
                  <a:srgbClr val="3308E8"/>
                </a:solidFill>
              </a:rPr>
              <a:t>例</a:t>
            </a:r>
            <a:r>
              <a:rPr lang="en-US" altLang="zh-CN" sz="2800" dirty="0">
                <a:solidFill>
                  <a:srgbClr val="3308E8"/>
                </a:solidFill>
              </a:rPr>
              <a:t>1.28  </a:t>
            </a:r>
            <a:r>
              <a:rPr lang="zh-CN" altLang="en-US" sz="2800" dirty="0"/>
              <a:t>设集合</a:t>
            </a:r>
            <a:r>
              <a:rPr lang="en-US" altLang="zh-CN" sz="2800" dirty="0"/>
              <a:t>A={1,2,3},</a:t>
            </a:r>
            <a:r>
              <a:rPr lang="zh-CN" altLang="en-US" sz="2800" dirty="0"/>
              <a:t>集合</a:t>
            </a:r>
            <a:r>
              <a:rPr lang="en-US" altLang="zh-CN" sz="2800" dirty="0"/>
              <a:t>B={a,b,1,2}</a:t>
            </a:r>
            <a:r>
              <a:rPr lang="zh-CN" altLang="en-US" sz="2800" dirty="0"/>
              <a:t>，则</a:t>
            </a:r>
            <a:endParaRPr lang="en-US" altLang="zh-CN" sz="2800" dirty="0"/>
          </a:p>
          <a:p>
            <a:pPr algn="ctr">
              <a:lnSpc>
                <a:spcPct val="150000"/>
              </a:lnSpc>
              <a:buFontTx/>
              <a:buNone/>
            </a:pPr>
            <a:r>
              <a:rPr lang="en-US" altLang="zh-CN" sz="2800" dirty="0"/>
              <a:t>A</a:t>
            </a:r>
            <a:r>
              <a:rPr lang="en-US" altLang="zh-CN" sz="2800" dirty="0">
                <a:sym typeface="Symbol" pitchFamily="18" charset="2"/>
              </a:rPr>
              <a:t></a:t>
            </a:r>
            <a:r>
              <a:rPr lang="en-US" altLang="zh-CN" sz="2800" dirty="0"/>
              <a:t>B=(A-B)∪(B-A)={3}∪{a</a:t>
            </a:r>
            <a:r>
              <a:rPr lang="zh-CN" altLang="en-US" sz="2800" dirty="0"/>
              <a:t>，</a:t>
            </a:r>
            <a:r>
              <a:rPr lang="en-US" altLang="zh-CN" sz="2800" dirty="0"/>
              <a:t>b}={a</a:t>
            </a:r>
            <a:r>
              <a:rPr lang="zh-CN" altLang="en-US" sz="2800" dirty="0"/>
              <a:t>，</a:t>
            </a:r>
            <a:r>
              <a:rPr lang="en-US" altLang="zh-CN" sz="2800" dirty="0"/>
              <a:t>b</a:t>
            </a:r>
            <a:r>
              <a:rPr lang="zh-CN" altLang="en-US" sz="2800" dirty="0"/>
              <a:t>，</a:t>
            </a:r>
            <a:r>
              <a:rPr lang="en-US" altLang="zh-CN" sz="2800" dirty="0"/>
              <a:t>3}</a:t>
            </a:r>
          </a:p>
        </p:txBody>
      </p:sp>
    </p:spTree>
    <p:extLst>
      <p:ext uri="{BB962C8B-B14F-4D97-AF65-F5344CB8AC3E}">
        <p14:creationId xmlns:p14="http://schemas.microsoft.com/office/powerpoint/2010/main" val="379914328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
            <a:extLst>
              <a:ext uri="{FF2B5EF4-FFF2-40B4-BE49-F238E27FC236}">
                <a16:creationId xmlns:a16="http://schemas.microsoft.com/office/drawing/2014/main" id="{68727A85-A0F3-46B1-A907-1D386B7F89F5}"/>
              </a:ext>
            </a:extLst>
          </p:cNvPr>
          <p:cNvSpPr txBox="1">
            <a:spLocks noChangeArrowheads="1"/>
          </p:cNvSpPr>
          <p:nvPr/>
        </p:nvSpPr>
        <p:spPr>
          <a:xfrm>
            <a:off x="1271464" y="1087540"/>
            <a:ext cx="8928992" cy="5581820"/>
          </a:xfrm>
          <a:prstGeom prst="rect">
            <a:avLst/>
          </a:prstGeom>
        </p:spPr>
        <p:txBody>
          <a:bodyPr/>
          <a:lstStyle>
            <a:lvl1pPr marL="257175" indent="-257175" algn="l" defTabSz="685800" rtl="0" eaLnBrk="1" latinLnBrk="0" hangingPunct="1">
              <a:spcBef>
                <a:spcPct val="20000"/>
              </a:spcBef>
              <a:buFont typeface="Arial" pitchFamily="34" charset="0"/>
              <a:buChar char="•"/>
              <a:defRPr sz="2400" kern="1200">
                <a:solidFill>
                  <a:schemeClr val="tx1"/>
                </a:solidFill>
                <a:latin typeface="+mn-lt"/>
                <a:ea typeface="+mn-ea"/>
                <a:cs typeface="+mn-cs"/>
              </a:defRPr>
            </a:lvl1pPr>
            <a:lvl2pPr marL="557213" indent="-214313" algn="l" defTabSz="685800" rtl="0" eaLnBrk="1" latinLnBrk="0" hangingPunct="1">
              <a:spcBef>
                <a:spcPct val="20000"/>
              </a:spcBef>
              <a:buFont typeface="Arial" pitchFamily="34" charset="0"/>
              <a:buChar char="–"/>
              <a:defRPr sz="2100" kern="1200">
                <a:solidFill>
                  <a:schemeClr val="tx1"/>
                </a:solidFill>
                <a:latin typeface="+mn-lt"/>
                <a:ea typeface="+mn-ea"/>
                <a:cs typeface="+mn-cs"/>
              </a:defRPr>
            </a:lvl2pPr>
            <a:lvl3pPr marL="857250" indent="-171450" algn="l" defTabSz="685800" rtl="0" eaLnBrk="1" latinLnBrk="0" hangingPunct="1">
              <a:spcBef>
                <a:spcPct val="20000"/>
              </a:spcBef>
              <a:buFont typeface="Arial" pitchFamily="34" charset="0"/>
              <a:buChar char="•"/>
              <a:defRPr sz="1800" kern="1200">
                <a:solidFill>
                  <a:schemeClr val="tx1"/>
                </a:solidFill>
                <a:latin typeface="+mn-lt"/>
                <a:ea typeface="+mn-ea"/>
                <a:cs typeface="+mn-cs"/>
              </a:defRPr>
            </a:lvl3pPr>
            <a:lvl4pPr marL="12001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4pPr>
            <a:lvl5pPr marL="15430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a:lnSpc>
                <a:spcPct val="150000"/>
              </a:lnSpc>
              <a:buFontTx/>
              <a:buNone/>
            </a:pPr>
            <a:r>
              <a:rPr lang="zh-CN" altLang="zh-CN" dirty="0"/>
              <a:t>（</a:t>
            </a:r>
            <a:r>
              <a:rPr lang="en-US" altLang="zh-CN" dirty="0"/>
              <a:t>1</a:t>
            </a:r>
            <a:r>
              <a:rPr lang="zh-CN" altLang="en-US" dirty="0"/>
              <a:t>）双重否定律  </a:t>
            </a:r>
            <a:r>
              <a:rPr lang="en-US" altLang="zh-CN" dirty="0"/>
              <a:t>(A</a:t>
            </a:r>
            <a:r>
              <a:rPr lang="en-US" altLang="zh-CN" dirty="0">
                <a:sym typeface="Symbol" pitchFamily="18" charset="2"/>
              </a:rPr>
              <a:t></a:t>
            </a:r>
            <a:r>
              <a:rPr lang="en-US" altLang="zh-CN" dirty="0"/>
              <a:t>)</a:t>
            </a:r>
            <a:r>
              <a:rPr lang="en-US" altLang="zh-CN" dirty="0">
                <a:sym typeface="Symbol" pitchFamily="18" charset="2"/>
              </a:rPr>
              <a:t></a:t>
            </a:r>
            <a:r>
              <a:rPr lang="en-US" altLang="zh-CN" dirty="0"/>
              <a:t>=A</a:t>
            </a:r>
          </a:p>
          <a:p>
            <a:pPr>
              <a:lnSpc>
                <a:spcPct val="150000"/>
              </a:lnSpc>
              <a:buFontTx/>
              <a:buNone/>
            </a:pPr>
            <a:r>
              <a:rPr lang="zh-CN" altLang="en-US" dirty="0"/>
              <a:t>（</a:t>
            </a:r>
            <a:r>
              <a:rPr lang="en-US" altLang="zh-CN" dirty="0"/>
              <a:t>2</a:t>
            </a:r>
            <a:r>
              <a:rPr lang="zh-CN" altLang="en-US" dirty="0"/>
              <a:t>）交换律     </a:t>
            </a:r>
            <a:r>
              <a:rPr lang="en-US" altLang="zh-CN" dirty="0"/>
              <a:t>A∪B=B∪A   A∩B=B∩A   A</a:t>
            </a:r>
            <a:r>
              <a:rPr lang="en-US" altLang="zh-CN" dirty="0">
                <a:sym typeface="Symbol" pitchFamily="18" charset="2"/>
              </a:rPr>
              <a:t></a:t>
            </a:r>
            <a:r>
              <a:rPr lang="en-US" altLang="zh-CN" dirty="0"/>
              <a:t>B=B</a:t>
            </a:r>
            <a:r>
              <a:rPr lang="en-US" altLang="zh-CN" dirty="0">
                <a:sym typeface="Symbol" pitchFamily="18" charset="2"/>
              </a:rPr>
              <a:t></a:t>
            </a:r>
            <a:r>
              <a:rPr lang="en-US" altLang="zh-CN" dirty="0"/>
              <a:t>A</a:t>
            </a:r>
          </a:p>
          <a:p>
            <a:pPr>
              <a:lnSpc>
                <a:spcPct val="150000"/>
              </a:lnSpc>
              <a:buFontTx/>
              <a:buNone/>
            </a:pPr>
            <a:r>
              <a:rPr lang="zh-CN" altLang="en-US" dirty="0"/>
              <a:t>（</a:t>
            </a:r>
            <a:r>
              <a:rPr lang="en-US" altLang="zh-CN" dirty="0"/>
              <a:t>3</a:t>
            </a:r>
            <a:r>
              <a:rPr lang="zh-CN" altLang="en-US" dirty="0"/>
              <a:t>）结合律     </a:t>
            </a:r>
            <a:r>
              <a:rPr lang="en-US" altLang="zh-CN" dirty="0"/>
              <a:t>A∪(B∪C)=(A∪B)∪C</a:t>
            </a:r>
          </a:p>
          <a:p>
            <a:pPr>
              <a:lnSpc>
                <a:spcPct val="150000"/>
              </a:lnSpc>
              <a:buFontTx/>
              <a:buNone/>
            </a:pPr>
            <a:r>
              <a:rPr lang="en-US" altLang="zh-CN" dirty="0"/>
              <a:t>                A∩(B∩C)=(A∩B)∩C   </a:t>
            </a:r>
          </a:p>
          <a:p>
            <a:pPr>
              <a:lnSpc>
                <a:spcPct val="150000"/>
              </a:lnSpc>
              <a:buFontTx/>
              <a:buNone/>
            </a:pPr>
            <a:r>
              <a:rPr lang="en-US" altLang="zh-CN" dirty="0"/>
              <a:t>                A</a:t>
            </a:r>
            <a:r>
              <a:rPr lang="en-US" altLang="zh-CN" dirty="0">
                <a:sym typeface="Symbol" pitchFamily="18" charset="2"/>
              </a:rPr>
              <a:t></a:t>
            </a:r>
            <a:r>
              <a:rPr lang="en-US" altLang="zh-CN" dirty="0"/>
              <a:t>(B</a:t>
            </a:r>
            <a:r>
              <a:rPr lang="en-US" altLang="zh-CN" dirty="0">
                <a:sym typeface="Symbol" pitchFamily="18" charset="2"/>
              </a:rPr>
              <a:t></a:t>
            </a:r>
            <a:r>
              <a:rPr lang="en-US" altLang="zh-CN" dirty="0"/>
              <a:t>C)=(A</a:t>
            </a:r>
            <a:r>
              <a:rPr lang="en-US" altLang="zh-CN" dirty="0">
                <a:sym typeface="Symbol" pitchFamily="18" charset="2"/>
              </a:rPr>
              <a:t></a:t>
            </a:r>
            <a:r>
              <a:rPr lang="en-US" altLang="zh-CN" dirty="0"/>
              <a:t>B)</a:t>
            </a:r>
            <a:r>
              <a:rPr lang="en-US" altLang="zh-CN" dirty="0">
                <a:sym typeface="Symbol" pitchFamily="18" charset="2"/>
              </a:rPr>
              <a:t></a:t>
            </a:r>
            <a:r>
              <a:rPr lang="en-US" altLang="zh-CN" dirty="0"/>
              <a:t>C</a:t>
            </a:r>
          </a:p>
          <a:p>
            <a:pPr>
              <a:lnSpc>
                <a:spcPct val="130000"/>
              </a:lnSpc>
              <a:buFontTx/>
              <a:buNone/>
            </a:pPr>
            <a:r>
              <a:rPr lang="zh-CN" altLang="en-US" dirty="0"/>
              <a:t>（</a:t>
            </a:r>
            <a:r>
              <a:rPr lang="en-US" altLang="zh-CN" dirty="0"/>
              <a:t>4</a:t>
            </a:r>
            <a:r>
              <a:rPr lang="zh-CN" altLang="en-US" dirty="0"/>
              <a:t>）分配律     </a:t>
            </a:r>
            <a:r>
              <a:rPr lang="en-US" altLang="zh-CN" dirty="0"/>
              <a:t>A∪(B∩C)=(A∪B)∩(A∪C) </a:t>
            </a:r>
          </a:p>
          <a:p>
            <a:pPr>
              <a:lnSpc>
                <a:spcPct val="150000"/>
              </a:lnSpc>
              <a:buFontTx/>
              <a:buNone/>
            </a:pPr>
            <a:r>
              <a:rPr lang="en-US" altLang="zh-CN" dirty="0"/>
              <a:t>                A∩(B∪C)=(A∩B)∪(A∩C)</a:t>
            </a:r>
          </a:p>
          <a:p>
            <a:pPr>
              <a:lnSpc>
                <a:spcPct val="150000"/>
              </a:lnSpc>
              <a:buFontTx/>
              <a:buNone/>
            </a:pPr>
            <a:r>
              <a:rPr lang="en-US" altLang="zh-CN" dirty="0"/>
              <a:t>                A∩(B</a:t>
            </a:r>
            <a:r>
              <a:rPr lang="zh-CN" altLang="en-US" dirty="0"/>
              <a:t>－</a:t>
            </a:r>
            <a:r>
              <a:rPr lang="en-US" altLang="zh-CN" dirty="0"/>
              <a:t>C) </a:t>
            </a:r>
            <a:r>
              <a:rPr lang="en-US" altLang="zh-CN" b="1" dirty="0">
                <a:sym typeface="Symbol" pitchFamily="18" charset="2"/>
              </a:rPr>
              <a:t></a:t>
            </a:r>
            <a:r>
              <a:rPr lang="en-US" altLang="zh-CN" dirty="0"/>
              <a:t>(A-B)∪(A-C)</a:t>
            </a:r>
          </a:p>
          <a:p>
            <a:pPr>
              <a:lnSpc>
                <a:spcPct val="150000"/>
              </a:lnSpc>
              <a:buFontTx/>
              <a:buNone/>
            </a:pPr>
            <a:r>
              <a:rPr lang="en-US" altLang="zh-CN" dirty="0"/>
              <a:t>               (A∪B)</a:t>
            </a:r>
            <a:r>
              <a:rPr lang="zh-CN" altLang="en-US" dirty="0"/>
              <a:t>－</a:t>
            </a:r>
            <a:r>
              <a:rPr lang="en-US" altLang="zh-CN" dirty="0"/>
              <a:t>(A∪C) </a:t>
            </a:r>
            <a:r>
              <a:rPr lang="en-US" altLang="zh-CN" b="1" dirty="0">
                <a:sym typeface="Symbol" pitchFamily="18" charset="2"/>
              </a:rPr>
              <a:t></a:t>
            </a:r>
            <a:r>
              <a:rPr lang="en-US" altLang="zh-CN" dirty="0"/>
              <a:t>A∪(B</a:t>
            </a:r>
            <a:r>
              <a:rPr lang="zh-CN" altLang="en-US" dirty="0"/>
              <a:t>－</a:t>
            </a:r>
            <a:r>
              <a:rPr lang="en-US" altLang="zh-CN" dirty="0"/>
              <a:t>C) </a:t>
            </a:r>
          </a:p>
        </p:txBody>
      </p:sp>
      <p:sp>
        <p:nvSpPr>
          <p:cNvPr id="3" name="Rectangle 2">
            <a:extLst>
              <a:ext uri="{FF2B5EF4-FFF2-40B4-BE49-F238E27FC236}">
                <a16:creationId xmlns:a16="http://schemas.microsoft.com/office/drawing/2014/main" id="{AE0B144F-A2F1-44E0-9CC3-2FF789D9AE9F}"/>
              </a:ext>
            </a:extLst>
          </p:cNvPr>
          <p:cNvSpPr txBox="1">
            <a:spLocks noChangeArrowheads="1"/>
          </p:cNvSpPr>
          <p:nvPr/>
        </p:nvSpPr>
        <p:spPr>
          <a:xfrm>
            <a:off x="2423592" y="188640"/>
            <a:ext cx="4896544" cy="720080"/>
          </a:xfrm>
          <a:prstGeom prst="rect">
            <a:avLst/>
          </a:prstGeom>
        </p:spPr>
        <p:txBody>
          <a:bodyPr/>
          <a:lstStyle>
            <a:lvl1pPr algn="ctr" defTabSz="685800" rtl="0" eaLnBrk="1" latinLnBrk="0" hangingPunct="1">
              <a:spcBef>
                <a:spcPct val="0"/>
              </a:spcBef>
              <a:buNone/>
              <a:defRPr sz="3300" kern="1200">
                <a:solidFill>
                  <a:schemeClr val="tx1"/>
                </a:solidFill>
                <a:latin typeface="+mj-lt"/>
                <a:ea typeface="+mj-ea"/>
                <a:cs typeface="+mj-cs"/>
              </a:defRPr>
            </a:lvl1pPr>
          </a:lstStyle>
          <a:p>
            <a:r>
              <a:rPr lang="zh-CN" altLang="en-US" dirty="0"/>
              <a:t>集合运算定律</a:t>
            </a:r>
          </a:p>
        </p:txBody>
      </p:sp>
    </p:spTree>
    <p:extLst>
      <p:ext uri="{BB962C8B-B14F-4D97-AF65-F5344CB8AC3E}">
        <p14:creationId xmlns:p14="http://schemas.microsoft.com/office/powerpoint/2010/main" val="119646542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
            <a:extLst>
              <a:ext uri="{FF2B5EF4-FFF2-40B4-BE49-F238E27FC236}">
                <a16:creationId xmlns:a16="http://schemas.microsoft.com/office/drawing/2014/main" id="{556C2BEE-609F-4AAE-AE0F-762ACFA48622}"/>
              </a:ext>
            </a:extLst>
          </p:cNvPr>
          <p:cNvSpPr txBox="1">
            <a:spLocks noChangeArrowheads="1"/>
          </p:cNvSpPr>
          <p:nvPr/>
        </p:nvSpPr>
        <p:spPr>
          <a:xfrm>
            <a:off x="1199456" y="1628800"/>
            <a:ext cx="9505056" cy="4320480"/>
          </a:xfrm>
          <a:prstGeom prst="rect">
            <a:avLst/>
          </a:prstGeom>
        </p:spPr>
        <p:txBody>
          <a:bodyPr/>
          <a:lstStyle>
            <a:lvl1pPr marL="257175" indent="-257175" algn="l" defTabSz="685800" rtl="0" eaLnBrk="1" latinLnBrk="0" hangingPunct="1">
              <a:spcBef>
                <a:spcPct val="20000"/>
              </a:spcBef>
              <a:buFont typeface="Arial" pitchFamily="34" charset="0"/>
              <a:buChar char="•"/>
              <a:defRPr sz="2400" kern="1200">
                <a:solidFill>
                  <a:schemeClr val="tx1"/>
                </a:solidFill>
                <a:latin typeface="+mn-lt"/>
                <a:ea typeface="+mn-ea"/>
                <a:cs typeface="+mn-cs"/>
              </a:defRPr>
            </a:lvl1pPr>
            <a:lvl2pPr marL="557213" indent="-214313" algn="l" defTabSz="685800" rtl="0" eaLnBrk="1" latinLnBrk="0" hangingPunct="1">
              <a:spcBef>
                <a:spcPct val="20000"/>
              </a:spcBef>
              <a:buFont typeface="Arial" pitchFamily="34" charset="0"/>
              <a:buChar char="–"/>
              <a:defRPr sz="2100" kern="1200">
                <a:solidFill>
                  <a:schemeClr val="tx1"/>
                </a:solidFill>
                <a:latin typeface="+mn-lt"/>
                <a:ea typeface="+mn-ea"/>
                <a:cs typeface="+mn-cs"/>
              </a:defRPr>
            </a:lvl2pPr>
            <a:lvl3pPr marL="857250" indent="-171450" algn="l" defTabSz="685800" rtl="0" eaLnBrk="1" latinLnBrk="0" hangingPunct="1">
              <a:spcBef>
                <a:spcPct val="20000"/>
              </a:spcBef>
              <a:buFont typeface="Arial" pitchFamily="34" charset="0"/>
              <a:buChar char="•"/>
              <a:defRPr sz="1800" kern="1200">
                <a:solidFill>
                  <a:schemeClr val="tx1"/>
                </a:solidFill>
                <a:latin typeface="+mn-lt"/>
                <a:ea typeface="+mn-ea"/>
                <a:cs typeface="+mn-cs"/>
              </a:defRPr>
            </a:lvl3pPr>
            <a:lvl4pPr marL="12001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4pPr>
            <a:lvl5pPr marL="15430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a:lnSpc>
                <a:spcPct val="130000"/>
              </a:lnSpc>
              <a:buFontTx/>
              <a:buNone/>
            </a:pPr>
            <a:r>
              <a:rPr lang="zh-CN" altLang="zh-CN" sz="2800" dirty="0">
                <a:sym typeface="Symbol" pitchFamily="18" charset="2"/>
              </a:rPr>
              <a:t>（</a:t>
            </a:r>
            <a:r>
              <a:rPr lang="en-US" altLang="zh-CN" sz="2800" dirty="0">
                <a:sym typeface="Symbol" pitchFamily="18" charset="2"/>
              </a:rPr>
              <a:t>5</a:t>
            </a:r>
            <a:r>
              <a:rPr lang="zh-CN" altLang="en-US" sz="2800" dirty="0">
                <a:sym typeface="Symbol" pitchFamily="18" charset="2"/>
              </a:rPr>
              <a:t>）同一律    </a:t>
            </a:r>
            <a:r>
              <a:rPr lang="en-US" altLang="zh-CN" sz="2800" dirty="0">
                <a:sym typeface="Symbol" pitchFamily="18" charset="2"/>
              </a:rPr>
              <a:t>A∪=A    A∩U=A      A</a:t>
            </a:r>
            <a:r>
              <a:rPr lang="zh-CN" altLang="en-US" sz="2800" dirty="0">
                <a:sym typeface="Symbol" pitchFamily="18" charset="2"/>
              </a:rPr>
              <a:t>－</a:t>
            </a:r>
            <a:r>
              <a:rPr lang="en-US" altLang="zh-CN" sz="2800" dirty="0">
                <a:sym typeface="Symbol" pitchFamily="18" charset="2"/>
              </a:rPr>
              <a:t>=A        A=A</a:t>
            </a:r>
          </a:p>
          <a:p>
            <a:pPr>
              <a:lnSpc>
                <a:spcPct val="130000"/>
              </a:lnSpc>
              <a:buFontTx/>
              <a:buNone/>
            </a:pPr>
            <a:r>
              <a:rPr lang="zh-CN" altLang="en-US" sz="2800" dirty="0">
                <a:sym typeface="Symbol" pitchFamily="18" charset="2"/>
              </a:rPr>
              <a:t>（</a:t>
            </a:r>
            <a:r>
              <a:rPr lang="en-US" altLang="zh-CN" sz="2800" dirty="0">
                <a:sym typeface="Symbol" pitchFamily="18" charset="2"/>
              </a:rPr>
              <a:t>6</a:t>
            </a:r>
            <a:r>
              <a:rPr lang="zh-CN" altLang="en-US" sz="2800" dirty="0">
                <a:sym typeface="Symbol" pitchFamily="18" charset="2"/>
              </a:rPr>
              <a:t>）互补律    </a:t>
            </a:r>
            <a:r>
              <a:rPr lang="en-US" altLang="zh-CN" sz="2800" dirty="0">
                <a:sym typeface="Symbol" pitchFamily="18" charset="2"/>
              </a:rPr>
              <a:t>A∪A=U    </a:t>
            </a:r>
          </a:p>
          <a:p>
            <a:pPr>
              <a:lnSpc>
                <a:spcPct val="130000"/>
              </a:lnSpc>
              <a:buFontTx/>
              <a:buNone/>
            </a:pPr>
            <a:r>
              <a:rPr lang="zh-CN" altLang="en-US" sz="2800" dirty="0">
                <a:sym typeface="Symbol" pitchFamily="18" charset="2"/>
              </a:rPr>
              <a:t>（</a:t>
            </a:r>
            <a:r>
              <a:rPr lang="en-US" altLang="zh-CN" sz="2800" dirty="0">
                <a:sym typeface="Symbol" pitchFamily="18" charset="2"/>
              </a:rPr>
              <a:t>7</a:t>
            </a:r>
            <a:r>
              <a:rPr lang="zh-CN" altLang="en-US" sz="2800" dirty="0">
                <a:sym typeface="Symbol" pitchFamily="18" charset="2"/>
              </a:rPr>
              <a:t>）矛盾律    </a:t>
            </a:r>
            <a:r>
              <a:rPr lang="en-US" altLang="zh-CN" sz="2800" dirty="0">
                <a:sym typeface="Symbol" pitchFamily="18" charset="2"/>
              </a:rPr>
              <a:t>A∩A=               </a:t>
            </a:r>
          </a:p>
          <a:p>
            <a:pPr>
              <a:lnSpc>
                <a:spcPct val="130000"/>
              </a:lnSpc>
              <a:buFontTx/>
              <a:buNone/>
            </a:pPr>
            <a:r>
              <a:rPr lang="zh-CN" altLang="en-US" sz="2800" dirty="0">
                <a:sym typeface="Symbol" pitchFamily="18" charset="2"/>
              </a:rPr>
              <a:t>（</a:t>
            </a:r>
            <a:r>
              <a:rPr lang="en-US" altLang="zh-CN" sz="2800" dirty="0">
                <a:sym typeface="Symbol" pitchFamily="18" charset="2"/>
              </a:rPr>
              <a:t>8</a:t>
            </a:r>
            <a:r>
              <a:rPr lang="zh-CN" altLang="en-US" sz="2800" dirty="0">
                <a:sym typeface="Symbol" pitchFamily="18" charset="2"/>
              </a:rPr>
              <a:t>）幂等律    </a:t>
            </a:r>
            <a:r>
              <a:rPr lang="en-US" altLang="zh-CN" sz="2800" dirty="0">
                <a:sym typeface="Symbol" pitchFamily="18" charset="2"/>
              </a:rPr>
              <a:t>A∪A=A    A∩A=A</a:t>
            </a:r>
          </a:p>
          <a:p>
            <a:pPr>
              <a:lnSpc>
                <a:spcPct val="130000"/>
              </a:lnSpc>
              <a:buFontTx/>
              <a:buNone/>
            </a:pPr>
            <a:r>
              <a:rPr lang="zh-CN" altLang="en-US" sz="2800" dirty="0">
                <a:sym typeface="Symbol" pitchFamily="18" charset="2"/>
              </a:rPr>
              <a:t>（</a:t>
            </a:r>
            <a:r>
              <a:rPr lang="en-US" altLang="zh-CN" sz="2800" dirty="0">
                <a:sym typeface="Symbol" pitchFamily="18" charset="2"/>
              </a:rPr>
              <a:t>9</a:t>
            </a:r>
            <a:r>
              <a:rPr lang="zh-CN" altLang="en-US" sz="2800" dirty="0">
                <a:sym typeface="Symbol" pitchFamily="18" charset="2"/>
              </a:rPr>
              <a:t>）零一律    </a:t>
            </a:r>
            <a:r>
              <a:rPr lang="en-US" altLang="zh-CN" sz="2800" dirty="0">
                <a:sym typeface="Symbol" pitchFamily="18" charset="2"/>
              </a:rPr>
              <a:t>A∪U=U    A∩=      A</a:t>
            </a:r>
            <a:r>
              <a:rPr lang="zh-CN" altLang="en-US" sz="2800" dirty="0">
                <a:sym typeface="Symbol" pitchFamily="18" charset="2"/>
              </a:rPr>
              <a:t>－</a:t>
            </a:r>
            <a:r>
              <a:rPr lang="en-US" altLang="zh-CN" sz="2800" dirty="0">
                <a:sym typeface="Symbol" pitchFamily="18" charset="2"/>
              </a:rPr>
              <a:t>A=      AA=</a:t>
            </a:r>
          </a:p>
          <a:p>
            <a:pPr>
              <a:lnSpc>
                <a:spcPct val="130000"/>
              </a:lnSpc>
              <a:buFontTx/>
              <a:buNone/>
            </a:pPr>
            <a:r>
              <a:rPr lang="zh-CN" altLang="en-US" sz="2800" dirty="0">
                <a:sym typeface="Symbol" pitchFamily="18" charset="2"/>
              </a:rPr>
              <a:t>（</a:t>
            </a:r>
            <a:r>
              <a:rPr lang="en-US" altLang="zh-CN" sz="2800" dirty="0">
                <a:sym typeface="Symbol" pitchFamily="18" charset="2"/>
              </a:rPr>
              <a:t>10</a:t>
            </a:r>
            <a:r>
              <a:rPr lang="zh-CN" altLang="en-US" sz="2800" dirty="0">
                <a:sym typeface="Symbol" pitchFamily="18" charset="2"/>
              </a:rPr>
              <a:t>）吸收律   </a:t>
            </a:r>
            <a:r>
              <a:rPr lang="en-US" altLang="zh-CN" sz="2800" dirty="0">
                <a:sym typeface="Symbol" pitchFamily="18" charset="2"/>
              </a:rPr>
              <a:t>A∪(A∩B)=A          A∩(A∪B)=A</a:t>
            </a:r>
          </a:p>
        </p:txBody>
      </p:sp>
    </p:spTree>
    <p:extLst>
      <p:ext uri="{BB962C8B-B14F-4D97-AF65-F5344CB8AC3E}">
        <p14:creationId xmlns:p14="http://schemas.microsoft.com/office/powerpoint/2010/main" val="423427986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
            <a:extLst>
              <a:ext uri="{FF2B5EF4-FFF2-40B4-BE49-F238E27FC236}">
                <a16:creationId xmlns:a16="http://schemas.microsoft.com/office/drawing/2014/main" id="{95A0C430-1B5B-4C14-A369-644ABC436455}"/>
              </a:ext>
            </a:extLst>
          </p:cNvPr>
          <p:cNvSpPr txBox="1">
            <a:spLocks noChangeArrowheads="1"/>
          </p:cNvSpPr>
          <p:nvPr/>
        </p:nvSpPr>
        <p:spPr>
          <a:xfrm>
            <a:off x="1116012" y="1484313"/>
            <a:ext cx="8652395" cy="4872040"/>
          </a:xfrm>
          <a:prstGeom prst="rect">
            <a:avLst/>
          </a:prstGeom>
        </p:spPr>
        <p:txBody>
          <a:bodyPr/>
          <a:lstStyle>
            <a:lvl1pPr marL="257175" indent="-257175" algn="l" defTabSz="685800" rtl="0" eaLnBrk="1" latinLnBrk="0" hangingPunct="1">
              <a:spcBef>
                <a:spcPct val="20000"/>
              </a:spcBef>
              <a:buFont typeface="Arial" pitchFamily="34" charset="0"/>
              <a:buChar char="•"/>
              <a:defRPr sz="2400" kern="1200">
                <a:solidFill>
                  <a:schemeClr val="tx1"/>
                </a:solidFill>
                <a:latin typeface="+mn-lt"/>
                <a:ea typeface="+mn-ea"/>
                <a:cs typeface="+mn-cs"/>
              </a:defRPr>
            </a:lvl1pPr>
            <a:lvl2pPr marL="557213" indent="-214313" algn="l" defTabSz="685800" rtl="0" eaLnBrk="1" latinLnBrk="0" hangingPunct="1">
              <a:spcBef>
                <a:spcPct val="20000"/>
              </a:spcBef>
              <a:buFont typeface="Arial" pitchFamily="34" charset="0"/>
              <a:buChar char="–"/>
              <a:defRPr sz="2100" kern="1200">
                <a:solidFill>
                  <a:schemeClr val="tx1"/>
                </a:solidFill>
                <a:latin typeface="+mn-lt"/>
                <a:ea typeface="+mn-ea"/>
                <a:cs typeface="+mn-cs"/>
              </a:defRPr>
            </a:lvl2pPr>
            <a:lvl3pPr marL="857250" indent="-171450" algn="l" defTabSz="685800" rtl="0" eaLnBrk="1" latinLnBrk="0" hangingPunct="1">
              <a:spcBef>
                <a:spcPct val="20000"/>
              </a:spcBef>
              <a:buFont typeface="Arial" pitchFamily="34" charset="0"/>
              <a:buChar char="•"/>
              <a:defRPr sz="1800" kern="1200">
                <a:solidFill>
                  <a:schemeClr val="tx1"/>
                </a:solidFill>
                <a:latin typeface="+mn-lt"/>
                <a:ea typeface="+mn-ea"/>
                <a:cs typeface="+mn-cs"/>
              </a:defRPr>
            </a:lvl3pPr>
            <a:lvl4pPr marL="12001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4pPr>
            <a:lvl5pPr marL="15430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a:buFontTx/>
              <a:buNone/>
            </a:pPr>
            <a:r>
              <a:rPr lang="zh-CN" altLang="zh-CN" sz="2800" dirty="0">
                <a:sym typeface="Symbol" pitchFamily="18" charset="2"/>
              </a:rPr>
              <a:t>（</a:t>
            </a:r>
            <a:r>
              <a:rPr lang="en-US" altLang="zh-CN" sz="2800" dirty="0">
                <a:sym typeface="Symbol" pitchFamily="18" charset="2"/>
              </a:rPr>
              <a:t>11</a:t>
            </a:r>
            <a:r>
              <a:rPr lang="zh-CN" altLang="en-US" sz="2800" dirty="0">
                <a:sym typeface="Symbol" pitchFamily="18" charset="2"/>
              </a:rPr>
              <a:t>）德摩根律      </a:t>
            </a:r>
            <a:r>
              <a:rPr lang="en-US" altLang="zh-CN" sz="2800" dirty="0">
                <a:sym typeface="Symbol" pitchFamily="18" charset="2"/>
              </a:rPr>
              <a:t>=U         U=</a:t>
            </a:r>
          </a:p>
          <a:p>
            <a:pPr>
              <a:buFontTx/>
              <a:buNone/>
            </a:pPr>
            <a:r>
              <a:rPr lang="en-US" altLang="zh-CN" sz="2800" dirty="0">
                <a:sym typeface="Symbol" pitchFamily="18" charset="2"/>
              </a:rPr>
              <a:t>                                    (A∪B) = A∩B </a:t>
            </a:r>
          </a:p>
          <a:p>
            <a:pPr>
              <a:buFontTx/>
              <a:buNone/>
            </a:pPr>
            <a:r>
              <a:rPr lang="en-US" altLang="zh-CN" sz="2800" dirty="0">
                <a:sym typeface="Symbol" pitchFamily="18" charset="2"/>
              </a:rPr>
              <a:t>                                    (A∩B) =A ∪B </a:t>
            </a:r>
          </a:p>
          <a:p>
            <a:pPr>
              <a:buFontTx/>
              <a:buNone/>
            </a:pPr>
            <a:r>
              <a:rPr lang="en-US" altLang="zh-CN" sz="2800" dirty="0">
                <a:sym typeface="Symbol" pitchFamily="18" charset="2"/>
              </a:rPr>
              <a:t>                                     A</a:t>
            </a:r>
            <a:r>
              <a:rPr lang="zh-CN" altLang="en-US" sz="2800" dirty="0">
                <a:sym typeface="Symbol" pitchFamily="18" charset="2"/>
              </a:rPr>
              <a:t>－</a:t>
            </a:r>
            <a:r>
              <a:rPr lang="en-US" altLang="zh-CN" sz="2800" dirty="0">
                <a:sym typeface="Symbol" pitchFamily="18" charset="2"/>
              </a:rPr>
              <a:t>(B∪C)=(A</a:t>
            </a:r>
            <a:r>
              <a:rPr lang="zh-CN" altLang="en-US" sz="2800" dirty="0">
                <a:sym typeface="Symbol" pitchFamily="18" charset="2"/>
              </a:rPr>
              <a:t>－</a:t>
            </a:r>
            <a:r>
              <a:rPr lang="en-US" altLang="zh-CN" sz="2800" dirty="0">
                <a:sym typeface="Symbol" pitchFamily="18" charset="2"/>
              </a:rPr>
              <a:t>B) ∩(A</a:t>
            </a:r>
            <a:r>
              <a:rPr lang="zh-CN" altLang="en-US" sz="2800" dirty="0">
                <a:sym typeface="Symbol" pitchFamily="18" charset="2"/>
              </a:rPr>
              <a:t>－</a:t>
            </a:r>
            <a:r>
              <a:rPr lang="en-US" altLang="zh-CN" sz="2800" dirty="0">
                <a:sym typeface="Symbol" pitchFamily="18" charset="2"/>
              </a:rPr>
              <a:t>C)</a:t>
            </a:r>
          </a:p>
          <a:p>
            <a:pPr>
              <a:buFontTx/>
              <a:buNone/>
            </a:pPr>
            <a:r>
              <a:rPr lang="en-US" altLang="zh-CN" sz="2800" dirty="0">
                <a:sym typeface="Symbol" pitchFamily="18" charset="2"/>
              </a:rPr>
              <a:t>                                     A</a:t>
            </a:r>
            <a:r>
              <a:rPr lang="zh-CN" altLang="en-US" sz="2800" dirty="0">
                <a:sym typeface="Symbol" pitchFamily="18" charset="2"/>
              </a:rPr>
              <a:t>－</a:t>
            </a:r>
            <a:r>
              <a:rPr lang="en-US" altLang="zh-CN" sz="2800" dirty="0">
                <a:sym typeface="Symbol" pitchFamily="18" charset="2"/>
              </a:rPr>
              <a:t>(B∩C)=(A</a:t>
            </a:r>
            <a:r>
              <a:rPr lang="zh-CN" altLang="en-US" sz="2800" dirty="0">
                <a:sym typeface="Symbol" pitchFamily="18" charset="2"/>
              </a:rPr>
              <a:t>－</a:t>
            </a:r>
            <a:r>
              <a:rPr lang="en-US" altLang="zh-CN" sz="2800" dirty="0">
                <a:sym typeface="Symbol" pitchFamily="18" charset="2"/>
              </a:rPr>
              <a:t>B) ∪(A</a:t>
            </a:r>
            <a:r>
              <a:rPr lang="zh-CN" altLang="en-US" sz="2800" dirty="0">
                <a:sym typeface="Symbol" pitchFamily="18" charset="2"/>
              </a:rPr>
              <a:t>－</a:t>
            </a:r>
            <a:r>
              <a:rPr lang="en-US" altLang="zh-CN" sz="2800" dirty="0">
                <a:sym typeface="Symbol" pitchFamily="18" charset="2"/>
              </a:rPr>
              <a:t>C)</a:t>
            </a:r>
          </a:p>
          <a:p>
            <a:pPr>
              <a:buFontTx/>
              <a:buNone/>
            </a:pPr>
            <a:r>
              <a:rPr lang="zh-CN" altLang="en-US" sz="2800" dirty="0">
                <a:sym typeface="Symbol" pitchFamily="18" charset="2"/>
              </a:rPr>
              <a:t>（</a:t>
            </a:r>
            <a:r>
              <a:rPr lang="en-US" altLang="zh-CN" sz="2800" dirty="0">
                <a:sym typeface="Symbol" pitchFamily="18" charset="2"/>
              </a:rPr>
              <a:t>12</a:t>
            </a:r>
            <a:r>
              <a:rPr lang="zh-CN" altLang="en-US" sz="2800" dirty="0">
                <a:sym typeface="Symbol" pitchFamily="18" charset="2"/>
              </a:rPr>
              <a:t>）功能完备律  </a:t>
            </a:r>
            <a:r>
              <a:rPr lang="en-US" altLang="zh-CN" sz="2800" dirty="0">
                <a:sym typeface="Symbol" pitchFamily="18" charset="2"/>
              </a:rPr>
              <a:t>A</a:t>
            </a:r>
            <a:r>
              <a:rPr lang="zh-CN" altLang="en-US" sz="2800" dirty="0">
                <a:sym typeface="Symbol" pitchFamily="18" charset="2"/>
              </a:rPr>
              <a:t>－</a:t>
            </a:r>
            <a:r>
              <a:rPr lang="en-US" altLang="zh-CN" sz="2800" dirty="0">
                <a:sym typeface="Symbol" pitchFamily="18" charset="2"/>
              </a:rPr>
              <a:t>B=A∩B</a:t>
            </a:r>
            <a:r>
              <a:rPr lang="en-US" altLang="zh-CN" sz="2800" dirty="0">
                <a:latin typeface="Arial"/>
                <a:sym typeface="Symbol" pitchFamily="18" charset="2"/>
              </a:rPr>
              <a:t>’</a:t>
            </a:r>
            <a:endParaRPr lang="en-US" altLang="zh-CN" sz="2800" dirty="0">
              <a:sym typeface="Symbol" pitchFamily="18" charset="2"/>
            </a:endParaRPr>
          </a:p>
          <a:p>
            <a:pPr>
              <a:buFontTx/>
              <a:buNone/>
            </a:pPr>
            <a:r>
              <a:rPr lang="en-US" altLang="zh-CN" sz="2800" dirty="0">
                <a:sym typeface="Symbol" pitchFamily="18" charset="2"/>
              </a:rPr>
              <a:t>                                     AB = (A∪B)</a:t>
            </a:r>
            <a:r>
              <a:rPr lang="zh-CN" altLang="en-US" sz="2800" dirty="0">
                <a:sym typeface="Symbol" pitchFamily="18" charset="2"/>
              </a:rPr>
              <a:t>－</a:t>
            </a:r>
            <a:r>
              <a:rPr lang="en-US" altLang="zh-CN" sz="2800" dirty="0">
                <a:sym typeface="Symbol" pitchFamily="18" charset="2"/>
              </a:rPr>
              <a:t>(A∩B)</a:t>
            </a:r>
          </a:p>
          <a:p>
            <a:pPr>
              <a:buFontTx/>
              <a:buNone/>
            </a:pPr>
            <a:r>
              <a:rPr lang="en-US" altLang="zh-CN" sz="2800" dirty="0">
                <a:sym typeface="Symbol" pitchFamily="18" charset="2"/>
              </a:rPr>
              <a:t>                                              = (A</a:t>
            </a:r>
            <a:r>
              <a:rPr lang="zh-CN" altLang="en-US" sz="2800" dirty="0">
                <a:sym typeface="Symbol" pitchFamily="18" charset="2"/>
              </a:rPr>
              <a:t>－</a:t>
            </a:r>
            <a:r>
              <a:rPr lang="en-US" altLang="zh-CN" sz="2800" dirty="0">
                <a:sym typeface="Symbol" pitchFamily="18" charset="2"/>
              </a:rPr>
              <a:t>B) ∪(B</a:t>
            </a:r>
            <a:r>
              <a:rPr lang="zh-CN" altLang="en-US" sz="2800" dirty="0">
                <a:sym typeface="Symbol" pitchFamily="18" charset="2"/>
              </a:rPr>
              <a:t>－</a:t>
            </a:r>
            <a:r>
              <a:rPr lang="en-US" altLang="zh-CN" sz="2800" dirty="0">
                <a:sym typeface="Symbol" pitchFamily="18" charset="2"/>
              </a:rPr>
              <a:t>A)</a:t>
            </a:r>
          </a:p>
          <a:p>
            <a:pPr>
              <a:buFontTx/>
              <a:buNone/>
            </a:pPr>
            <a:r>
              <a:rPr lang="en-US" altLang="zh-CN" sz="2800" dirty="0">
                <a:sym typeface="Symbol" pitchFamily="18" charset="2"/>
              </a:rPr>
              <a:t>                                              = (A∩B) ∪(A ∩B) </a:t>
            </a:r>
          </a:p>
        </p:txBody>
      </p:sp>
    </p:spTree>
    <p:extLst>
      <p:ext uri="{BB962C8B-B14F-4D97-AF65-F5344CB8AC3E}">
        <p14:creationId xmlns:p14="http://schemas.microsoft.com/office/powerpoint/2010/main" val="193956637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
            <a:extLst>
              <a:ext uri="{FF2B5EF4-FFF2-40B4-BE49-F238E27FC236}">
                <a16:creationId xmlns:a16="http://schemas.microsoft.com/office/drawing/2014/main" id="{6EDF215C-F5B0-4759-9F68-C82A3D5410D5}"/>
              </a:ext>
            </a:extLst>
          </p:cNvPr>
          <p:cNvSpPr txBox="1">
            <a:spLocks noChangeArrowheads="1"/>
          </p:cNvSpPr>
          <p:nvPr/>
        </p:nvSpPr>
        <p:spPr>
          <a:xfrm>
            <a:off x="468288" y="1484784"/>
            <a:ext cx="11255424" cy="4682920"/>
          </a:xfrm>
          <a:prstGeom prst="rect">
            <a:avLst/>
          </a:prstGeom>
        </p:spPr>
        <p:txBody>
          <a:bodyPr/>
          <a:lstStyle>
            <a:lvl1pPr marL="257175" indent="-257175" algn="l" defTabSz="685800" rtl="0" eaLnBrk="1" latinLnBrk="0" hangingPunct="1">
              <a:spcBef>
                <a:spcPct val="20000"/>
              </a:spcBef>
              <a:buFont typeface="Arial" pitchFamily="34" charset="0"/>
              <a:buChar char="•"/>
              <a:defRPr sz="2400" kern="1200">
                <a:solidFill>
                  <a:schemeClr val="tx1"/>
                </a:solidFill>
                <a:latin typeface="+mn-lt"/>
                <a:ea typeface="+mn-ea"/>
                <a:cs typeface="+mn-cs"/>
              </a:defRPr>
            </a:lvl1pPr>
            <a:lvl2pPr marL="557213" indent="-214313" algn="l" defTabSz="685800" rtl="0" eaLnBrk="1" latinLnBrk="0" hangingPunct="1">
              <a:spcBef>
                <a:spcPct val="20000"/>
              </a:spcBef>
              <a:buFont typeface="Arial" pitchFamily="34" charset="0"/>
              <a:buChar char="–"/>
              <a:defRPr sz="2100" kern="1200">
                <a:solidFill>
                  <a:schemeClr val="tx1"/>
                </a:solidFill>
                <a:latin typeface="+mn-lt"/>
                <a:ea typeface="+mn-ea"/>
                <a:cs typeface="+mn-cs"/>
              </a:defRPr>
            </a:lvl2pPr>
            <a:lvl3pPr marL="857250" indent="-171450" algn="l" defTabSz="685800" rtl="0" eaLnBrk="1" latinLnBrk="0" hangingPunct="1">
              <a:spcBef>
                <a:spcPct val="20000"/>
              </a:spcBef>
              <a:buFont typeface="Arial" pitchFamily="34" charset="0"/>
              <a:buChar char="•"/>
              <a:defRPr sz="1800" kern="1200">
                <a:solidFill>
                  <a:schemeClr val="tx1"/>
                </a:solidFill>
                <a:latin typeface="+mn-lt"/>
                <a:ea typeface="+mn-ea"/>
                <a:cs typeface="+mn-cs"/>
              </a:defRPr>
            </a:lvl3pPr>
            <a:lvl4pPr marL="12001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4pPr>
            <a:lvl5pPr marL="15430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0" indent="0" algn="just">
              <a:lnSpc>
                <a:spcPct val="200000"/>
              </a:lnSpc>
              <a:buNone/>
            </a:pPr>
            <a:r>
              <a:rPr lang="zh-CN" altLang="en-US" sz="3200" dirty="0">
                <a:sym typeface="Symbol" pitchFamily="18" charset="2"/>
              </a:rPr>
              <a:t>有了集合的运算定律，结合前面介绍的集合的基数的概念，可以求出任意一个有限集合中元素的个数，计算出有限集合中元素的个数通常有两种方法：文氏图法和排斥原理。下面分别来介绍这两种方法：</a:t>
            </a:r>
            <a:r>
              <a:rPr lang="zh-CN" altLang="en-US" sz="3200" b="1" dirty="0">
                <a:solidFill>
                  <a:srgbClr val="3308E8"/>
                </a:solidFill>
                <a:sym typeface="Symbol" pitchFamily="18" charset="2"/>
              </a:rPr>
              <a:t>文氏图法</a:t>
            </a:r>
            <a:r>
              <a:rPr lang="zh-CN" altLang="en-US" sz="3200" dirty="0">
                <a:sym typeface="Symbol" pitchFamily="18" charset="2"/>
              </a:rPr>
              <a:t>与</a:t>
            </a:r>
            <a:r>
              <a:rPr lang="zh-CN" altLang="en-US" sz="3200" b="1" dirty="0">
                <a:solidFill>
                  <a:srgbClr val="3308E8"/>
                </a:solidFill>
                <a:sym typeface="Symbol" pitchFamily="18" charset="2"/>
              </a:rPr>
              <a:t>排斥原理法</a:t>
            </a:r>
            <a:r>
              <a:rPr lang="zh-CN" altLang="en-US" sz="3200" dirty="0">
                <a:sym typeface="Symbol" pitchFamily="18" charset="2"/>
              </a:rPr>
              <a:t>。</a:t>
            </a:r>
          </a:p>
        </p:txBody>
      </p:sp>
      <p:sp>
        <p:nvSpPr>
          <p:cNvPr id="3" name="Rectangle 2">
            <a:extLst>
              <a:ext uri="{FF2B5EF4-FFF2-40B4-BE49-F238E27FC236}">
                <a16:creationId xmlns:a16="http://schemas.microsoft.com/office/drawing/2014/main" id="{BB6615E2-5BD2-46E9-BD00-99D930933FA8}"/>
              </a:ext>
            </a:extLst>
          </p:cNvPr>
          <p:cNvSpPr txBox="1">
            <a:spLocks noChangeArrowheads="1"/>
          </p:cNvSpPr>
          <p:nvPr/>
        </p:nvSpPr>
        <p:spPr>
          <a:xfrm>
            <a:off x="2855640" y="332656"/>
            <a:ext cx="5340424" cy="864096"/>
          </a:xfrm>
          <a:prstGeom prst="rect">
            <a:avLst/>
          </a:prstGeom>
        </p:spPr>
        <p:txBody>
          <a:bodyPr/>
          <a:lstStyle>
            <a:lvl1pPr algn="ctr" defTabSz="685800" rtl="0" eaLnBrk="1" latinLnBrk="0" hangingPunct="1">
              <a:spcBef>
                <a:spcPct val="0"/>
              </a:spcBef>
              <a:buNone/>
              <a:defRPr sz="3300" kern="1200">
                <a:solidFill>
                  <a:schemeClr val="tx1"/>
                </a:solidFill>
                <a:latin typeface="+mj-lt"/>
                <a:ea typeface="+mj-ea"/>
                <a:cs typeface="+mj-cs"/>
              </a:defRPr>
            </a:lvl1pPr>
          </a:lstStyle>
          <a:p>
            <a:r>
              <a:rPr lang="en-US" altLang="zh-CN" dirty="0"/>
              <a:t>1.3.2</a:t>
            </a:r>
            <a:r>
              <a:rPr lang="zh-CN" altLang="en-US" dirty="0"/>
              <a:t>有限集合的计数</a:t>
            </a:r>
          </a:p>
        </p:txBody>
      </p:sp>
    </p:spTree>
    <p:extLst>
      <p:ext uri="{BB962C8B-B14F-4D97-AF65-F5344CB8AC3E}">
        <p14:creationId xmlns:p14="http://schemas.microsoft.com/office/powerpoint/2010/main" val="120287554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
            <a:extLst>
              <a:ext uri="{FF2B5EF4-FFF2-40B4-BE49-F238E27FC236}">
                <a16:creationId xmlns:a16="http://schemas.microsoft.com/office/drawing/2014/main" id="{6900F65D-4832-415A-9AD7-C51D738B853C}"/>
              </a:ext>
            </a:extLst>
          </p:cNvPr>
          <p:cNvSpPr txBox="1">
            <a:spLocks noChangeArrowheads="1"/>
          </p:cNvSpPr>
          <p:nvPr/>
        </p:nvSpPr>
        <p:spPr>
          <a:xfrm>
            <a:off x="1343472" y="1412776"/>
            <a:ext cx="9649072" cy="4682920"/>
          </a:xfrm>
          <a:prstGeom prst="rect">
            <a:avLst/>
          </a:prstGeom>
        </p:spPr>
        <p:txBody>
          <a:bodyPr/>
          <a:lstStyle>
            <a:lvl1pPr marL="257175" indent="-257175" algn="l" defTabSz="685800" rtl="0" eaLnBrk="1" latinLnBrk="0" hangingPunct="1">
              <a:spcBef>
                <a:spcPct val="20000"/>
              </a:spcBef>
              <a:buFont typeface="Arial" pitchFamily="34" charset="0"/>
              <a:buChar char="•"/>
              <a:defRPr sz="2400" kern="1200">
                <a:solidFill>
                  <a:schemeClr val="tx1"/>
                </a:solidFill>
                <a:latin typeface="+mn-lt"/>
                <a:ea typeface="+mn-ea"/>
                <a:cs typeface="+mn-cs"/>
              </a:defRPr>
            </a:lvl1pPr>
            <a:lvl2pPr marL="557213" indent="-214313" algn="l" defTabSz="685800" rtl="0" eaLnBrk="1" latinLnBrk="0" hangingPunct="1">
              <a:spcBef>
                <a:spcPct val="20000"/>
              </a:spcBef>
              <a:buFont typeface="Arial" pitchFamily="34" charset="0"/>
              <a:buChar char="–"/>
              <a:defRPr sz="2100" kern="1200">
                <a:solidFill>
                  <a:schemeClr val="tx1"/>
                </a:solidFill>
                <a:latin typeface="+mn-lt"/>
                <a:ea typeface="+mn-ea"/>
                <a:cs typeface="+mn-cs"/>
              </a:defRPr>
            </a:lvl2pPr>
            <a:lvl3pPr marL="857250" indent="-171450" algn="l" defTabSz="685800" rtl="0" eaLnBrk="1" latinLnBrk="0" hangingPunct="1">
              <a:spcBef>
                <a:spcPct val="20000"/>
              </a:spcBef>
              <a:buFont typeface="Arial" pitchFamily="34" charset="0"/>
              <a:buChar char="•"/>
              <a:defRPr sz="1800" kern="1200">
                <a:solidFill>
                  <a:schemeClr val="tx1"/>
                </a:solidFill>
                <a:latin typeface="+mn-lt"/>
                <a:ea typeface="+mn-ea"/>
                <a:cs typeface="+mn-cs"/>
              </a:defRPr>
            </a:lvl3pPr>
            <a:lvl4pPr marL="12001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4pPr>
            <a:lvl5pPr marL="15430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a:lnSpc>
                <a:spcPct val="150000"/>
              </a:lnSpc>
              <a:buFontTx/>
              <a:buNone/>
            </a:pPr>
            <a:r>
              <a:rPr lang="en-US" altLang="zh-CN" sz="2800" b="1" dirty="0"/>
              <a:t>1.</a:t>
            </a:r>
            <a:r>
              <a:rPr lang="zh-CN" altLang="en-US" sz="2800" b="1" dirty="0"/>
              <a:t>文氏图法</a:t>
            </a:r>
            <a:r>
              <a:rPr lang="zh-CN" altLang="en-US" sz="2800" dirty="0"/>
              <a:t>：每一条性质定义为一个集合，用一个圆来表示，如无特殊说明，任何两个圆画成相交的，然后将已知集合的元素填入表示该集合的区域内。通常从</a:t>
            </a:r>
            <a:r>
              <a:rPr lang="en-US" altLang="zh-CN" sz="2800" dirty="0"/>
              <a:t>n</a:t>
            </a:r>
            <a:r>
              <a:rPr lang="zh-CN" altLang="en-US" sz="2800" dirty="0"/>
              <a:t>个集合的交集填起，根据计算的结果逐步将数字填入其它各空白区域。如果交集的值是未知的，可以设为</a:t>
            </a:r>
            <a:r>
              <a:rPr lang="en-US" altLang="zh-CN" sz="2800" dirty="0"/>
              <a:t>x</a:t>
            </a:r>
            <a:r>
              <a:rPr lang="zh-CN" altLang="en-US" sz="2800" dirty="0"/>
              <a:t>，根据题目的条件列出方程或方程组，求出所需结果。 </a:t>
            </a:r>
          </a:p>
        </p:txBody>
      </p:sp>
    </p:spTree>
    <p:extLst>
      <p:ext uri="{BB962C8B-B14F-4D97-AF65-F5344CB8AC3E}">
        <p14:creationId xmlns:p14="http://schemas.microsoft.com/office/powerpoint/2010/main" val="23936530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
            <a:extLst>
              <a:ext uri="{FF2B5EF4-FFF2-40B4-BE49-F238E27FC236}">
                <a16:creationId xmlns:a16="http://schemas.microsoft.com/office/drawing/2014/main" id="{43FEF179-03F9-4C65-BCC3-3DBD6F64FB65}"/>
              </a:ext>
            </a:extLst>
          </p:cNvPr>
          <p:cNvSpPr txBox="1">
            <a:spLocks noChangeArrowheads="1"/>
          </p:cNvSpPr>
          <p:nvPr/>
        </p:nvSpPr>
        <p:spPr>
          <a:xfrm>
            <a:off x="407367" y="1484784"/>
            <a:ext cx="4955245" cy="4682920"/>
          </a:xfrm>
          <a:prstGeom prst="rect">
            <a:avLst/>
          </a:prstGeom>
        </p:spPr>
        <p:txBody>
          <a:bodyPr/>
          <a:lstStyle>
            <a:lvl1pPr marL="257175" indent="-257175" algn="l" defTabSz="685800" rtl="0" eaLnBrk="1" latinLnBrk="0" hangingPunct="1">
              <a:spcBef>
                <a:spcPct val="20000"/>
              </a:spcBef>
              <a:buFont typeface="Arial" pitchFamily="34" charset="0"/>
              <a:buChar char="•"/>
              <a:defRPr sz="2400" kern="1200">
                <a:solidFill>
                  <a:schemeClr val="tx1"/>
                </a:solidFill>
                <a:latin typeface="+mn-lt"/>
                <a:ea typeface="+mn-ea"/>
                <a:cs typeface="+mn-cs"/>
              </a:defRPr>
            </a:lvl1pPr>
            <a:lvl2pPr marL="557213" indent="-214313" algn="l" defTabSz="685800" rtl="0" eaLnBrk="1" latinLnBrk="0" hangingPunct="1">
              <a:spcBef>
                <a:spcPct val="20000"/>
              </a:spcBef>
              <a:buFont typeface="Arial" pitchFamily="34" charset="0"/>
              <a:buChar char="–"/>
              <a:defRPr sz="2100" kern="1200">
                <a:solidFill>
                  <a:schemeClr val="tx1"/>
                </a:solidFill>
                <a:latin typeface="+mn-lt"/>
                <a:ea typeface="+mn-ea"/>
                <a:cs typeface="+mn-cs"/>
              </a:defRPr>
            </a:lvl2pPr>
            <a:lvl3pPr marL="857250" indent="-171450" algn="l" defTabSz="685800" rtl="0" eaLnBrk="1" latinLnBrk="0" hangingPunct="1">
              <a:spcBef>
                <a:spcPct val="20000"/>
              </a:spcBef>
              <a:buFont typeface="Arial" pitchFamily="34" charset="0"/>
              <a:buChar char="•"/>
              <a:defRPr sz="1800" kern="1200">
                <a:solidFill>
                  <a:schemeClr val="tx1"/>
                </a:solidFill>
                <a:latin typeface="+mn-lt"/>
                <a:ea typeface="+mn-ea"/>
                <a:cs typeface="+mn-cs"/>
              </a:defRPr>
            </a:lvl3pPr>
            <a:lvl4pPr marL="12001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4pPr>
            <a:lvl5pPr marL="15430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a:buFontTx/>
              <a:buNone/>
            </a:pPr>
            <a:r>
              <a:rPr lang="zh-CN" altLang="en-US" b="1" dirty="0">
                <a:solidFill>
                  <a:srgbClr val="3308E8"/>
                </a:solidFill>
              </a:rPr>
              <a:t>例</a:t>
            </a:r>
            <a:r>
              <a:rPr lang="en-US" altLang="zh-CN" b="1" dirty="0">
                <a:solidFill>
                  <a:srgbClr val="3308E8"/>
                </a:solidFill>
              </a:rPr>
              <a:t>1.29 </a:t>
            </a:r>
            <a:r>
              <a:rPr lang="zh-CN" altLang="en-US" dirty="0"/>
              <a:t>对</a:t>
            </a:r>
            <a:r>
              <a:rPr lang="en-US" altLang="zh-CN" dirty="0"/>
              <a:t>24</a:t>
            </a:r>
            <a:r>
              <a:rPr lang="zh-CN" altLang="en-US" dirty="0"/>
              <a:t>名会外语的科技人员进行掌握外语情况的调查。其统计结果如下：会英、日、德和法语的人分别为</a:t>
            </a:r>
            <a:r>
              <a:rPr lang="en-US" altLang="zh-CN" dirty="0"/>
              <a:t>13</a:t>
            </a:r>
            <a:r>
              <a:rPr lang="zh-CN" altLang="en-US" dirty="0"/>
              <a:t>，</a:t>
            </a:r>
            <a:r>
              <a:rPr lang="en-US" altLang="zh-CN" dirty="0"/>
              <a:t>5</a:t>
            </a:r>
            <a:r>
              <a:rPr lang="zh-CN" altLang="en-US" dirty="0"/>
              <a:t>，</a:t>
            </a:r>
            <a:r>
              <a:rPr lang="en-US" altLang="zh-CN" dirty="0"/>
              <a:t>10</a:t>
            </a:r>
            <a:r>
              <a:rPr lang="zh-CN" altLang="en-US" dirty="0"/>
              <a:t>和</a:t>
            </a:r>
            <a:r>
              <a:rPr lang="en-US" altLang="zh-CN" dirty="0"/>
              <a:t>9</a:t>
            </a:r>
            <a:r>
              <a:rPr lang="zh-CN" altLang="en-US" dirty="0"/>
              <a:t>人，其中同时会英语和日语的有</a:t>
            </a:r>
            <a:r>
              <a:rPr lang="en-US" altLang="zh-CN" dirty="0"/>
              <a:t>2</a:t>
            </a:r>
            <a:r>
              <a:rPr lang="zh-CN" altLang="en-US" dirty="0"/>
              <a:t>人，会英、德和法语中任两种语言的都是</a:t>
            </a:r>
            <a:r>
              <a:rPr lang="en-US" altLang="zh-CN" dirty="0"/>
              <a:t>4</a:t>
            </a:r>
            <a:r>
              <a:rPr lang="zh-CN" altLang="en-US" dirty="0"/>
              <a:t>人。已知会日语的人既不懂法语也不懂德语，分别求只会一种语言</a:t>
            </a:r>
            <a:r>
              <a:rPr lang="en-US" altLang="zh-CN" dirty="0"/>
              <a:t>(</a:t>
            </a:r>
            <a:r>
              <a:rPr lang="zh-CN" altLang="en-US" dirty="0"/>
              <a:t>英、德、法、日</a:t>
            </a:r>
            <a:r>
              <a:rPr lang="en-US" altLang="zh-CN" dirty="0"/>
              <a:t>)</a:t>
            </a:r>
            <a:r>
              <a:rPr lang="zh-CN" altLang="en-US" dirty="0"/>
              <a:t>的人数和会三种语言的人数。 </a:t>
            </a:r>
          </a:p>
        </p:txBody>
      </p:sp>
      <p:pic>
        <p:nvPicPr>
          <p:cNvPr id="3" name="图片 2">
            <a:extLst>
              <a:ext uri="{FF2B5EF4-FFF2-40B4-BE49-F238E27FC236}">
                <a16:creationId xmlns:a16="http://schemas.microsoft.com/office/drawing/2014/main" id="{53F5A5D6-6475-4DF0-A5B9-AB312EDB02B6}"/>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6528048" y="1268760"/>
            <a:ext cx="2470446" cy="1663960"/>
          </a:xfrm>
          <a:prstGeom prst="rect">
            <a:avLst/>
          </a:prstGeom>
          <a:noFill/>
          <a:ln>
            <a:noFill/>
          </a:ln>
        </p:spPr>
      </p:pic>
      <p:pic>
        <p:nvPicPr>
          <p:cNvPr id="4" name="图片 3">
            <a:extLst>
              <a:ext uri="{FF2B5EF4-FFF2-40B4-BE49-F238E27FC236}">
                <a16:creationId xmlns:a16="http://schemas.microsoft.com/office/drawing/2014/main" id="{D2683E5F-FFFE-4A20-8C9B-22423F23584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40366" y="3212976"/>
            <a:ext cx="3816424" cy="2450397"/>
          </a:xfrm>
          <a:prstGeom prst="rect">
            <a:avLst/>
          </a:prstGeom>
        </p:spPr>
      </p:pic>
    </p:spTree>
    <p:extLst>
      <p:ext uri="{BB962C8B-B14F-4D97-AF65-F5344CB8AC3E}">
        <p14:creationId xmlns:p14="http://schemas.microsoft.com/office/powerpoint/2010/main" val="295527828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5">
            <a:extLst>
              <a:ext uri="{FF2B5EF4-FFF2-40B4-BE49-F238E27FC236}">
                <a16:creationId xmlns:a16="http://schemas.microsoft.com/office/drawing/2014/main" id="{CBCB3147-12CD-4956-8FE7-9BC42A692CBC}"/>
              </a:ext>
            </a:extLst>
          </p:cNvPr>
          <p:cNvSpPr txBox="1">
            <a:spLocks noChangeArrowheads="1"/>
          </p:cNvSpPr>
          <p:nvPr/>
        </p:nvSpPr>
        <p:spPr>
          <a:xfrm>
            <a:off x="1991544" y="332656"/>
            <a:ext cx="5628456" cy="1143000"/>
          </a:xfrm>
          <a:prstGeom prst="rect">
            <a:avLst/>
          </a:prstGeom>
          <a:noFill/>
          <a:ln/>
        </p:spPr>
        <p:txBody>
          <a:bodyPr/>
          <a:lstStyle>
            <a:lvl1pPr algn="ctr" defTabSz="685800" rtl="0" eaLnBrk="1" latinLnBrk="0" hangingPunct="1">
              <a:spcBef>
                <a:spcPct val="0"/>
              </a:spcBef>
              <a:buNone/>
              <a:defRPr sz="3300" kern="1200">
                <a:solidFill>
                  <a:schemeClr val="tx1"/>
                </a:solidFill>
                <a:latin typeface="+mj-lt"/>
                <a:ea typeface="+mj-ea"/>
                <a:cs typeface="+mj-cs"/>
              </a:defRPr>
            </a:lvl1pPr>
          </a:lstStyle>
          <a:p>
            <a:r>
              <a:rPr lang="en-US" altLang="zh-CN" sz="4800" dirty="0"/>
              <a:t>2.</a:t>
            </a:r>
            <a:r>
              <a:rPr lang="zh-CN" altLang="en-US" sz="4800" dirty="0"/>
              <a:t>排斥原理法：</a:t>
            </a:r>
            <a:endParaRPr lang="zh-CN" altLang="en-US" sz="4800" dirty="0">
              <a:sym typeface="Symbol" pitchFamily="18" charset="2"/>
            </a:endParaRPr>
          </a:p>
        </p:txBody>
      </p:sp>
      <p:sp>
        <p:nvSpPr>
          <p:cNvPr id="3" name="Rectangle 13">
            <a:extLst>
              <a:ext uri="{FF2B5EF4-FFF2-40B4-BE49-F238E27FC236}">
                <a16:creationId xmlns:a16="http://schemas.microsoft.com/office/drawing/2014/main" id="{56B1E46A-DF94-4EFD-B440-3F918584F073}"/>
              </a:ext>
            </a:extLst>
          </p:cNvPr>
          <p:cNvSpPr txBox="1">
            <a:spLocks noChangeArrowheads="1"/>
          </p:cNvSpPr>
          <p:nvPr/>
        </p:nvSpPr>
        <p:spPr>
          <a:xfrm>
            <a:off x="263352" y="1475656"/>
            <a:ext cx="11402888" cy="4175671"/>
          </a:xfrm>
          <a:prstGeom prst="rect">
            <a:avLst/>
          </a:prstGeom>
        </p:spPr>
        <p:txBody>
          <a:bodyPr/>
          <a:lstStyle>
            <a:lvl1pPr marL="257175" indent="-257175" algn="l" defTabSz="685800" rtl="0" eaLnBrk="1" latinLnBrk="0" hangingPunct="1">
              <a:spcBef>
                <a:spcPct val="20000"/>
              </a:spcBef>
              <a:buFont typeface="Arial" pitchFamily="34" charset="0"/>
              <a:buChar char="•"/>
              <a:defRPr sz="2400" kern="1200">
                <a:solidFill>
                  <a:schemeClr val="tx1"/>
                </a:solidFill>
                <a:latin typeface="+mn-lt"/>
                <a:ea typeface="+mn-ea"/>
                <a:cs typeface="+mn-cs"/>
              </a:defRPr>
            </a:lvl1pPr>
            <a:lvl2pPr marL="557213" indent="-214313" algn="l" defTabSz="685800" rtl="0" eaLnBrk="1" latinLnBrk="0" hangingPunct="1">
              <a:spcBef>
                <a:spcPct val="20000"/>
              </a:spcBef>
              <a:buFont typeface="Arial" pitchFamily="34" charset="0"/>
              <a:buChar char="–"/>
              <a:defRPr sz="2100" kern="1200">
                <a:solidFill>
                  <a:schemeClr val="tx1"/>
                </a:solidFill>
                <a:latin typeface="+mn-lt"/>
                <a:ea typeface="+mn-ea"/>
                <a:cs typeface="+mn-cs"/>
              </a:defRPr>
            </a:lvl2pPr>
            <a:lvl3pPr marL="857250" indent="-171450" algn="l" defTabSz="685800" rtl="0" eaLnBrk="1" latinLnBrk="0" hangingPunct="1">
              <a:spcBef>
                <a:spcPct val="20000"/>
              </a:spcBef>
              <a:buFont typeface="Arial" pitchFamily="34" charset="0"/>
              <a:buChar char="•"/>
              <a:defRPr sz="1800" kern="1200">
                <a:solidFill>
                  <a:schemeClr val="tx1"/>
                </a:solidFill>
                <a:latin typeface="+mn-lt"/>
                <a:ea typeface="+mn-ea"/>
                <a:cs typeface="+mn-cs"/>
              </a:defRPr>
            </a:lvl3pPr>
            <a:lvl4pPr marL="12001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4pPr>
            <a:lvl5pPr marL="15430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609600" indent="-609600">
              <a:lnSpc>
                <a:spcPct val="120000"/>
              </a:lnSpc>
              <a:buFontTx/>
              <a:buNone/>
            </a:pPr>
            <a:r>
              <a:rPr lang="zh-CN" altLang="en-US" dirty="0"/>
              <a:t>设</a:t>
            </a:r>
            <a:r>
              <a:rPr lang="en-US" altLang="zh-CN" dirty="0"/>
              <a:t>U</a:t>
            </a:r>
            <a:r>
              <a:rPr lang="zh-CN" altLang="en-US" dirty="0"/>
              <a:t>为全集</a:t>
            </a:r>
            <a:r>
              <a:rPr lang="en-US" altLang="zh-CN" dirty="0"/>
              <a:t>,A</a:t>
            </a:r>
            <a:r>
              <a:rPr lang="en-US" altLang="zh-CN" baseline="-25000" dirty="0"/>
              <a:t>1</a:t>
            </a:r>
            <a:r>
              <a:rPr lang="zh-CN" altLang="en-US" dirty="0"/>
              <a:t>，</a:t>
            </a:r>
            <a:r>
              <a:rPr lang="en-US" altLang="zh-CN" dirty="0"/>
              <a:t>A</a:t>
            </a:r>
            <a:r>
              <a:rPr lang="en-US" altLang="zh-CN" baseline="-25000" dirty="0"/>
              <a:t>2</a:t>
            </a:r>
            <a:r>
              <a:rPr lang="zh-CN" altLang="en-US" dirty="0"/>
              <a:t>，</a:t>
            </a:r>
            <a:r>
              <a:rPr lang="en-US" altLang="zh-CN" dirty="0">
                <a:latin typeface="Arial"/>
              </a:rPr>
              <a:t>…</a:t>
            </a:r>
            <a:r>
              <a:rPr lang="zh-CN" altLang="en-US" dirty="0"/>
              <a:t>，</a:t>
            </a:r>
            <a:r>
              <a:rPr lang="en-US" altLang="zh-CN" dirty="0"/>
              <a:t>A</a:t>
            </a:r>
            <a:r>
              <a:rPr lang="en-US" altLang="zh-CN" baseline="-25000" dirty="0"/>
              <a:t>n</a:t>
            </a:r>
            <a:r>
              <a:rPr lang="zh-CN" altLang="en-US" dirty="0"/>
              <a:t>为</a:t>
            </a:r>
            <a:r>
              <a:rPr lang="en-US" altLang="zh-CN" dirty="0"/>
              <a:t>U</a:t>
            </a:r>
            <a:r>
              <a:rPr lang="zh-CN" altLang="en-US" dirty="0"/>
              <a:t>的有限子集</a:t>
            </a:r>
            <a:r>
              <a:rPr lang="en-US" altLang="zh-CN" dirty="0"/>
              <a:t>,</a:t>
            </a:r>
            <a:r>
              <a:rPr lang="zh-CN" altLang="en-US" dirty="0"/>
              <a:t>则有如下</a:t>
            </a:r>
            <a:r>
              <a:rPr lang="en-US" altLang="zh-CN" dirty="0"/>
              <a:t>3</a:t>
            </a:r>
            <a:r>
              <a:rPr lang="zh-CN" altLang="en-US" dirty="0"/>
              <a:t>个公式。 </a:t>
            </a:r>
          </a:p>
          <a:p>
            <a:pPr marL="609600" indent="-609600">
              <a:lnSpc>
                <a:spcPct val="120000"/>
              </a:lnSpc>
              <a:buFontTx/>
              <a:buNone/>
            </a:pPr>
            <a:r>
              <a:rPr lang="en-US" altLang="zh-CN" dirty="0"/>
              <a:t>(1)</a:t>
            </a:r>
            <a:r>
              <a:rPr lang="zh-CN" altLang="en-US" dirty="0"/>
              <a:t>两个集合的排斥原理公式：</a:t>
            </a:r>
          </a:p>
          <a:p>
            <a:pPr marL="609600" indent="-609600">
              <a:lnSpc>
                <a:spcPct val="120000"/>
              </a:lnSpc>
              <a:buFontTx/>
              <a:buNone/>
            </a:pPr>
            <a:r>
              <a:rPr lang="en-US" altLang="zh-CN" dirty="0">
                <a:sym typeface="Symbol" pitchFamily="18" charset="2"/>
              </a:rPr>
              <a:t>| </a:t>
            </a:r>
            <a:r>
              <a:rPr lang="en-US" altLang="zh-CN" dirty="0"/>
              <a:t>A</a:t>
            </a:r>
            <a:r>
              <a:rPr lang="en-US" altLang="zh-CN" baseline="-25000" dirty="0"/>
              <a:t>1</a:t>
            </a:r>
            <a:r>
              <a:rPr lang="en-US" altLang="zh-CN" dirty="0">
                <a:sym typeface="Symbol" pitchFamily="18" charset="2"/>
              </a:rPr>
              <a:t> ∪ </a:t>
            </a:r>
            <a:r>
              <a:rPr lang="en-US" altLang="zh-CN" dirty="0"/>
              <a:t>A</a:t>
            </a:r>
            <a:r>
              <a:rPr lang="en-US" altLang="zh-CN" baseline="-25000" dirty="0"/>
              <a:t>2</a:t>
            </a:r>
            <a:r>
              <a:rPr lang="en-US" altLang="zh-CN" dirty="0">
                <a:sym typeface="Symbol" pitchFamily="18" charset="2"/>
              </a:rPr>
              <a:t> |=| </a:t>
            </a:r>
            <a:r>
              <a:rPr lang="en-US" altLang="zh-CN" dirty="0"/>
              <a:t>A</a:t>
            </a:r>
            <a:r>
              <a:rPr lang="en-US" altLang="zh-CN" baseline="-25000" dirty="0"/>
              <a:t>1</a:t>
            </a:r>
            <a:r>
              <a:rPr lang="en-US" altLang="zh-CN" dirty="0">
                <a:sym typeface="Symbol" pitchFamily="18" charset="2"/>
              </a:rPr>
              <a:t> |+| </a:t>
            </a:r>
            <a:r>
              <a:rPr lang="en-US" altLang="zh-CN" dirty="0"/>
              <a:t>A</a:t>
            </a:r>
            <a:r>
              <a:rPr lang="en-US" altLang="zh-CN" baseline="-25000" dirty="0"/>
              <a:t>2</a:t>
            </a:r>
            <a:r>
              <a:rPr lang="en-US" altLang="zh-CN" dirty="0">
                <a:sym typeface="Symbol" pitchFamily="18" charset="2"/>
              </a:rPr>
              <a:t> |-| </a:t>
            </a:r>
            <a:r>
              <a:rPr lang="en-US" altLang="zh-CN" dirty="0"/>
              <a:t>A</a:t>
            </a:r>
            <a:r>
              <a:rPr lang="en-US" altLang="zh-CN" baseline="-25000" dirty="0"/>
              <a:t>1</a:t>
            </a:r>
            <a:r>
              <a:rPr lang="en-US" altLang="zh-CN" dirty="0">
                <a:sym typeface="Symbol" pitchFamily="18" charset="2"/>
              </a:rPr>
              <a:t> ∩ </a:t>
            </a:r>
            <a:r>
              <a:rPr lang="en-US" altLang="zh-CN" dirty="0"/>
              <a:t>A</a:t>
            </a:r>
            <a:r>
              <a:rPr lang="en-US" altLang="zh-CN" baseline="-25000" dirty="0"/>
              <a:t>2</a:t>
            </a:r>
            <a:r>
              <a:rPr lang="en-US" altLang="zh-CN" dirty="0">
                <a:sym typeface="Symbol" pitchFamily="18" charset="2"/>
              </a:rPr>
              <a:t> |</a:t>
            </a:r>
            <a:endParaRPr lang="en-US" altLang="zh-CN" dirty="0"/>
          </a:p>
          <a:p>
            <a:pPr marL="609600" indent="-609600">
              <a:lnSpc>
                <a:spcPct val="120000"/>
              </a:lnSpc>
              <a:buFontTx/>
              <a:buNone/>
            </a:pPr>
            <a:r>
              <a:rPr lang="en-US" altLang="zh-CN" dirty="0"/>
              <a:t>(2) </a:t>
            </a:r>
            <a:r>
              <a:rPr lang="zh-CN" altLang="en-US" dirty="0"/>
              <a:t>三个集合的排斥原理公式：</a:t>
            </a:r>
          </a:p>
          <a:p>
            <a:pPr marL="609600" indent="-609600">
              <a:lnSpc>
                <a:spcPct val="120000"/>
              </a:lnSpc>
              <a:buFontTx/>
              <a:buNone/>
            </a:pPr>
            <a:r>
              <a:rPr lang="en-US" altLang="zh-CN" dirty="0">
                <a:sym typeface="Symbol" pitchFamily="18" charset="2"/>
              </a:rPr>
              <a:t>|</a:t>
            </a:r>
            <a:r>
              <a:rPr lang="en-US" altLang="zh-CN" dirty="0"/>
              <a:t>A</a:t>
            </a:r>
            <a:r>
              <a:rPr lang="en-US" altLang="zh-CN" baseline="-25000" dirty="0"/>
              <a:t>1</a:t>
            </a:r>
            <a:r>
              <a:rPr lang="en-US" altLang="zh-CN" dirty="0">
                <a:sym typeface="Symbol" pitchFamily="18" charset="2"/>
              </a:rPr>
              <a:t>∪</a:t>
            </a:r>
            <a:r>
              <a:rPr lang="en-US" altLang="zh-CN" dirty="0"/>
              <a:t>A</a:t>
            </a:r>
            <a:r>
              <a:rPr lang="en-US" altLang="zh-CN" baseline="-25000" dirty="0"/>
              <a:t>2</a:t>
            </a:r>
            <a:r>
              <a:rPr lang="en-US" altLang="zh-CN" dirty="0">
                <a:sym typeface="Symbol" pitchFamily="18" charset="2"/>
              </a:rPr>
              <a:t>∪</a:t>
            </a:r>
            <a:r>
              <a:rPr lang="en-US" altLang="zh-CN" dirty="0"/>
              <a:t>A</a:t>
            </a:r>
            <a:r>
              <a:rPr lang="en-US" altLang="zh-CN" baseline="-25000" dirty="0"/>
              <a:t>3</a:t>
            </a:r>
            <a:r>
              <a:rPr lang="en-US" altLang="zh-CN" dirty="0">
                <a:sym typeface="Symbol" pitchFamily="18" charset="2"/>
              </a:rPr>
              <a:t> |=|</a:t>
            </a:r>
            <a:r>
              <a:rPr lang="en-US" altLang="zh-CN" dirty="0"/>
              <a:t>A</a:t>
            </a:r>
            <a:r>
              <a:rPr lang="en-US" altLang="zh-CN" baseline="-25000" dirty="0"/>
              <a:t>1</a:t>
            </a:r>
            <a:r>
              <a:rPr lang="en-US" altLang="zh-CN" dirty="0">
                <a:sym typeface="Symbol" pitchFamily="18" charset="2"/>
              </a:rPr>
              <a:t>|+|</a:t>
            </a:r>
            <a:r>
              <a:rPr lang="en-US" altLang="zh-CN" dirty="0"/>
              <a:t>A</a:t>
            </a:r>
            <a:r>
              <a:rPr lang="en-US" altLang="zh-CN" baseline="-25000" dirty="0"/>
              <a:t>2</a:t>
            </a:r>
            <a:r>
              <a:rPr lang="en-US" altLang="zh-CN" dirty="0">
                <a:sym typeface="Symbol" pitchFamily="18" charset="2"/>
              </a:rPr>
              <a:t>|+|</a:t>
            </a:r>
            <a:r>
              <a:rPr lang="en-US" altLang="zh-CN" dirty="0"/>
              <a:t>A</a:t>
            </a:r>
            <a:r>
              <a:rPr lang="en-US" altLang="zh-CN" baseline="-25000" dirty="0"/>
              <a:t>3</a:t>
            </a:r>
            <a:r>
              <a:rPr lang="en-US" altLang="zh-CN" dirty="0">
                <a:sym typeface="Symbol" pitchFamily="18" charset="2"/>
              </a:rPr>
              <a:t>|-|</a:t>
            </a:r>
            <a:r>
              <a:rPr lang="en-US" altLang="zh-CN" dirty="0"/>
              <a:t>A</a:t>
            </a:r>
            <a:r>
              <a:rPr lang="en-US" altLang="zh-CN" baseline="-25000" dirty="0"/>
              <a:t>1</a:t>
            </a:r>
            <a:r>
              <a:rPr lang="en-US" altLang="zh-CN" dirty="0">
                <a:sym typeface="Symbol" pitchFamily="18" charset="2"/>
              </a:rPr>
              <a:t>∩</a:t>
            </a:r>
            <a:r>
              <a:rPr lang="en-US" altLang="zh-CN" dirty="0"/>
              <a:t>A</a:t>
            </a:r>
            <a:r>
              <a:rPr lang="en-US" altLang="zh-CN" baseline="-25000" dirty="0"/>
              <a:t>2</a:t>
            </a:r>
            <a:r>
              <a:rPr lang="en-US" altLang="zh-CN" dirty="0">
                <a:sym typeface="Symbol" pitchFamily="18" charset="2"/>
              </a:rPr>
              <a:t>|-|</a:t>
            </a:r>
            <a:r>
              <a:rPr lang="en-US" altLang="zh-CN" dirty="0"/>
              <a:t>A</a:t>
            </a:r>
            <a:r>
              <a:rPr lang="en-US" altLang="zh-CN" baseline="-25000" dirty="0"/>
              <a:t>1</a:t>
            </a:r>
            <a:r>
              <a:rPr lang="en-US" altLang="zh-CN" dirty="0">
                <a:sym typeface="Symbol" pitchFamily="18" charset="2"/>
              </a:rPr>
              <a:t>∩</a:t>
            </a:r>
            <a:r>
              <a:rPr lang="en-US" altLang="zh-CN" dirty="0"/>
              <a:t>A</a:t>
            </a:r>
            <a:r>
              <a:rPr lang="en-US" altLang="zh-CN" baseline="-25000" dirty="0"/>
              <a:t>3</a:t>
            </a:r>
            <a:r>
              <a:rPr lang="en-US" altLang="zh-CN" dirty="0">
                <a:sym typeface="Symbol" pitchFamily="18" charset="2"/>
              </a:rPr>
              <a:t>|-|</a:t>
            </a:r>
            <a:r>
              <a:rPr lang="en-US" altLang="zh-CN" dirty="0"/>
              <a:t>A</a:t>
            </a:r>
            <a:r>
              <a:rPr lang="en-US" altLang="zh-CN" baseline="-25000" dirty="0"/>
              <a:t>2</a:t>
            </a:r>
            <a:r>
              <a:rPr lang="en-US" altLang="zh-CN" dirty="0">
                <a:sym typeface="Symbol" pitchFamily="18" charset="2"/>
              </a:rPr>
              <a:t>∩</a:t>
            </a:r>
            <a:r>
              <a:rPr lang="en-US" altLang="zh-CN" dirty="0"/>
              <a:t>A</a:t>
            </a:r>
            <a:r>
              <a:rPr lang="en-US" altLang="zh-CN" baseline="-25000" dirty="0"/>
              <a:t>3</a:t>
            </a:r>
            <a:r>
              <a:rPr lang="en-US" altLang="zh-CN" dirty="0">
                <a:sym typeface="Symbol" pitchFamily="18" charset="2"/>
              </a:rPr>
              <a:t>|</a:t>
            </a:r>
          </a:p>
          <a:p>
            <a:pPr marL="609600" indent="-609600">
              <a:lnSpc>
                <a:spcPct val="120000"/>
              </a:lnSpc>
              <a:buFontTx/>
              <a:buNone/>
            </a:pPr>
            <a:r>
              <a:rPr lang="en-US" altLang="zh-CN" dirty="0">
                <a:sym typeface="Symbol" pitchFamily="18" charset="2"/>
              </a:rPr>
              <a:t>                      +| </a:t>
            </a:r>
            <a:r>
              <a:rPr lang="en-US" altLang="zh-CN" dirty="0"/>
              <a:t>A</a:t>
            </a:r>
            <a:r>
              <a:rPr lang="en-US" altLang="zh-CN" baseline="-25000" dirty="0"/>
              <a:t>1</a:t>
            </a:r>
            <a:r>
              <a:rPr lang="en-US" altLang="zh-CN" dirty="0">
                <a:sym typeface="Symbol" pitchFamily="18" charset="2"/>
              </a:rPr>
              <a:t>∩</a:t>
            </a:r>
            <a:r>
              <a:rPr lang="en-US" altLang="zh-CN" dirty="0"/>
              <a:t>A</a:t>
            </a:r>
            <a:r>
              <a:rPr lang="en-US" altLang="zh-CN" baseline="-25000" dirty="0"/>
              <a:t>2</a:t>
            </a:r>
            <a:r>
              <a:rPr lang="en-US" altLang="zh-CN" dirty="0">
                <a:sym typeface="Symbol" pitchFamily="18" charset="2"/>
              </a:rPr>
              <a:t>∩</a:t>
            </a:r>
            <a:r>
              <a:rPr lang="en-US" altLang="zh-CN" dirty="0"/>
              <a:t>A</a:t>
            </a:r>
            <a:r>
              <a:rPr lang="en-US" altLang="zh-CN" baseline="-25000" dirty="0"/>
              <a:t>3</a:t>
            </a:r>
            <a:r>
              <a:rPr lang="en-US" altLang="zh-CN" dirty="0">
                <a:sym typeface="Symbol" pitchFamily="18" charset="2"/>
              </a:rPr>
              <a:t>|</a:t>
            </a:r>
            <a:endParaRPr lang="en-US" altLang="zh-CN" dirty="0"/>
          </a:p>
          <a:p>
            <a:pPr marL="609600" indent="-609600">
              <a:lnSpc>
                <a:spcPct val="120000"/>
              </a:lnSpc>
              <a:buFontTx/>
              <a:buNone/>
            </a:pPr>
            <a:r>
              <a:rPr lang="en-US" altLang="zh-CN" dirty="0"/>
              <a:t>(3) </a:t>
            </a:r>
            <a:r>
              <a:rPr lang="zh-CN" altLang="en-US" dirty="0"/>
              <a:t>个集合的排斥原理公式 </a:t>
            </a:r>
          </a:p>
        </p:txBody>
      </p:sp>
      <p:graphicFrame>
        <p:nvGraphicFramePr>
          <p:cNvPr id="4" name="Object 22">
            <a:extLst>
              <a:ext uri="{FF2B5EF4-FFF2-40B4-BE49-F238E27FC236}">
                <a16:creationId xmlns:a16="http://schemas.microsoft.com/office/drawing/2014/main" id="{D4806721-BC0C-475E-80C7-5F6B0947FA1C}"/>
              </a:ext>
            </a:extLst>
          </p:cNvPr>
          <p:cNvGraphicFramePr>
            <a:graphicFrameLocks noChangeAspect="1"/>
          </p:cNvGraphicFramePr>
          <p:nvPr>
            <p:extLst>
              <p:ext uri="{D42A27DB-BD31-4B8C-83A1-F6EECF244321}">
                <p14:modId xmlns:p14="http://schemas.microsoft.com/office/powerpoint/2010/main" val="1093951590"/>
              </p:ext>
            </p:extLst>
          </p:nvPr>
        </p:nvGraphicFramePr>
        <p:xfrm>
          <a:off x="284447" y="5015296"/>
          <a:ext cx="7632700" cy="776288"/>
        </p:xfrm>
        <a:graphic>
          <a:graphicData uri="http://schemas.openxmlformats.org/presentationml/2006/ole">
            <mc:AlternateContent xmlns:mc="http://schemas.openxmlformats.org/markup-compatibility/2006">
              <mc:Choice xmlns:v="urn:schemas-microsoft-com:vml" Requires="v">
                <p:oleObj spid="_x0000_s8208" name="公式" r:id="rId3" imgW="4394200" imgH="444500" progId="Equation.3">
                  <p:embed/>
                </p:oleObj>
              </mc:Choice>
              <mc:Fallback>
                <p:oleObj name="公式" r:id="rId3" imgW="4394200" imgH="444500" progId="Equation.3">
                  <p:embed/>
                  <p:pic>
                    <p:nvPicPr>
                      <p:cNvPr id="5" name="Object 22">
                        <a:extLst>
                          <a:ext uri="{FF2B5EF4-FFF2-40B4-BE49-F238E27FC236}">
                            <a16:creationId xmlns:a16="http://schemas.microsoft.com/office/drawing/2014/main" id="{82E5AACC-FC53-4B78-9AB8-E5AF3A66D4A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4447" y="5015296"/>
                        <a:ext cx="7632700" cy="7762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 name="Object 24">
            <a:extLst>
              <a:ext uri="{FF2B5EF4-FFF2-40B4-BE49-F238E27FC236}">
                <a16:creationId xmlns:a16="http://schemas.microsoft.com/office/drawing/2014/main" id="{8088B092-1F6C-4D22-819E-215031C299B5}"/>
              </a:ext>
            </a:extLst>
          </p:cNvPr>
          <p:cNvGraphicFramePr>
            <a:graphicFrameLocks noChangeAspect="1"/>
          </p:cNvGraphicFramePr>
          <p:nvPr>
            <p:extLst>
              <p:ext uri="{D42A27DB-BD31-4B8C-83A1-F6EECF244321}">
                <p14:modId xmlns:p14="http://schemas.microsoft.com/office/powerpoint/2010/main" val="1423953125"/>
              </p:ext>
            </p:extLst>
          </p:nvPr>
        </p:nvGraphicFramePr>
        <p:xfrm>
          <a:off x="8171650" y="5141044"/>
          <a:ext cx="3240087" cy="482600"/>
        </p:xfrm>
        <a:graphic>
          <a:graphicData uri="http://schemas.openxmlformats.org/presentationml/2006/ole">
            <mc:AlternateContent xmlns:mc="http://schemas.openxmlformats.org/markup-compatibility/2006">
              <mc:Choice xmlns:v="urn:schemas-microsoft-com:vml" Requires="v">
                <p:oleObj spid="_x0000_s8209" name="公式" r:id="rId5" imgW="1726451" imgH="253890" progId="Equation.3">
                  <p:embed/>
                </p:oleObj>
              </mc:Choice>
              <mc:Fallback>
                <p:oleObj name="公式" r:id="rId5" imgW="1726451" imgH="253890" progId="Equation.3">
                  <p:embed/>
                  <p:pic>
                    <p:nvPicPr>
                      <p:cNvPr id="6" name="Object 24">
                        <a:extLst>
                          <a:ext uri="{FF2B5EF4-FFF2-40B4-BE49-F238E27FC236}">
                            <a16:creationId xmlns:a16="http://schemas.microsoft.com/office/drawing/2014/main" id="{5AAD461B-B7F6-4D4B-AEDF-246501F8175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171650" y="5141044"/>
                        <a:ext cx="3240087" cy="482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419299734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7">
            <a:extLst>
              <a:ext uri="{FF2B5EF4-FFF2-40B4-BE49-F238E27FC236}">
                <a16:creationId xmlns:a16="http://schemas.microsoft.com/office/drawing/2014/main" id="{FCF89321-4241-4086-96D5-015BED427559}"/>
              </a:ext>
            </a:extLst>
          </p:cNvPr>
          <p:cNvSpPr txBox="1">
            <a:spLocks noChangeArrowheads="1"/>
          </p:cNvSpPr>
          <p:nvPr/>
        </p:nvSpPr>
        <p:spPr>
          <a:xfrm>
            <a:off x="1415480" y="908720"/>
            <a:ext cx="8229600" cy="1143000"/>
          </a:xfrm>
          <a:prstGeom prst="rect">
            <a:avLst/>
          </a:prstGeom>
          <a:noFill/>
          <a:ln/>
        </p:spPr>
        <p:txBody>
          <a:bodyPr anchor="ctr"/>
          <a:lstStyle>
            <a:lvl1pPr algn="ctr" defTabSz="685800" rtl="0" eaLnBrk="1" latinLnBrk="0" hangingPunct="1">
              <a:spcBef>
                <a:spcPct val="0"/>
              </a:spcBef>
              <a:buNone/>
              <a:defRPr sz="3300" kern="1200">
                <a:solidFill>
                  <a:schemeClr val="tx1"/>
                </a:solidFill>
                <a:latin typeface="+mj-lt"/>
                <a:ea typeface="+mj-ea"/>
                <a:cs typeface="+mj-cs"/>
              </a:defRPr>
            </a:lvl1pPr>
          </a:lstStyle>
          <a:p>
            <a:r>
              <a:rPr lang="zh-CN" altLang="en-US" sz="2800"/>
              <a:t>由排斥原理，我们很容易得到如下几个结论成立：</a:t>
            </a:r>
            <a:endParaRPr lang="zh-CN" altLang="en-US" sz="2800" dirty="0"/>
          </a:p>
        </p:txBody>
      </p:sp>
      <p:graphicFrame>
        <p:nvGraphicFramePr>
          <p:cNvPr id="3" name="Object 5">
            <a:extLst>
              <a:ext uri="{FF2B5EF4-FFF2-40B4-BE49-F238E27FC236}">
                <a16:creationId xmlns:a16="http://schemas.microsoft.com/office/drawing/2014/main" id="{DA78F9F4-1ED0-4E50-91FB-16D5BF1C91E2}"/>
              </a:ext>
            </a:extLst>
          </p:cNvPr>
          <p:cNvGraphicFramePr>
            <a:graphicFrameLocks noChangeAspect="1"/>
          </p:cNvGraphicFramePr>
          <p:nvPr>
            <p:extLst>
              <p:ext uri="{D42A27DB-BD31-4B8C-83A1-F6EECF244321}">
                <p14:modId xmlns:p14="http://schemas.microsoft.com/office/powerpoint/2010/main" val="4194750523"/>
              </p:ext>
            </p:extLst>
          </p:nvPr>
        </p:nvGraphicFramePr>
        <p:xfrm>
          <a:off x="2546920" y="1916832"/>
          <a:ext cx="4681537" cy="950912"/>
        </p:xfrm>
        <a:graphic>
          <a:graphicData uri="http://schemas.openxmlformats.org/presentationml/2006/ole">
            <mc:AlternateContent xmlns:mc="http://schemas.openxmlformats.org/markup-compatibility/2006">
              <mc:Choice xmlns:v="urn:schemas-microsoft-com:vml" Requires="v">
                <p:oleObj spid="_x0000_s9239" name="公式" r:id="rId3" imgW="1269449" imgH="253890" progId="Equation.3">
                  <p:embed/>
                </p:oleObj>
              </mc:Choice>
              <mc:Fallback>
                <p:oleObj name="公式" r:id="rId3" imgW="1269449" imgH="253890" progId="Equation.3">
                  <p:embed/>
                  <p:pic>
                    <p:nvPicPr>
                      <p:cNvPr id="4" name="Object 5">
                        <a:extLst>
                          <a:ext uri="{FF2B5EF4-FFF2-40B4-BE49-F238E27FC236}">
                            <a16:creationId xmlns:a16="http://schemas.microsoft.com/office/drawing/2014/main" id="{0ECB0B6D-742F-4B8D-A531-621363FC515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46920" y="1916832"/>
                        <a:ext cx="4681537" cy="9509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 name="Object 4">
            <a:extLst>
              <a:ext uri="{FF2B5EF4-FFF2-40B4-BE49-F238E27FC236}">
                <a16:creationId xmlns:a16="http://schemas.microsoft.com/office/drawing/2014/main" id="{07A15713-C4C9-4A95-A85C-096D8D4A9AD1}"/>
              </a:ext>
            </a:extLst>
          </p:cNvPr>
          <p:cNvGraphicFramePr>
            <a:graphicFrameLocks noChangeAspect="1"/>
          </p:cNvGraphicFramePr>
          <p:nvPr>
            <p:extLst>
              <p:ext uri="{D42A27DB-BD31-4B8C-83A1-F6EECF244321}">
                <p14:modId xmlns:p14="http://schemas.microsoft.com/office/powerpoint/2010/main" val="3470224680"/>
              </p:ext>
            </p:extLst>
          </p:nvPr>
        </p:nvGraphicFramePr>
        <p:xfrm>
          <a:off x="2527785" y="3373774"/>
          <a:ext cx="6376527" cy="830262"/>
        </p:xfrm>
        <a:graphic>
          <a:graphicData uri="http://schemas.openxmlformats.org/presentationml/2006/ole">
            <mc:AlternateContent xmlns:mc="http://schemas.openxmlformats.org/markup-compatibility/2006">
              <mc:Choice xmlns:v="urn:schemas-microsoft-com:vml" Requires="v">
                <p:oleObj spid="_x0000_s9240" name="公式" r:id="rId5" imgW="1688367" imgH="215806" progId="Equation.3">
                  <p:embed/>
                </p:oleObj>
              </mc:Choice>
              <mc:Fallback>
                <p:oleObj name="公式" r:id="rId5" imgW="1688367" imgH="215806" progId="Equation.3">
                  <p:embed/>
                  <p:pic>
                    <p:nvPicPr>
                      <p:cNvPr id="5" name="Object 4">
                        <a:extLst>
                          <a:ext uri="{FF2B5EF4-FFF2-40B4-BE49-F238E27FC236}">
                            <a16:creationId xmlns:a16="http://schemas.microsoft.com/office/drawing/2014/main" id="{989144DB-5502-42D9-ADB2-94F35F26A07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527785" y="3373774"/>
                        <a:ext cx="6376527" cy="830262"/>
                      </a:xfrm>
                      <a:prstGeom prst="rect">
                        <a:avLst/>
                      </a:prstGeom>
                      <a:noFill/>
                    </p:spPr>
                  </p:pic>
                </p:oleObj>
              </mc:Fallback>
            </mc:AlternateContent>
          </a:graphicData>
        </a:graphic>
      </p:graphicFrame>
      <p:graphicFrame>
        <p:nvGraphicFramePr>
          <p:cNvPr id="5" name="Object 3">
            <a:extLst>
              <a:ext uri="{FF2B5EF4-FFF2-40B4-BE49-F238E27FC236}">
                <a16:creationId xmlns:a16="http://schemas.microsoft.com/office/drawing/2014/main" id="{FD535758-00A8-4BA6-87AE-8F55197B8499}"/>
              </a:ext>
            </a:extLst>
          </p:cNvPr>
          <p:cNvGraphicFramePr>
            <a:graphicFrameLocks noChangeAspect="1"/>
          </p:cNvGraphicFramePr>
          <p:nvPr>
            <p:extLst>
              <p:ext uri="{D42A27DB-BD31-4B8C-83A1-F6EECF244321}">
                <p14:modId xmlns:p14="http://schemas.microsoft.com/office/powerpoint/2010/main" val="1112240617"/>
              </p:ext>
            </p:extLst>
          </p:nvPr>
        </p:nvGraphicFramePr>
        <p:xfrm>
          <a:off x="2494451" y="4828661"/>
          <a:ext cx="6580187" cy="931863"/>
        </p:xfrm>
        <a:graphic>
          <a:graphicData uri="http://schemas.openxmlformats.org/presentationml/2006/ole">
            <mc:AlternateContent xmlns:mc="http://schemas.openxmlformats.org/markup-compatibility/2006">
              <mc:Choice xmlns:v="urn:schemas-microsoft-com:vml" Requires="v">
                <p:oleObj spid="_x0000_s9241" name="公式" r:id="rId7" imgW="1815840" imgH="253800" progId="Equations">
                  <p:embed/>
                </p:oleObj>
              </mc:Choice>
              <mc:Fallback>
                <p:oleObj name="公式" r:id="rId7" imgW="1815840" imgH="253800" progId="Equations">
                  <p:embed/>
                  <p:pic>
                    <p:nvPicPr>
                      <p:cNvPr id="6" name="Object 3">
                        <a:extLst>
                          <a:ext uri="{FF2B5EF4-FFF2-40B4-BE49-F238E27FC236}">
                            <a16:creationId xmlns:a16="http://schemas.microsoft.com/office/drawing/2014/main" id="{FADAEA61-5D94-471D-BAAA-E382640183B4}"/>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494451" y="4828661"/>
                        <a:ext cx="6580187" cy="9318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89800174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7">
            <a:extLst>
              <a:ext uri="{FF2B5EF4-FFF2-40B4-BE49-F238E27FC236}">
                <a16:creationId xmlns:a16="http://schemas.microsoft.com/office/drawing/2014/main" id="{FB7159F5-9C49-4384-9653-337E274F3796}"/>
              </a:ext>
            </a:extLst>
          </p:cNvPr>
          <p:cNvSpPr>
            <a:spLocks noChangeArrowheads="1"/>
          </p:cNvSpPr>
          <p:nvPr/>
        </p:nvSpPr>
        <p:spPr bwMode="auto">
          <a:xfrm>
            <a:off x="695400" y="908721"/>
            <a:ext cx="11233248" cy="18722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342900" indent="-342900">
              <a:lnSpc>
                <a:spcPct val="150000"/>
              </a:lnSpc>
              <a:buClr>
                <a:schemeClr val="folHlink"/>
              </a:buClr>
              <a:buSzPct val="60000"/>
              <a:buFont typeface="Wingdings" pitchFamily="2" charset="2"/>
              <a:buNone/>
            </a:pPr>
            <a:endParaRPr kumimoji="1" lang="en-US" altLang="zh-CN" sz="4800" b="0" baseline="30000" dirty="0">
              <a:latin typeface="Tahoma" pitchFamily="34" charset="0"/>
            </a:endParaRPr>
          </a:p>
          <a:p>
            <a:pPr marL="342900" indent="-342900">
              <a:lnSpc>
                <a:spcPct val="150000"/>
              </a:lnSpc>
              <a:buClr>
                <a:schemeClr val="folHlink"/>
              </a:buClr>
              <a:buSzPct val="60000"/>
              <a:buFont typeface="Wingdings" pitchFamily="2" charset="2"/>
              <a:buNone/>
            </a:pPr>
            <a:r>
              <a:rPr kumimoji="1" lang="zh-CN" altLang="en-US" sz="4800" b="1" baseline="30000" dirty="0">
                <a:solidFill>
                  <a:srgbClr val="3308E8"/>
                </a:solidFill>
                <a:latin typeface="Tahoma" pitchFamily="34" charset="0"/>
              </a:rPr>
              <a:t>例</a:t>
            </a:r>
            <a:r>
              <a:rPr kumimoji="1" lang="en-US" altLang="zh-CN" sz="4800" b="1" baseline="30000" dirty="0">
                <a:solidFill>
                  <a:srgbClr val="3308E8"/>
                </a:solidFill>
                <a:latin typeface="Tahoma" pitchFamily="34" charset="0"/>
              </a:rPr>
              <a:t>1.30</a:t>
            </a:r>
            <a:r>
              <a:rPr kumimoji="1" lang="en-US" altLang="zh-CN" sz="4800" b="0" baseline="30000" dirty="0">
                <a:latin typeface="Tahoma" pitchFamily="34" charset="0"/>
              </a:rPr>
              <a:t>   </a:t>
            </a:r>
            <a:r>
              <a:rPr kumimoji="1" lang="zh-CN" altLang="en-US" sz="4800" b="0" baseline="30000" dirty="0">
                <a:latin typeface="Tahoma" pitchFamily="34" charset="0"/>
              </a:rPr>
              <a:t>在</a:t>
            </a:r>
            <a:r>
              <a:rPr kumimoji="1" lang="en-US" altLang="zh-CN" sz="4800" b="0" baseline="30000" dirty="0">
                <a:latin typeface="Tahoma" pitchFamily="34" charset="0"/>
              </a:rPr>
              <a:t>20</a:t>
            </a:r>
            <a:r>
              <a:rPr kumimoji="1" lang="zh-CN" altLang="en-US" sz="4800" b="0" baseline="30000" dirty="0">
                <a:latin typeface="Tahoma" pitchFamily="34" charset="0"/>
              </a:rPr>
              <a:t>名青年有</a:t>
            </a:r>
            <a:r>
              <a:rPr kumimoji="1" lang="en-US" altLang="zh-CN" sz="4800" b="0" baseline="30000" dirty="0">
                <a:latin typeface="Tahoma" pitchFamily="34" charset="0"/>
              </a:rPr>
              <a:t>10</a:t>
            </a:r>
            <a:r>
              <a:rPr kumimoji="1" lang="zh-CN" altLang="en-US" sz="4800" b="0" baseline="30000" dirty="0">
                <a:latin typeface="Tahoma" pitchFamily="34" charset="0"/>
              </a:rPr>
              <a:t>名是公司职员，</a:t>
            </a:r>
            <a:r>
              <a:rPr kumimoji="1" lang="en-US" altLang="zh-CN" sz="4800" b="0" baseline="30000" dirty="0">
                <a:latin typeface="Tahoma" pitchFamily="34" charset="0"/>
              </a:rPr>
              <a:t>12</a:t>
            </a:r>
            <a:r>
              <a:rPr kumimoji="1" lang="zh-CN" altLang="en-US" sz="4800" b="0" baseline="30000" dirty="0">
                <a:latin typeface="Tahoma" pitchFamily="34" charset="0"/>
              </a:rPr>
              <a:t>名是学生，其中</a:t>
            </a:r>
            <a:r>
              <a:rPr kumimoji="1" lang="en-US" altLang="zh-CN" sz="4800" b="0" baseline="30000" dirty="0">
                <a:latin typeface="Tahoma" pitchFamily="34" charset="0"/>
              </a:rPr>
              <a:t>5</a:t>
            </a:r>
            <a:r>
              <a:rPr kumimoji="1" lang="zh-CN" altLang="en-US" sz="4800" b="0" baseline="30000" dirty="0">
                <a:latin typeface="Tahoma" pitchFamily="34" charset="0"/>
              </a:rPr>
              <a:t>名既是职员又是学生，问有几名既不是职员，又不是学生。</a:t>
            </a:r>
            <a:endParaRPr kumimoji="1" lang="en-US" altLang="zh-CN" sz="4800" b="0" baseline="30000" dirty="0">
              <a:latin typeface="Tahoma" pitchFamily="34" charset="0"/>
            </a:endParaRPr>
          </a:p>
        </p:txBody>
      </p:sp>
      <p:sp>
        <p:nvSpPr>
          <p:cNvPr id="3" name="Rectangle 2">
            <a:extLst>
              <a:ext uri="{FF2B5EF4-FFF2-40B4-BE49-F238E27FC236}">
                <a16:creationId xmlns:a16="http://schemas.microsoft.com/office/drawing/2014/main" id="{29A1D752-0A15-42AF-B8BD-6B418C635207}"/>
              </a:ext>
            </a:extLst>
          </p:cNvPr>
          <p:cNvSpPr>
            <a:spLocks noChangeArrowheads="1"/>
          </p:cNvSpPr>
          <p:nvPr/>
        </p:nvSpPr>
        <p:spPr bwMode="auto">
          <a:xfrm>
            <a:off x="833252" y="3360712"/>
            <a:ext cx="10525496" cy="25885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342900" indent="-342900">
              <a:lnSpc>
                <a:spcPct val="130000"/>
              </a:lnSpc>
            </a:pPr>
            <a:r>
              <a:rPr kumimoji="1" lang="zh-CN" altLang="en-US" sz="3600" baseline="30000" dirty="0">
                <a:solidFill>
                  <a:schemeClr val="hlink"/>
                </a:solidFill>
                <a:latin typeface="宋体" pitchFamily="2" charset="-122"/>
              </a:rPr>
              <a:t>解</a:t>
            </a:r>
            <a:r>
              <a:rPr kumimoji="1" lang="zh-CN" altLang="en-US" sz="3600" b="0" baseline="30000" dirty="0">
                <a:latin typeface="宋体" pitchFamily="2" charset="-122"/>
              </a:rPr>
              <a:t> 设集合</a:t>
            </a:r>
            <a:r>
              <a:rPr kumimoji="1" lang="en-US" altLang="zh-CN" sz="3600" b="0" baseline="30000" dirty="0">
                <a:latin typeface="宋体" pitchFamily="2" charset="-122"/>
              </a:rPr>
              <a:t>A</a:t>
            </a:r>
            <a:r>
              <a:rPr kumimoji="1" lang="zh-CN" altLang="en-US" sz="3600" b="0" baseline="30000" dirty="0">
                <a:latin typeface="宋体" pitchFamily="2" charset="-122"/>
              </a:rPr>
              <a:t>是职员集合，集合</a:t>
            </a:r>
            <a:r>
              <a:rPr kumimoji="1" lang="en-US" altLang="zh-CN" sz="3600" b="0" baseline="30000" dirty="0">
                <a:latin typeface="宋体" pitchFamily="2" charset="-122"/>
              </a:rPr>
              <a:t>B</a:t>
            </a:r>
            <a:r>
              <a:rPr kumimoji="1" lang="zh-CN" altLang="en-US" sz="3600" b="0" baseline="30000" dirty="0">
                <a:latin typeface="宋体" pitchFamily="2" charset="-122"/>
              </a:rPr>
              <a:t>是学生集合，根据题意有：</a:t>
            </a:r>
            <a:endParaRPr kumimoji="1" lang="zh-CN" altLang="en-US" sz="3600" b="0" baseline="30000" dirty="0">
              <a:latin typeface="宋体" pitchFamily="2" charset="-122"/>
              <a:sym typeface="Symbol" pitchFamily="18" charset="2"/>
            </a:endParaRPr>
          </a:p>
          <a:p>
            <a:pPr marL="342900" indent="-342900">
              <a:lnSpc>
                <a:spcPct val="130000"/>
              </a:lnSpc>
            </a:pPr>
            <a:r>
              <a:rPr kumimoji="1" lang="zh-CN" altLang="en-US" sz="3600" b="0" baseline="30000" dirty="0">
                <a:latin typeface="宋体" pitchFamily="2" charset="-122"/>
                <a:sym typeface="Symbol" pitchFamily="18" charset="2"/>
              </a:rPr>
              <a:t></a:t>
            </a:r>
            <a:r>
              <a:rPr kumimoji="1" lang="en-US" altLang="zh-CN" sz="3600" b="0" baseline="30000" dirty="0">
                <a:latin typeface="宋体" pitchFamily="2" charset="-122"/>
              </a:rPr>
              <a:t>A</a:t>
            </a:r>
            <a:r>
              <a:rPr kumimoji="1" lang="en-US" altLang="zh-CN" sz="3600" b="0" baseline="30000" dirty="0">
                <a:latin typeface="宋体" pitchFamily="2" charset="-122"/>
                <a:sym typeface="Symbol" pitchFamily="18" charset="2"/>
              </a:rPr>
              <a:t></a:t>
            </a:r>
            <a:r>
              <a:rPr kumimoji="1" lang="en-US" altLang="zh-CN" sz="3600" b="0" baseline="30000" dirty="0">
                <a:latin typeface="宋体" pitchFamily="2" charset="-122"/>
              </a:rPr>
              <a:t>=10</a:t>
            </a:r>
            <a:r>
              <a:rPr kumimoji="1" lang="zh-CN" altLang="en-US" sz="3600" b="0" baseline="30000" dirty="0">
                <a:latin typeface="宋体" pitchFamily="2" charset="-122"/>
              </a:rPr>
              <a:t>，</a:t>
            </a:r>
            <a:r>
              <a:rPr kumimoji="1" lang="zh-CN" altLang="en-US" sz="3600" b="0" baseline="30000" dirty="0">
                <a:latin typeface="宋体" pitchFamily="2" charset="-122"/>
                <a:sym typeface="Symbol" pitchFamily="18" charset="2"/>
              </a:rPr>
              <a:t></a:t>
            </a:r>
            <a:r>
              <a:rPr kumimoji="1" lang="zh-CN" altLang="en-US" sz="3600" b="0" baseline="30000" dirty="0">
                <a:latin typeface="宋体" pitchFamily="2" charset="-122"/>
              </a:rPr>
              <a:t> </a:t>
            </a:r>
            <a:r>
              <a:rPr kumimoji="1" lang="en-US" altLang="zh-CN" sz="3600" b="0" baseline="30000" dirty="0">
                <a:latin typeface="宋体" pitchFamily="2" charset="-122"/>
              </a:rPr>
              <a:t>B </a:t>
            </a:r>
            <a:r>
              <a:rPr kumimoji="1" lang="en-US" altLang="zh-CN" sz="3600" b="0" baseline="30000" dirty="0">
                <a:latin typeface="宋体" pitchFamily="2" charset="-122"/>
                <a:sym typeface="Symbol" pitchFamily="18" charset="2"/>
              </a:rPr>
              <a:t></a:t>
            </a:r>
            <a:r>
              <a:rPr kumimoji="1" lang="en-US" altLang="zh-CN" sz="3600" b="0" baseline="30000" dirty="0">
                <a:latin typeface="宋体" pitchFamily="2" charset="-122"/>
              </a:rPr>
              <a:t> =12</a:t>
            </a:r>
            <a:r>
              <a:rPr kumimoji="1" lang="zh-CN" altLang="en-US" sz="3600" b="0" baseline="30000" dirty="0">
                <a:latin typeface="宋体" pitchFamily="2" charset="-122"/>
              </a:rPr>
              <a:t>， </a:t>
            </a:r>
            <a:r>
              <a:rPr kumimoji="1" lang="zh-CN" altLang="en-US" sz="3600" b="0" baseline="30000" dirty="0">
                <a:latin typeface="宋体" pitchFamily="2" charset="-122"/>
                <a:sym typeface="Symbol" pitchFamily="18" charset="2"/>
              </a:rPr>
              <a:t></a:t>
            </a:r>
            <a:r>
              <a:rPr kumimoji="1" lang="en-US" altLang="zh-CN" sz="3600" b="0" baseline="30000" dirty="0">
                <a:latin typeface="宋体" pitchFamily="2" charset="-122"/>
              </a:rPr>
              <a:t>A∩B</a:t>
            </a:r>
            <a:r>
              <a:rPr kumimoji="1" lang="en-US" altLang="zh-CN" sz="3600" b="0" baseline="30000" dirty="0">
                <a:latin typeface="宋体" pitchFamily="2" charset="-122"/>
                <a:sym typeface="Symbol" pitchFamily="18" charset="2"/>
              </a:rPr>
              <a:t></a:t>
            </a:r>
            <a:r>
              <a:rPr kumimoji="1" lang="en-US" altLang="zh-CN" sz="3600" b="0" baseline="30000" dirty="0">
                <a:latin typeface="宋体" pitchFamily="2" charset="-122"/>
              </a:rPr>
              <a:t>=5</a:t>
            </a:r>
            <a:endParaRPr kumimoji="1" lang="en-US" altLang="zh-CN" sz="3600" b="0" baseline="30000" dirty="0">
              <a:latin typeface="宋体" pitchFamily="2" charset="-122"/>
              <a:sym typeface="Symbol" pitchFamily="18" charset="2"/>
            </a:endParaRPr>
          </a:p>
          <a:p>
            <a:pPr marL="342900" indent="-342900">
              <a:lnSpc>
                <a:spcPct val="130000"/>
              </a:lnSpc>
            </a:pPr>
            <a:r>
              <a:rPr kumimoji="1" lang="en-US" altLang="zh-CN" sz="3600" b="0" baseline="30000" dirty="0">
                <a:latin typeface="宋体" pitchFamily="2" charset="-122"/>
                <a:sym typeface="Symbol" pitchFamily="18" charset="2"/>
              </a:rPr>
              <a:t></a:t>
            </a:r>
            <a:r>
              <a:rPr kumimoji="1" lang="en-US" altLang="zh-CN" sz="3600" b="0" baseline="30000" dirty="0">
                <a:latin typeface="宋体" pitchFamily="2" charset="-122"/>
              </a:rPr>
              <a:t>A∪B</a:t>
            </a:r>
            <a:r>
              <a:rPr kumimoji="1" lang="en-US" altLang="zh-CN" sz="3600" b="0" baseline="30000" dirty="0">
                <a:latin typeface="宋体" pitchFamily="2" charset="-122"/>
                <a:sym typeface="Symbol" pitchFamily="18" charset="2"/>
              </a:rPr>
              <a:t></a:t>
            </a:r>
            <a:r>
              <a:rPr kumimoji="1" lang="en-US" altLang="zh-CN" sz="3600" b="0" baseline="30000" dirty="0">
                <a:latin typeface="宋体" pitchFamily="2" charset="-122"/>
              </a:rPr>
              <a:t>=</a:t>
            </a:r>
            <a:r>
              <a:rPr kumimoji="1" lang="en-US" altLang="zh-CN" sz="3600" b="0" baseline="30000" dirty="0">
                <a:latin typeface="宋体" pitchFamily="2" charset="-122"/>
                <a:sym typeface="Symbol" pitchFamily="18" charset="2"/>
              </a:rPr>
              <a:t></a:t>
            </a:r>
            <a:r>
              <a:rPr kumimoji="1" lang="en-US" altLang="zh-CN" sz="3600" b="0" baseline="30000" dirty="0">
                <a:latin typeface="宋体" pitchFamily="2" charset="-122"/>
              </a:rPr>
              <a:t>A</a:t>
            </a:r>
            <a:r>
              <a:rPr kumimoji="1" lang="en-US" altLang="zh-CN" sz="3600" b="0" baseline="30000" dirty="0">
                <a:latin typeface="宋体" pitchFamily="2" charset="-122"/>
                <a:sym typeface="Symbol" pitchFamily="18" charset="2"/>
              </a:rPr>
              <a:t></a:t>
            </a:r>
            <a:r>
              <a:rPr kumimoji="1" lang="en-US" altLang="zh-CN" sz="3600" b="0" baseline="30000" dirty="0">
                <a:latin typeface="宋体" pitchFamily="2" charset="-122"/>
              </a:rPr>
              <a:t>+</a:t>
            </a:r>
            <a:r>
              <a:rPr kumimoji="1" lang="en-US" altLang="zh-CN" sz="3600" b="0" baseline="30000" dirty="0">
                <a:latin typeface="宋体" pitchFamily="2" charset="-122"/>
                <a:sym typeface="Symbol" pitchFamily="18" charset="2"/>
              </a:rPr>
              <a:t></a:t>
            </a:r>
            <a:r>
              <a:rPr kumimoji="1" lang="en-US" altLang="zh-CN" sz="3600" b="0" baseline="30000" dirty="0">
                <a:latin typeface="宋体" pitchFamily="2" charset="-122"/>
              </a:rPr>
              <a:t>B</a:t>
            </a:r>
            <a:r>
              <a:rPr kumimoji="1" lang="en-US" altLang="zh-CN" sz="3600" b="0" baseline="30000" dirty="0">
                <a:latin typeface="宋体" pitchFamily="2" charset="-122"/>
                <a:sym typeface="Symbol" pitchFamily="18" charset="2"/>
              </a:rPr>
              <a:t></a:t>
            </a:r>
            <a:r>
              <a:rPr kumimoji="1" lang="en-US" altLang="zh-CN" sz="3600" b="0" baseline="30000" dirty="0">
                <a:latin typeface="宋体" pitchFamily="2" charset="-122"/>
              </a:rPr>
              <a:t>-</a:t>
            </a:r>
            <a:r>
              <a:rPr kumimoji="1" lang="en-US" altLang="zh-CN" sz="3600" b="0" baseline="30000" dirty="0">
                <a:latin typeface="宋体" pitchFamily="2" charset="-122"/>
                <a:sym typeface="Symbol" pitchFamily="18" charset="2"/>
              </a:rPr>
              <a:t></a:t>
            </a:r>
            <a:r>
              <a:rPr kumimoji="1" lang="en-US" altLang="zh-CN" sz="3600" b="0" baseline="30000" dirty="0">
                <a:latin typeface="宋体" pitchFamily="2" charset="-122"/>
              </a:rPr>
              <a:t>A∩B</a:t>
            </a:r>
            <a:r>
              <a:rPr kumimoji="1" lang="en-US" altLang="zh-CN" sz="3600" b="0" baseline="30000" dirty="0">
                <a:latin typeface="宋体" pitchFamily="2" charset="-122"/>
                <a:sym typeface="Symbol" pitchFamily="18" charset="2"/>
              </a:rPr>
              <a:t></a:t>
            </a:r>
            <a:r>
              <a:rPr kumimoji="1" lang="en-US" altLang="zh-CN" sz="3600" b="0" baseline="30000" dirty="0">
                <a:latin typeface="宋体" pitchFamily="2" charset="-122"/>
              </a:rPr>
              <a:t>=10+12-5=17</a:t>
            </a:r>
          </a:p>
          <a:p>
            <a:pPr marL="342900" indent="-342900">
              <a:lnSpc>
                <a:spcPct val="130000"/>
              </a:lnSpc>
            </a:pPr>
            <a:r>
              <a:rPr kumimoji="1" lang="zh-CN" altLang="en-US" sz="3600" b="0" baseline="30000" dirty="0">
                <a:latin typeface="宋体" pitchFamily="2" charset="-122"/>
              </a:rPr>
              <a:t>则</a:t>
            </a:r>
            <a:r>
              <a:rPr kumimoji="1" lang="zh-CN" altLang="en-US" sz="3600" b="0" baseline="30000" dirty="0">
                <a:latin typeface="宋体" pitchFamily="2" charset="-122"/>
                <a:sym typeface="Symbol" pitchFamily="18" charset="2"/>
              </a:rPr>
              <a:t></a:t>
            </a:r>
            <a:r>
              <a:rPr kumimoji="1" lang="zh-CN" altLang="en-US" sz="3600" b="0" baseline="30000" dirty="0">
                <a:latin typeface="宋体" pitchFamily="2" charset="-122"/>
              </a:rPr>
              <a:t> </a:t>
            </a:r>
            <a:r>
              <a:rPr kumimoji="1" lang="en-US" altLang="zh-CN" sz="3600" b="0" baseline="30000" dirty="0">
                <a:latin typeface="宋体" pitchFamily="2" charset="-122"/>
              </a:rPr>
              <a:t>(A∪B)</a:t>
            </a:r>
            <a:r>
              <a:rPr kumimoji="1" lang="en-US" altLang="zh-CN" sz="3600" b="0" baseline="30000" dirty="0">
                <a:latin typeface="宋体" pitchFamily="2" charset="-122"/>
                <a:sym typeface="Symbol" pitchFamily="18" charset="2"/>
              </a:rPr>
              <a:t></a:t>
            </a:r>
            <a:r>
              <a:rPr kumimoji="1" lang="en-US" altLang="zh-CN" sz="3600" b="0" baseline="30000" dirty="0">
                <a:latin typeface="宋体" pitchFamily="2" charset="-122"/>
              </a:rPr>
              <a:t>=</a:t>
            </a:r>
            <a:r>
              <a:rPr kumimoji="1" lang="en-US" altLang="zh-CN" sz="3600" b="0" baseline="30000" dirty="0">
                <a:latin typeface="宋体" pitchFamily="2" charset="-122"/>
                <a:sym typeface="Symbol" pitchFamily="18" charset="2"/>
              </a:rPr>
              <a:t></a:t>
            </a:r>
            <a:r>
              <a:rPr kumimoji="1" lang="en-US" altLang="zh-CN" sz="3600" b="0" baseline="30000" dirty="0">
                <a:latin typeface="宋体" pitchFamily="2" charset="-122"/>
              </a:rPr>
              <a:t>E</a:t>
            </a:r>
            <a:r>
              <a:rPr kumimoji="1" lang="en-US" altLang="zh-CN" sz="3600" b="0" baseline="30000" dirty="0">
                <a:latin typeface="宋体" pitchFamily="2" charset="-122"/>
                <a:sym typeface="Symbol" pitchFamily="18" charset="2"/>
              </a:rPr>
              <a:t></a:t>
            </a:r>
            <a:r>
              <a:rPr kumimoji="1" lang="en-US" altLang="zh-CN" sz="3600" b="0" baseline="30000" dirty="0">
                <a:latin typeface="宋体" pitchFamily="2" charset="-122"/>
              </a:rPr>
              <a:t>-</a:t>
            </a:r>
            <a:r>
              <a:rPr kumimoji="1" lang="en-US" altLang="zh-CN" sz="3600" b="0" baseline="30000" dirty="0">
                <a:latin typeface="宋体" pitchFamily="2" charset="-122"/>
                <a:sym typeface="Symbol" pitchFamily="18" charset="2"/>
              </a:rPr>
              <a:t></a:t>
            </a:r>
            <a:r>
              <a:rPr kumimoji="1" lang="en-US" altLang="zh-CN" sz="3600" b="0" baseline="30000" dirty="0">
                <a:latin typeface="宋体" pitchFamily="2" charset="-122"/>
              </a:rPr>
              <a:t>A∪B</a:t>
            </a:r>
            <a:r>
              <a:rPr kumimoji="1" lang="en-US" altLang="zh-CN" sz="3600" b="0" baseline="30000" dirty="0">
                <a:latin typeface="宋体" pitchFamily="2" charset="-122"/>
                <a:sym typeface="Symbol" pitchFamily="18" charset="2"/>
              </a:rPr>
              <a:t></a:t>
            </a:r>
            <a:r>
              <a:rPr kumimoji="1" lang="en-US" altLang="zh-CN" sz="3600" b="0" baseline="30000" dirty="0">
                <a:latin typeface="宋体" pitchFamily="2" charset="-122"/>
              </a:rPr>
              <a:t>=20-17=3</a:t>
            </a:r>
          </a:p>
          <a:p>
            <a:pPr marL="342900" indent="-342900">
              <a:lnSpc>
                <a:spcPct val="130000"/>
              </a:lnSpc>
            </a:pPr>
            <a:r>
              <a:rPr kumimoji="1" lang="zh-CN" altLang="en-US" sz="3600" b="0" baseline="30000" dirty="0">
                <a:latin typeface="宋体" pitchFamily="2" charset="-122"/>
              </a:rPr>
              <a:t>因此，有</a:t>
            </a:r>
            <a:r>
              <a:rPr kumimoji="1" lang="en-US" altLang="zh-CN" sz="3600" b="0" baseline="30000" dirty="0">
                <a:latin typeface="宋体" pitchFamily="2" charset="-122"/>
              </a:rPr>
              <a:t>3</a:t>
            </a:r>
            <a:r>
              <a:rPr kumimoji="1" lang="zh-CN" altLang="en-US" sz="3600" b="0" baseline="30000" dirty="0">
                <a:latin typeface="宋体" pitchFamily="2" charset="-122"/>
              </a:rPr>
              <a:t>名既不是职员又不是学生。 </a:t>
            </a:r>
          </a:p>
        </p:txBody>
      </p:sp>
    </p:spTree>
    <p:extLst>
      <p:ext uri="{BB962C8B-B14F-4D97-AF65-F5344CB8AC3E}">
        <p14:creationId xmlns:p14="http://schemas.microsoft.com/office/powerpoint/2010/main" val="48846342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
            <a:extLst>
              <a:ext uri="{FF2B5EF4-FFF2-40B4-BE49-F238E27FC236}">
                <a16:creationId xmlns:a16="http://schemas.microsoft.com/office/drawing/2014/main" id="{81E4A146-976E-4546-BCF4-E35146F5D7F5}"/>
              </a:ext>
            </a:extLst>
          </p:cNvPr>
          <p:cNvSpPr txBox="1">
            <a:spLocks noChangeArrowheads="1"/>
          </p:cNvSpPr>
          <p:nvPr/>
        </p:nvSpPr>
        <p:spPr>
          <a:xfrm>
            <a:off x="468288" y="1412776"/>
            <a:ext cx="11255424" cy="1656184"/>
          </a:xfrm>
          <a:prstGeom prst="rect">
            <a:avLst/>
          </a:prstGeom>
        </p:spPr>
        <p:txBody>
          <a:bodyPr/>
          <a:lstStyle>
            <a:lvl1pPr marL="257175" indent="-257175" algn="l" defTabSz="685800" rtl="0" eaLnBrk="1" latinLnBrk="0" hangingPunct="1">
              <a:spcBef>
                <a:spcPct val="20000"/>
              </a:spcBef>
              <a:buFont typeface="Arial" pitchFamily="34" charset="0"/>
              <a:buChar char="•"/>
              <a:defRPr sz="2400" kern="1200">
                <a:solidFill>
                  <a:schemeClr val="tx1"/>
                </a:solidFill>
                <a:latin typeface="+mn-lt"/>
                <a:ea typeface="+mn-ea"/>
                <a:cs typeface="+mn-cs"/>
              </a:defRPr>
            </a:lvl1pPr>
            <a:lvl2pPr marL="557213" indent="-214313" algn="l" defTabSz="685800" rtl="0" eaLnBrk="1" latinLnBrk="0" hangingPunct="1">
              <a:spcBef>
                <a:spcPct val="20000"/>
              </a:spcBef>
              <a:buFont typeface="Arial" pitchFamily="34" charset="0"/>
              <a:buChar char="–"/>
              <a:defRPr sz="2100" kern="1200">
                <a:solidFill>
                  <a:schemeClr val="tx1"/>
                </a:solidFill>
                <a:latin typeface="+mn-lt"/>
                <a:ea typeface="+mn-ea"/>
                <a:cs typeface="+mn-cs"/>
              </a:defRPr>
            </a:lvl2pPr>
            <a:lvl3pPr marL="857250" indent="-171450" algn="l" defTabSz="685800" rtl="0" eaLnBrk="1" latinLnBrk="0" hangingPunct="1">
              <a:spcBef>
                <a:spcPct val="20000"/>
              </a:spcBef>
              <a:buFont typeface="Arial" pitchFamily="34" charset="0"/>
              <a:buChar char="•"/>
              <a:defRPr sz="1800" kern="1200">
                <a:solidFill>
                  <a:schemeClr val="tx1"/>
                </a:solidFill>
                <a:latin typeface="+mn-lt"/>
                <a:ea typeface="+mn-ea"/>
                <a:cs typeface="+mn-cs"/>
              </a:defRPr>
            </a:lvl3pPr>
            <a:lvl4pPr marL="12001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4pPr>
            <a:lvl5pPr marL="15430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a:buFontTx/>
              <a:buNone/>
            </a:pPr>
            <a:r>
              <a:rPr lang="zh-CN" altLang="en-US" b="1" dirty="0">
                <a:solidFill>
                  <a:srgbClr val="3308E8"/>
                </a:solidFill>
              </a:rPr>
              <a:t>例</a:t>
            </a:r>
            <a:r>
              <a:rPr lang="en-US" altLang="zh-CN" b="1" dirty="0">
                <a:solidFill>
                  <a:srgbClr val="3308E8"/>
                </a:solidFill>
              </a:rPr>
              <a:t>1.32  </a:t>
            </a:r>
            <a:r>
              <a:rPr lang="zh-CN" altLang="en-US" dirty="0"/>
              <a:t>某市举行中学生数学、物理、化学三科竞赛，共有</a:t>
            </a:r>
            <a:r>
              <a:rPr lang="en-US" altLang="zh-CN" dirty="0"/>
              <a:t>100</a:t>
            </a:r>
            <a:r>
              <a:rPr lang="zh-CN" altLang="en-US" dirty="0"/>
              <a:t>人参加竞赛，结果数学优秀者为</a:t>
            </a:r>
            <a:r>
              <a:rPr lang="en-US" altLang="zh-CN" dirty="0"/>
              <a:t>41</a:t>
            </a:r>
            <a:r>
              <a:rPr lang="zh-CN" altLang="en-US" dirty="0"/>
              <a:t>人，物理优秀者为</a:t>
            </a:r>
            <a:r>
              <a:rPr lang="en-US" altLang="zh-CN" dirty="0"/>
              <a:t>46</a:t>
            </a:r>
            <a:r>
              <a:rPr lang="zh-CN" altLang="en-US" dirty="0"/>
              <a:t>人，化学优秀者为</a:t>
            </a:r>
            <a:r>
              <a:rPr lang="en-US" altLang="zh-CN" dirty="0"/>
              <a:t>39</a:t>
            </a:r>
            <a:r>
              <a:rPr lang="zh-CN" altLang="en-US" dirty="0"/>
              <a:t>人，三门课全优者为</a:t>
            </a:r>
            <a:r>
              <a:rPr lang="en-US" altLang="zh-CN" dirty="0"/>
              <a:t>8</a:t>
            </a:r>
            <a:r>
              <a:rPr lang="zh-CN" altLang="en-US" dirty="0"/>
              <a:t>人，仅两门课为优者</a:t>
            </a:r>
            <a:r>
              <a:rPr lang="en-US" altLang="zh-CN" dirty="0"/>
              <a:t>26</a:t>
            </a:r>
            <a:r>
              <a:rPr lang="zh-CN" altLang="en-US" dirty="0"/>
              <a:t>人，问没有得到优秀的人数是多少？ </a:t>
            </a:r>
          </a:p>
        </p:txBody>
      </p:sp>
      <p:sp>
        <p:nvSpPr>
          <p:cNvPr id="3" name="Rectangle 3">
            <a:extLst>
              <a:ext uri="{FF2B5EF4-FFF2-40B4-BE49-F238E27FC236}">
                <a16:creationId xmlns:a16="http://schemas.microsoft.com/office/drawing/2014/main" id="{40C38422-0192-41E7-9122-E63650CF200B}"/>
              </a:ext>
            </a:extLst>
          </p:cNvPr>
          <p:cNvSpPr txBox="1">
            <a:spLocks noChangeArrowheads="1"/>
          </p:cNvSpPr>
          <p:nvPr/>
        </p:nvSpPr>
        <p:spPr>
          <a:xfrm>
            <a:off x="335360" y="2780928"/>
            <a:ext cx="11775677" cy="3575425"/>
          </a:xfrm>
          <a:prstGeom prst="rect">
            <a:avLst/>
          </a:prstGeom>
        </p:spPr>
        <p:txBody>
          <a:bodyPr>
            <a:normAutofit fontScale="85000" lnSpcReduction="20000"/>
          </a:bodyPr>
          <a:lstStyle>
            <a:lvl1pPr marL="257175" indent="-257175" algn="l" defTabSz="685800" rtl="0" eaLnBrk="1" latinLnBrk="0" hangingPunct="1">
              <a:spcBef>
                <a:spcPct val="20000"/>
              </a:spcBef>
              <a:buFont typeface="Arial" pitchFamily="34" charset="0"/>
              <a:buChar char="•"/>
              <a:defRPr sz="2400" kern="1200">
                <a:solidFill>
                  <a:schemeClr val="tx1"/>
                </a:solidFill>
                <a:latin typeface="+mn-lt"/>
                <a:ea typeface="+mn-ea"/>
                <a:cs typeface="+mn-cs"/>
              </a:defRPr>
            </a:lvl1pPr>
            <a:lvl2pPr marL="557213" indent="-214313" algn="l" defTabSz="685800" rtl="0" eaLnBrk="1" latinLnBrk="0" hangingPunct="1">
              <a:spcBef>
                <a:spcPct val="20000"/>
              </a:spcBef>
              <a:buFont typeface="Arial" pitchFamily="34" charset="0"/>
              <a:buChar char="–"/>
              <a:defRPr sz="2100" kern="1200">
                <a:solidFill>
                  <a:schemeClr val="tx1"/>
                </a:solidFill>
                <a:latin typeface="+mn-lt"/>
                <a:ea typeface="+mn-ea"/>
                <a:cs typeface="+mn-cs"/>
              </a:defRPr>
            </a:lvl2pPr>
            <a:lvl3pPr marL="857250" indent="-171450" algn="l" defTabSz="685800" rtl="0" eaLnBrk="1" latinLnBrk="0" hangingPunct="1">
              <a:spcBef>
                <a:spcPct val="20000"/>
              </a:spcBef>
              <a:buFont typeface="Arial" pitchFamily="34" charset="0"/>
              <a:buChar char="•"/>
              <a:defRPr sz="1800" kern="1200">
                <a:solidFill>
                  <a:schemeClr val="tx1"/>
                </a:solidFill>
                <a:latin typeface="+mn-lt"/>
                <a:ea typeface="+mn-ea"/>
                <a:cs typeface="+mn-cs"/>
              </a:defRPr>
            </a:lvl3pPr>
            <a:lvl4pPr marL="12001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4pPr>
            <a:lvl5pPr marL="15430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a:lnSpc>
                <a:spcPct val="110000"/>
              </a:lnSpc>
              <a:buFontTx/>
              <a:buNone/>
            </a:pPr>
            <a:r>
              <a:rPr lang="zh-CN" altLang="en-US" b="1" dirty="0">
                <a:solidFill>
                  <a:srgbClr val="3308E8"/>
                </a:solidFill>
              </a:rPr>
              <a:t>解</a:t>
            </a:r>
            <a:r>
              <a:rPr lang="zh-CN" altLang="en-US" dirty="0"/>
              <a:t>  设</a:t>
            </a:r>
            <a:r>
              <a:rPr lang="en-US" altLang="zh-CN" dirty="0"/>
              <a:t>A</a:t>
            </a:r>
            <a:r>
              <a:rPr lang="zh-CN" altLang="en-US" dirty="0"/>
              <a:t>表示数学优秀者的集合，</a:t>
            </a:r>
            <a:r>
              <a:rPr lang="en-US" altLang="zh-CN" dirty="0"/>
              <a:t>B</a:t>
            </a:r>
            <a:r>
              <a:rPr lang="zh-CN" altLang="en-US" dirty="0"/>
              <a:t>表示物理优秀者，</a:t>
            </a:r>
            <a:r>
              <a:rPr lang="en-US" altLang="zh-CN" dirty="0"/>
              <a:t>C</a:t>
            </a:r>
            <a:r>
              <a:rPr lang="zh-CN" altLang="en-US" dirty="0"/>
              <a:t>表示化学优秀者。由题意可得：</a:t>
            </a:r>
            <a:endParaRPr lang="en-US" altLang="zh-CN" dirty="0"/>
          </a:p>
          <a:p>
            <a:pPr>
              <a:lnSpc>
                <a:spcPct val="110000"/>
              </a:lnSpc>
              <a:buFontTx/>
              <a:buNone/>
            </a:pPr>
            <a:r>
              <a:rPr lang="zh-CN" altLang="en-US" dirty="0"/>
              <a:t> </a:t>
            </a:r>
            <a:r>
              <a:rPr lang="en-US" altLang="zh-CN" dirty="0"/>
              <a:t>|A|=41</a:t>
            </a:r>
            <a:r>
              <a:rPr lang="zh-CN" altLang="en-US" dirty="0"/>
              <a:t>，</a:t>
            </a:r>
            <a:r>
              <a:rPr lang="en-US" altLang="zh-CN" dirty="0"/>
              <a:t>|B|=46</a:t>
            </a:r>
            <a:r>
              <a:rPr lang="zh-CN" altLang="en-US" dirty="0"/>
              <a:t>，</a:t>
            </a:r>
            <a:r>
              <a:rPr lang="en-US" altLang="zh-CN" dirty="0"/>
              <a:t>|C|=39</a:t>
            </a:r>
            <a:r>
              <a:rPr lang="zh-CN" altLang="en-US" dirty="0"/>
              <a:t>，</a:t>
            </a:r>
            <a:r>
              <a:rPr lang="en-US" altLang="zh-CN" dirty="0"/>
              <a:t>|A∩B∩C|=8</a:t>
            </a:r>
          </a:p>
          <a:p>
            <a:pPr>
              <a:lnSpc>
                <a:spcPct val="110000"/>
              </a:lnSpc>
              <a:buFontTx/>
              <a:buNone/>
            </a:pPr>
            <a:r>
              <a:rPr lang="zh-CN" altLang="en-US" dirty="0"/>
              <a:t>仅两门课为优秀的人数为：</a:t>
            </a:r>
            <a:r>
              <a:rPr lang="en-US" altLang="zh-CN" dirty="0"/>
              <a:t>|(A∩B∩C</a:t>
            </a:r>
            <a:r>
              <a:rPr lang="en-US" altLang="zh-CN" dirty="0">
                <a:latin typeface="Arial"/>
              </a:rPr>
              <a:t>’</a:t>
            </a:r>
            <a:r>
              <a:rPr lang="en-US" altLang="zh-CN" dirty="0"/>
              <a:t>)∪(A∩B</a:t>
            </a:r>
            <a:r>
              <a:rPr lang="en-US" altLang="zh-CN" dirty="0">
                <a:latin typeface="Arial"/>
              </a:rPr>
              <a:t>’</a:t>
            </a:r>
            <a:r>
              <a:rPr lang="en-US" altLang="zh-CN" dirty="0"/>
              <a:t>∩C)∪(A</a:t>
            </a:r>
            <a:r>
              <a:rPr lang="en-US" altLang="zh-CN" dirty="0">
                <a:latin typeface="Arial"/>
              </a:rPr>
              <a:t>’</a:t>
            </a:r>
            <a:r>
              <a:rPr lang="en-US" altLang="zh-CN" dirty="0"/>
              <a:t>∩B∩C)|=|A∩B |+| A∩C |+| B∩C |-3|A∩B∩C|</a:t>
            </a:r>
          </a:p>
          <a:p>
            <a:pPr>
              <a:lnSpc>
                <a:spcPct val="110000"/>
              </a:lnSpc>
              <a:buFontTx/>
              <a:buNone/>
            </a:pPr>
            <a:r>
              <a:rPr lang="zh-CN" altLang="en-US" dirty="0"/>
              <a:t>即 </a:t>
            </a:r>
            <a:r>
              <a:rPr lang="en-US" altLang="zh-CN" dirty="0"/>
              <a:t>26=| A∩B |+| A∩C |+| B∩C |-3*8</a:t>
            </a:r>
          </a:p>
          <a:p>
            <a:pPr>
              <a:lnSpc>
                <a:spcPct val="110000"/>
              </a:lnSpc>
              <a:buFontTx/>
              <a:buNone/>
            </a:pPr>
            <a:r>
              <a:rPr lang="zh-CN" altLang="en-US" dirty="0"/>
              <a:t>因此 </a:t>
            </a:r>
            <a:r>
              <a:rPr lang="en-US" altLang="zh-CN" dirty="0"/>
              <a:t>| A∩B |+| A∩C |+| B∩C |=50</a:t>
            </a:r>
          </a:p>
          <a:p>
            <a:pPr>
              <a:lnSpc>
                <a:spcPct val="110000"/>
              </a:lnSpc>
              <a:buFontTx/>
              <a:buNone/>
            </a:pPr>
            <a:r>
              <a:rPr lang="zh-CN" altLang="en-US" dirty="0"/>
              <a:t>因此一门课为优秀的人数为：</a:t>
            </a:r>
          </a:p>
          <a:p>
            <a:pPr>
              <a:lnSpc>
                <a:spcPct val="110000"/>
              </a:lnSpc>
              <a:buFontTx/>
              <a:buNone/>
            </a:pPr>
            <a:r>
              <a:rPr lang="en-US" altLang="zh-CN" dirty="0"/>
              <a:t>|A∪B∪C|=|A|+|B|+|C|-| A∩B |-| A∩C |-| B∩C |+|A∩B∩C|</a:t>
            </a:r>
          </a:p>
          <a:p>
            <a:pPr>
              <a:lnSpc>
                <a:spcPct val="110000"/>
              </a:lnSpc>
              <a:buFontTx/>
              <a:buNone/>
            </a:pPr>
            <a:r>
              <a:rPr lang="en-US" altLang="zh-CN" dirty="0"/>
              <a:t>         =41+46+39-50+8</a:t>
            </a:r>
          </a:p>
          <a:p>
            <a:pPr>
              <a:lnSpc>
                <a:spcPct val="110000"/>
              </a:lnSpc>
              <a:buFontTx/>
              <a:buNone/>
            </a:pPr>
            <a:r>
              <a:rPr lang="en-US" altLang="zh-CN" dirty="0"/>
              <a:t>         =84</a:t>
            </a:r>
          </a:p>
          <a:p>
            <a:pPr>
              <a:lnSpc>
                <a:spcPct val="110000"/>
              </a:lnSpc>
              <a:buFontTx/>
              <a:buNone/>
            </a:pPr>
            <a:r>
              <a:rPr lang="zh-CN" altLang="en-US" dirty="0"/>
              <a:t>因此没有得到的优秀的人数为</a:t>
            </a:r>
            <a:r>
              <a:rPr lang="en-US" altLang="zh-CN" dirty="0"/>
              <a:t>100-84=16</a:t>
            </a:r>
            <a:r>
              <a:rPr lang="zh-CN" altLang="en-US" dirty="0"/>
              <a:t>（人）</a:t>
            </a:r>
          </a:p>
        </p:txBody>
      </p:sp>
    </p:spTree>
    <p:extLst>
      <p:ext uri="{BB962C8B-B14F-4D97-AF65-F5344CB8AC3E}">
        <p14:creationId xmlns:p14="http://schemas.microsoft.com/office/powerpoint/2010/main" val="316489001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8654F1F-68D6-46A8-A5ED-95854AEFD3FA}"/>
              </a:ext>
            </a:extLst>
          </p:cNvPr>
          <p:cNvSpPr txBox="1">
            <a:spLocks/>
          </p:cNvSpPr>
          <p:nvPr/>
        </p:nvSpPr>
        <p:spPr>
          <a:xfrm>
            <a:off x="1127448" y="379760"/>
            <a:ext cx="9588896" cy="744984"/>
          </a:xfrm>
          <a:prstGeom prst="rect">
            <a:avLst/>
          </a:prstGeom>
        </p:spPr>
        <p:txBody>
          <a:bodyPr>
            <a:normAutofit fontScale="97500"/>
          </a:bodyPr>
          <a:lstStyle>
            <a:lvl1pPr algn="ctr" defTabSz="685800" rtl="0" eaLnBrk="1" latinLnBrk="0" hangingPunct="1">
              <a:spcBef>
                <a:spcPct val="0"/>
              </a:spcBef>
              <a:buNone/>
              <a:defRPr sz="3300" kern="1200">
                <a:solidFill>
                  <a:schemeClr val="tx1"/>
                </a:solidFill>
                <a:latin typeface="+mj-lt"/>
                <a:ea typeface="+mj-ea"/>
                <a:cs typeface="+mj-cs"/>
              </a:defRPr>
            </a:lvl1pPr>
          </a:lstStyle>
          <a:p>
            <a:r>
              <a:rPr lang="zh-CN" altLang="en-US" b="1" dirty="0">
                <a:solidFill>
                  <a:srgbClr val="3308E8"/>
                </a:solidFill>
              </a:rPr>
              <a:t>例</a:t>
            </a:r>
            <a:r>
              <a:rPr lang="en-US" altLang="zh-CN" b="1" dirty="0">
                <a:solidFill>
                  <a:srgbClr val="3308E8"/>
                </a:solidFill>
              </a:rPr>
              <a:t>1.33 </a:t>
            </a:r>
            <a:r>
              <a:rPr lang="zh-CN" altLang="en-US" dirty="0"/>
              <a:t>使用包含排斥原理求不超过</a:t>
            </a:r>
            <a:r>
              <a:rPr lang="en-US" altLang="zh-CN" dirty="0"/>
              <a:t>120</a:t>
            </a:r>
            <a:r>
              <a:rPr lang="zh-CN" altLang="en-US" dirty="0"/>
              <a:t>的素数个数。</a:t>
            </a:r>
          </a:p>
        </p:txBody>
      </p:sp>
      <p:sp>
        <p:nvSpPr>
          <p:cNvPr id="3" name="内容占位符 2">
            <a:extLst>
              <a:ext uri="{FF2B5EF4-FFF2-40B4-BE49-F238E27FC236}">
                <a16:creationId xmlns:a16="http://schemas.microsoft.com/office/drawing/2014/main" id="{54D59892-349D-46A9-B404-12AAA53CCCD8}"/>
              </a:ext>
            </a:extLst>
          </p:cNvPr>
          <p:cNvSpPr txBox="1">
            <a:spLocks/>
          </p:cNvSpPr>
          <p:nvPr/>
        </p:nvSpPr>
        <p:spPr>
          <a:xfrm>
            <a:off x="407368" y="1399087"/>
            <a:ext cx="11377264" cy="4957265"/>
          </a:xfrm>
          <a:prstGeom prst="rect">
            <a:avLst/>
          </a:prstGeom>
        </p:spPr>
        <p:txBody>
          <a:bodyPr>
            <a:normAutofit fontScale="85000" lnSpcReduction="20000"/>
          </a:bodyPr>
          <a:lstStyle>
            <a:lvl1pPr marL="257175" indent="-257175" algn="l" defTabSz="685800" rtl="0" eaLnBrk="1" latinLnBrk="0" hangingPunct="1">
              <a:spcBef>
                <a:spcPct val="20000"/>
              </a:spcBef>
              <a:buFont typeface="Arial" pitchFamily="34" charset="0"/>
              <a:buChar char="•"/>
              <a:defRPr sz="2400" kern="1200">
                <a:solidFill>
                  <a:schemeClr val="tx1"/>
                </a:solidFill>
                <a:latin typeface="+mn-lt"/>
                <a:ea typeface="+mn-ea"/>
                <a:cs typeface="+mn-cs"/>
              </a:defRPr>
            </a:lvl1pPr>
            <a:lvl2pPr marL="557213" indent="-214313" algn="l" defTabSz="685800" rtl="0" eaLnBrk="1" latinLnBrk="0" hangingPunct="1">
              <a:spcBef>
                <a:spcPct val="20000"/>
              </a:spcBef>
              <a:buFont typeface="Arial" pitchFamily="34" charset="0"/>
              <a:buChar char="–"/>
              <a:defRPr sz="2100" kern="1200">
                <a:solidFill>
                  <a:schemeClr val="tx1"/>
                </a:solidFill>
                <a:latin typeface="+mn-lt"/>
                <a:ea typeface="+mn-ea"/>
                <a:cs typeface="+mn-cs"/>
              </a:defRPr>
            </a:lvl2pPr>
            <a:lvl3pPr marL="857250" indent="-171450" algn="l" defTabSz="685800" rtl="0" eaLnBrk="1" latinLnBrk="0" hangingPunct="1">
              <a:spcBef>
                <a:spcPct val="20000"/>
              </a:spcBef>
              <a:buFont typeface="Arial" pitchFamily="34" charset="0"/>
              <a:buChar char="•"/>
              <a:defRPr sz="1800" kern="1200">
                <a:solidFill>
                  <a:schemeClr val="tx1"/>
                </a:solidFill>
                <a:latin typeface="+mn-lt"/>
                <a:ea typeface="+mn-ea"/>
                <a:cs typeface="+mn-cs"/>
              </a:defRPr>
            </a:lvl3pPr>
            <a:lvl4pPr marL="12001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4pPr>
            <a:lvl5pPr marL="15430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0" indent="0">
              <a:lnSpc>
                <a:spcPct val="120000"/>
              </a:lnSpc>
              <a:buNone/>
            </a:pPr>
            <a:r>
              <a:rPr lang="zh-CN" altLang="en-US" b="1" dirty="0">
                <a:solidFill>
                  <a:srgbClr val="3308E8"/>
                </a:solidFill>
              </a:rPr>
              <a:t>解</a:t>
            </a:r>
            <a:r>
              <a:rPr lang="en-US" altLang="zh-CN" dirty="0"/>
              <a:t>:</a:t>
            </a:r>
            <a:r>
              <a:rPr lang="zh-CN" altLang="en-US" dirty="0"/>
              <a:t>因为</a:t>
            </a:r>
            <a:r>
              <a:rPr lang="en-US" altLang="zh-CN" dirty="0"/>
              <a:t>11</a:t>
            </a:r>
            <a:r>
              <a:rPr lang="en-US" altLang="zh-CN" baseline="30000" dirty="0"/>
              <a:t>2</a:t>
            </a:r>
            <a:r>
              <a:rPr lang="en-US" altLang="zh-CN" dirty="0"/>
              <a:t>=121,</a:t>
            </a:r>
            <a:r>
              <a:rPr lang="zh-CN" altLang="en-US" dirty="0"/>
              <a:t>不超过</a:t>
            </a:r>
            <a:r>
              <a:rPr lang="en-US" altLang="zh-CN" dirty="0"/>
              <a:t>120</a:t>
            </a:r>
            <a:r>
              <a:rPr lang="zh-CN" altLang="en-US" dirty="0"/>
              <a:t>的合数</a:t>
            </a:r>
            <a:r>
              <a:rPr lang="en-US" altLang="zh-CN" dirty="0"/>
              <a:t>(</a:t>
            </a:r>
            <a:r>
              <a:rPr lang="zh-CN" altLang="en-US" dirty="0"/>
              <a:t>除了</a:t>
            </a:r>
            <a:r>
              <a:rPr lang="en-US" altLang="zh-CN" dirty="0"/>
              <a:t>1</a:t>
            </a:r>
            <a:r>
              <a:rPr lang="zh-CN" altLang="en-US" dirty="0"/>
              <a:t>和它自身还能被其他数整除的数</a:t>
            </a:r>
            <a:r>
              <a:rPr lang="en-US" altLang="zh-CN" dirty="0"/>
              <a:t>)</a:t>
            </a:r>
            <a:r>
              <a:rPr lang="zh-CN" altLang="en-US" dirty="0"/>
              <a:t>至少有</a:t>
            </a:r>
            <a:r>
              <a:rPr lang="en-US" altLang="zh-CN" dirty="0"/>
              <a:t>2,3,5</a:t>
            </a:r>
            <a:r>
              <a:rPr lang="zh-CN" altLang="en-US" dirty="0"/>
              <a:t>或</a:t>
            </a:r>
            <a:r>
              <a:rPr lang="en-US" altLang="zh-CN" dirty="0"/>
              <a:t>7</a:t>
            </a:r>
            <a:r>
              <a:rPr lang="zh-CN" altLang="en-US" dirty="0"/>
              <a:t>这几个素因子之一</a:t>
            </a:r>
            <a:r>
              <a:rPr lang="en-US" altLang="zh-CN" dirty="0"/>
              <a:t>,</a:t>
            </a:r>
            <a:r>
              <a:rPr lang="zh-CN" altLang="en-US" dirty="0"/>
              <a:t>首先考虑不能被</a:t>
            </a:r>
            <a:r>
              <a:rPr lang="en-US" altLang="zh-CN" dirty="0"/>
              <a:t>2,3,5,7</a:t>
            </a:r>
            <a:r>
              <a:rPr lang="zh-CN" altLang="en-US" dirty="0"/>
              <a:t>整除的整数</a:t>
            </a:r>
            <a:r>
              <a:rPr lang="en-US" altLang="zh-CN" dirty="0"/>
              <a:t>,</a:t>
            </a:r>
            <a:r>
              <a:rPr lang="zh-CN" altLang="en-US" dirty="0"/>
              <a:t>设 </a:t>
            </a:r>
            <a:endParaRPr lang="en-US" altLang="zh-CN" dirty="0"/>
          </a:p>
          <a:p>
            <a:pPr marL="484632" lvl="2" indent="0">
              <a:lnSpc>
                <a:spcPct val="120000"/>
              </a:lnSpc>
              <a:buFont typeface="Arial" pitchFamily="34" charset="0"/>
              <a:buNone/>
            </a:pPr>
            <a:r>
              <a:rPr lang="en-US" altLang="zh-CN" dirty="0"/>
              <a:t>S={x|x∈Z,1≤x≤120} </a:t>
            </a:r>
          </a:p>
          <a:p>
            <a:pPr marL="484632" lvl="2" indent="0">
              <a:lnSpc>
                <a:spcPct val="120000"/>
              </a:lnSpc>
              <a:buFont typeface="Arial" pitchFamily="34" charset="0"/>
              <a:buNone/>
            </a:pPr>
            <a:r>
              <a:rPr lang="en-US" altLang="zh-CN" dirty="0"/>
              <a:t>A</a:t>
            </a:r>
            <a:r>
              <a:rPr lang="en-US" altLang="zh-CN" baseline="-25000" dirty="0"/>
              <a:t>1</a:t>
            </a:r>
            <a:r>
              <a:rPr lang="en-US" altLang="zh-CN" dirty="0"/>
              <a:t>={</a:t>
            </a:r>
            <a:r>
              <a:rPr lang="en-US" altLang="zh-CN" dirty="0" err="1"/>
              <a:t>x|x∈S,x</a:t>
            </a:r>
            <a:r>
              <a:rPr lang="zh-CN" altLang="en-US" dirty="0"/>
              <a:t>是</a:t>
            </a:r>
            <a:r>
              <a:rPr lang="en-US" altLang="zh-CN" dirty="0"/>
              <a:t>2</a:t>
            </a:r>
            <a:r>
              <a:rPr lang="zh-CN" altLang="en-US" dirty="0"/>
              <a:t>的倍数</a:t>
            </a:r>
            <a:r>
              <a:rPr lang="en-US" altLang="zh-CN" dirty="0"/>
              <a:t>} </a:t>
            </a:r>
          </a:p>
          <a:p>
            <a:pPr marL="484632" lvl="2" indent="0">
              <a:lnSpc>
                <a:spcPct val="120000"/>
              </a:lnSpc>
              <a:buFont typeface="Arial" pitchFamily="34" charset="0"/>
              <a:buNone/>
            </a:pPr>
            <a:r>
              <a:rPr lang="en-US" altLang="zh-CN" dirty="0"/>
              <a:t>A</a:t>
            </a:r>
            <a:r>
              <a:rPr lang="en-US" altLang="zh-CN" baseline="-25000" dirty="0"/>
              <a:t>2</a:t>
            </a:r>
            <a:r>
              <a:rPr lang="en-US" altLang="zh-CN" dirty="0"/>
              <a:t>={</a:t>
            </a:r>
            <a:r>
              <a:rPr lang="en-US" altLang="zh-CN" dirty="0" err="1"/>
              <a:t>x|x∈S,x</a:t>
            </a:r>
            <a:r>
              <a:rPr lang="zh-CN" altLang="en-US" dirty="0"/>
              <a:t>是</a:t>
            </a:r>
            <a:r>
              <a:rPr lang="en-US" altLang="zh-CN" dirty="0"/>
              <a:t>3</a:t>
            </a:r>
            <a:r>
              <a:rPr lang="zh-CN" altLang="en-US" dirty="0"/>
              <a:t>的倍数</a:t>
            </a:r>
            <a:r>
              <a:rPr lang="en-US" altLang="zh-CN" dirty="0"/>
              <a:t>} </a:t>
            </a:r>
          </a:p>
          <a:p>
            <a:pPr marL="484632" lvl="2" indent="0">
              <a:lnSpc>
                <a:spcPct val="120000"/>
              </a:lnSpc>
              <a:buFont typeface="Arial" pitchFamily="34" charset="0"/>
              <a:buNone/>
            </a:pPr>
            <a:r>
              <a:rPr lang="en-US" altLang="zh-CN" dirty="0"/>
              <a:t>A</a:t>
            </a:r>
            <a:r>
              <a:rPr lang="en-US" altLang="zh-CN" baseline="-25000" dirty="0"/>
              <a:t>3</a:t>
            </a:r>
            <a:r>
              <a:rPr lang="en-US" altLang="zh-CN" dirty="0"/>
              <a:t>={</a:t>
            </a:r>
            <a:r>
              <a:rPr lang="en-US" altLang="zh-CN" dirty="0" err="1"/>
              <a:t>x|x∈S,x</a:t>
            </a:r>
            <a:r>
              <a:rPr lang="zh-CN" altLang="en-US" dirty="0"/>
              <a:t>是</a:t>
            </a:r>
            <a:r>
              <a:rPr lang="en-US" altLang="zh-CN" dirty="0"/>
              <a:t>5</a:t>
            </a:r>
            <a:r>
              <a:rPr lang="zh-CN" altLang="en-US" dirty="0"/>
              <a:t>的倍数</a:t>
            </a:r>
            <a:r>
              <a:rPr lang="en-US" altLang="zh-CN" dirty="0"/>
              <a:t>} </a:t>
            </a:r>
          </a:p>
          <a:p>
            <a:pPr marL="484632" lvl="2" indent="0">
              <a:lnSpc>
                <a:spcPct val="120000"/>
              </a:lnSpc>
              <a:buFont typeface="Arial" pitchFamily="34" charset="0"/>
              <a:buNone/>
            </a:pPr>
            <a:r>
              <a:rPr lang="en-US" altLang="zh-CN" dirty="0"/>
              <a:t>A</a:t>
            </a:r>
            <a:r>
              <a:rPr lang="en-US" altLang="zh-CN" baseline="-25000" dirty="0"/>
              <a:t>4</a:t>
            </a:r>
            <a:r>
              <a:rPr lang="en-US" altLang="zh-CN" dirty="0"/>
              <a:t> ={</a:t>
            </a:r>
            <a:r>
              <a:rPr lang="en-US" altLang="zh-CN" dirty="0" err="1"/>
              <a:t>x|x∈S,x</a:t>
            </a:r>
            <a:r>
              <a:rPr lang="zh-CN" altLang="en-US" dirty="0"/>
              <a:t>是</a:t>
            </a:r>
            <a:r>
              <a:rPr lang="en-US" altLang="zh-CN" dirty="0"/>
              <a:t>7</a:t>
            </a:r>
            <a:r>
              <a:rPr lang="zh-CN" altLang="en-US" dirty="0"/>
              <a:t>的倍数</a:t>
            </a:r>
            <a:r>
              <a:rPr lang="en-US" altLang="zh-CN" dirty="0"/>
              <a:t>} </a:t>
            </a:r>
          </a:p>
          <a:p>
            <a:pPr marL="0" indent="0">
              <a:lnSpc>
                <a:spcPct val="120000"/>
              </a:lnSpc>
              <a:buFont typeface="Arial" pitchFamily="34" charset="0"/>
              <a:buNone/>
            </a:pPr>
            <a:r>
              <a:rPr lang="zh-CN" altLang="en-US" dirty="0"/>
              <a:t>则上述集合的基数分别为 </a:t>
            </a:r>
            <a:endParaRPr lang="en-US" altLang="zh-CN" dirty="0"/>
          </a:p>
          <a:p>
            <a:pPr marL="484632" lvl="2" indent="0">
              <a:lnSpc>
                <a:spcPct val="120000"/>
              </a:lnSpc>
              <a:buFont typeface="Arial" pitchFamily="34" charset="0"/>
              <a:buNone/>
            </a:pPr>
            <a:r>
              <a:rPr lang="en-US" altLang="zh-CN" dirty="0"/>
              <a:t>|S|=120, |A</a:t>
            </a:r>
            <a:r>
              <a:rPr lang="en-US" altLang="zh-CN" baseline="-25000" dirty="0"/>
              <a:t>1</a:t>
            </a:r>
            <a:r>
              <a:rPr lang="en-US" altLang="zh-CN" dirty="0"/>
              <a:t>|=60, |A</a:t>
            </a:r>
            <a:r>
              <a:rPr lang="en-US" altLang="zh-CN" baseline="-25000" dirty="0"/>
              <a:t>2</a:t>
            </a:r>
            <a:r>
              <a:rPr lang="en-US" altLang="zh-CN" dirty="0"/>
              <a:t>|=40, |A</a:t>
            </a:r>
            <a:r>
              <a:rPr lang="en-US" altLang="zh-CN" baseline="-25000" dirty="0"/>
              <a:t>3</a:t>
            </a:r>
            <a:r>
              <a:rPr lang="en-US" altLang="zh-CN" dirty="0"/>
              <a:t>|=24, |A</a:t>
            </a:r>
            <a:r>
              <a:rPr lang="en-US" altLang="zh-CN" baseline="-25000" dirty="0"/>
              <a:t>4</a:t>
            </a:r>
            <a:r>
              <a:rPr lang="en-US" altLang="zh-CN" dirty="0"/>
              <a:t>|=17 |A</a:t>
            </a:r>
            <a:r>
              <a:rPr lang="en-US" altLang="zh-CN" baseline="-25000" dirty="0"/>
              <a:t>1</a:t>
            </a:r>
            <a:r>
              <a:rPr lang="en-US" altLang="zh-CN" dirty="0"/>
              <a:t>∩A</a:t>
            </a:r>
            <a:r>
              <a:rPr lang="en-US" altLang="zh-CN" baseline="-25000" dirty="0"/>
              <a:t>2</a:t>
            </a:r>
            <a:r>
              <a:rPr lang="en-US" altLang="zh-CN" dirty="0"/>
              <a:t>|=20, |A</a:t>
            </a:r>
            <a:r>
              <a:rPr lang="en-US" altLang="zh-CN" baseline="-25000" dirty="0"/>
              <a:t>1</a:t>
            </a:r>
            <a:r>
              <a:rPr lang="en-US" altLang="zh-CN" dirty="0"/>
              <a:t>∩A</a:t>
            </a:r>
            <a:r>
              <a:rPr lang="en-US" altLang="zh-CN" baseline="-25000" dirty="0"/>
              <a:t>3</a:t>
            </a:r>
            <a:r>
              <a:rPr lang="en-US" altLang="zh-CN" dirty="0"/>
              <a:t>|=12, </a:t>
            </a:r>
          </a:p>
          <a:p>
            <a:pPr marL="484632" lvl="2" indent="0">
              <a:lnSpc>
                <a:spcPct val="120000"/>
              </a:lnSpc>
              <a:buFont typeface="Arial" pitchFamily="34" charset="0"/>
              <a:buNone/>
            </a:pPr>
            <a:r>
              <a:rPr lang="en-US" altLang="zh-CN" dirty="0"/>
              <a:t>|A</a:t>
            </a:r>
            <a:r>
              <a:rPr lang="en-US" altLang="zh-CN" baseline="-25000" dirty="0"/>
              <a:t>1</a:t>
            </a:r>
            <a:r>
              <a:rPr lang="en-US" altLang="zh-CN" dirty="0"/>
              <a:t>∩ A</a:t>
            </a:r>
            <a:r>
              <a:rPr lang="en-US" altLang="zh-CN" baseline="-25000" dirty="0"/>
              <a:t>4</a:t>
            </a:r>
            <a:r>
              <a:rPr lang="en-US" altLang="zh-CN" dirty="0"/>
              <a:t>|=8, |A</a:t>
            </a:r>
            <a:r>
              <a:rPr lang="en-US" altLang="zh-CN" baseline="-25000" dirty="0"/>
              <a:t>2</a:t>
            </a:r>
            <a:r>
              <a:rPr lang="en-US" altLang="zh-CN" dirty="0"/>
              <a:t>∩A</a:t>
            </a:r>
            <a:r>
              <a:rPr lang="en-US" altLang="zh-CN" baseline="-25000" dirty="0"/>
              <a:t>3</a:t>
            </a:r>
            <a:r>
              <a:rPr lang="en-US" altLang="zh-CN" dirty="0"/>
              <a:t>|=8, |A</a:t>
            </a:r>
            <a:r>
              <a:rPr lang="en-US" altLang="zh-CN" baseline="-25000" dirty="0"/>
              <a:t>2</a:t>
            </a:r>
            <a:r>
              <a:rPr lang="en-US" altLang="zh-CN" dirty="0"/>
              <a:t>∩A</a:t>
            </a:r>
            <a:r>
              <a:rPr lang="en-US" altLang="zh-CN" baseline="-25000" dirty="0"/>
              <a:t>4</a:t>
            </a:r>
            <a:r>
              <a:rPr lang="en-US" altLang="zh-CN" dirty="0"/>
              <a:t>|=5, |A</a:t>
            </a:r>
            <a:r>
              <a:rPr lang="en-US" altLang="zh-CN" baseline="-25000" dirty="0"/>
              <a:t>3</a:t>
            </a:r>
            <a:r>
              <a:rPr lang="en-US" altLang="zh-CN" dirty="0"/>
              <a:t>∩A</a:t>
            </a:r>
            <a:r>
              <a:rPr lang="en-US" altLang="zh-CN" baseline="-25000" dirty="0"/>
              <a:t>4</a:t>
            </a:r>
            <a:r>
              <a:rPr lang="en-US" altLang="zh-CN" dirty="0"/>
              <a:t>|=3 </a:t>
            </a:r>
          </a:p>
          <a:p>
            <a:pPr marL="484632" lvl="2" indent="0">
              <a:lnSpc>
                <a:spcPct val="120000"/>
              </a:lnSpc>
              <a:buFont typeface="Arial" pitchFamily="34" charset="0"/>
              <a:buNone/>
            </a:pPr>
            <a:r>
              <a:rPr lang="en-US" altLang="zh-CN" dirty="0"/>
              <a:t>|A</a:t>
            </a:r>
            <a:r>
              <a:rPr lang="en-US" altLang="zh-CN" baseline="-25000" dirty="0"/>
              <a:t>1</a:t>
            </a:r>
            <a:r>
              <a:rPr lang="en-US" altLang="zh-CN" dirty="0"/>
              <a:t>∩A</a:t>
            </a:r>
            <a:r>
              <a:rPr lang="en-US" altLang="zh-CN" baseline="-25000" dirty="0"/>
              <a:t>2</a:t>
            </a:r>
            <a:r>
              <a:rPr lang="en-US" altLang="zh-CN" dirty="0"/>
              <a:t>∩A</a:t>
            </a:r>
            <a:r>
              <a:rPr lang="en-US" altLang="zh-CN" baseline="-25000" dirty="0"/>
              <a:t>3</a:t>
            </a:r>
            <a:r>
              <a:rPr lang="en-US" altLang="zh-CN" dirty="0"/>
              <a:t>|=4, |A</a:t>
            </a:r>
            <a:r>
              <a:rPr lang="en-US" altLang="zh-CN" baseline="-25000" dirty="0"/>
              <a:t>1</a:t>
            </a:r>
            <a:r>
              <a:rPr lang="en-US" altLang="zh-CN" dirty="0"/>
              <a:t>∩A</a:t>
            </a:r>
            <a:r>
              <a:rPr lang="en-US" altLang="zh-CN" baseline="-25000" dirty="0"/>
              <a:t>2</a:t>
            </a:r>
            <a:r>
              <a:rPr lang="en-US" altLang="zh-CN" dirty="0"/>
              <a:t>∩A</a:t>
            </a:r>
            <a:r>
              <a:rPr lang="en-US" altLang="zh-CN" baseline="-25000" dirty="0"/>
              <a:t>4</a:t>
            </a:r>
            <a:r>
              <a:rPr lang="en-US" altLang="zh-CN" dirty="0"/>
              <a:t>|=2, |A</a:t>
            </a:r>
            <a:r>
              <a:rPr lang="en-US" altLang="zh-CN" baseline="-25000" dirty="0"/>
              <a:t>1</a:t>
            </a:r>
            <a:r>
              <a:rPr lang="en-US" altLang="zh-CN" dirty="0"/>
              <a:t>∩A</a:t>
            </a:r>
            <a:r>
              <a:rPr lang="en-US" altLang="zh-CN" baseline="-25000" dirty="0"/>
              <a:t>3</a:t>
            </a:r>
            <a:r>
              <a:rPr lang="en-US" altLang="zh-CN" dirty="0"/>
              <a:t>∩A</a:t>
            </a:r>
            <a:r>
              <a:rPr lang="en-US" altLang="zh-CN" baseline="-25000" dirty="0"/>
              <a:t>4</a:t>
            </a:r>
            <a:r>
              <a:rPr lang="en-US" altLang="zh-CN" dirty="0"/>
              <a:t>|=1, |A</a:t>
            </a:r>
            <a:r>
              <a:rPr lang="en-US" altLang="zh-CN" baseline="-25000" dirty="0"/>
              <a:t>2</a:t>
            </a:r>
            <a:r>
              <a:rPr lang="en-US" altLang="zh-CN" dirty="0"/>
              <a:t>∩A</a:t>
            </a:r>
            <a:r>
              <a:rPr lang="en-US" altLang="zh-CN" baseline="-25000" dirty="0"/>
              <a:t>3</a:t>
            </a:r>
            <a:r>
              <a:rPr lang="en-US" altLang="zh-CN" dirty="0"/>
              <a:t>∩A</a:t>
            </a:r>
            <a:r>
              <a:rPr lang="en-US" altLang="zh-CN" baseline="-25000" dirty="0"/>
              <a:t>4</a:t>
            </a:r>
            <a:r>
              <a:rPr lang="en-US" altLang="zh-CN" dirty="0"/>
              <a:t>|=1, |A</a:t>
            </a:r>
            <a:r>
              <a:rPr lang="en-US" altLang="zh-CN" baseline="-25000" dirty="0"/>
              <a:t>1</a:t>
            </a:r>
            <a:r>
              <a:rPr lang="en-US" altLang="zh-CN" dirty="0"/>
              <a:t>∩A</a:t>
            </a:r>
            <a:r>
              <a:rPr lang="en-US" altLang="zh-CN" baseline="-25000" dirty="0"/>
              <a:t>2</a:t>
            </a:r>
            <a:r>
              <a:rPr lang="en-US" altLang="zh-CN" dirty="0"/>
              <a:t>∩A</a:t>
            </a:r>
            <a:r>
              <a:rPr lang="en-US" altLang="zh-CN" baseline="-25000" dirty="0"/>
              <a:t>3</a:t>
            </a:r>
            <a:r>
              <a:rPr lang="en-US" altLang="zh-CN" dirty="0"/>
              <a:t>∩A</a:t>
            </a:r>
            <a:r>
              <a:rPr lang="en-US" altLang="zh-CN" baseline="-25000" dirty="0"/>
              <a:t>4</a:t>
            </a:r>
            <a:r>
              <a:rPr lang="en-US" altLang="zh-CN" dirty="0"/>
              <a:t>|=0 </a:t>
            </a:r>
          </a:p>
          <a:p>
            <a:pPr marL="0" indent="0">
              <a:lnSpc>
                <a:spcPct val="120000"/>
              </a:lnSpc>
              <a:buFont typeface="Arial" pitchFamily="34" charset="0"/>
              <a:buNone/>
            </a:pPr>
            <a:r>
              <a:rPr lang="zh-CN" altLang="en-US" dirty="0"/>
              <a:t>根据包含排斥原理</a:t>
            </a:r>
            <a:r>
              <a:rPr lang="en-US" altLang="zh-CN" dirty="0"/>
              <a:t>,</a:t>
            </a:r>
            <a:r>
              <a:rPr lang="zh-CN" altLang="en-US" dirty="0"/>
              <a:t>不能被</a:t>
            </a:r>
            <a:r>
              <a:rPr lang="en-US" altLang="zh-CN" dirty="0"/>
              <a:t>2,3,5,7</a:t>
            </a:r>
            <a:r>
              <a:rPr lang="zh-CN" altLang="en-US" dirty="0"/>
              <a:t>整除的整数有 </a:t>
            </a:r>
            <a:r>
              <a:rPr lang="en-US" altLang="zh-CN" dirty="0"/>
              <a:t>|A'</a:t>
            </a:r>
            <a:r>
              <a:rPr lang="en-US" altLang="zh-CN" baseline="-25000" dirty="0"/>
              <a:t>1</a:t>
            </a:r>
            <a:r>
              <a:rPr lang="en-US" altLang="zh-CN" dirty="0"/>
              <a:t>∩A'</a:t>
            </a:r>
            <a:r>
              <a:rPr lang="en-US" altLang="zh-CN" baseline="-25000" dirty="0"/>
              <a:t>2</a:t>
            </a:r>
            <a:r>
              <a:rPr lang="en-US" altLang="zh-CN" dirty="0"/>
              <a:t>∩A'</a:t>
            </a:r>
            <a:r>
              <a:rPr lang="en-US" altLang="zh-CN" baseline="-25000" dirty="0"/>
              <a:t>3</a:t>
            </a:r>
            <a:r>
              <a:rPr lang="en-US" altLang="zh-CN" dirty="0"/>
              <a:t>∩A'</a:t>
            </a:r>
            <a:r>
              <a:rPr lang="en-US" altLang="zh-CN" baseline="-25000" dirty="0"/>
              <a:t>4</a:t>
            </a:r>
            <a:r>
              <a:rPr lang="en-US" altLang="zh-CN" dirty="0"/>
              <a:t>|=120-(60+40+24+17)+(20+12+8+8+5+3)- (4+2+1+1)+0 =27 </a:t>
            </a:r>
          </a:p>
          <a:p>
            <a:pPr marL="0" indent="0">
              <a:lnSpc>
                <a:spcPct val="120000"/>
              </a:lnSpc>
              <a:buFont typeface="Arial" pitchFamily="34" charset="0"/>
              <a:buNone/>
            </a:pPr>
            <a:r>
              <a:rPr lang="zh-CN" altLang="en-US" dirty="0"/>
              <a:t>因为</a:t>
            </a:r>
            <a:r>
              <a:rPr lang="en-US" altLang="zh-CN" dirty="0"/>
              <a:t>2</a:t>
            </a:r>
            <a:r>
              <a:rPr lang="zh-CN" altLang="en-US" dirty="0"/>
              <a:t>、</a:t>
            </a:r>
            <a:r>
              <a:rPr lang="en-US" altLang="zh-CN" dirty="0"/>
              <a:t>3</a:t>
            </a:r>
            <a:r>
              <a:rPr lang="zh-CN" altLang="en-US" dirty="0"/>
              <a:t>、</a:t>
            </a:r>
            <a:r>
              <a:rPr lang="en-US" altLang="zh-CN" dirty="0"/>
              <a:t>5</a:t>
            </a:r>
            <a:r>
              <a:rPr lang="zh-CN" altLang="en-US" dirty="0"/>
              <a:t>、</a:t>
            </a:r>
            <a:r>
              <a:rPr lang="en-US" altLang="zh-CN" dirty="0"/>
              <a:t>7</a:t>
            </a:r>
            <a:r>
              <a:rPr lang="zh-CN" altLang="en-US" dirty="0"/>
              <a:t>不满足上述条件</a:t>
            </a:r>
            <a:r>
              <a:rPr lang="en-US" altLang="zh-CN" dirty="0"/>
              <a:t>,</a:t>
            </a:r>
            <a:r>
              <a:rPr lang="zh-CN" altLang="en-US" dirty="0"/>
              <a:t>但是它们都是素数。另外</a:t>
            </a:r>
            <a:r>
              <a:rPr lang="en-US" altLang="zh-CN" dirty="0"/>
              <a:t>,1</a:t>
            </a:r>
            <a:r>
              <a:rPr lang="zh-CN" altLang="en-US" dirty="0"/>
              <a:t>满足上述条件</a:t>
            </a:r>
            <a:r>
              <a:rPr lang="en-US" altLang="zh-CN" dirty="0"/>
              <a:t>,</a:t>
            </a:r>
            <a:r>
              <a:rPr lang="zh-CN" altLang="en-US" dirty="0"/>
              <a:t>但是</a:t>
            </a:r>
            <a:r>
              <a:rPr lang="en-US" altLang="zh-CN" dirty="0"/>
              <a:t>1</a:t>
            </a:r>
            <a:r>
              <a:rPr lang="zh-CN" altLang="en-US" dirty="0"/>
              <a:t>不 是素数</a:t>
            </a:r>
            <a:r>
              <a:rPr lang="en-US" altLang="zh-CN" dirty="0"/>
              <a:t>,</a:t>
            </a:r>
            <a:r>
              <a:rPr lang="zh-CN" altLang="en-US" dirty="0"/>
              <a:t>因此</a:t>
            </a:r>
            <a:r>
              <a:rPr lang="en-US" altLang="zh-CN" dirty="0"/>
              <a:t>,</a:t>
            </a:r>
            <a:r>
              <a:rPr lang="zh-CN" altLang="en-US" dirty="0"/>
              <a:t>不超过</a:t>
            </a:r>
            <a:r>
              <a:rPr lang="en-US" altLang="zh-CN" dirty="0"/>
              <a:t>120</a:t>
            </a:r>
            <a:r>
              <a:rPr lang="zh-CN" altLang="en-US" dirty="0"/>
              <a:t>的素数有</a:t>
            </a:r>
            <a:r>
              <a:rPr lang="en-US" altLang="zh-CN" dirty="0"/>
              <a:t>27+4-1=30</a:t>
            </a:r>
            <a:r>
              <a:rPr lang="zh-CN" altLang="en-US" dirty="0"/>
              <a:t>个。</a:t>
            </a:r>
          </a:p>
        </p:txBody>
      </p:sp>
    </p:spTree>
    <p:extLst>
      <p:ext uri="{BB962C8B-B14F-4D97-AF65-F5344CB8AC3E}">
        <p14:creationId xmlns:p14="http://schemas.microsoft.com/office/powerpoint/2010/main" val="348601575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BB38A1C9-F032-4BA6-8ABF-5B793C1BF078}"/>
              </a:ext>
            </a:extLst>
          </p:cNvPr>
          <p:cNvSpPr txBox="1">
            <a:spLocks noChangeArrowheads="1"/>
          </p:cNvSpPr>
          <p:nvPr/>
        </p:nvSpPr>
        <p:spPr>
          <a:xfrm>
            <a:off x="2207568" y="188640"/>
            <a:ext cx="6984776" cy="720080"/>
          </a:xfrm>
          <a:prstGeom prst="rect">
            <a:avLst/>
          </a:prstGeom>
        </p:spPr>
        <p:txBody>
          <a:bodyPr/>
          <a:lstStyle>
            <a:lvl1pPr algn="ctr" defTabSz="685800" rtl="0" eaLnBrk="1" latinLnBrk="0" hangingPunct="1">
              <a:spcBef>
                <a:spcPct val="0"/>
              </a:spcBef>
              <a:buNone/>
              <a:defRPr sz="3300" kern="1200">
                <a:solidFill>
                  <a:schemeClr val="tx1"/>
                </a:solidFill>
                <a:latin typeface="+mj-lt"/>
                <a:ea typeface="+mj-ea"/>
                <a:cs typeface="+mj-cs"/>
              </a:defRPr>
            </a:lvl1pPr>
          </a:lstStyle>
          <a:p>
            <a:r>
              <a:rPr lang="en-US" altLang="zh-CN" dirty="0"/>
              <a:t>1.4</a:t>
            </a:r>
            <a:r>
              <a:rPr lang="zh-CN" altLang="en-US" dirty="0"/>
              <a:t>幂集和编码</a:t>
            </a:r>
          </a:p>
        </p:txBody>
      </p:sp>
      <p:sp>
        <p:nvSpPr>
          <p:cNvPr id="3" name="Rectangle 3">
            <a:extLst>
              <a:ext uri="{FF2B5EF4-FFF2-40B4-BE49-F238E27FC236}">
                <a16:creationId xmlns:a16="http://schemas.microsoft.com/office/drawing/2014/main" id="{6E0A2A7F-D238-4E45-B8AE-5FB74DE0BD57}"/>
              </a:ext>
            </a:extLst>
          </p:cNvPr>
          <p:cNvSpPr txBox="1">
            <a:spLocks noChangeArrowheads="1"/>
          </p:cNvSpPr>
          <p:nvPr/>
        </p:nvSpPr>
        <p:spPr>
          <a:xfrm>
            <a:off x="1066800" y="2017713"/>
            <a:ext cx="10515600" cy="2635423"/>
          </a:xfrm>
          <a:prstGeom prst="rect">
            <a:avLst/>
          </a:prstGeom>
        </p:spPr>
        <p:txBody>
          <a:bodyPr/>
          <a:lstStyle>
            <a:lvl1pPr marL="257175" indent="-257175" algn="l" defTabSz="685800" rtl="0" eaLnBrk="1" latinLnBrk="0" hangingPunct="1">
              <a:spcBef>
                <a:spcPct val="20000"/>
              </a:spcBef>
              <a:buFont typeface="Arial" pitchFamily="34" charset="0"/>
              <a:buChar char="•"/>
              <a:defRPr sz="2400" kern="1200">
                <a:solidFill>
                  <a:schemeClr val="tx1"/>
                </a:solidFill>
                <a:latin typeface="+mn-lt"/>
                <a:ea typeface="+mn-ea"/>
                <a:cs typeface="+mn-cs"/>
              </a:defRPr>
            </a:lvl1pPr>
            <a:lvl2pPr marL="557213" indent="-214313" algn="l" defTabSz="685800" rtl="0" eaLnBrk="1" latinLnBrk="0" hangingPunct="1">
              <a:spcBef>
                <a:spcPct val="20000"/>
              </a:spcBef>
              <a:buFont typeface="Arial" pitchFamily="34" charset="0"/>
              <a:buChar char="–"/>
              <a:defRPr sz="2100" kern="1200">
                <a:solidFill>
                  <a:schemeClr val="tx1"/>
                </a:solidFill>
                <a:latin typeface="+mn-lt"/>
                <a:ea typeface="+mn-ea"/>
                <a:cs typeface="+mn-cs"/>
              </a:defRPr>
            </a:lvl2pPr>
            <a:lvl3pPr marL="857250" indent="-171450" algn="l" defTabSz="685800" rtl="0" eaLnBrk="1" latinLnBrk="0" hangingPunct="1">
              <a:spcBef>
                <a:spcPct val="20000"/>
              </a:spcBef>
              <a:buFont typeface="Arial" pitchFamily="34" charset="0"/>
              <a:buChar char="•"/>
              <a:defRPr sz="1800" kern="1200">
                <a:solidFill>
                  <a:schemeClr val="tx1"/>
                </a:solidFill>
                <a:latin typeface="+mn-lt"/>
                <a:ea typeface="+mn-ea"/>
                <a:cs typeface="+mn-cs"/>
              </a:defRPr>
            </a:lvl3pPr>
            <a:lvl4pPr marL="12001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4pPr>
            <a:lvl5pPr marL="15430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a:lnSpc>
                <a:spcPct val="150000"/>
              </a:lnSpc>
              <a:buFontTx/>
              <a:buNone/>
            </a:pPr>
            <a:r>
              <a:rPr lang="en-US" altLang="zh-CN" sz="3200" dirty="0">
                <a:solidFill>
                  <a:schemeClr val="hlink"/>
                </a:solidFill>
              </a:rPr>
              <a:t>1.4.1 </a:t>
            </a:r>
            <a:r>
              <a:rPr lang="zh-CN" altLang="en-US" sz="3200" b="1" dirty="0">
                <a:solidFill>
                  <a:srgbClr val="00B0F0"/>
                </a:solidFill>
              </a:rPr>
              <a:t>幂集</a:t>
            </a:r>
          </a:p>
          <a:p>
            <a:pPr>
              <a:lnSpc>
                <a:spcPct val="150000"/>
              </a:lnSpc>
              <a:buFontTx/>
              <a:buNone/>
            </a:pPr>
            <a:r>
              <a:rPr lang="zh-CN" altLang="zh-CN" sz="3200" b="1" dirty="0">
                <a:solidFill>
                  <a:schemeClr val="hlink"/>
                </a:solidFill>
              </a:rPr>
              <a:t>定义</a:t>
            </a:r>
            <a:r>
              <a:rPr lang="en-US" altLang="zh-CN" sz="3200" b="1" dirty="0">
                <a:solidFill>
                  <a:schemeClr val="hlink"/>
                </a:solidFill>
              </a:rPr>
              <a:t>1.14</a:t>
            </a:r>
            <a:r>
              <a:rPr lang="en-US" altLang="zh-CN" sz="3200" dirty="0"/>
              <a:t> </a:t>
            </a:r>
            <a:r>
              <a:rPr lang="zh-CN" altLang="en-US" sz="3200" dirty="0"/>
              <a:t>给定集合</a:t>
            </a:r>
            <a:r>
              <a:rPr lang="en-US" altLang="zh-CN" sz="3200" dirty="0"/>
              <a:t>A</a:t>
            </a:r>
            <a:r>
              <a:rPr lang="zh-CN" altLang="en-US" sz="3200" dirty="0"/>
              <a:t>，由集合</a:t>
            </a:r>
            <a:r>
              <a:rPr lang="en-US" altLang="zh-CN" sz="3200" dirty="0"/>
              <a:t>A</a:t>
            </a:r>
            <a:r>
              <a:rPr lang="zh-CN" altLang="en-US" sz="3200" dirty="0"/>
              <a:t>的所有子集为元素组成的集合，称为集合</a:t>
            </a:r>
            <a:r>
              <a:rPr lang="en-US" altLang="zh-CN" sz="3200" dirty="0"/>
              <a:t>A</a:t>
            </a:r>
            <a:r>
              <a:rPr lang="zh-CN" altLang="en-US" sz="3200" dirty="0"/>
              <a:t>的</a:t>
            </a:r>
            <a:r>
              <a:rPr lang="zh-CN" altLang="en-US" sz="3200" b="1" dirty="0">
                <a:solidFill>
                  <a:srgbClr val="00B0F0"/>
                </a:solidFill>
              </a:rPr>
              <a:t>幂集</a:t>
            </a:r>
            <a:r>
              <a:rPr lang="zh-CN" altLang="en-US" sz="3200" dirty="0"/>
              <a:t>，记为</a:t>
            </a:r>
            <a:r>
              <a:rPr lang="en-US" altLang="zh-CN" sz="3200" dirty="0"/>
              <a:t>P(A)</a:t>
            </a:r>
            <a:r>
              <a:rPr lang="zh-CN" altLang="en-US" sz="3200" dirty="0"/>
              <a:t>或</a:t>
            </a:r>
            <a:r>
              <a:rPr lang="en-US" altLang="zh-CN" sz="3200" dirty="0"/>
              <a:t>2</a:t>
            </a:r>
            <a:r>
              <a:rPr lang="en-US" altLang="zh-CN" sz="3200" baseline="30000" dirty="0"/>
              <a:t>A</a:t>
            </a:r>
            <a:r>
              <a:rPr lang="zh-CN" altLang="en-US" sz="3200" dirty="0"/>
              <a:t>，即</a:t>
            </a:r>
            <a:r>
              <a:rPr lang="en-US" altLang="zh-CN" sz="3200" dirty="0"/>
              <a:t>P(A)= 2</a:t>
            </a:r>
            <a:r>
              <a:rPr lang="en-US" altLang="zh-CN" sz="3200" baseline="30000" dirty="0"/>
              <a:t>A </a:t>
            </a:r>
            <a:r>
              <a:rPr lang="en-US" altLang="zh-CN" sz="3200" dirty="0"/>
              <a:t>={X|X</a:t>
            </a:r>
            <a:r>
              <a:rPr lang="en-US" altLang="zh-CN" sz="3200" dirty="0">
                <a:sym typeface="Symbol" pitchFamily="18" charset="2"/>
              </a:rPr>
              <a:t></a:t>
            </a:r>
            <a:r>
              <a:rPr lang="en-US" altLang="zh-CN" sz="3200" dirty="0"/>
              <a:t>A}</a:t>
            </a:r>
            <a:r>
              <a:rPr lang="zh-CN" altLang="en-US" sz="3200" dirty="0"/>
              <a:t>。</a:t>
            </a:r>
          </a:p>
        </p:txBody>
      </p:sp>
    </p:spTree>
    <p:extLst>
      <p:ext uri="{BB962C8B-B14F-4D97-AF65-F5344CB8AC3E}">
        <p14:creationId xmlns:p14="http://schemas.microsoft.com/office/powerpoint/2010/main" val="198830682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
            <a:extLst>
              <a:ext uri="{FF2B5EF4-FFF2-40B4-BE49-F238E27FC236}">
                <a16:creationId xmlns:a16="http://schemas.microsoft.com/office/drawing/2014/main" id="{EC6569C3-821D-422E-A8CF-3406B767CDE8}"/>
              </a:ext>
            </a:extLst>
          </p:cNvPr>
          <p:cNvSpPr txBox="1">
            <a:spLocks noChangeArrowheads="1"/>
          </p:cNvSpPr>
          <p:nvPr/>
        </p:nvSpPr>
        <p:spPr>
          <a:xfrm>
            <a:off x="983432" y="1268760"/>
            <a:ext cx="10441160" cy="4752528"/>
          </a:xfrm>
          <a:prstGeom prst="rect">
            <a:avLst/>
          </a:prstGeom>
        </p:spPr>
        <p:txBody>
          <a:bodyPr>
            <a:normAutofit/>
          </a:bodyPr>
          <a:lstStyle>
            <a:lvl1pPr marL="257175" indent="-257175" algn="l" defTabSz="685800" rtl="0" eaLnBrk="1" latinLnBrk="0" hangingPunct="1">
              <a:spcBef>
                <a:spcPct val="20000"/>
              </a:spcBef>
              <a:buFont typeface="Arial" pitchFamily="34" charset="0"/>
              <a:buChar char="•"/>
              <a:defRPr sz="2400" kern="1200">
                <a:solidFill>
                  <a:schemeClr val="tx1"/>
                </a:solidFill>
                <a:latin typeface="+mn-lt"/>
                <a:ea typeface="+mn-ea"/>
                <a:cs typeface="+mn-cs"/>
              </a:defRPr>
            </a:lvl1pPr>
            <a:lvl2pPr marL="557213" indent="-214313" algn="l" defTabSz="685800" rtl="0" eaLnBrk="1" latinLnBrk="0" hangingPunct="1">
              <a:spcBef>
                <a:spcPct val="20000"/>
              </a:spcBef>
              <a:buFont typeface="Arial" pitchFamily="34" charset="0"/>
              <a:buChar char="–"/>
              <a:defRPr sz="2100" kern="1200">
                <a:solidFill>
                  <a:schemeClr val="tx1"/>
                </a:solidFill>
                <a:latin typeface="+mn-lt"/>
                <a:ea typeface="+mn-ea"/>
                <a:cs typeface="+mn-cs"/>
              </a:defRPr>
            </a:lvl2pPr>
            <a:lvl3pPr marL="857250" indent="-171450" algn="l" defTabSz="685800" rtl="0" eaLnBrk="1" latinLnBrk="0" hangingPunct="1">
              <a:spcBef>
                <a:spcPct val="20000"/>
              </a:spcBef>
              <a:buFont typeface="Arial" pitchFamily="34" charset="0"/>
              <a:buChar char="•"/>
              <a:defRPr sz="1800" kern="1200">
                <a:solidFill>
                  <a:schemeClr val="tx1"/>
                </a:solidFill>
                <a:latin typeface="+mn-lt"/>
                <a:ea typeface="+mn-ea"/>
                <a:cs typeface="+mn-cs"/>
              </a:defRPr>
            </a:lvl3pPr>
            <a:lvl4pPr marL="12001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4pPr>
            <a:lvl5pPr marL="15430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a:lnSpc>
                <a:spcPct val="150000"/>
              </a:lnSpc>
              <a:buFontTx/>
              <a:buNone/>
            </a:pPr>
            <a:r>
              <a:rPr lang="zh-CN" altLang="en-US" b="1" dirty="0">
                <a:solidFill>
                  <a:srgbClr val="3308E8"/>
                </a:solidFill>
              </a:rPr>
              <a:t>例</a:t>
            </a:r>
            <a:r>
              <a:rPr lang="en-US" altLang="zh-CN" b="1" dirty="0">
                <a:solidFill>
                  <a:srgbClr val="3308E8"/>
                </a:solidFill>
              </a:rPr>
              <a:t>1.34  </a:t>
            </a:r>
            <a:r>
              <a:rPr lang="zh-CN" altLang="en-US" dirty="0"/>
              <a:t>设集合 </a:t>
            </a:r>
            <a:r>
              <a:rPr lang="en-US" altLang="zh-CN" dirty="0"/>
              <a:t>A </a:t>
            </a:r>
            <a:r>
              <a:rPr lang="zh-CN" altLang="en-US" dirty="0"/>
              <a:t>＝</a:t>
            </a:r>
            <a:r>
              <a:rPr lang="en-US" altLang="zh-CN" dirty="0"/>
              <a:t>{a</a:t>
            </a:r>
            <a:r>
              <a:rPr lang="zh-CN" altLang="en-US" dirty="0"/>
              <a:t>，</a:t>
            </a:r>
            <a:r>
              <a:rPr lang="en-US" altLang="zh-CN" dirty="0"/>
              <a:t>b</a:t>
            </a:r>
            <a:r>
              <a:rPr lang="zh-CN" altLang="en-US" dirty="0"/>
              <a:t>，</a:t>
            </a:r>
            <a:r>
              <a:rPr lang="en-US" altLang="zh-CN" dirty="0"/>
              <a:t>c}</a:t>
            </a:r>
            <a:r>
              <a:rPr lang="zh-CN" altLang="en-US" dirty="0"/>
              <a:t>，则</a:t>
            </a:r>
          </a:p>
          <a:p>
            <a:pPr>
              <a:lnSpc>
                <a:spcPct val="150000"/>
              </a:lnSpc>
              <a:buFontTx/>
              <a:buNone/>
            </a:pPr>
            <a:r>
              <a:rPr lang="en-US" altLang="zh-CN" dirty="0"/>
              <a:t>P (A)</a:t>
            </a:r>
            <a:r>
              <a:rPr lang="zh-CN" altLang="en-US" dirty="0"/>
              <a:t>＝</a:t>
            </a:r>
            <a:r>
              <a:rPr lang="en-US" altLang="zh-CN" dirty="0"/>
              <a:t>{</a:t>
            </a:r>
            <a:r>
              <a:rPr lang="en-US" altLang="zh-CN" dirty="0">
                <a:sym typeface="Symbol" pitchFamily="18" charset="2"/>
              </a:rPr>
              <a:t></a:t>
            </a:r>
            <a:r>
              <a:rPr lang="zh-CN" altLang="en-US" dirty="0"/>
              <a:t>，</a:t>
            </a:r>
            <a:r>
              <a:rPr lang="en-US" altLang="zh-CN" dirty="0"/>
              <a:t>{a}</a:t>
            </a:r>
            <a:r>
              <a:rPr lang="zh-CN" altLang="en-US" dirty="0"/>
              <a:t>，</a:t>
            </a:r>
            <a:r>
              <a:rPr lang="en-US" altLang="zh-CN" dirty="0"/>
              <a:t>{b}</a:t>
            </a:r>
            <a:r>
              <a:rPr lang="zh-CN" altLang="en-US" dirty="0"/>
              <a:t>，</a:t>
            </a:r>
            <a:r>
              <a:rPr lang="en-US" altLang="zh-CN" dirty="0"/>
              <a:t>{c}</a:t>
            </a:r>
            <a:r>
              <a:rPr lang="zh-CN" altLang="en-US" dirty="0"/>
              <a:t>，</a:t>
            </a:r>
            <a:r>
              <a:rPr lang="en-US" altLang="zh-CN" dirty="0"/>
              <a:t>{a</a:t>
            </a:r>
            <a:r>
              <a:rPr lang="zh-CN" altLang="en-US" dirty="0"/>
              <a:t>，</a:t>
            </a:r>
            <a:r>
              <a:rPr lang="en-US" altLang="zh-CN" dirty="0"/>
              <a:t>b}</a:t>
            </a:r>
            <a:r>
              <a:rPr lang="zh-CN" altLang="en-US" dirty="0"/>
              <a:t>，</a:t>
            </a:r>
            <a:r>
              <a:rPr lang="en-US" altLang="zh-CN" dirty="0"/>
              <a:t>{ a</a:t>
            </a:r>
            <a:r>
              <a:rPr lang="zh-CN" altLang="en-US" dirty="0"/>
              <a:t>，</a:t>
            </a:r>
            <a:r>
              <a:rPr lang="en-US" altLang="zh-CN" dirty="0"/>
              <a:t>c }</a:t>
            </a:r>
            <a:r>
              <a:rPr lang="zh-CN" altLang="en-US" dirty="0"/>
              <a:t>，</a:t>
            </a:r>
            <a:r>
              <a:rPr lang="en-US" altLang="zh-CN" dirty="0"/>
              <a:t>{b</a:t>
            </a:r>
            <a:r>
              <a:rPr lang="zh-CN" altLang="en-US" dirty="0"/>
              <a:t>，</a:t>
            </a:r>
            <a:r>
              <a:rPr lang="en-US" altLang="zh-CN" dirty="0"/>
              <a:t>c}</a:t>
            </a:r>
            <a:r>
              <a:rPr lang="zh-CN" altLang="en-US" dirty="0"/>
              <a:t>， </a:t>
            </a:r>
            <a:r>
              <a:rPr lang="en-US" altLang="zh-CN" dirty="0"/>
              <a:t>{a</a:t>
            </a:r>
            <a:r>
              <a:rPr lang="zh-CN" altLang="en-US" dirty="0"/>
              <a:t>，</a:t>
            </a:r>
            <a:r>
              <a:rPr lang="en-US" altLang="zh-CN" dirty="0"/>
              <a:t>b</a:t>
            </a:r>
            <a:r>
              <a:rPr lang="zh-CN" altLang="en-US" dirty="0"/>
              <a:t>，</a:t>
            </a:r>
            <a:r>
              <a:rPr lang="en-US" altLang="zh-CN" dirty="0"/>
              <a:t>c}} </a:t>
            </a:r>
          </a:p>
          <a:p>
            <a:pPr>
              <a:lnSpc>
                <a:spcPct val="150000"/>
              </a:lnSpc>
              <a:buFontTx/>
              <a:buNone/>
            </a:pPr>
            <a:endParaRPr lang="en-US" altLang="zh-CN" dirty="0"/>
          </a:p>
          <a:p>
            <a:pPr>
              <a:lnSpc>
                <a:spcPct val="150000"/>
              </a:lnSpc>
              <a:buFontTx/>
              <a:buNone/>
            </a:pPr>
            <a:r>
              <a:rPr lang="zh-CN" altLang="en-US" b="1" dirty="0">
                <a:solidFill>
                  <a:srgbClr val="3308E8"/>
                </a:solidFill>
              </a:rPr>
              <a:t>例</a:t>
            </a:r>
            <a:r>
              <a:rPr lang="en-US" altLang="zh-CN" b="1" dirty="0">
                <a:solidFill>
                  <a:srgbClr val="3308E8"/>
                </a:solidFill>
              </a:rPr>
              <a:t>1.35  </a:t>
            </a:r>
            <a:r>
              <a:rPr lang="zh-CN" altLang="en-US" dirty="0"/>
              <a:t>计算下列集合的幂集。 </a:t>
            </a:r>
            <a:endParaRPr lang="en-US" altLang="zh-CN" dirty="0"/>
          </a:p>
          <a:p>
            <a:pPr lvl="1">
              <a:lnSpc>
                <a:spcPct val="150000"/>
              </a:lnSpc>
              <a:buFont typeface="Arial" pitchFamily="34" charset="0"/>
              <a:buNone/>
            </a:pPr>
            <a:r>
              <a:rPr lang="en-US" altLang="zh-CN" dirty="0"/>
              <a:t>(1) A=</a:t>
            </a:r>
            <a:r>
              <a:rPr lang="en-US" altLang="zh-CN" dirty="0">
                <a:sym typeface="Symbol" pitchFamily="18" charset="2"/>
              </a:rPr>
              <a:t>  </a:t>
            </a:r>
            <a:r>
              <a:rPr lang="zh-CN" altLang="en-US" dirty="0"/>
              <a:t>。 </a:t>
            </a:r>
            <a:endParaRPr lang="en-US" altLang="zh-CN" dirty="0"/>
          </a:p>
          <a:p>
            <a:pPr lvl="1">
              <a:lnSpc>
                <a:spcPct val="150000"/>
              </a:lnSpc>
              <a:buFont typeface="Arial" pitchFamily="34" charset="0"/>
              <a:buNone/>
            </a:pPr>
            <a:r>
              <a:rPr lang="en-US" altLang="zh-CN" dirty="0"/>
              <a:t>(2) B=P(</a:t>
            </a:r>
            <a:r>
              <a:rPr lang="en-US" altLang="zh-CN" dirty="0">
                <a:sym typeface="Symbol" pitchFamily="18" charset="2"/>
              </a:rPr>
              <a:t></a:t>
            </a:r>
            <a:r>
              <a:rPr lang="en-US" altLang="zh-CN" dirty="0"/>
              <a:t>)</a:t>
            </a:r>
            <a:r>
              <a:rPr lang="zh-CN" altLang="en-US" dirty="0"/>
              <a:t>。 </a:t>
            </a:r>
            <a:endParaRPr lang="en-US" altLang="zh-CN" dirty="0"/>
          </a:p>
          <a:p>
            <a:pPr lvl="1">
              <a:lnSpc>
                <a:spcPct val="150000"/>
              </a:lnSpc>
              <a:buFont typeface="Arial" pitchFamily="34" charset="0"/>
              <a:buNone/>
            </a:pPr>
            <a:r>
              <a:rPr lang="en-US" altLang="zh-CN" dirty="0"/>
              <a:t>(3) C={</a:t>
            </a:r>
            <a:r>
              <a:rPr lang="en-US" altLang="zh-CN" dirty="0">
                <a:sym typeface="Symbol" pitchFamily="18" charset="2"/>
              </a:rPr>
              <a:t></a:t>
            </a:r>
            <a:r>
              <a:rPr lang="en-US" altLang="zh-CN" dirty="0"/>
              <a:t>,P(</a:t>
            </a:r>
            <a:r>
              <a:rPr lang="en-US" altLang="zh-CN" dirty="0">
                <a:sym typeface="Symbol" pitchFamily="18" charset="2"/>
              </a:rPr>
              <a:t></a:t>
            </a:r>
            <a:r>
              <a:rPr lang="en-US" altLang="zh-CN" dirty="0"/>
              <a:t>)}</a:t>
            </a:r>
            <a:r>
              <a:rPr lang="zh-CN" altLang="en-US" dirty="0"/>
              <a:t>。</a:t>
            </a:r>
            <a:endParaRPr lang="en-US" altLang="zh-CN" dirty="0"/>
          </a:p>
        </p:txBody>
      </p:sp>
    </p:spTree>
    <p:extLst>
      <p:ext uri="{BB962C8B-B14F-4D97-AF65-F5344CB8AC3E}">
        <p14:creationId xmlns:p14="http://schemas.microsoft.com/office/powerpoint/2010/main" val="46871648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5996A225-6262-4543-82AE-CDBFCFE9F50C}"/>
              </a:ext>
            </a:extLst>
          </p:cNvPr>
          <p:cNvSpPr txBox="1">
            <a:spLocks noChangeArrowheads="1"/>
          </p:cNvSpPr>
          <p:nvPr/>
        </p:nvSpPr>
        <p:spPr>
          <a:xfrm>
            <a:off x="1055440" y="1484784"/>
            <a:ext cx="9865096" cy="4682920"/>
          </a:xfrm>
          <a:prstGeom prst="rect">
            <a:avLst/>
          </a:prstGeom>
        </p:spPr>
        <p:txBody>
          <a:bodyPr/>
          <a:lstStyle>
            <a:lvl1pPr marL="257175" indent="-257175" algn="l" defTabSz="685800" rtl="0" eaLnBrk="1" latinLnBrk="0" hangingPunct="1">
              <a:spcBef>
                <a:spcPct val="20000"/>
              </a:spcBef>
              <a:buFont typeface="Arial" pitchFamily="34" charset="0"/>
              <a:buChar char="•"/>
              <a:defRPr sz="2400" kern="1200">
                <a:solidFill>
                  <a:schemeClr val="tx1"/>
                </a:solidFill>
                <a:latin typeface="+mn-lt"/>
                <a:ea typeface="+mn-ea"/>
                <a:cs typeface="+mn-cs"/>
              </a:defRPr>
            </a:lvl1pPr>
            <a:lvl2pPr marL="557213" indent="-214313" algn="l" defTabSz="685800" rtl="0" eaLnBrk="1" latinLnBrk="0" hangingPunct="1">
              <a:spcBef>
                <a:spcPct val="20000"/>
              </a:spcBef>
              <a:buFont typeface="Arial" pitchFamily="34" charset="0"/>
              <a:buChar char="–"/>
              <a:defRPr sz="2100" kern="1200">
                <a:solidFill>
                  <a:schemeClr val="tx1"/>
                </a:solidFill>
                <a:latin typeface="+mn-lt"/>
                <a:ea typeface="+mn-ea"/>
                <a:cs typeface="+mn-cs"/>
              </a:defRPr>
            </a:lvl2pPr>
            <a:lvl3pPr marL="857250" indent="-171450" algn="l" defTabSz="685800" rtl="0" eaLnBrk="1" latinLnBrk="0" hangingPunct="1">
              <a:spcBef>
                <a:spcPct val="20000"/>
              </a:spcBef>
              <a:buFont typeface="Arial" pitchFamily="34" charset="0"/>
              <a:buChar char="•"/>
              <a:defRPr sz="1800" kern="1200">
                <a:solidFill>
                  <a:schemeClr val="tx1"/>
                </a:solidFill>
                <a:latin typeface="+mn-lt"/>
                <a:ea typeface="+mn-ea"/>
                <a:cs typeface="+mn-cs"/>
              </a:defRPr>
            </a:lvl3pPr>
            <a:lvl4pPr marL="12001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4pPr>
            <a:lvl5pPr marL="15430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a:lnSpc>
                <a:spcPct val="150000"/>
              </a:lnSpc>
              <a:buFontTx/>
              <a:buNone/>
            </a:pPr>
            <a:r>
              <a:rPr lang="en-US" altLang="zh-CN" sz="2800" dirty="0">
                <a:latin typeface="Arial"/>
              </a:rPr>
              <a:t> </a:t>
            </a:r>
            <a:r>
              <a:rPr lang="zh-CN" altLang="en-US" sz="2800" b="1" dirty="0">
                <a:solidFill>
                  <a:schemeClr val="hlink"/>
                </a:solidFill>
              </a:rPr>
              <a:t>定理</a:t>
            </a:r>
            <a:r>
              <a:rPr lang="en-US" altLang="zh-CN" sz="2800" b="1" dirty="0">
                <a:solidFill>
                  <a:schemeClr val="hlink"/>
                </a:solidFill>
              </a:rPr>
              <a:t>1.4</a:t>
            </a:r>
            <a:r>
              <a:rPr lang="en-US" altLang="zh-CN" sz="2800" dirty="0"/>
              <a:t> </a:t>
            </a:r>
            <a:r>
              <a:rPr lang="zh-CN" altLang="en-US" sz="2800" dirty="0"/>
              <a:t>如果有限集合</a:t>
            </a:r>
            <a:r>
              <a:rPr lang="en-US" altLang="zh-CN" sz="2800" dirty="0"/>
              <a:t>A</a:t>
            </a:r>
            <a:r>
              <a:rPr lang="zh-CN" altLang="en-US" sz="2800" dirty="0"/>
              <a:t>中有</a:t>
            </a:r>
            <a:r>
              <a:rPr lang="en-US" altLang="zh-CN" sz="2800" dirty="0"/>
              <a:t>n</a:t>
            </a:r>
            <a:r>
              <a:rPr lang="zh-CN" altLang="en-US" sz="2800" dirty="0"/>
              <a:t>个元素，则其幂集</a:t>
            </a:r>
            <a:r>
              <a:rPr lang="en-US" altLang="zh-CN" sz="2800" dirty="0"/>
              <a:t>P(A)</a:t>
            </a:r>
            <a:r>
              <a:rPr lang="zh-CN" altLang="en-US" sz="2800" dirty="0"/>
              <a:t>有</a:t>
            </a:r>
            <a:r>
              <a:rPr lang="en-US" altLang="zh-CN" sz="2800" dirty="0"/>
              <a:t>2</a:t>
            </a:r>
            <a:r>
              <a:rPr lang="en-US" altLang="zh-CN" sz="2800" baseline="30000" dirty="0"/>
              <a:t>n</a:t>
            </a:r>
            <a:r>
              <a:rPr lang="zh-CN" altLang="en-US" sz="2800" dirty="0"/>
              <a:t>个元素。</a:t>
            </a:r>
          </a:p>
          <a:p>
            <a:pPr>
              <a:lnSpc>
                <a:spcPct val="150000"/>
              </a:lnSpc>
              <a:buFontTx/>
              <a:buNone/>
            </a:pPr>
            <a:r>
              <a:rPr lang="zh-CN" altLang="en-US" sz="2800" b="1" dirty="0">
                <a:solidFill>
                  <a:schemeClr val="hlink"/>
                </a:solidFill>
              </a:rPr>
              <a:t>证明</a:t>
            </a:r>
            <a:r>
              <a:rPr lang="zh-CN" altLang="en-US" sz="2800" dirty="0"/>
              <a:t> 由</a:t>
            </a:r>
            <a:r>
              <a:rPr lang="en-US" altLang="zh-CN" sz="2800" dirty="0"/>
              <a:t>A</a:t>
            </a:r>
            <a:r>
              <a:rPr lang="zh-CN" altLang="en-US" sz="2800" dirty="0"/>
              <a:t>的</a:t>
            </a:r>
            <a:r>
              <a:rPr lang="en-US" altLang="zh-CN" sz="2800" dirty="0"/>
              <a:t>k</a:t>
            </a:r>
            <a:r>
              <a:rPr lang="zh-CN" altLang="en-US" sz="2800" dirty="0"/>
              <a:t>个元素组成的子集的个数为</a:t>
            </a:r>
            <a:r>
              <a:rPr lang="en-US" altLang="zh-CN" sz="2800" dirty="0" err="1"/>
              <a:t>C</a:t>
            </a:r>
            <a:r>
              <a:rPr lang="en-US" altLang="zh-CN" sz="2800" baseline="-25000" dirty="0" err="1"/>
              <a:t>n</a:t>
            </a:r>
            <a:r>
              <a:rPr lang="en-US" altLang="zh-CN" sz="2800" baseline="30000" dirty="0" err="1"/>
              <a:t>k</a:t>
            </a:r>
            <a:r>
              <a:rPr lang="zh-CN" altLang="en-US" sz="2800" dirty="0"/>
              <a:t>，当</a:t>
            </a:r>
            <a:r>
              <a:rPr lang="en-US" altLang="zh-CN" sz="2800" dirty="0"/>
              <a:t>k</a:t>
            </a:r>
            <a:r>
              <a:rPr lang="zh-CN" altLang="en-US" sz="2800" dirty="0"/>
              <a:t>从</a:t>
            </a:r>
            <a:r>
              <a:rPr lang="en-US" altLang="zh-CN" sz="2800" dirty="0"/>
              <a:t>0</a:t>
            </a:r>
            <a:r>
              <a:rPr lang="zh-CN" altLang="en-US" sz="2800" dirty="0"/>
              <a:t>取到</a:t>
            </a:r>
            <a:r>
              <a:rPr lang="en-US" altLang="zh-CN" sz="2800" dirty="0"/>
              <a:t>n</a:t>
            </a:r>
            <a:r>
              <a:rPr lang="zh-CN" altLang="en-US" sz="2800" dirty="0"/>
              <a:t>时就构成了集合</a:t>
            </a:r>
            <a:r>
              <a:rPr lang="en-US" altLang="zh-CN" sz="2800" dirty="0"/>
              <a:t>A</a:t>
            </a:r>
            <a:r>
              <a:rPr lang="zh-CN" altLang="en-US" sz="2800" dirty="0"/>
              <a:t>的所有的子集，因此集合</a:t>
            </a:r>
            <a:r>
              <a:rPr lang="en-US" altLang="zh-CN" sz="2800" dirty="0"/>
              <a:t>A</a:t>
            </a:r>
            <a:r>
              <a:rPr lang="zh-CN" altLang="en-US" sz="2800" dirty="0"/>
              <a:t>的子集的个数为：</a:t>
            </a:r>
          </a:p>
          <a:p>
            <a:pPr>
              <a:lnSpc>
                <a:spcPct val="150000"/>
              </a:lnSpc>
              <a:buFontTx/>
              <a:buNone/>
            </a:pPr>
            <a:r>
              <a:rPr lang="zh-CN" altLang="en-US" sz="2800" dirty="0"/>
              <a:t>   </a:t>
            </a:r>
            <a:r>
              <a:rPr lang="en-US" altLang="zh-CN" sz="2800" dirty="0"/>
              <a:t>C</a:t>
            </a:r>
            <a:r>
              <a:rPr lang="en-US" altLang="zh-CN" sz="2800" baseline="-25000" dirty="0"/>
              <a:t>n</a:t>
            </a:r>
            <a:r>
              <a:rPr lang="en-US" altLang="zh-CN" sz="2800" baseline="30000" dirty="0"/>
              <a:t>0</a:t>
            </a:r>
            <a:r>
              <a:rPr lang="en-US" altLang="zh-CN" sz="2800" dirty="0"/>
              <a:t>+C</a:t>
            </a:r>
            <a:r>
              <a:rPr lang="en-US" altLang="zh-CN" sz="2800" baseline="-25000" dirty="0"/>
              <a:t>n</a:t>
            </a:r>
            <a:r>
              <a:rPr lang="en-US" altLang="zh-CN" sz="2800" baseline="30000" dirty="0"/>
              <a:t>1</a:t>
            </a:r>
            <a:r>
              <a:rPr lang="en-US" altLang="zh-CN" sz="2800" dirty="0"/>
              <a:t>+</a:t>
            </a:r>
            <a:r>
              <a:rPr lang="en-US" altLang="zh-CN" sz="2800" dirty="0">
                <a:latin typeface="Tahoma"/>
                <a:cs typeface="Tahoma" pitchFamily="34" charset="0"/>
              </a:rPr>
              <a:t>…</a:t>
            </a:r>
            <a:r>
              <a:rPr lang="en-US" altLang="zh-CN" sz="2800" dirty="0">
                <a:cs typeface="Tahoma" pitchFamily="34" charset="0"/>
              </a:rPr>
              <a:t>+</a:t>
            </a:r>
            <a:r>
              <a:rPr lang="en-US" altLang="zh-CN" sz="2800" dirty="0" err="1">
                <a:cs typeface="Tahoma" pitchFamily="34" charset="0"/>
              </a:rPr>
              <a:t>C</a:t>
            </a:r>
            <a:r>
              <a:rPr lang="en-US" altLang="zh-CN" sz="2800" baseline="-25000" dirty="0" err="1">
                <a:cs typeface="Tahoma" pitchFamily="34" charset="0"/>
              </a:rPr>
              <a:t>n</a:t>
            </a:r>
            <a:r>
              <a:rPr lang="en-US" altLang="zh-CN" sz="2800" baseline="30000" dirty="0" err="1">
                <a:cs typeface="Tahoma" pitchFamily="34" charset="0"/>
              </a:rPr>
              <a:t>n</a:t>
            </a:r>
            <a:r>
              <a:rPr lang="en-US" altLang="zh-CN" sz="2800" dirty="0">
                <a:cs typeface="Tahoma" pitchFamily="34" charset="0"/>
              </a:rPr>
              <a:t>= </a:t>
            </a:r>
            <a:r>
              <a:rPr lang="en-US" altLang="zh-CN" sz="2800" dirty="0"/>
              <a:t>2</a:t>
            </a:r>
            <a:r>
              <a:rPr lang="en-US" altLang="zh-CN" sz="2800" baseline="30000" dirty="0"/>
              <a:t>n</a:t>
            </a:r>
            <a:endParaRPr lang="en-US" altLang="en-US" sz="2800" dirty="0">
              <a:cs typeface="Tahoma" pitchFamily="34" charset="0"/>
            </a:endParaRPr>
          </a:p>
          <a:p>
            <a:pPr>
              <a:lnSpc>
                <a:spcPct val="150000"/>
              </a:lnSpc>
              <a:buFontTx/>
              <a:buNone/>
            </a:pPr>
            <a:r>
              <a:rPr lang="en-US" altLang="zh-CN" sz="2800" dirty="0"/>
              <a:t> </a:t>
            </a:r>
            <a:r>
              <a:rPr lang="en-US" altLang="zh-CN" sz="2800" dirty="0">
                <a:latin typeface="Arial"/>
              </a:rPr>
              <a:t>  </a:t>
            </a:r>
            <a:r>
              <a:rPr lang="zh-CN" altLang="en-US" sz="2800" dirty="0"/>
              <a:t>因此</a:t>
            </a:r>
            <a:r>
              <a:rPr lang="en-US" altLang="zh-CN" sz="2800" dirty="0"/>
              <a:t>P(A)</a:t>
            </a:r>
            <a:r>
              <a:rPr lang="zh-CN" altLang="en-US" sz="2800" dirty="0"/>
              <a:t>的元素个数是</a:t>
            </a:r>
            <a:r>
              <a:rPr lang="en-US" altLang="zh-CN" sz="2800" dirty="0"/>
              <a:t>2</a:t>
            </a:r>
            <a:r>
              <a:rPr lang="en-US" altLang="zh-CN" sz="2800" baseline="30000" dirty="0"/>
              <a:t>n</a:t>
            </a:r>
            <a:r>
              <a:rPr lang="en-US" altLang="zh-CN" sz="2800" dirty="0"/>
              <a:t> </a:t>
            </a:r>
            <a:r>
              <a:rPr lang="zh-CN" altLang="en-US" sz="2800" dirty="0"/>
              <a:t>。 </a:t>
            </a:r>
          </a:p>
        </p:txBody>
      </p:sp>
    </p:spTree>
    <p:extLst>
      <p:ext uri="{BB962C8B-B14F-4D97-AF65-F5344CB8AC3E}">
        <p14:creationId xmlns:p14="http://schemas.microsoft.com/office/powerpoint/2010/main" val="384740501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6">
            <a:extLst>
              <a:ext uri="{FF2B5EF4-FFF2-40B4-BE49-F238E27FC236}">
                <a16:creationId xmlns:a16="http://schemas.microsoft.com/office/drawing/2014/main" id="{E80905F0-8F9E-4C58-B04A-CD3D89FD7A9B}"/>
              </a:ext>
            </a:extLst>
          </p:cNvPr>
          <p:cNvSpPr txBox="1">
            <a:spLocks noChangeArrowheads="1"/>
          </p:cNvSpPr>
          <p:nvPr/>
        </p:nvSpPr>
        <p:spPr>
          <a:xfrm>
            <a:off x="335360" y="1700808"/>
            <a:ext cx="11247040" cy="1042988"/>
          </a:xfrm>
          <a:prstGeom prst="rect">
            <a:avLst/>
          </a:prstGeom>
          <a:noFill/>
          <a:ln/>
        </p:spPr>
        <p:txBody>
          <a:bodyPr>
            <a:normAutofit fontScale="90000"/>
          </a:bodyPr>
          <a:lstStyle>
            <a:lvl1pPr algn="ctr" defTabSz="685800" rtl="0" eaLnBrk="1" latinLnBrk="0" hangingPunct="1">
              <a:spcBef>
                <a:spcPct val="0"/>
              </a:spcBef>
              <a:buNone/>
              <a:defRPr sz="3300" kern="1200">
                <a:solidFill>
                  <a:schemeClr val="tx1"/>
                </a:solidFill>
                <a:latin typeface="+mj-lt"/>
                <a:ea typeface="+mj-ea"/>
                <a:cs typeface="+mj-cs"/>
              </a:defRPr>
            </a:lvl1pPr>
          </a:lstStyle>
          <a:p>
            <a:r>
              <a:rPr lang="zh-CN" altLang="en-US" sz="4000" b="1" dirty="0">
                <a:solidFill>
                  <a:srgbClr val="3308E8"/>
                </a:solidFill>
              </a:rPr>
              <a:t>定理</a:t>
            </a:r>
            <a:r>
              <a:rPr lang="en-US" altLang="zh-CN" sz="4000" b="1" dirty="0">
                <a:solidFill>
                  <a:srgbClr val="3308E8"/>
                </a:solidFill>
              </a:rPr>
              <a:t>1.5 </a:t>
            </a:r>
            <a:r>
              <a:rPr lang="zh-CN" altLang="en-US" sz="4000" dirty="0"/>
              <a:t>设</a:t>
            </a:r>
            <a:r>
              <a:rPr lang="en-US" altLang="zh-CN" sz="4000" dirty="0"/>
              <a:t>A</a:t>
            </a:r>
            <a:r>
              <a:rPr lang="zh-CN" altLang="en-US" sz="4000" dirty="0"/>
              <a:t>、</a:t>
            </a:r>
            <a:r>
              <a:rPr lang="en-US" altLang="zh-CN" sz="4000" dirty="0"/>
              <a:t>B</a:t>
            </a:r>
            <a:r>
              <a:rPr lang="zh-CN" altLang="en-US" sz="4000" dirty="0"/>
              <a:t>是任意两个集合，则有如下结论成立： </a:t>
            </a:r>
          </a:p>
        </p:txBody>
      </p:sp>
      <p:sp>
        <p:nvSpPr>
          <p:cNvPr id="3" name="Rectangle 7">
            <a:extLst>
              <a:ext uri="{FF2B5EF4-FFF2-40B4-BE49-F238E27FC236}">
                <a16:creationId xmlns:a16="http://schemas.microsoft.com/office/drawing/2014/main" id="{DE7C679F-65DE-4813-81FE-DB139FC97866}"/>
              </a:ext>
            </a:extLst>
          </p:cNvPr>
          <p:cNvSpPr txBox="1">
            <a:spLocks noChangeArrowheads="1"/>
          </p:cNvSpPr>
          <p:nvPr/>
        </p:nvSpPr>
        <p:spPr>
          <a:xfrm>
            <a:off x="1703512" y="2743796"/>
            <a:ext cx="7772400" cy="3096939"/>
          </a:xfrm>
          <a:prstGeom prst="rect">
            <a:avLst/>
          </a:prstGeom>
          <a:noFill/>
          <a:ln/>
        </p:spPr>
        <p:txBody>
          <a:bodyPr/>
          <a:lstStyle>
            <a:lvl1pPr marL="257175" indent="-257175" algn="l" defTabSz="685800" rtl="0" eaLnBrk="1" latinLnBrk="0" hangingPunct="1">
              <a:spcBef>
                <a:spcPct val="20000"/>
              </a:spcBef>
              <a:buFont typeface="Arial" pitchFamily="34" charset="0"/>
              <a:buChar char="•"/>
              <a:defRPr sz="2400" kern="1200">
                <a:solidFill>
                  <a:schemeClr val="tx1"/>
                </a:solidFill>
                <a:latin typeface="+mn-lt"/>
                <a:ea typeface="+mn-ea"/>
                <a:cs typeface="+mn-cs"/>
              </a:defRPr>
            </a:lvl1pPr>
            <a:lvl2pPr marL="557213" indent="-214313" algn="l" defTabSz="685800" rtl="0" eaLnBrk="1" latinLnBrk="0" hangingPunct="1">
              <a:spcBef>
                <a:spcPct val="20000"/>
              </a:spcBef>
              <a:buFont typeface="Arial" pitchFamily="34" charset="0"/>
              <a:buChar char="–"/>
              <a:defRPr sz="2100" kern="1200">
                <a:solidFill>
                  <a:schemeClr val="tx1"/>
                </a:solidFill>
                <a:latin typeface="+mn-lt"/>
                <a:ea typeface="+mn-ea"/>
                <a:cs typeface="+mn-cs"/>
              </a:defRPr>
            </a:lvl2pPr>
            <a:lvl3pPr marL="857250" indent="-171450" algn="l" defTabSz="685800" rtl="0" eaLnBrk="1" latinLnBrk="0" hangingPunct="1">
              <a:spcBef>
                <a:spcPct val="20000"/>
              </a:spcBef>
              <a:buFont typeface="Arial" pitchFamily="34" charset="0"/>
              <a:buChar char="•"/>
              <a:defRPr sz="1800" kern="1200">
                <a:solidFill>
                  <a:schemeClr val="tx1"/>
                </a:solidFill>
                <a:latin typeface="+mn-lt"/>
                <a:ea typeface="+mn-ea"/>
                <a:cs typeface="+mn-cs"/>
              </a:defRPr>
            </a:lvl3pPr>
            <a:lvl4pPr marL="12001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4pPr>
            <a:lvl5pPr marL="15430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a:lnSpc>
                <a:spcPct val="150000"/>
              </a:lnSpc>
              <a:buFontTx/>
              <a:buNone/>
            </a:pPr>
            <a:r>
              <a:rPr lang="zh-CN" altLang="en-US" sz="2800" dirty="0"/>
              <a:t>（</a:t>
            </a:r>
            <a:r>
              <a:rPr lang="en-US" altLang="zh-CN" sz="2800" dirty="0"/>
              <a:t>1</a:t>
            </a:r>
            <a:r>
              <a:rPr lang="zh-CN" altLang="en-US" sz="2800" dirty="0"/>
              <a:t>）当</a:t>
            </a:r>
            <a:r>
              <a:rPr lang="en-US" altLang="zh-CN" sz="2800" dirty="0"/>
              <a:t>A</a:t>
            </a:r>
            <a:r>
              <a:rPr lang="en-US" altLang="zh-CN" sz="2800" dirty="0">
                <a:sym typeface="Symbol" pitchFamily="18" charset="2"/>
              </a:rPr>
              <a:t>B</a:t>
            </a:r>
            <a:r>
              <a:rPr lang="zh-CN" altLang="en-US" sz="2800" dirty="0">
                <a:sym typeface="Symbol" pitchFamily="18" charset="2"/>
              </a:rPr>
              <a:t>当且仅当</a:t>
            </a:r>
            <a:r>
              <a:rPr lang="en-US" altLang="zh-CN" sz="2800" dirty="0">
                <a:sym typeface="Symbol" pitchFamily="18" charset="2"/>
              </a:rPr>
              <a:t>P(A)  P(B)</a:t>
            </a:r>
          </a:p>
          <a:p>
            <a:pPr>
              <a:lnSpc>
                <a:spcPct val="150000"/>
              </a:lnSpc>
              <a:buFontTx/>
              <a:buNone/>
            </a:pPr>
            <a:r>
              <a:rPr lang="zh-CN" altLang="en-US" sz="2800" dirty="0">
                <a:sym typeface="Symbol" pitchFamily="18" charset="2"/>
              </a:rPr>
              <a:t>（</a:t>
            </a:r>
            <a:r>
              <a:rPr lang="en-US" altLang="zh-CN" sz="2800" dirty="0">
                <a:sym typeface="Symbol" pitchFamily="18" charset="2"/>
              </a:rPr>
              <a:t>2</a:t>
            </a:r>
            <a:r>
              <a:rPr lang="zh-CN" altLang="en-US" sz="2800" dirty="0">
                <a:sym typeface="Symbol" pitchFamily="18" charset="2"/>
              </a:rPr>
              <a:t>）</a:t>
            </a:r>
            <a:r>
              <a:rPr lang="en-US" altLang="zh-CN" sz="2800" dirty="0">
                <a:sym typeface="Symbol" pitchFamily="18" charset="2"/>
              </a:rPr>
              <a:t>P(A)∪P(B)  P(A ∪B)</a:t>
            </a:r>
          </a:p>
          <a:p>
            <a:pPr>
              <a:lnSpc>
                <a:spcPct val="150000"/>
              </a:lnSpc>
              <a:buFontTx/>
              <a:buNone/>
            </a:pPr>
            <a:r>
              <a:rPr lang="zh-CN" altLang="en-US" sz="2800" dirty="0">
                <a:sym typeface="Symbol" pitchFamily="18" charset="2"/>
              </a:rPr>
              <a:t>（</a:t>
            </a:r>
            <a:r>
              <a:rPr lang="en-US" altLang="zh-CN" sz="2800" dirty="0">
                <a:sym typeface="Symbol" pitchFamily="18" charset="2"/>
              </a:rPr>
              <a:t>3</a:t>
            </a:r>
            <a:r>
              <a:rPr lang="zh-CN" altLang="en-US" sz="2800" dirty="0">
                <a:sym typeface="Symbol" pitchFamily="18" charset="2"/>
              </a:rPr>
              <a:t>）</a:t>
            </a:r>
            <a:r>
              <a:rPr lang="en-US" altLang="zh-CN" sz="2800" dirty="0">
                <a:sym typeface="Symbol" pitchFamily="18" charset="2"/>
              </a:rPr>
              <a:t>P(A∩B)=P(A) ∩ P(B)</a:t>
            </a:r>
          </a:p>
          <a:p>
            <a:pPr>
              <a:lnSpc>
                <a:spcPct val="150000"/>
              </a:lnSpc>
              <a:buFontTx/>
              <a:buNone/>
            </a:pPr>
            <a:r>
              <a:rPr lang="zh-CN" altLang="en-US" sz="2800" dirty="0">
                <a:sym typeface="Symbol" pitchFamily="18" charset="2"/>
              </a:rPr>
              <a:t>（</a:t>
            </a:r>
            <a:r>
              <a:rPr lang="en-US" altLang="zh-CN" sz="2800" dirty="0">
                <a:sym typeface="Symbol" pitchFamily="18" charset="2"/>
              </a:rPr>
              <a:t>4</a:t>
            </a:r>
            <a:r>
              <a:rPr lang="zh-CN" altLang="en-US" sz="2800" dirty="0">
                <a:sym typeface="Symbol" pitchFamily="18" charset="2"/>
              </a:rPr>
              <a:t>）</a:t>
            </a:r>
            <a:r>
              <a:rPr lang="en-US" altLang="zh-CN" sz="2800" dirty="0">
                <a:sym typeface="Symbol" pitchFamily="18" charset="2"/>
              </a:rPr>
              <a:t>P(A</a:t>
            </a:r>
            <a:r>
              <a:rPr lang="en-US" altLang="zh-CN" sz="2800" dirty="0">
                <a:latin typeface="Arial"/>
                <a:sym typeface="Symbol" pitchFamily="18" charset="2"/>
              </a:rPr>
              <a:t>’</a:t>
            </a:r>
            <a:r>
              <a:rPr lang="en-US" altLang="zh-CN" sz="2800" dirty="0">
                <a:sym typeface="Symbol" pitchFamily="18" charset="2"/>
              </a:rPr>
              <a:t>)(P(A))</a:t>
            </a:r>
            <a:r>
              <a:rPr lang="en-US" altLang="zh-CN" sz="2800" dirty="0">
                <a:latin typeface="Arial"/>
                <a:sym typeface="Symbol" pitchFamily="18" charset="2"/>
              </a:rPr>
              <a:t>’</a:t>
            </a:r>
            <a:endParaRPr lang="en-US" altLang="zh-CN" sz="2800" dirty="0">
              <a:sym typeface="Symbol" pitchFamily="18" charset="2"/>
            </a:endParaRPr>
          </a:p>
        </p:txBody>
      </p:sp>
    </p:spTree>
    <p:extLst>
      <p:ext uri="{BB962C8B-B14F-4D97-AF65-F5344CB8AC3E}">
        <p14:creationId xmlns:p14="http://schemas.microsoft.com/office/powerpoint/2010/main" val="73747309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5">
            <a:extLst>
              <a:ext uri="{FF2B5EF4-FFF2-40B4-BE49-F238E27FC236}">
                <a16:creationId xmlns:a16="http://schemas.microsoft.com/office/drawing/2014/main" id="{E02C5821-FD52-42EE-B1EE-E03FCFC187F1}"/>
              </a:ext>
            </a:extLst>
          </p:cNvPr>
          <p:cNvSpPr txBox="1">
            <a:spLocks noChangeArrowheads="1"/>
          </p:cNvSpPr>
          <p:nvPr/>
        </p:nvSpPr>
        <p:spPr>
          <a:xfrm>
            <a:off x="2063552" y="1252170"/>
            <a:ext cx="7772400" cy="5084440"/>
          </a:xfrm>
          <a:prstGeom prst="rect">
            <a:avLst/>
          </a:prstGeom>
          <a:noFill/>
          <a:ln/>
        </p:spPr>
        <p:txBody>
          <a:bodyPr/>
          <a:lstStyle>
            <a:lvl1pPr marL="257175" indent="-257175" algn="l" defTabSz="685800" rtl="0" eaLnBrk="1" latinLnBrk="0" hangingPunct="1">
              <a:spcBef>
                <a:spcPct val="20000"/>
              </a:spcBef>
              <a:buFont typeface="Arial" pitchFamily="34" charset="0"/>
              <a:buChar char="•"/>
              <a:defRPr sz="2400" kern="1200">
                <a:solidFill>
                  <a:schemeClr val="tx1"/>
                </a:solidFill>
                <a:latin typeface="+mn-lt"/>
                <a:ea typeface="+mn-ea"/>
                <a:cs typeface="+mn-cs"/>
              </a:defRPr>
            </a:lvl1pPr>
            <a:lvl2pPr marL="557213" indent="-214313" algn="l" defTabSz="685800" rtl="0" eaLnBrk="1" latinLnBrk="0" hangingPunct="1">
              <a:spcBef>
                <a:spcPct val="20000"/>
              </a:spcBef>
              <a:buFont typeface="Arial" pitchFamily="34" charset="0"/>
              <a:buChar char="–"/>
              <a:defRPr sz="2100" kern="1200">
                <a:solidFill>
                  <a:schemeClr val="tx1"/>
                </a:solidFill>
                <a:latin typeface="+mn-lt"/>
                <a:ea typeface="+mn-ea"/>
                <a:cs typeface="+mn-cs"/>
              </a:defRPr>
            </a:lvl2pPr>
            <a:lvl3pPr marL="857250" indent="-171450" algn="l" defTabSz="685800" rtl="0" eaLnBrk="1" latinLnBrk="0" hangingPunct="1">
              <a:spcBef>
                <a:spcPct val="20000"/>
              </a:spcBef>
              <a:buFont typeface="Arial" pitchFamily="34" charset="0"/>
              <a:buChar char="•"/>
              <a:defRPr sz="1800" kern="1200">
                <a:solidFill>
                  <a:schemeClr val="tx1"/>
                </a:solidFill>
                <a:latin typeface="+mn-lt"/>
                <a:ea typeface="+mn-ea"/>
                <a:cs typeface="+mn-cs"/>
              </a:defRPr>
            </a:lvl3pPr>
            <a:lvl4pPr marL="12001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4pPr>
            <a:lvl5pPr marL="15430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a:lnSpc>
                <a:spcPct val="90000"/>
              </a:lnSpc>
              <a:buFontTx/>
              <a:buNone/>
            </a:pPr>
            <a:r>
              <a:rPr lang="zh-CN" altLang="en-US" sz="2800" b="1" dirty="0">
                <a:solidFill>
                  <a:schemeClr val="hlink"/>
                </a:solidFill>
                <a:sym typeface="Symbol" pitchFamily="18" charset="2"/>
              </a:rPr>
              <a:t>证明</a:t>
            </a:r>
            <a:r>
              <a:rPr lang="en-US" altLang="zh-CN" sz="2800" dirty="0">
                <a:sym typeface="Wingdings" pitchFamily="2" charset="2"/>
              </a:rPr>
              <a:t>: (1)</a:t>
            </a:r>
            <a:r>
              <a:rPr lang="zh-CN" altLang="en-US" sz="2800" dirty="0">
                <a:sym typeface="Wingdings" pitchFamily="2" charset="2"/>
              </a:rPr>
              <a:t>必要性</a:t>
            </a:r>
            <a:r>
              <a:rPr lang="en-US" altLang="zh-CN" sz="2800" dirty="0">
                <a:sym typeface="Wingdings" pitchFamily="2" charset="2"/>
              </a:rPr>
              <a:t>:</a:t>
            </a:r>
            <a:r>
              <a:rPr lang="zh-CN" altLang="en-US" sz="2800" dirty="0">
                <a:sym typeface="Wingdings" pitchFamily="2" charset="2"/>
              </a:rPr>
              <a:t>对</a:t>
            </a:r>
            <a:r>
              <a:rPr lang="zh-CN" altLang="en-US" sz="2800" dirty="0">
                <a:sym typeface="Symbol" pitchFamily="18" charset="2"/>
              </a:rPr>
              <a:t></a:t>
            </a:r>
            <a:r>
              <a:rPr lang="en-US" altLang="zh-CN" sz="2800" dirty="0" err="1">
                <a:sym typeface="Wingdings" pitchFamily="2" charset="2"/>
              </a:rPr>
              <a:t>x</a:t>
            </a:r>
            <a:r>
              <a:rPr lang="en-US" altLang="zh-CN" sz="2800" dirty="0" err="1">
                <a:sym typeface="Symbol" pitchFamily="18" charset="2"/>
              </a:rPr>
              <a:t>P</a:t>
            </a:r>
            <a:r>
              <a:rPr lang="en-US" altLang="zh-CN" sz="2800" dirty="0">
                <a:sym typeface="Symbol" pitchFamily="18" charset="2"/>
              </a:rPr>
              <a:t>(A)</a:t>
            </a:r>
          </a:p>
          <a:p>
            <a:pPr>
              <a:lnSpc>
                <a:spcPct val="90000"/>
              </a:lnSpc>
              <a:buFontTx/>
              <a:buNone/>
            </a:pPr>
            <a:r>
              <a:rPr lang="en-US" altLang="zh-CN" sz="2800" dirty="0">
                <a:sym typeface="Symbol" pitchFamily="18" charset="2"/>
              </a:rPr>
              <a:t>                     x  A</a:t>
            </a:r>
          </a:p>
          <a:p>
            <a:pPr>
              <a:lnSpc>
                <a:spcPct val="90000"/>
              </a:lnSpc>
              <a:buFontTx/>
              <a:buNone/>
            </a:pPr>
            <a:r>
              <a:rPr lang="en-US" altLang="zh-CN" sz="2800" dirty="0">
                <a:sym typeface="Symbol" pitchFamily="18" charset="2"/>
              </a:rPr>
              <a:t>                    x  B</a:t>
            </a:r>
          </a:p>
          <a:p>
            <a:pPr>
              <a:lnSpc>
                <a:spcPct val="90000"/>
              </a:lnSpc>
              <a:buFontTx/>
              <a:buNone/>
            </a:pPr>
            <a:r>
              <a:rPr lang="en-US" altLang="zh-CN" sz="2800" dirty="0">
                <a:sym typeface="Symbol" pitchFamily="18" charset="2"/>
              </a:rPr>
              <a:t>                     x P(B) </a:t>
            </a:r>
          </a:p>
          <a:p>
            <a:pPr>
              <a:lnSpc>
                <a:spcPct val="90000"/>
              </a:lnSpc>
              <a:buFontTx/>
              <a:buNone/>
            </a:pPr>
            <a:r>
              <a:rPr lang="en-US" altLang="zh-CN" sz="2800" dirty="0">
                <a:sym typeface="Symbol" pitchFamily="18" charset="2"/>
              </a:rPr>
              <a:t>                  </a:t>
            </a:r>
            <a:r>
              <a:rPr lang="zh-CN" altLang="en-US" sz="2800" dirty="0">
                <a:sym typeface="Symbol" pitchFamily="18" charset="2"/>
              </a:rPr>
              <a:t>因此</a:t>
            </a:r>
            <a:r>
              <a:rPr lang="en-US" altLang="zh-CN" sz="2800" dirty="0">
                <a:sym typeface="Symbol" pitchFamily="18" charset="2"/>
              </a:rPr>
              <a:t>P(A)  P(B)</a:t>
            </a:r>
          </a:p>
          <a:p>
            <a:pPr>
              <a:lnSpc>
                <a:spcPct val="90000"/>
              </a:lnSpc>
              <a:buFontTx/>
              <a:buNone/>
            </a:pPr>
            <a:r>
              <a:rPr lang="en-US" altLang="zh-CN" sz="2800" dirty="0">
                <a:sym typeface="Symbol" pitchFamily="18" charset="2"/>
              </a:rPr>
              <a:t>         </a:t>
            </a:r>
            <a:r>
              <a:rPr lang="zh-CN" altLang="en-US" sz="2800" dirty="0">
                <a:sym typeface="Symbol" pitchFamily="18" charset="2"/>
              </a:rPr>
              <a:t>充分性</a:t>
            </a:r>
            <a:r>
              <a:rPr lang="en-US" altLang="zh-CN" sz="2800" dirty="0">
                <a:sym typeface="Symbol" pitchFamily="18" charset="2"/>
              </a:rPr>
              <a:t>:</a:t>
            </a:r>
            <a:r>
              <a:rPr lang="zh-CN" altLang="en-US" sz="2800" dirty="0">
                <a:sym typeface="Wingdings" pitchFamily="2" charset="2"/>
              </a:rPr>
              <a:t>对</a:t>
            </a:r>
            <a:r>
              <a:rPr lang="zh-CN" altLang="en-US" sz="2800" dirty="0">
                <a:sym typeface="Symbol" pitchFamily="18" charset="2"/>
              </a:rPr>
              <a:t></a:t>
            </a:r>
            <a:r>
              <a:rPr lang="zh-CN" altLang="en-US" sz="2800" dirty="0">
                <a:sym typeface="Wingdings" pitchFamily="2" charset="2"/>
              </a:rPr>
              <a:t> </a:t>
            </a:r>
            <a:r>
              <a:rPr lang="en-US" altLang="zh-CN" sz="2800" dirty="0">
                <a:sym typeface="Wingdings" pitchFamily="2" charset="2"/>
              </a:rPr>
              <a:t>x</a:t>
            </a:r>
            <a:r>
              <a:rPr lang="en-US" altLang="zh-CN" sz="2800" dirty="0">
                <a:sym typeface="Symbol" pitchFamily="18" charset="2"/>
              </a:rPr>
              <a:t> A</a:t>
            </a:r>
          </a:p>
          <a:p>
            <a:pPr>
              <a:lnSpc>
                <a:spcPct val="90000"/>
              </a:lnSpc>
              <a:buFontTx/>
              <a:buNone/>
            </a:pPr>
            <a:r>
              <a:rPr lang="en-US" altLang="zh-CN" sz="2800" dirty="0">
                <a:sym typeface="Symbol" pitchFamily="18" charset="2"/>
              </a:rPr>
              <a:t>                  {x} P(A) </a:t>
            </a:r>
          </a:p>
          <a:p>
            <a:pPr>
              <a:lnSpc>
                <a:spcPct val="90000"/>
              </a:lnSpc>
              <a:buFontTx/>
              <a:buNone/>
            </a:pPr>
            <a:r>
              <a:rPr lang="en-US" altLang="zh-CN" sz="2800" dirty="0">
                <a:sym typeface="Symbol" pitchFamily="18" charset="2"/>
              </a:rPr>
              <a:t>                  {x} P(B) </a:t>
            </a:r>
          </a:p>
          <a:p>
            <a:pPr>
              <a:lnSpc>
                <a:spcPct val="90000"/>
              </a:lnSpc>
              <a:buFontTx/>
              <a:buNone/>
            </a:pPr>
            <a:r>
              <a:rPr lang="en-US" altLang="zh-CN" sz="2800" dirty="0">
                <a:sym typeface="Symbol" pitchFamily="18" charset="2"/>
              </a:rPr>
              <a:t>                   x  B</a:t>
            </a:r>
          </a:p>
          <a:p>
            <a:pPr>
              <a:lnSpc>
                <a:spcPct val="90000"/>
              </a:lnSpc>
              <a:buFontTx/>
              <a:buNone/>
            </a:pPr>
            <a:r>
              <a:rPr lang="en-US" altLang="zh-CN" sz="2800" dirty="0">
                <a:sym typeface="Symbol" pitchFamily="18" charset="2"/>
              </a:rPr>
              <a:t>                 </a:t>
            </a:r>
            <a:r>
              <a:rPr lang="zh-CN" altLang="en-US" sz="2800" dirty="0">
                <a:sym typeface="Symbol" pitchFamily="18" charset="2"/>
              </a:rPr>
              <a:t>因此</a:t>
            </a:r>
            <a:r>
              <a:rPr lang="en-US" altLang="zh-CN" sz="2800" dirty="0">
                <a:sym typeface="Symbol" pitchFamily="18" charset="2"/>
              </a:rPr>
              <a:t>A  B</a:t>
            </a:r>
          </a:p>
        </p:txBody>
      </p:sp>
    </p:spTree>
    <p:extLst>
      <p:ext uri="{BB962C8B-B14F-4D97-AF65-F5344CB8AC3E}">
        <p14:creationId xmlns:p14="http://schemas.microsoft.com/office/powerpoint/2010/main" val="208624654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5">
            <a:extLst>
              <a:ext uri="{FF2B5EF4-FFF2-40B4-BE49-F238E27FC236}">
                <a16:creationId xmlns:a16="http://schemas.microsoft.com/office/drawing/2014/main" id="{DF99E8F5-CB9F-4483-808E-EDAFCC6B64D2}"/>
              </a:ext>
            </a:extLst>
          </p:cNvPr>
          <p:cNvSpPr txBox="1">
            <a:spLocks noChangeArrowheads="1"/>
          </p:cNvSpPr>
          <p:nvPr/>
        </p:nvSpPr>
        <p:spPr>
          <a:xfrm>
            <a:off x="839416" y="1664297"/>
            <a:ext cx="4495800" cy="4114800"/>
          </a:xfrm>
          <a:prstGeom prst="rect">
            <a:avLst/>
          </a:prstGeom>
          <a:noFill/>
          <a:ln/>
        </p:spPr>
        <p:txBody>
          <a:bodyPr>
            <a:normAutofit/>
          </a:bodyPr>
          <a:lstStyle>
            <a:lvl1pPr marL="257175" indent="-257175" algn="l" defTabSz="685800" rtl="0" eaLnBrk="1" latinLnBrk="0" hangingPunct="1">
              <a:spcBef>
                <a:spcPct val="20000"/>
              </a:spcBef>
              <a:buFont typeface="Arial" pitchFamily="34" charset="0"/>
              <a:buChar char="•"/>
              <a:defRPr sz="2400" kern="1200">
                <a:solidFill>
                  <a:schemeClr val="tx1"/>
                </a:solidFill>
                <a:latin typeface="+mn-lt"/>
                <a:ea typeface="+mn-ea"/>
                <a:cs typeface="+mn-cs"/>
              </a:defRPr>
            </a:lvl1pPr>
            <a:lvl2pPr marL="557213" indent="-214313" algn="l" defTabSz="685800" rtl="0" eaLnBrk="1" latinLnBrk="0" hangingPunct="1">
              <a:spcBef>
                <a:spcPct val="20000"/>
              </a:spcBef>
              <a:buFont typeface="Arial" pitchFamily="34" charset="0"/>
              <a:buChar char="–"/>
              <a:defRPr sz="2100" kern="1200">
                <a:solidFill>
                  <a:schemeClr val="tx1"/>
                </a:solidFill>
                <a:latin typeface="+mn-lt"/>
                <a:ea typeface="+mn-ea"/>
                <a:cs typeface="+mn-cs"/>
              </a:defRPr>
            </a:lvl2pPr>
            <a:lvl3pPr marL="857250" indent="-171450" algn="l" defTabSz="685800" rtl="0" eaLnBrk="1" latinLnBrk="0" hangingPunct="1">
              <a:spcBef>
                <a:spcPct val="20000"/>
              </a:spcBef>
              <a:buFont typeface="Arial" pitchFamily="34" charset="0"/>
              <a:buChar char="•"/>
              <a:defRPr sz="1800" kern="1200">
                <a:solidFill>
                  <a:schemeClr val="tx1"/>
                </a:solidFill>
                <a:latin typeface="+mn-lt"/>
                <a:ea typeface="+mn-ea"/>
                <a:cs typeface="+mn-cs"/>
              </a:defRPr>
            </a:lvl3pPr>
            <a:lvl4pPr marL="12001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4pPr>
            <a:lvl5pPr marL="15430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a:lnSpc>
                <a:spcPct val="130000"/>
              </a:lnSpc>
              <a:buFontTx/>
              <a:buNone/>
            </a:pPr>
            <a:r>
              <a:rPr lang="en-US" altLang="zh-CN" dirty="0">
                <a:sym typeface="Wingdings" pitchFamily="2" charset="2"/>
              </a:rPr>
              <a:t>(2)</a:t>
            </a:r>
            <a:r>
              <a:rPr lang="zh-CN" altLang="en-US" dirty="0">
                <a:sym typeface="Symbol" pitchFamily="18" charset="2"/>
              </a:rPr>
              <a:t>对</a:t>
            </a:r>
            <a:r>
              <a:rPr lang="en-US" altLang="zh-CN" dirty="0">
                <a:sym typeface="Symbol" pitchFamily="18" charset="2"/>
              </a:rPr>
              <a:t>x P(A) ∪P(B)</a:t>
            </a:r>
          </a:p>
          <a:p>
            <a:pPr>
              <a:lnSpc>
                <a:spcPct val="130000"/>
              </a:lnSpc>
              <a:buFontTx/>
              <a:buNone/>
            </a:pPr>
            <a:r>
              <a:rPr lang="en-US" altLang="zh-CN" dirty="0">
                <a:sym typeface="Symbol" pitchFamily="18" charset="2"/>
              </a:rPr>
              <a:t> </a:t>
            </a:r>
            <a:r>
              <a:rPr lang="en-US" altLang="zh-CN" sz="2800" dirty="0">
                <a:sym typeface="Symbol" pitchFamily="18" charset="2"/>
              </a:rPr>
              <a:t></a:t>
            </a:r>
            <a:r>
              <a:rPr lang="en-US" altLang="zh-CN" dirty="0">
                <a:sym typeface="Symbol" pitchFamily="18" charset="2"/>
              </a:rPr>
              <a:t> x  P(A) x  P(B)</a:t>
            </a:r>
          </a:p>
          <a:p>
            <a:pPr>
              <a:lnSpc>
                <a:spcPct val="130000"/>
              </a:lnSpc>
              <a:buFontTx/>
              <a:buNone/>
            </a:pPr>
            <a:r>
              <a:rPr lang="en-US" altLang="zh-CN" dirty="0">
                <a:sym typeface="Symbol" pitchFamily="18" charset="2"/>
              </a:rPr>
              <a:t> </a:t>
            </a:r>
            <a:r>
              <a:rPr lang="en-US" altLang="zh-CN" sz="2800" dirty="0">
                <a:sym typeface="Symbol" pitchFamily="18" charset="2"/>
              </a:rPr>
              <a:t></a:t>
            </a:r>
            <a:r>
              <a:rPr lang="en-US" altLang="zh-CN" dirty="0">
                <a:sym typeface="Symbol" pitchFamily="18" charset="2"/>
              </a:rPr>
              <a:t> x A  x B</a:t>
            </a:r>
          </a:p>
          <a:p>
            <a:pPr>
              <a:lnSpc>
                <a:spcPct val="130000"/>
              </a:lnSpc>
              <a:buFontTx/>
              <a:buNone/>
            </a:pPr>
            <a:r>
              <a:rPr lang="en-US" altLang="zh-CN" dirty="0">
                <a:sym typeface="Symbol" pitchFamily="18" charset="2"/>
              </a:rPr>
              <a:t> </a:t>
            </a:r>
            <a:r>
              <a:rPr lang="en-US" altLang="zh-CN" sz="2800" dirty="0">
                <a:sym typeface="Symbol" pitchFamily="18" charset="2"/>
              </a:rPr>
              <a:t></a:t>
            </a:r>
            <a:r>
              <a:rPr lang="en-US" altLang="zh-CN" dirty="0">
                <a:sym typeface="Symbol" pitchFamily="18" charset="2"/>
              </a:rPr>
              <a:t> x  A ∪ B </a:t>
            </a:r>
          </a:p>
          <a:p>
            <a:pPr>
              <a:lnSpc>
                <a:spcPct val="130000"/>
              </a:lnSpc>
              <a:buFontTx/>
              <a:buNone/>
            </a:pPr>
            <a:r>
              <a:rPr lang="en-US" altLang="zh-CN" dirty="0">
                <a:sym typeface="Symbol" pitchFamily="18" charset="2"/>
              </a:rPr>
              <a:t> </a:t>
            </a:r>
            <a:r>
              <a:rPr lang="en-US" altLang="zh-CN" sz="2800" dirty="0">
                <a:sym typeface="Symbol" pitchFamily="18" charset="2"/>
              </a:rPr>
              <a:t></a:t>
            </a:r>
            <a:r>
              <a:rPr lang="en-US" altLang="zh-CN" dirty="0">
                <a:sym typeface="Symbol" pitchFamily="18" charset="2"/>
              </a:rPr>
              <a:t> x  P(A ∪ B)</a:t>
            </a:r>
          </a:p>
          <a:p>
            <a:pPr>
              <a:lnSpc>
                <a:spcPct val="130000"/>
              </a:lnSpc>
              <a:buFontTx/>
              <a:buNone/>
            </a:pPr>
            <a:r>
              <a:rPr lang="en-US" altLang="zh-CN" dirty="0">
                <a:sym typeface="Symbol" pitchFamily="18" charset="2"/>
              </a:rPr>
              <a:t>P(A) ∪P(B)  P(A ∪ B)</a:t>
            </a:r>
          </a:p>
        </p:txBody>
      </p:sp>
      <p:sp>
        <p:nvSpPr>
          <p:cNvPr id="3" name="Rectangle 6">
            <a:extLst>
              <a:ext uri="{FF2B5EF4-FFF2-40B4-BE49-F238E27FC236}">
                <a16:creationId xmlns:a16="http://schemas.microsoft.com/office/drawing/2014/main" id="{D0D1362C-CC82-4B72-B22E-DD90B3B4D462}"/>
              </a:ext>
            </a:extLst>
          </p:cNvPr>
          <p:cNvSpPr>
            <a:spLocks noChangeArrowheads="1"/>
          </p:cNvSpPr>
          <p:nvPr/>
        </p:nvSpPr>
        <p:spPr bwMode="auto">
          <a:xfrm>
            <a:off x="6698456" y="1664297"/>
            <a:ext cx="4078288"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342900" indent="-342900">
              <a:spcBef>
                <a:spcPct val="20000"/>
              </a:spcBef>
            </a:pPr>
            <a:r>
              <a:rPr lang="zh-CN" altLang="en-US" sz="2400" b="0" dirty="0"/>
              <a:t>例</a:t>
            </a:r>
            <a:r>
              <a:rPr lang="en-US" altLang="zh-CN" sz="2400" b="0" dirty="0"/>
              <a:t>: </a:t>
            </a:r>
            <a:r>
              <a:rPr lang="en-US" altLang="zh-CN" sz="2400" b="0" dirty="0">
                <a:sym typeface="Symbol" pitchFamily="18" charset="2"/>
              </a:rPr>
              <a:t>P(A)</a:t>
            </a:r>
            <a:r>
              <a:rPr lang="en-US" altLang="zh-CN" sz="2800" b="0" dirty="0">
                <a:sym typeface="Symbol" pitchFamily="18" charset="2"/>
              </a:rPr>
              <a:t>∪</a:t>
            </a:r>
            <a:r>
              <a:rPr lang="en-US" altLang="zh-CN" sz="2400" b="0" dirty="0">
                <a:sym typeface="Symbol" pitchFamily="18" charset="2"/>
              </a:rPr>
              <a:t>P(B)  P(A</a:t>
            </a:r>
            <a:r>
              <a:rPr lang="en-US" altLang="zh-CN" sz="2800" b="0" dirty="0">
                <a:sym typeface="Symbol" pitchFamily="18" charset="2"/>
              </a:rPr>
              <a:t>∪</a:t>
            </a:r>
            <a:r>
              <a:rPr lang="en-US" altLang="zh-CN" sz="2400" b="0" dirty="0">
                <a:sym typeface="Symbol" pitchFamily="18" charset="2"/>
              </a:rPr>
              <a:t>B)</a:t>
            </a:r>
          </a:p>
          <a:p>
            <a:pPr marL="342900" indent="-342900">
              <a:spcBef>
                <a:spcPct val="20000"/>
              </a:spcBef>
            </a:pPr>
            <a:r>
              <a:rPr lang="en-US" altLang="zh-CN" sz="2400" b="0" dirty="0">
                <a:sym typeface="Symbol" pitchFamily="18" charset="2"/>
              </a:rPr>
              <a:t>A={1},B={2}, </a:t>
            </a:r>
          </a:p>
          <a:p>
            <a:pPr marL="342900" indent="-342900">
              <a:spcBef>
                <a:spcPct val="20000"/>
              </a:spcBef>
            </a:pPr>
            <a:r>
              <a:rPr lang="en-US" altLang="zh-CN" sz="2400" b="0" dirty="0">
                <a:sym typeface="Symbol" pitchFamily="18" charset="2"/>
              </a:rPr>
              <a:t>A</a:t>
            </a:r>
            <a:r>
              <a:rPr lang="en-US" altLang="zh-CN" sz="2800" b="0" dirty="0">
                <a:sym typeface="Symbol" pitchFamily="18" charset="2"/>
              </a:rPr>
              <a:t>∪</a:t>
            </a:r>
            <a:r>
              <a:rPr lang="en-US" altLang="zh-CN" sz="2400" b="0" dirty="0">
                <a:sym typeface="Symbol" pitchFamily="18" charset="2"/>
              </a:rPr>
              <a:t>B={1,2}</a:t>
            </a:r>
          </a:p>
          <a:p>
            <a:pPr marL="342900" indent="-342900">
              <a:spcBef>
                <a:spcPct val="20000"/>
              </a:spcBef>
            </a:pPr>
            <a:r>
              <a:rPr lang="en-US" altLang="zh-CN" sz="2400" b="0" dirty="0">
                <a:sym typeface="Symbol" pitchFamily="18" charset="2"/>
              </a:rPr>
              <a:t>P(A)</a:t>
            </a:r>
            <a:r>
              <a:rPr lang="en-US" altLang="zh-CN" sz="2800" b="0" dirty="0">
                <a:sym typeface="Symbol" pitchFamily="18" charset="2"/>
              </a:rPr>
              <a:t>∪</a:t>
            </a:r>
            <a:r>
              <a:rPr lang="en-US" altLang="zh-CN" sz="2400" b="0" dirty="0">
                <a:sym typeface="Symbol" pitchFamily="18" charset="2"/>
              </a:rPr>
              <a:t>P(B)={,{1},{2}}</a:t>
            </a:r>
          </a:p>
          <a:p>
            <a:pPr marL="342900" indent="-342900">
              <a:spcBef>
                <a:spcPct val="20000"/>
              </a:spcBef>
            </a:pPr>
            <a:r>
              <a:rPr lang="en-US" altLang="zh-CN" sz="2400" b="0" dirty="0">
                <a:sym typeface="Symbol" pitchFamily="18" charset="2"/>
              </a:rPr>
              <a:t>P(A</a:t>
            </a:r>
            <a:r>
              <a:rPr lang="en-US" altLang="zh-CN" sz="2800" b="0" dirty="0">
                <a:sym typeface="Symbol" pitchFamily="18" charset="2"/>
              </a:rPr>
              <a:t>∪</a:t>
            </a:r>
            <a:r>
              <a:rPr lang="en-US" altLang="zh-CN" sz="2400" b="0" dirty="0">
                <a:sym typeface="Symbol" pitchFamily="18" charset="2"/>
              </a:rPr>
              <a:t>B)={,{1},{2},{1,2}}</a:t>
            </a:r>
          </a:p>
        </p:txBody>
      </p:sp>
    </p:spTree>
    <p:extLst>
      <p:ext uri="{BB962C8B-B14F-4D97-AF65-F5344CB8AC3E}">
        <p14:creationId xmlns:p14="http://schemas.microsoft.com/office/powerpoint/2010/main" val="350679461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
            <a:extLst>
              <a:ext uri="{FF2B5EF4-FFF2-40B4-BE49-F238E27FC236}">
                <a16:creationId xmlns:a16="http://schemas.microsoft.com/office/drawing/2014/main" id="{82328B1D-E574-4FC6-AADD-C2A8B9140445}"/>
              </a:ext>
            </a:extLst>
          </p:cNvPr>
          <p:cNvSpPr txBox="1">
            <a:spLocks noChangeArrowheads="1"/>
          </p:cNvSpPr>
          <p:nvPr/>
        </p:nvSpPr>
        <p:spPr>
          <a:xfrm>
            <a:off x="1950368" y="1340768"/>
            <a:ext cx="8291264" cy="4682920"/>
          </a:xfrm>
          <a:prstGeom prst="rect">
            <a:avLst/>
          </a:prstGeom>
        </p:spPr>
        <p:txBody>
          <a:bodyPr/>
          <a:lstStyle>
            <a:lvl1pPr marL="257175" indent="-257175" algn="l" defTabSz="685800" rtl="0" eaLnBrk="1" latinLnBrk="0" hangingPunct="1">
              <a:spcBef>
                <a:spcPct val="20000"/>
              </a:spcBef>
              <a:buFont typeface="Arial" pitchFamily="34" charset="0"/>
              <a:buChar char="•"/>
              <a:defRPr sz="2400" kern="1200">
                <a:solidFill>
                  <a:schemeClr val="tx1"/>
                </a:solidFill>
                <a:latin typeface="+mn-lt"/>
                <a:ea typeface="+mn-ea"/>
                <a:cs typeface="+mn-cs"/>
              </a:defRPr>
            </a:lvl1pPr>
            <a:lvl2pPr marL="557213" indent="-214313" algn="l" defTabSz="685800" rtl="0" eaLnBrk="1" latinLnBrk="0" hangingPunct="1">
              <a:spcBef>
                <a:spcPct val="20000"/>
              </a:spcBef>
              <a:buFont typeface="Arial" pitchFamily="34" charset="0"/>
              <a:buChar char="–"/>
              <a:defRPr sz="2100" kern="1200">
                <a:solidFill>
                  <a:schemeClr val="tx1"/>
                </a:solidFill>
                <a:latin typeface="+mn-lt"/>
                <a:ea typeface="+mn-ea"/>
                <a:cs typeface="+mn-cs"/>
              </a:defRPr>
            </a:lvl2pPr>
            <a:lvl3pPr marL="857250" indent="-171450" algn="l" defTabSz="685800" rtl="0" eaLnBrk="1" latinLnBrk="0" hangingPunct="1">
              <a:spcBef>
                <a:spcPct val="20000"/>
              </a:spcBef>
              <a:buFont typeface="Arial" pitchFamily="34" charset="0"/>
              <a:buChar char="•"/>
              <a:defRPr sz="1800" kern="1200">
                <a:solidFill>
                  <a:schemeClr val="tx1"/>
                </a:solidFill>
                <a:latin typeface="+mn-lt"/>
                <a:ea typeface="+mn-ea"/>
                <a:cs typeface="+mn-cs"/>
              </a:defRPr>
            </a:lvl3pPr>
            <a:lvl4pPr marL="12001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4pPr>
            <a:lvl5pPr marL="15430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609600" indent="-609600">
              <a:buFontTx/>
              <a:buNone/>
            </a:pPr>
            <a:r>
              <a:rPr lang="en-US" altLang="zh-CN" dirty="0"/>
              <a:t>(3)</a:t>
            </a:r>
            <a:r>
              <a:rPr lang="zh-CN" altLang="en-US" sz="3600" dirty="0">
                <a:sym typeface="Symbol" pitchFamily="18" charset="2"/>
              </a:rPr>
              <a:t>对</a:t>
            </a:r>
            <a:r>
              <a:rPr lang="en-US" altLang="zh-CN" sz="3600" dirty="0">
                <a:sym typeface="Symbol" pitchFamily="18" charset="2"/>
              </a:rPr>
              <a:t>x P(A</a:t>
            </a:r>
            <a:r>
              <a:rPr lang="en-US" altLang="zh-CN" dirty="0">
                <a:sym typeface="Symbol" pitchFamily="18" charset="2"/>
              </a:rPr>
              <a:t>∩</a:t>
            </a:r>
            <a:r>
              <a:rPr lang="en-US" altLang="zh-CN" sz="3600" dirty="0">
                <a:sym typeface="Symbol" pitchFamily="18" charset="2"/>
              </a:rPr>
              <a:t>B)</a:t>
            </a:r>
          </a:p>
          <a:p>
            <a:pPr marL="609600" indent="-609600">
              <a:buFontTx/>
              <a:buNone/>
            </a:pPr>
            <a:r>
              <a:rPr lang="en-US" altLang="zh-CN" sz="3600" dirty="0">
                <a:sym typeface="Symbol" pitchFamily="18" charset="2"/>
              </a:rPr>
              <a:t> </a:t>
            </a:r>
            <a:r>
              <a:rPr lang="en-US" altLang="zh-CN" dirty="0">
                <a:sym typeface="Symbol" pitchFamily="18" charset="2"/>
              </a:rPr>
              <a:t> </a:t>
            </a:r>
            <a:r>
              <a:rPr lang="en-US" altLang="zh-CN" sz="3600" dirty="0">
                <a:sym typeface="Symbol" pitchFamily="18" charset="2"/>
              </a:rPr>
              <a:t> x A</a:t>
            </a:r>
            <a:r>
              <a:rPr lang="zh-CN" altLang="en-US" sz="3600" dirty="0">
                <a:sym typeface="Symbol" pitchFamily="18" charset="2"/>
              </a:rPr>
              <a:t>且</a:t>
            </a:r>
            <a:r>
              <a:rPr lang="en-US" altLang="zh-CN" sz="3600" dirty="0">
                <a:sym typeface="Symbol" pitchFamily="18" charset="2"/>
              </a:rPr>
              <a:t>x  B</a:t>
            </a:r>
          </a:p>
          <a:p>
            <a:pPr marL="609600" indent="-609600">
              <a:buFontTx/>
              <a:buNone/>
            </a:pPr>
            <a:r>
              <a:rPr lang="en-US" altLang="zh-CN" sz="3600" dirty="0">
                <a:sym typeface="Symbol" pitchFamily="18" charset="2"/>
              </a:rPr>
              <a:t> </a:t>
            </a:r>
            <a:r>
              <a:rPr lang="en-US" altLang="zh-CN" dirty="0">
                <a:sym typeface="Symbol" pitchFamily="18" charset="2"/>
              </a:rPr>
              <a:t> </a:t>
            </a:r>
            <a:r>
              <a:rPr lang="en-US" altLang="zh-CN" sz="3600" dirty="0">
                <a:sym typeface="Symbol" pitchFamily="18" charset="2"/>
              </a:rPr>
              <a:t> </a:t>
            </a:r>
            <a:r>
              <a:rPr lang="en-US" altLang="zh-CN" sz="3600" dirty="0" err="1">
                <a:sym typeface="Symbol" pitchFamily="18" charset="2"/>
              </a:rPr>
              <a:t>xP</a:t>
            </a:r>
            <a:r>
              <a:rPr lang="en-US" altLang="zh-CN" sz="3600" dirty="0">
                <a:sym typeface="Symbol" pitchFamily="18" charset="2"/>
              </a:rPr>
              <a:t>(A)</a:t>
            </a:r>
            <a:r>
              <a:rPr lang="zh-CN" altLang="en-US" sz="3600" dirty="0">
                <a:sym typeface="Symbol" pitchFamily="18" charset="2"/>
              </a:rPr>
              <a:t>且</a:t>
            </a:r>
            <a:r>
              <a:rPr lang="en-US" altLang="zh-CN" sz="3600" dirty="0" err="1">
                <a:sym typeface="Symbol" pitchFamily="18" charset="2"/>
              </a:rPr>
              <a:t>xP</a:t>
            </a:r>
            <a:r>
              <a:rPr lang="en-US" altLang="zh-CN" sz="3600" dirty="0">
                <a:sym typeface="Symbol" pitchFamily="18" charset="2"/>
              </a:rPr>
              <a:t>(B)</a:t>
            </a:r>
          </a:p>
          <a:p>
            <a:pPr marL="609600" indent="-609600">
              <a:buFontTx/>
              <a:buNone/>
            </a:pPr>
            <a:r>
              <a:rPr lang="en-US" altLang="zh-CN" sz="3600" dirty="0">
                <a:sym typeface="Symbol" pitchFamily="18" charset="2"/>
              </a:rPr>
              <a:t> </a:t>
            </a:r>
            <a:r>
              <a:rPr lang="en-US" altLang="zh-CN" dirty="0">
                <a:sym typeface="Symbol" pitchFamily="18" charset="2"/>
              </a:rPr>
              <a:t> </a:t>
            </a:r>
            <a:r>
              <a:rPr lang="en-US" altLang="zh-CN" sz="3600" dirty="0">
                <a:sym typeface="Symbol" pitchFamily="18" charset="2"/>
              </a:rPr>
              <a:t> x  P(A)</a:t>
            </a:r>
            <a:r>
              <a:rPr lang="en-US" altLang="zh-CN" dirty="0">
                <a:sym typeface="Symbol" pitchFamily="18" charset="2"/>
              </a:rPr>
              <a:t>∩P(</a:t>
            </a:r>
            <a:r>
              <a:rPr lang="en-US" altLang="zh-CN" sz="3600" dirty="0">
                <a:sym typeface="Symbol" pitchFamily="18" charset="2"/>
              </a:rPr>
              <a:t>B)</a:t>
            </a:r>
          </a:p>
          <a:p>
            <a:pPr marL="609600" indent="-609600">
              <a:buFontTx/>
              <a:buNone/>
            </a:pPr>
            <a:r>
              <a:rPr lang="en-US" altLang="zh-CN" sz="3600" dirty="0">
                <a:sym typeface="Symbol" pitchFamily="18" charset="2"/>
              </a:rPr>
              <a:t>(4)</a:t>
            </a:r>
            <a:r>
              <a:rPr lang="zh-CN" altLang="en-US" sz="3600" dirty="0">
                <a:sym typeface="Symbol" pitchFamily="18" charset="2"/>
              </a:rPr>
              <a:t>显然成立，不用证明。</a:t>
            </a:r>
          </a:p>
          <a:p>
            <a:pPr marL="609600" indent="-609600">
              <a:buFontTx/>
              <a:buNone/>
            </a:pPr>
            <a:endParaRPr lang="en-US" altLang="zh-CN" dirty="0"/>
          </a:p>
        </p:txBody>
      </p:sp>
    </p:spTree>
    <p:extLst>
      <p:ext uri="{BB962C8B-B14F-4D97-AF65-F5344CB8AC3E}">
        <p14:creationId xmlns:p14="http://schemas.microsoft.com/office/powerpoint/2010/main" val="24189317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C9EAA8A5-EBA8-4978-AB1D-83D173B5DE06}"/>
              </a:ext>
            </a:extLst>
          </p:cNvPr>
          <p:cNvSpPr txBox="1">
            <a:spLocks noChangeArrowheads="1"/>
          </p:cNvSpPr>
          <p:nvPr/>
        </p:nvSpPr>
        <p:spPr>
          <a:xfrm>
            <a:off x="2351584" y="188640"/>
            <a:ext cx="6324872" cy="720080"/>
          </a:xfrm>
          <a:prstGeom prst="rect">
            <a:avLst/>
          </a:prstGeom>
        </p:spPr>
        <p:txBody>
          <a:bodyPr/>
          <a:lstStyle>
            <a:lvl1pPr algn="ctr" defTabSz="685800" rtl="0" eaLnBrk="1" latinLnBrk="0" hangingPunct="1">
              <a:spcBef>
                <a:spcPct val="0"/>
              </a:spcBef>
              <a:buNone/>
              <a:defRPr sz="3300" kern="1200">
                <a:solidFill>
                  <a:schemeClr val="tx1"/>
                </a:solidFill>
                <a:latin typeface="+mj-lt"/>
                <a:ea typeface="+mj-ea"/>
                <a:cs typeface="+mj-cs"/>
              </a:defRPr>
            </a:lvl1pPr>
          </a:lstStyle>
          <a:p>
            <a:r>
              <a:rPr lang="en-US" altLang="zh-CN" dirty="0"/>
              <a:t>1.4.2 </a:t>
            </a:r>
            <a:r>
              <a:rPr lang="zh-CN" altLang="en-US" dirty="0"/>
              <a:t>幂集元素与编码</a:t>
            </a:r>
          </a:p>
        </p:txBody>
      </p:sp>
      <p:sp>
        <p:nvSpPr>
          <p:cNvPr id="3" name="Rectangle 3">
            <a:extLst>
              <a:ext uri="{FF2B5EF4-FFF2-40B4-BE49-F238E27FC236}">
                <a16:creationId xmlns:a16="http://schemas.microsoft.com/office/drawing/2014/main" id="{84A7DA0B-146A-4875-81B2-5843CA94E5F6}"/>
              </a:ext>
            </a:extLst>
          </p:cNvPr>
          <p:cNvSpPr txBox="1">
            <a:spLocks noChangeArrowheads="1"/>
          </p:cNvSpPr>
          <p:nvPr/>
        </p:nvSpPr>
        <p:spPr>
          <a:xfrm>
            <a:off x="479376" y="1479551"/>
            <a:ext cx="11305256" cy="1949450"/>
          </a:xfrm>
          <a:prstGeom prst="rect">
            <a:avLst/>
          </a:prstGeom>
        </p:spPr>
        <p:txBody>
          <a:bodyPr/>
          <a:lstStyle>
            <a:lvl1pPr marL="257175" indent="-257175" algn="l" defTabSz="685800" rtl="0" eaLnBrk="1" latinLnBrk="0" hangingPunct="1">
              <a:spcBef>
                <a:spcPct val="20000"/>
              </a:spcBef>
              <a:buFont typeface="Arial" pitchFamily="34" charset="0"/>
              <a:buChar char="•"/>
              <a:defRPr sz="2400" kern="1200">
                <a:solidFill>
                  <a:schemeClr val="tx1"/>
                </a:solidFill>
                <a:latin typeface="+mn-lt"/>
                <a:ea typeface="+mn-ea"/>
                <a:cs typeface="+mn-cs"/>
              </a:defRPr>
            </a:lvl1pPr>
            <a:lvl2pPr marL="557213" indent="-214313" algn="l" defTabSz="685800" rtl="0" eaLnBrk="1" latinLnBrk="0" hangingPunct="1">
              <a:spcBef>
                <a:spcPct val="20000"/>
              </a:spcBef>
              <a:buFont typeface="Arial" pitchFamily="34" charset="0"/>
              <a:buChar char="–"/>
              <a:defRPr sz="2100" kern="1200">
                <a:solidFill>
                  <a:schemeClr val="tx1"/>
                </a:solidFill>
                <a:latin typeface="+mn-lt"/>
                <a:ea typeface="+mn-ea"/>
                <a:cs typeface="+mn-cs"/>
              </a:defRPr>
            </a:lvl2pPr>
            <a:lvl3pPr marL="857250" indent="-171450" algn="l" defTabSz="685800" rtl="0" eaLnBrk="1" latinLnBrk="0" hangingPunct="1">
              <a:spcBef>
                <a:spcPct val="20000"/>
              </a:spcBef>
              <a:buFont typeface="Arial" pitchFamily="34" charset="0"/>
              <a:buChar char="•"/>
              <a:defRPr sz="1800" kern="1200">
                <a:solidFill>
                  <a:schemeClr val="tx1"/>
                </a:solidFill>
                <a:latin typeface="+mn-lt"/>
                <a:ea typeface="+mn-ea"/>
                <a:cs typeface="+mn-cs"/>
              </a:defRPr>
            </a:lvl3pPr>
            <a:lvl4pPr marL="12001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4pPr>
            <a:lvl5pPr marL="15430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a:buFontTx/>
              <a:buNone/>
            </a:pPr>
            <a:r>
              <a:rPr lang="zh-CN" altLang="en-US" sz="2800" dirty="0"/>
              <a:t>现在引进一种编码，用来唯一地表示有限集幂集的元素。设集合</a:t>
            </a:r>
            <a:r>
              <a:rPr lang="en-US" altLang="zh-CN" sz="2800" dirty="0"/>
              <a:t>A</a:t>
            </a:r>
            <a:r>
              <a:rPr lang="zh-CN" altLang="en-US" sz="2800" dirty="0"/>
              <a:t>中有</a:t>
            </a:r>
            <a:r>
              <a:rPr lang="en-US" altLang="zh-CN" sz="2800" dirty="0"/>
              <a:t>n</a:t>
            </a:r>
            <a:r>
              <a:rPr lang="zh-CN" altLang="en-US" sz="2800" dirty="0"/>
              <a:t>个元素，确定下标为</a:t>
            </a:r>
            <a:r>
              <a:rPr lang="en-US" altLang="zh-CN" sz="2800" dirty="0"/>
              <a:t>n</a:t>
            </a:r>
            <a:r>
              <a:rPr lang="zh-CN" altLang="en-US" sz="2800" dirty="0"/>
              <a:t>位的二进制数，每一位对应集合</a:t>
            </a:r>
            <a:r>
              <a:rPr lang="en-US" altLang="zh-CN" sz="2800" dirty="0"/>
              <a:t>A</a:t>
            </a:r>
            <a:r>
              <a:rPr lang="zh-CN" altLang="en-US" sz="2800" dirty="0"/>
              <a:t>中的一个元素。如果元素在某个子集中出现，则相应的二进制位为</a:t>
            </a:r>
            <a:r>
              <a:rPr lang="en-US" altLang="zh-CN" sz="2800" dirty="0"/>
              <a:t>1</a:t>
            </a:r>
            <a:r>
              <a:rPr lang="zh-CN" altLang="en-US" sz="2800" dirty="0"/>
              <a:t>，否则为</a:t>
            </a:r>
            <a:r>
              <a:rPr lang="en-US" altLang="zh-CN" sz="2800" dirty="0"/>
              <a:t>0</a:t>
            </a:r>
            <a:r>
              <a:rPr lang="zh-CN" altLang="en-US" sz="2800" dirty="0"/>
              <a:t>。以集合</a:t>
            </a:r>
            <a:r>
              <a:rPr lang="en-US" altLang="zh-CN" sz="2800" dirty="0"/>
              <a:t>A={</a:t>
            </a:r>
            <a:r>
              <a:rPr lang="en-US" altLang="zh-CN" sz="2800" dirty="0" err="1"/>
              <a:t>a,b,c</a:t>
            </a:r>
            <a:r>
              <a:rPr lang="en-US" altLang="zh-CN" sz="2800" dirty="0"/>
              <a:t>}</a:t>
            </a:r>
            <a:r>
              <a:rPr lang="zh-CN" altLang="en-US" sz="2800" dirty="0"/>
              <a:t>为例：</a:t>
            </a:r>
          </a:p>
        </p:txBody>
      </p:sp>
      <p:graphicFrame>
        <p:nvGraphicFramePr>
          <p:cNvPr id="4" name="Object 4">
            <a:extLst>
              <a:ext uri="{FF2B5EF4-FFF2-40B4-BE49-F238E27FC236}">
                <a16:creationId xmlns:a16="http://schemas.microsoft.com/office/drawing/2014/main" id="{291951DB-EE81-4B82-8E4A-859663EDA56B}"/>
              </a:ext>
            </a:extLst>
          </p:cNvPr>
          <p:cNvGraphicFramePr>
            <a:graphicFrameLocks noChangeAspect="1"/>
          </p:cNvGraphicFramePr>
          <p:nvPr>
            <p:extLst>
              <p:ext uri="{D42A27DB-BD31-4B8C-83A1-F6EECF244321}">
                <p14:modId xmlns:p14="http://schemas.microsoft.com/office/powerpoint/2010/main" val="2639873137"/>
              </p:ext>
            </p:extLst>
          </p:nvPr>
        </p:nvGraphicFramePr>
        <p:xfrm>
          <a:off x="839416" y="3702605"/>
          <a:ext cx="2520950" cy="504825"/>
        </p:xfrm>
        <a:graphic>
          <a:graphicData uri="http://schemas.openxmlformats.org/presentationml/2006/ole">
            <mc:AlternateContent xmlns:mc="http://schemas.openxmlformats.org/markup-compatibility/2006">
              <mc:Choice xmlns:v="urn:schemas-microsoft-com:vml" Requires="v">
                <p:oleObj spid="_x0000_s10263" name="公式" r:id="rId3" imgW="1143000" imgH="228600" progId="Equation.3">
                  <p:embed/>
                </p:oleObj>
              </mc:Choice>
              <mc:Fallback>
                <p:oleObj name="公式" r:id="rId3" imgW="1143000" imgH="228600" progId="Equation.3">
                  <p:embed/>
                  <p:pic>
                    <p:nvPicPr>
                      <p:cNvPr id="5" name="Object 4">
                        <a:extLst>
                          <a:ext uri="{FF2B5EF4-FFF2-40B4-BE49-F238E27FC236}">
                            <a16:creationId xmlns:a16="http://schemas.microsoft.com/office/drawing/2014/main" id="{211F3D59-0C28-49EB-9F18-CE2C8582399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9416" y="3702605"/>
                        <a:ext cx="2520950" cy="5048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 name="Object 6">
            <a:extLst>
              <a:ext uri="{FF2B5EF4-FFF2-40B4-BE49-F238E27FC236}">
                <a16:creationId xmlns:a16="http://schemas.microsoft.com/office/drawing/2014/main" id="{5C5784BB-5F85-480C-B7EA-6121BACB27F6}"/>
              </a:ext>
            </a:extLst>
          </p:cNvPr>
          <p:cNvGraphicFramePr>
            <a:graphicFrameLocks noChangeAspect="1"/>
          </p:cNvGraphicFramePr>
          <p:nvPr>
            <p:extLst>
              <p:ext uri="{D42A27DB-BD31-4B8C-83A1-F6EECF244321}">
                <p14:modId xmlns:p14="http://schemas.microsoft.com/office/powerpoint/2010/main" val="3574605517"/>
              </p:ext>
            </p:extLst>
          </p:nvPr>
        </p:nvGraphicFramePr>
        <p:xfrm>
          <a:off x="3863752" y="3619475"/>
          <a:ext cx="1366837" cy="560635"/>
        </p:xfrm>
        <a:graphic>
          <a:graphicData uri="http://schemas.openxmlformats.org/presentationml/2006/ole">
            <mc:AlternateContent xmlns:mc="http://schemas.openxmlformats.org/markup-compatibility/2006">
              <mc:Choice xmlns:v="urn:schemas-microsoft-com:vml" Requires="v">
                <p:oleObj spid="_x0000_s10264" name="公式" r:id="rId5" imgW="532937" imgH="215713" progId="Equation.3">
                  <p:embed/>
                </p:oleObj>
              </mc:Choice>
              <mc:Fallback>
                <p:oleObj name="公式" r:id="rId5" imgW="532937" imgH="215713" progId="Equation.3">
                  <p:embed/>
                  <p:pic>
                    <p:nvPicPr>
                      <p:cNvPr id="6" name="Object 6">
                        <a:extLst>
                          <a:ext uri="{FF2B5EF4-FFF2-40B4-BE49-F238E27FC236}">
                            <a16:creationId xmlns:a16="http://schemas.microsoft.com/office/drawing/2014/main" id="{69ECB5DE-61D5-4F40-A22A-0F6F49CAD78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863752" y="3619475"/>
                        <a:ext cx="1366837" cy="560635"/>
                      </a:xfrm>
                      <a:prstGeom prst="rect">
                        <a:avLst/>
                      </a:prstGeom>
                      <a:noFill/>
                    </p:spPr>
                  </p:pic>
                </p:oleObj>
              </mc:Fallback>
            </mc:AlternateContent>
          </a:graphicData>
        </a:graphic>
      </p:graphicFrame>
      <p:graphicFrame>
        <p:nvGraphicFramePr>
          <p:cNvPr id="6" name="Object 8">
            <a:extLst>
              <a:ext uri="{FF2B5EF4-FFF2-40B4-BE49-F238E27FC236}">
                <a16:creationId xmlns:a16="http://schemas.microsoft.com/office/drawing/2014/main" id="{B22D6EEE-06ED-4D6F-AAF7-2ECECB48F4FC}"/>
              </a:ext>
            </a:extLst>
          </p:cNvPr>
          <p:cNvGraphicFramePr>
            <a:graphicFrameLocks noChangeAspect="1"/>
          </p:cNvGraphicFramePr>
          <p:nvPr>
            <p:extLst>
              <p:ext uri="{D42A27DB-BD31-4B8C-83A1-F6EECF244321}">
                <p14:modId xmlns:p14="http://schemas.microsoft.com/office/powerpoint/2010/main" val="2479216792"/>
              </p:ext>
            </p:extLst>
          </p:nvPr>
        </p:nvGraphicFramePr>
        <p:xfrm>
          <a:off x="7536160" y="3740596"/>
          <a:ext cx="1655763" cy="428845"/>
        </p:xfrm>
        <a:graphic>
          <a:graphicData uri="http://schemas.openxmlformats.org/presentationml/2006/ole">
            <mc:AlternateContent xmlns:mc="http://schemas.openxmlformats.org/markup-compatibility/2006">
              <mc:Choice xmlns:v="urn:schemas-microsoft-com:vml" Requires="v">
                <p:oleObj spid="_x0000_s10265" name="公式" r:id="rId7" imgW="850531" imgH="215806" progId="Equation.3">
                  <p:embed/>
                </p:oleObj>
              </mc:Choice>
              <mc:Fallback>
                <p:oleObj name="公式" r:id="rId7" imgW="850531" imgH="215806" progId="Equation.3">
                  <p:embed/>
                  <p:pic>
                    <p:nvPicPr>
                      <p:cNvPr id="7" name="Object 8">
                        <a:extLst>
                          <a:ext uri="{FF2B5EF4-FFF2-40B4-BE49-F238E27FC236}">
                            <a16:creationId xmlns:a16="http://schemas.microsoft.com/office/drawing/2014/main" id="{15EFA95E-742A-478C-9954-E33CBD382404}"/>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536160" y="3740596"/>
                        <a:ext cx="1655763" cy="428845"/>
                      </a:xfrm>
                      <a:prstGeom prst="rect">
                        <a:avLst/>
                      </a:prstGeom>
                      <a:noFill/>
                    </p:spPr>
                  </p:pic>
                </p:oleObj>
              </mc:Fallback>
            </mc:AlternateContent>
          </a:graphicData>
        </a:graphic>
      </p:graphicFrame>
      <p:sp>
        <p:nvSpPr>
          <p:cNvPr id="7" name="Text Box 10">
            <a:extLst>
              <a:ext uri="{FF2B5EF4-FFF2-40B4-BE49-F238E27FC236}">
                <a16:creationId xmlns:a16="http://schemas.microsoft.com/office/drawing/2014/main" id="{724CFD0A-BBAF-42DE-9AA4-366785971D05}"/>
              </a:ext>
            </a:extLst>
          </p:cNvPr>
          <p:cNvSpPr txBox="1">
            <a:spLocks noChangeArrowheads="1"/>
          </p:cNvSpPr>
          <p:nvPr/>
        </p:nvSpPr>
        <p:spPr bwMode="auto">
          <a:xfrm>
            <a:off x="5446613" y="3800460"/>
            <a:ext cx="2161555" cy="4206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kumimoji="1" lang="zh-CN" altLang="en-US" sz="2800" b="1" baseline="30000" dirty="0">
                <a:latin typeface="Tahoma" pitchFamily="34" charset="0"/>
              </a:rPr>
              <a:t>是</a:t>
            </a:r>
            <a:r>
              <a:rPr kumimoji="1" lang="zh-CN" altLang="en-US" sz="3200" b="1" baseline="30000" dirty="0">
                <a:latin typeface="Tahoma" pitchFamily="34" charset="0"/>
              </a:rPr>
              <a:t>二进制数</a:t>
            </a:r>
            <a:r>
              <a:rPr kumimoji="1" lang="zh-CN" altLang="en-US" sz="2800" b="1" baseline="30000" dirty="0">
                <a:latin typeface="Tahoma" pitchFamily="34" charset="0"/>
              </a:rPr>
              <a:t>且 </a:t>
            </a:r>
          </a:p>
        </p:txBody>
      </p:sp>
      <p:sp>
        <p:nvSpPr>
          <p:cNvPr id="8" name="Rectangle 11">
            <a:extLst>
              <a:ext uri="{FF2B5EF4-FFF2-40B4-BE49-F238E27FC236}">
                <a16:creationId xmlns:a16="http://schemas.microsoft.com/office/drawing/2014/main" id="{43E84645-C363-4D44-A8ED-728272CFD9F2}"/>
              </a:ext>
            </a:extLst>
          </p:cNvPr>
          <p:cNvSpPr>
            <a:spLocks noChangeArrowheads="1"/>
          </p:cNvSpPr>
          <p:nvPr/>
        </p:nvSpPr>
        <p:spPr bwMode="auto">
          <a:xfrm>
            <a:off x="479376" y="4643436"/>
            <a:ext cx="11305256" cy="1470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342900" indent="-342900">
              <a:spcBef>
                <a:spcPct val="20000"/>
              </a:spcBef>
            </a:pPr>
            <a:r>
              <a:rPr lang="zh-CN" altLang="en-US" sz="2400" b="0" dirty="0"/>
              <a:t>将</a:t>
            </a:r>
            <a:r>
              <a:rPr lang="en-US" altLang="zh-CN" sz="2400" b="0" dirty="0"/>
              <a:t>P</a:t>
            </a:r>
            <a:r>
              <a:rPr lang="zh-CN" altLang="en-US" sz="2400" b="0" dirty="0"/>
              <a:t>（</a:t>
            </a:r>
            <a:r>
              <a:rPr lang="en-US" altLang="zh-CN" sz="2400" b="0" dirty="0"/>
              <a:t>A</a:t>
            </a:r>
            <a:r>
              <a:rPr lang="zh-CN" altLang="en-US" sz="2400" b="0" dirty="0"/>
              <a:t>）中的各个元素详细描述如下：</a:t>
            </a:r>
            <a:endParaRPr lang="zh-CN" altLang="en-US" sz="2400" b="0" dirty="0">
              <a:sym typeface="Symbol" pitchFamily="18" charset="2"/>
            </a:endParaRPr>
          </a:p>
          <a:p>
            <a:pPr marL="342900" indent="-342900">
              <a:spcBef>
                <a:spcPct val="20000"/>
              </a:spcBef>
            </a:pPr>
            <a:r>
              <a:rPr lang="zh-CN" altLang="en-US" sz="2400" b="0" dirty="0">
                <a:sym typeface="Symbol" pitchFamily="18" charset="2"/>
              </a:rPr>
              <a:t></a:t>
            </a:r>
            <a:r>
              <a:rPr lang="en-US" altLang="zh-CN" sz="2400" b="0" dirty="0"/>
              <a:t>=A</a:t>
            </a:r>
            <a:r>
              <a:rPr lang="en-US" altLang="zh-CN" sz="2400" b="0" baseline="-25000" dirty="0"/>
              <a:t>000</a:t>
            </a:r>
            <a:r>
              <a:rPr lang="zh-CN" altLang="en-US" sz="2400" b="0" dirty="0"/>
              <a:t>，</a:t>
            </a:r>
            <a:r>
              <a:rPr lang="en-US" altLang="zh-CN" sz="2400" b="0" dirty="0"/>
              <a:t>{a}=A</a:t>
            </a:r>
            <a:r>
              <a:rPr lang="en-US" altLang="zh-CN" sz="2400" b="0" baseline="-25000" dirty="0"/>
              <a:t>100</a:t>
            </a:r>
            <a:r>
              <a:rPr lang="zh-CN" altLang="en-US" sz="2400" b="0" dirty="0"/>
              <a:t>，</a:t>
            </a:r>
            <a:r>
              <a:rPr lang="en-US" altLang="zh-CN" sz="2400" b="0" dirty="0"/>
              <a:t>{b}=A</a:t>
            </a:r>
            <a:r>
              <a:rPr lang="en-US" altLang="zh-CN" sz="2400" b="0" baseline="-25000" dirty="0"/>
              <a:t>010</a:t>
            </a:r>
            <a:r>
              <a:rPr lang="zh-CN" altLang="en-US" sz="2400" b="0" dirty="0"/>
              <a:t>，</a:t>
            </a:r>
            <a:r>
              <a:rPr lang="en-US" altLang="zh-CN" sz="2400" b="0" dirty="0"/>
              <a:t>{c}=A</a:t>
            </a:r>
            <a:r>
              <a:rPr lang="en-US" altLang="zh-CN" sz="2400" b="0" baseline="-25000" dirty="0"/>
              <a:t>001</a:t>
            </a:r>
            <a:r>
              <a:rPr lang="zh-CN" altLang="en-US" sz="2400" b="0" dirty="0"/>
              <a:t>，</a:t>
            </a:r>
            <a:r>
              <a:rPr lang="en-US" altLang="zh-CN" sz="2400" b="0" dirty="0"/>
              <a:t>{</a:t>
            </a:r>
            <a:r>
              <a:rPr lang="en-US" altLang="zh-CN" sz="2400" b="0" dirty="0" err="1"/>
              <a:t>a,b</a:t>
            </a:r>
            <a:r>
              <a:rPr lang="en-US" altLang="zh-CN" sz="2400" b="0" dirty="0"/>
              <a:t>}=A</a:t>
            </a:r>
            <a:r>
              <a:rPr lang="en-US" altLang="zh-CN" sz="2400" b="0" baseline="-25000" dirty="0"/>
              <a:t>110</a:t>
            </a:r>
            <a:r>
              <a:rPr lang="zh-CN" altLang="en-US" sz="2400" b="0" dirty="0"/>
              <a:t>，</a:t>
            </a:r>
            <a:r>
              <a:rPr lang="en-US" altLang="zh-CN" sz="2400" b="0" dirty="0"/>
              <a:t>{</a:t>
            </a:r>
            <a:r>
              <a:rPr lang="en-US" altLang="zh-CN" sz="2400" b="0" dirty="0" err="1"/>
              <a:t>a,c</a:t>
            </a:r>
            <a:r>
              <a:rPr lang="en-US" altLang="zh-CN" sz="2400" b="0" dirty="0"/>
              <a:t>}=A</a:t>
            </a:r>
            <a:r>
              <a:rPr lang="en-US" altLang="zh-CN" sz="2400" b="0" baseline="-25000" dirty="0"/>
              <a:t>101</a:t>
            </a:r>
            <a:r>
              <a:rPr lang="zh-CN" altLang="en-US" sz="2400" b="0" dirty="0"/>
              <a:t>，</a:t>
            </a:r>
            <a:r>
              <a:rPr lang="en-US" altLang="zh-CN" sz="2400" b="0" dirty="0"/>
              <a:t>{</a:t>
            </a:r>
            <a:r>
              <a:rPr lang="en-US" altLang="zh-CN" sz="2400" b="0" dirty="0" err="1"/>
              <a:t>b,c</a:t>
            </a:r>
            <a:r>
              <a:rPr lang="en-US" altLang="zh-CN" sz="2400" b="0" dirty="0"/>
              <a:t>}=A</a:t>
            </a:r>
            <a:r>
              <a:rPr lang="en-US" altLang="zh-CN" sz="2400" b="0" baseline="-25000" dirty="0"/>
              <a:t>011</a:t>
            </a:r>
            <a:r>
              <a:rPr lang="zh-CN" altLang="en-US" sz="2400" b="0" baseline="-25000" dirty="0"/>
              <a:t>，</a:t>
            </a:r>
            <a:r>
              <a:rPr lang="en-US" altLang="zh-CN" sz="2400" b="0" dirty="0"/>
              <a:t>{</a:t>
            </a:r>
            <a:r>
              <a:rPr lang="en-US" altLang="zh-CN" sz="2400" b="0" dirty="0" err="1"/>
              <a:t>a,b,c</a:t>
            </a:r>
            <a:r>
              <a:rPr lang="en-US" altLang="zh-CN" sz="2400" b="0" dirty="0"/>
              <a:t>}=A</a:t>
            </a:r>
            <a:r>
              <a:rPr lang="en-US" altLang="zh-CN" sz="2400" b="0" baseline="-25000" dirty="0"/>
              <a:t>111</a:t>
            </a:r>
          </a:p>
        </p:txBody>
      </p:sp>
    </p:spTree>
    <p:extLst>
      <p:ext uri="{BB962C8B-B14F-4D97-AF65-F5344CB8AC3E}">
        <p14:creationId xmlns:p14="http://schemas.microsoft.com/office/powerpoint/2010/main" val="343710132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FD2DA19A-A900-4AA0-AA0E-60042596D372}"/>
              </a:ext>
            </a:extLst>
          </p:cNvPr>
          <p:cNvSpPr txBox="1">
            <a:spLocks noChangeArrowheads="1"/>
          </p:cNvSpPr>
          <p:nvPr/>
        </p:nvSpPr>
        <p:spPr>
          <a:xfrm>
            <a:off x="467544" y="188640"/>
            <a:ext cx="8208912" cy="1143000"/>
          </a:xfrm>
          <a:prstGeom prst="rect">
            <a:avLst/>
          </a:prstGeom>
        </p:spPr>
        <p:txBody>
          <a:bodyPr/>
          <a:lstStyle>
            <a:lvl1pPr algn="ctr" defTabSz="685800" rtl="0" eaLnBrk="1" latinLnBrk="0" hangingPunct="1">
              <a:spcBef>
                <a:spcPct val="0"/>
              </a:spcBef>
              <a:buNone/>
              <a:defRPr sz="3300" kern="1200">
                <a:solidFill>
                  <a:schemeClr val="tx1"/>
                </a:solidFill>
                <a:latin typeface="+mj-lt"/>
                <a:ea typeface="+mj-ea"/>
                <a:cs typeface="+mj-cs"/>
              </a:defRPr>
            </a:lvl1pPr>
          </a:lstStyle>
          <a:p>
            <a:r>
              <a:rPr lang="zh-CN" altLang="en-US"/>
              <a:t>补集的编码表示： </a:t>
            </a:r>
            <a:endParaRPr lang="zh-CN" altLang="en-US" dirty="0"/>
          </a:p>
        </p:txBody>
      </p:sp>
      <p:sp>
        <p:nvSpPr>
          <p:cNvPr id="3" name="Rectangle 3">
            <a:extLst>
              <a:ext uri="{FF2B5EF4-FFF2-40B4-BE49-F238E27FC236}">
                <a16:creationId xmlns:a16="http://schemas.microsoft.com/office/drawing/2014/main" id="{5D1FD1C2-CF65-4B85-A212-807A636E06BA}"/>
              </a:ext>
            </a:extLst>
          </p:cNvPr>
          <p:cNvSpPr txBox="1">
            <a:spLocks noChangeArrowheads="1"/>
          </p:cNvSpPr>
          <p:nvPr/>
        </p:nvSpPr>
        <p:spPr>
          <a:xfrm>
            <a:off x="767036" y="1325622"/>
            <a:ext cx="10971212" cy="2275383"/>
          </a:xfrm>
          <a:prstGeom prst="rect">
            <a:avLst/>
          </a:prstGeom>
        </p:spPr>
        <p:txBody>
          <a:bodyPr/>
          <a:lstStyle>
            <a:lvl1pPr marL="257175" indent="-257175" algn="l" defTabSz="685800" rtl="0" eaLnBrk="1" latinLnBrk="0" hangingPunct="1">
              <a:spcBef>
                <a:spcPct val="20000"/>
              </a:spcBef>
              <a:buFont typeface="Arial" pitchFamily="34" charset="0"/>
              <a:buChar char="•"/>
              <a:defRPr sz="2400" kern="1200">
                <a:solidFill>
                  <a:schemeClr val="tx1"/>
                </a:solidFill>
                <a:latin typeface="+mn-lt"/>
                <a:ea typeface="+mn-ea"/>
                <a:cs typeface="+mn-cs"/>
              </a:defRPr>
            </a:lvl1pPr>
            <a:lvl2pPr marL="557213" indent="-214313" algn="l" defTabSz="685800" rtl="0" eaLnBrk="1" latinLnBrk="0" hangingPunct="1">
              <a:spcBef>
                <a:spcPct val="20000"/>
              </a:spcBef>
              <a:buFont typeface="Arial" pitchFamily="34" charset="0"/>
              <a:buChar char="–"/>
              <a:defRPr sz="2100" kern="1200">
                <a:solidFill>
                  <a:schemeClr val="tx1"/>
                </a:solidFill>
                <a:latin typeface="+mn-lt"/>
                <a:ea typeface="+mn-ea"/>
                <a:cs typeface="+mn-cs"/>
              </a:defRPr>
            </a:lvl2pPr>
            <a:lvl3pPr marL="857250" indent="-171450" algn="l" defTabSz="685800" rtl="0" eaLnBrk="1" latinLnBrk="0" hangingPunct="1">
              <a:spcBef>
                <a:spcPct val="20000"/>
              </a:spcBef>
              <a:buFont typeface="Arial" pitchFamily="34" charset="0"/>
              <a:buChar char="•"/>
              <a:defRPr sz="1800" kern="1200">
                <a:solidFill>
                  <a:schemeClr val="tx1"/>
                </a:solidFill>
                <a:latin typeface="+mn-lt"/>
                <a:ea typeface="+mn-ea"/>
                <a:cs typeface="+mn-cs"/>
              </a:defRPr>
            </a:lvl3pPr>
            <a:lvl4pPr marL="12001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4pPr>
            <a:lvl5pPr marL="15430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a:lnSpc>
                <a:spcPct val="150000"/>
              </a:lnSpc>
              <a:buFontTx/>
              <a:buNone/>
            </a:pPr>
            <a:r>
              <a:rPr lang="zh-CN" altLang="en-US" sz="3200" dirty="0"/>
              <a:t>设</a:t>
            </a:r>
            <a:r>
              <a:rPr lang="en-US" altLang="zh-CN" sz="3200" dirty="0">
                <a:latin typeface="Times New Roman" pitchFamily="18" charset="0"/>
              </a:rPr>
              <a:t>A</a:t>
            </a:r>
            <a:r>
              <a:rPr lang="en-US" altLang="zh-CN" sz="3200" i="1" baseline="-4000" dirty="0">
                <a:latin typeface="Times New Roman" pitchFamily="18" charset="0"/>
              </a:rPr>
              <a:t>i</a:t>
            </a:r>
            <a:r>
              <a:rPr lang="en-US" altLang="zh-CN" sz="3200" baseline="-24000" dirty="0">
                <a:latin typeface="Times New Roman" pitchFamily="18" charset="0"/>
              </a:rPr>
              <a:t>1</a:t>
            </a:r>
            <a:r>
              <a:rPr lang="en-US" altLang="zh-CN" sz="3200" i="1" baseline="-4000" dirty="0">
                <a:latin typeface="Times New Roman" pitchFamily="18" charset="0"/>
              </a:rPr>
              <a:t>i</a:t>
            </a:r>
            <a:r>
              <a:rPr lang="en-US" altLang="zh-CN" sz="3200" baseline="-24000" dirty="0">
                <a:latin typeface="Times New Roman" pitchFamily="18" charset="0"/>
              </a:rPr>
              <a:t>2</a:t>
            </a:r>
            <a:r>
              <a:rPr lang="en-US" altLang="zh-CN" sz="3200" baseline="-4000" dirty="0">
                <a:latin typeface="Arial"/>
              </a:rPr>
              <a:t>…</a:t>
            </a:r>
            <a:r>
              <a:rPr lang="en-US" altLang="zh-CN" sz="3200" i="1" baseline="-4000" dirty="0">
                <a:latin typeface="Times New Roman" pitchFamily="18" charset="0"/>
              </a:rPr>
              <a:t>i</a:t>
            </a:r>
            <a:r>
              <a:rPr lang="en-US" altLang="zh-CN" sz="3200" baseline="-24000" dirty="0">
                <a:latin typeface="Times New Roman" pitchFamily="18" charset="0"/>
              </a:rPr>
              <a:t>n</a:t>
            </a:r>
            <a:r>
              <a:rPr lang="zh-CN" altLang="en-US" sz="3200" dirty="0"/>
              <a:t>是集合</a:t>
            </a:r>
            <a:r>
              <a:rPr lang="en-US" altLang="zh-CN" sz="3200" dirty="0"/>
              <a:t>A</a:t>
            </a:r>
            <a:r>
              <a:rPr lang="zh-CN" altLang="en-US" sz="3200" dirty="0"/>
              <a:t>的子集，</a:t>
            </a:r>
            <a:r>
              <a:rPr lang="en-US" altLang="zh-CN" sz="3200" i="1" baseline="-4000" dirty="0">
                <a:latin typeface="Times New Roman" pitchFamily="18" charset="0"/>
              </a:rPr>
              <a:t>i</a:t>
            </a:r>
            <a:r>
              <a:rPr lang="en-US" altLang="zh-CN" sz="3200" baseline="-24000" dirty="0">
                <a:latin typeface="Times New Roman" pitchFamily="18" charset="0"/>
              </a:rPr>
              <a:t>1</a:t>
            </a:r>
            <a:r>
              <a:rPr lang="en-US" altLang="zh-CN" sz="3200" i="1" baseline="-4000" dirty="0">
                <a:latin typeface="Times New Roman" pitchFamily="18" charset="0"/>
              </a:rPr>
              <a:t>i</a:t>
            </a:r>
            <a:r>
              <a:rPr lang="en-US" altLang="zh-CN" sz="3200" baseline="-24000" dirty="0">
                <a:latin typeface="Times New Roman" pitchFamily="18" charset="0"/>
              </a:rPr>
              <a:t>2</a:t>
            </a:r>
            <a:r>
              <a:rPr lang="en-US" altLang="zh-CN" sz="3200" baseline="-4000" dirty="0">
                <a:latin typeface="Arial"/>
              </a:rPr>
              <a:t>…</a:t>
            </a:r>
            <a:r>
              <a:rPr lang="en-US" altLang="zh-CN" sz="3200" i="1" baseline="-4000" dirty="0">
                <a:latin typeface="Times New Roman" pitchFamily="18" charset="0"/>
              </a:rPr>
              <a:t>i</a:t>
            </a:r>
            <a:r>
              <a:rPr lang="en-US" altLang="zh-CN" sz="3200" baseline="-24000" dirty="0">
                <a:latin typeface="Times New Roman" pitchFamily="18" charset="0"/>
              </a:rPr>
              <a:t>n</a:t>
            </a:r>
            <a:r>
              <a:rPr lang="zh-CN" altLang="en-US" sz="3200" dirty="0"/>
              <a:t>是</a:t>
            </a:r>
            <a:r>
              <a:rPr lang="en-US" altLang="zh-CN" sz="3200" dirty="0">
                <a:latin typeface="Times New Roman" pitchFamily="18" charset="0"/>
              </a:rPr>
              <a:t>A</a:t>
            </a:r>
            <a:r>
              <a:rPr lang="en-US" altLang="zh-CN" sz="3200" i="1" baseline="-4000" dirty="0">
                <a:latin typeface="Times New Roman" pitchFamily="18" charset="0"/>
              </a:rPr>
              <a:t>i</a:t>
            </a:r>
            <a:r>
              <a:rPr lang="en-US" altLang="zh-CN" sz="3200" baseline="-24000" dirty="0">
                <a:latin typeface="Times New Roman" pitchFamily="18" charset="0"/>
              </a:rPr>
              <a:t>1</a:t>
            </a:r>
            <a:r>
              <a:rPr lang="en-US" altLang="zh-CN" sz="3200" i="1" baseline="-4000" dirty="0">
                <a:latin typeface="Times New Roman" pitchFamily="18" charset="0"/>
              </a:rPr>
              <a:t>i</a:t>
            </a:r>
            <a:r>
              <a:rPr lang="en-US" altLang="zh-CN" sz="3200" baseline="-24000" dirty="0">
                <a:latin typeface="Times New Roman" pitchFamily="18" charset="0"/>
              </a:rPr>
              <a:t>2</a:t>
            </a:r>
            <a:r>
              <a:rPr lang="en-US" altLang="zh-CN" sz="3200" baseline="-4000" dirty="0">
                <a:latin typeface="Arial"/>
              </a:rPr>
              <a:t>…</a:t>
            </a:r>
            <a:r>
              <a:rPr lang="en-US" altLang="zh-CN" sz="3200" i="1" baseline="-4000" dirty="0">
                <a:latin typeface="Times New Roman" pitchFamily="18" charset="0"/>
              </a:rPr>
              <a:t>i</a:t>
            </a:r>
            <a:r>
              <a:rPr lang="en-US" altLang="zh-CN" sz="3200" baseline="-24000" dirty="0">
                <a:latin typeface="Times New Roman" pitchFamily="18" charset="0"/>
              </a:rPr>
              <a:t>n</a:t>
            </a:r>
            <a:r>
              <a:rPr lang="zh-CN" altLang="en-US" sz="3200" dirty="0"/>
              <a:t>的二进制编码表示，则 </a:t>
            </a:r>
            <a:r>
              <a:rPr lang="en-US" altLang="zh-CN" sz="3200" dirty="0">
                <a:latin typeface="Times New Roman" pitchFamily="18" charset="0"/>
              </a:rPr>
              <a:t>A</a:t>
            </a:r>
            <a:r>
              <a:rPr lang="en-US" altLang="zh-CN" sz="3200" i="1" baseline="-4000" dirty="0">
                <a:latin typeface="Times New Roman" pitchFamily="18" charset="0"/>
              </a:rPr>
              <a:t>i</a:t>
            </a:r>
            <a:r>
              <a:rPr lang="en-US" altLang="zh-CN" sz="3200" baseline="-24000" dirty="0">
                <a:latin typeface="Times New Roman" pitchFamily="18" charset="0"/>
              </a:rPr>
              <a:t>1</a:t>
            </a:r>
            <a:r>
              <a:rPr lang="en-US" altLang="zh-CN" sz="3200" i="1" baseline="-4000" dirty="0">
                <a:latin typeface="Times New Roman" pitchFamily="18" charset="0"/>
              </a:rPr>
              <a:t>i</a:t>
            </a:r>
            <a:r>
              <a:rPr lang="en-US" altLang="zh-CN" sz="3200" baseline="-24000" dirty="0">
                <a:latin typeface="Times New Roman" pitchFamily="18" charset="0"/>
              </a:rPr>
              <a:t>2</a:t>
            </a:r>
            <a:r>
              <a:rPr lang="en-US" altLang="zh-CN" sz="3200" baseline="-4000" dirty="0">
                <a:latin typeface="Arial"/>
              </a:rPr>
              <a:t>…</a:t>
            </a:r>
            <a:r>
              <a:rPr lang="en-US" altLang="zh-CN" sz="3200" i="1" baseline="-4000" dirty="0">
                <a:latin typeface="Times New Roman" pitchFamily="18" charset="0"/>
              </a:rPr>
              <a:t>i</a:t>
            </a:r>
            <a:r>
              <a:rPr lang="en-US" altLang="zh-CN" sz="3200" baseline="-24000" dirty="0">
                <a:latin typeface="Times New Roman" pitchFamily="18" charset="0"/>
              </a:rPr>
              <a:t>n</a:t>
            </a:r>
            <a:r>
              <a:rPr lang="en-US" altLang="zh-CN" sz="3200" dirty="0"/>
              <a:t> </a:t>
            </a:r>
            <a:r>
              <a:rPr lang="zh-CN" altLang="en-US" sz="3200" dirty="0"/>
              <a:t>补集的二进制编码表示只需将每个</a:t>
            </a:r>
            <a:r>
              <a:rPr lang="en-US" altLang="zh-CN" sz="3200" dirty="0"/>
              <a:t>1</a:t>
            </a:r>
            <a:r>
              <a:rPr lang="zh-CN" altLang="en-US" sz="3200" dirty="0"/>
              <a:t>换成</a:t>
            </a:r>
            <a:r>
              <a:rPr lang="en-US" altLang="zh-CN" sz="3200" dirty="0"/>
              <a:t>0</a:t>
            </a:r>
            <a:r>
              <a:rPr lang="zh-CN" altLang="en-US" sz="3200" dirty="0"/>
              <a:t>，</a:t>
            </a:r>
            <a:r>
              <a:rPr lang="en-US" altLang="zh-CN" sz="3200" dirty="0"/>
              <a:t>0</a:t>
            </a:r>
            <a:r>
              <a:rPr lang="zh-CN" altLang="en-US" sz="3200" dirty="0"/>
              <a:t>换成</a:t>
            </a:r>
            <a:r>
              <a:rPr lang="en-US" altLang="zh-CN" sz="3200" dirty="0"/>
              <a:t>1</a:t>
            </a:r>
            <a:r>
              <a:rPr lang="zh-CN" altLang="en-US" sz="3200" dirty="0"/>
              <a:t>即可。如</a:t>
            </a:r>
            <a:r>
              <a:rPr lang="en-US" altLang="zh-CN" sz="3200" dirty="0"/>
              <a:t>A</a:t>
            </a:r>
            <a:r>
              <a:rPr lang="en-US" altLang="zh-CN" sz="3200" baseline="-25000" dirty="0"/>
              <a:t>001</a:t>
            </a:r>
            <a:r>
              <a:rPr lang="zh-CN" altLang="en-US" sz="3200" dirty="0"/>
              <a:t>的补集为</a:t>
            </a:r>
            <a:r>
              <a:rPr lang="en-US" altLang="zh-CN" sz="3200" dirty="0"/>
              <a:t>A</a:t>
            </a:r>
            <a:r>
              <a:rPr lang="en-US" altLang="zh-CN" sz="3200" baseline="-25000" dirty="0"/>
              <a:t>110</a:t>
            </a:r>
            <a:r>
              <a:rPr lang="zh-CN" altLang="en-US" sz="3200" dirty="0"/>
              <a:t>。</a:t>
            </a:r>
          </a:p>
          <a:p>
            <a:pPr>
              <a:lnSpc>
                <a:spcPct val="150000"/>
              </a:lnSpc>
              <a:buFontTx/>
              <a:buNone/>
            </a:pPr>
            <a:r>
              <a:rPr lang="zh-CN" altLang="en-US" sz="3200" dirty="0"/>
              <a:t> </a:t>
            </a:r>
          </a:p>
        </p:txBody>
      </p:sp>
    </p:spTree>
    <p:extLst>
      <p:ext uri="{BB962C8B-B14F-4D97-AF65-F5344CB8AC3E}">
        <p14:creationId xmlns:p14="http://schemas.microsoft.com/office/powerpoint/2010/main" val="351934546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9E0F208-35CF-4BCF-9AE6-0EE81FF9174E}"/>
              </a:ext>
            </a:extLst>
          </p:cNvPr>
          <p:cNvSpPr txBox="1">
            <a:spLocks noChangeArrowheads="1"/>
          </p:cNvSpPr>
          <p:nvPr/>
        </p:nvSpPr>
        <p:spPr>
          <a:xfrm>
            <a:off x="301352" y="1556793"/>
            <a:ext cx="11281048" cy="4799560"/>
          </a:xfrm>
          <a:prstGeom prst="rect">
            <a:avLst/>
          </a:prstGeom>
        </p:spPr>
        <p:txBody>
          <a:bodyPr/>
          <a:lstStyle>
            <a:lvl1pPr marL="257175" indent="-257175" algn="l" defTabSz="685800" rtl="0" eaLnBrk="1" latinLnBrk="0" hangingPunct="1">
              <a:spcBef>
                <a:spcPct val="20000"/>
              </a:spcBef>
              <a:buFont typeface="Arial" pitchFamily="34" charset="0"/>
              <a:buChar char="•"/>
              <a:defRPr sz="2400" kern="1200">
                <a:solidFill>
                  <a:schemeClr val="tx1"/>
                </a:solidFill>
                <a:latin typeface="+mn-lt"/>
                <a:ea typeface="+mn-ea"/>
                <a:cs typeface="+mn-cs"/>
              </a:defRPr>
            </a:lvl1pPr>
            <a:lvl2pPr marL="557213" indent="-214313" algn="l" defTabSz="685800" rtl="0" eaLnBrk="1" latinLnBrk="0" hangingPunct="1">
              <a:spcBef>
                <a:spcPct val="20000"/>
              </a:spcBef>
              <a:buFont typeface="Arial" pitchFamily="34" charset="0"/>
              <a:buChar char="–"/>
              <a:defRPr sz="2100" kern="1200">
                <a:solidFill>
                  <a:schemeClr val="tx1"/>
                </a:solidFill>
                <a:latin typeface="+mn-lt"/>
                <a:ea typeface="+mn-ea"/>
                <a:cs typeface="+mn-cs"/>
              </a:defRPr>
            </a:lvl2pPr>
            <a:lvl3pPr marL="857250" indent="-171450" algn="l" defTabSz="685800" rtl="0" eaLnBrk="1" latinLnBrk="0" hangingPunct="1">
              <a:spcBef>
                <a:spcPct val="20000"/>
              </a:spcBef>
              <a:buFont typeface="Arial" pitchFamily="34" charset="0"/>
              <a:buChar char="•"/>
              <a:defRPr sz="1800" kern="1200">
                <a:solidFill>
                  <a:schemeClr val="tx1"/>
                </a:solidFill>
                <a:latin typeface="+mn-lt"/>
                <a:ea typeface="+mn-ea"/>
                <a:cs typeface="+mn-cs"/>
              </a:defRPr>
            </a:lvl3pPr>
            <a:lvl4pPr marL="12001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4pPr>
            <a:lvl5pPr marL="15430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a:lnSpc>
                <a:spcPct val="120000"/>
              </a:lnSpc>
              <a:buFontTx/>
              <a:buNone/>
            </a:pPr>
            <a:r>
              <a:rPr lang="zh-CN" altLang="en-US" sz="2800" dirty="0"/>
              <a:t>两个子集交的编码表示：两个子集</a:t>
            </a:r>
            <a:r>
              <a:rPr lang="zh-CN" altLang="en-US" sz="2800" b="1" dirty="0">
                <a:solidFill>
                  <a:srgbClr val="3308E8"/>
                </a:solidFill>
              </a:rPr>
              <a:t>交</a:t>
            </a:r>
            <a:r>
              <a:rPr lang="zh-CN" altLang="en-US" sz="2800" dirty="0"/>
              <a:t>的编码是两个子集编码对应位置的布尔乘。布尔乘规则如下： </a:t>
            </a:r>
          </a:p>
          <a:p>
            <a:pPr>
              <a:lnSpc>
                <a:spcPct val="120000"/>
              </a:lnSpc>
              <a:buFontTx/>
              <a:buNone/>
            </a:pPr>
            <a:r>
              <a:rPr lang="en-US" altLang="zh-CN" sz="2800" dirty="0"/>
              <a:t>1×1=1</a:t>
            </a:r>
            <a:r>
              <a:rPr lang="zh-CN" altLang="en-US" sz="2800" dirty="0"/>
              <a:t>，</a:t>
            </a:r>
            <a:r>
              <a:rPr lang="en-US" altLang="zh-CN" sz="2800" dirty="0"/>
              <a:t>1×0=0</a:t>
            </a:r>
            <a:r>
              <a:rPr lang="zh-CN" altLang="en-US" sz="2800" dirty="0"/>
              <a:t>，</a:t>
            </a:r>
            <a:r>
              <a:rPr lang="en-US" altLang="zh-CN" sz="2800" dirty="0"/>
              <a:t>0×1=0</a:t>
            </a:r>
            <a:r>
              <a:rPr lang="zh-CN" altLang="en-US" sz="2800" dirty="0"/>
              <a:t>，</a:t>
            </a:r>
            <a:r>
              <a:rPr lang="en-US" altLang="zh-CN" sz="2800" dirty="0"/>
              <a:t>0×0=0 </a:t>
            </a:r>
          </a:p>
          <a:p>
            <a:pPr>
              <a:lnSpc>
                <a:spcPct val="120000"/>
              </a:lnSpc>
              <a:buFontTx/>
              <a:buNone/>
            </a:pPr>
            <a:r>
              <a:rPr lang="zh-CN" altLang="en-US" sz="2800" dirty="0"/>
              <a:t>则</a:t>
            </a:r>
            <a:r>
              <a:rPr lang="en-US" altLang="zh-CN" sz="2800" dirty="0"/>
              <a:t>A</a:t>
            </a:r>
            <a:r>
              <a:rPr lang="en-US" altLang="zh-CN" sz="2800" baseline="-25000" dirty="0"/>
              <a:t>001</a:t>
            </a:r>
            <a:r>
              <a:rPr lang="zh-CN" altLang="en-US" sz="2800" dirty="0"/>
              <a:t>与</a:t>
            </a:r>
            <a:r>
              <a:rPr lang="en-US" altLang="zh-CN" sz="2800" dirty="0"/>
              <a:t>A</a:t>
            </a:r>
            <a:r>
              <a:rPr lang="en-US" altLang="zh-CN" sz="2800" baseline="-25000" dirty="0"/>
              <a:t>101</a:t>
            </a:r>
            <a:r>
              <a:rPr lang="zh-CN" altLang="en-US" sz="2800" dirty="0"/>
              <a:t>的交集为</a:t>
            </a:r>
            <a:r>
              <a:rPr lang="en-US" altLang="zh-CN" sz="2800" dirty="0"/>
              <a:t>A</a:t>
            </a:r>
            <a:r>
              <a:rPr lang="en-US" altLang="zh-CN" sz="2800" baseline="-25000" dirty="0"/>
              <a:t>001</a:t>
            </a:r>
            <a:r>
              <a:rPr lang="zh-CN" altLang="en-US" sz="2800" dirty="0"/>
              <a:t>。</a:t>
            </a:r>
          </a:p>
          <a:p>
            <a:pPr>
              <a:lnSpc>
                <a:spcPct val="120000"/>
              </a:lnSpc>
              <a:buFontTx/>
              <a:buNone/>
            </a:pPr>
            <a:r>
              <a:rPr lang="zh-CN" altLang="en-US" sz="2800" dirty="0"/>
              <a:t>两个子集并的编码表示：两个子集</a:t>
            </a:r>
            <a:r>
              <a:rPr lang="zh-CN" altLang="en-US" sz="2800" b="1" dirty="0">
                <a:solidFill>
                  <a:srgbClr val="3308E8"/>
                </a:solidFill>
              </a:rPr>
              <a:t>并</a:t>
            </a:r>
            <a:r>
              <a:rPr lang="zh-CN" altLang="en-US" sz="2800" dirty="0"/>
              <a:t>的编码是两个子集编码对应位置的布尔加法。布尔加规则如下： </a:t>
            </a:r>
          </a:p>
          <a:p>
            <a:pPr>
              <a:lnSpc>
                <a:spcPct val="120000"/>
              </a:lnSpc>
              <a:buFontTx/>
              <a:buNone/>
            </a:pPr>
            <a:r>
              <a:rPr lang="en-US" altLang="zh-CN" sz="2800" dirty="0"/>
              <a:t>1+1=1</a:t>
            </a:r>
            <a:r>
              <a:rPr lang="zh-CN" altLang="en-US" sz="2800" dirty="0"/>
              <a:t>，</a:t>
            </a:r>
            <a:r>
              <a:rPr lang="en-US" altLang="zh-CN" sz="2800" dirty="0"/>
              <a:t>1+0=1</a:t>
            </a:r>
            <a:r>
              <a:rPr lang="zh-CN" altLang="en-US" sz="2800" dirty="0"/>
              <a:t>，</a:t>
            </a:r>
            <a:r>
              <a:rPr lang="en-US" altLang="zh-CN" sz="2800" dirty="0"/>
              <a:t>0+1=1</a:t>
            </a:r>
            <a:r>
              <a:rPr lang="zh-CN" altLang="en-US" sz="2800" dirty="0"/>
              <a:t>，</a:t>
            </a:r>
            <a:r>
              <a:rPr lang="en-US" altLang="zh-CN" sz="2800" dirty="0"/>
              <a:t>0+0=0</a:t>
            </a:r>
          </a:p>
          <a:p>
            <a:pPr>
              <a:lnSpc>
                <a:spcPct val="120000"/>
              </a:lnSpc>
              <a:buFontTx/>
              <a:buNone/>
            </a:pPr>
            <a:r>
              <a:rPr lang="zh-CN" altLang="en-US" sz="2800" dirty="0"/>
              <a:t>则</a:t>
            </a:r>
            <a:r>
              <a:rPr lang="en-US" altLang="zh-CN" sz="2800" dirty="0"/>
              <a:t>A</a:t>
            </a:r>
            <a:r>
              <a:rPr lang="en-US" altLang="zh-CN" sz="2800" baseline="-25000" dirty="0"/>
              <a:t>001</a:t>
            </a:r>
            <a:r>
              <a:rPr lang="zh-CN" altLang="en-US" sz="2800" dirty="0"/>
              <a:t>与</a:t>
            </a:r>
            <a:r>
              <a:rPr lang="en-US" altLang="zh-CN" sz="2800" dirty="0"/>
              <a:t>A</a:t>
            </a:r>
            <a:r>
              <a:rPr lang="en-US" altLang="zh-CN" sz="2800" baseline="-25000" dirty="0"/>
              <a:t>101</a:t>
            </a:r>
            <a:r>
              <a:rPr lang="zh-CN" altLang="en-US" sz="2800" dirty="0"/>
              <a:t>的并集为</a:t>
            </a:r>
            <a:r>
              <a:rPr lang="en-US" altLang="zh-CN" sz="2800" dirty="0"/>
              <a:t>A</a:t>
            </a:r>
            <a:r>
              <a:rPr lang="en-US" altLang="zh-CN" sz="2800" baseline="-25000" dirty="0"/>
              <a:t>101</a:t>
            </a:r>
            <a:r>
              <a:rPr lang="zh-CN" altLang="en-US" sz="2800" dirty="0"/>
              <a:t>。</a:t>
            </a:r>
          </a:p>
        </p:txBody>
      </p:sp>
    </p:spTree>
    <p:extLst>
      <p:ext uri="{BB962C8B-B14F-4D97-AF65-F5344CB8AC3E}">
        <p14:creationId xmlns:p14="http://schemas.microsoft.com/office/powerpoint/2010/main" val="300805865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5B951417-CE20-40AA-8D80-89EAA23819B4}"/>
              </a:ext>
            </a:extLst>
          </p:cNvPr>
          <p:cNvSpPr>
            <a:spLocks noGrp="1"/>
          </p:cNvSpPr>
          <p:nvPr>
            <p:ph type="sldNum" sz="quarter" idx="12"/>
          </p:nvPr>
        </p:nvSpPr>
        <p:spPr/>
        <p:txBody>
          <a:bodyPr/>
          <a:lstStyle/>
          <a:p>
            <a:fld id="{0C913308-F349-4B6D-A68A-DD1791B4A57B}" type="slidenum">
              <a:rPr lang="zh-CN" altLang="en-US" smtClean="0"/>
              <a:pPr/>
              <a:t>60</a:t>
            </a:fld>
            <a:endParaRPr lang="zh-CN" altLang="en-US"/>
          </a:p>
        </p:txBody>
      </p:sp>
      <p:sp>
        <p:nvSpPr>
          <p:cNvPr id="3" name="Rectangle 2">
            <a:extLst>
              <a:ext uri="{FF2B5EF4-FFF2-40B4-BE49-F238E27FC236}">
                <a16:creationId xmlns:a16="http://schemas.microsoft.com/office/drawing/2014/main" id="{3B3EF4F8-4541-437D-8300-09A25489957A}"/>
              </a:ext>
            </a:extLst>
          </p:cNvPr>
          <p:cNvSpPr txBox="1">
            <a:spLocks noChangeArrowheads="1"/>
          </p:cNvSpPr>
          <p:nvPr/>
        </p:nvSpPr>
        <p:spPr>
          <a:xfrm>
            <a:off x="457200" y="1484784"/>
            <a:ext cx="11125200" cy="4682920"/>
          </a:xfrm>
          <a:prstGeom prst="rect">
            <a:avLst/>
          </a:prstGeom>
        </p:spPr>
        <p:txBody>
          <a:bodyPr/>
          <a:lstStyle>
            <a:lvl1pPr marL="257175" indent="-257175" algn="l" defTabSz="685800" rtl="0" eaLnBrk="1" latinLnBrk="0" hangingPunct="1">
              <a:spcBef>
                <a:spcPct val="20000"/>
              </a:spcBef>
              <a:buFont typeface="Arial" pitchFamily="34" charset="0"/>
              <a:buChar char="•"/>
              <a:defRPr sz="2400" kern="1200">
                <a:solidFill>
                  <a:schemeClr val="tx1"/>
                </a:solidFill>
                <a:latin typeface="+mn-lt"/>
                <a:ea typeface="+mn-ea"/>
                <a:cs typeface="+mn-cs"/>
              </a:defRPr>
            </a:lvl1pPr>
            <a:lvl2pPr marL="557213" indent="-214313" algn="l" defTabSz="685800" rtl="0" eaLnBrk="1" latinLnBrk="0" hangingPunct="1">
              <a:spcBef>
                <a:spcPct val="20000"/>
              </a:spcBef>
              <a:buFont typeface="Arial" pitchFamily="34" charset="0"/>
              <a:buChar char="–"/>
              <a:defRPr sz="2100" kern="1200">
                <a:solidFill>
                  <a:schemeClr val="tx1"/>
                </a:solidFill>
                <a:latin typeface="+mn-lt"/>
                <a:ea typeface="+mn-ea"/>
                <a:cs typeface="+mn-cs"/>
              </a:defRPr>
            </a:lvl2pPr>
            <a:lvl3pPr marL="857250" indent="-171450" algn="l" defTabSz="685800" rtl="0" eaLnBrk="1" latinLnBrk="0" hangingPunct="1">
              <a:spcBef>
                <a:spcPct val="20000"/>
              </a:spcBef>
              <a:buFont typeface="Arial" pitchFamily="34" charset="0"/>
              <a:buChar char="•"/>
              <a:defRPr sz="1800" kern="1200">
                <a:solidFill>
                  <a:schemeClr val="tx1"/>
                </a:solidFill>
                <a:latin typeface="+mn-lt"/>
                <a:ea typeface="+mn-ea"/>
                <a:cs typeface="+mn-cs"/>
              </a:defRPr>
            </a:lvl3pPr>
            <a:lvl4pPr marL="12001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4pPr>
            <a:lvl5pPr marL="15430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a:lnSpc>
                <a:spcPct val="150000"/>
              </a:lnSpc>
              <a:buFontTx/>
              <a:buNone/>
            </a:pPr>
            <a:r>
              <a:rPr lang="zh-CN" altLang="en-US" sz="3200" b="1" dirty="0">
                <a:solidFill>
                  <a:srgbClr val="3308E8"/>
                </a:solidFill>
              </a:rPr>
              <a:t>例</a:t>
            </a:r>
            <a:r>
              <a:rPr lang="en-US" altLang="zh-CN" sz="3200" b="1" dirty="0">
                <a:solidFill>
                  <a:srgbClr val="3308E8"/>
                </a:solidFill>
              </a:rPr>
              <a:t>1.36</a:t>
            </a:r>
            <a:r>
              <a:rPr lang="en-US" altLang="zh-CN" sz="3200" dirty="0"/>
              <a:t>:</a:t>
            </a:r>
            <a:r>
              <a:rPr lang="zh-CN" altLang="en-US" sz="3200" dirty="0"/>
              <a:t>设</a:t>
            </a:r>
            <a:r>
              <a:rPr lang="en-US" altLang="zh-CN" sz="3200" dirty="0"/>
              <a:t>S={a</a:t>
            </a:r>
            <a:r>
              <a:rPr lang="en-US" altLang="zh-CN" sz="3200" baseline="-25000" dirty="0"/>
              <a:t>1</a:t>
            </a:r>
            <a:r>
              <a:rPr lang="en-US" altLang="zh-CN" sz="3200" dirty="0"/>
              <a:t>,a</a:t>
            </a:r>
            <a:r>
              <a:rPr lang="en-US" altLang="zh-CN" sz="3200" baseline="-25000" dirty="0"/>
              <a:t>2</a:t>
            </a:r>
            <a:r>
              <a:rPr lang="en-US" altLang="zh-CN" sz="3200" dirty="0"/>
              <a:t>,</a:t>
            </a:r>
            <a:r>
              <a:rPr lang="en-US" altLang="zh-CN" sz="3200" dirty="0">
                <a:latin typeface="Arial"/>
              </a:rPr>
              <a:t>…</a:t>
            </a:r>
            <a:r>
              <a:rPr lang="en-US" altLang="zh-CN" sz="3200" dirty="0"/>
              <a:t>,a</a:t>
            </a:r>
            <a:r>
              <a:rPr lang="en-US" altLang="zh-CN" sz="3200" baseline="-25000" dirty="0"/>
              <a:t>6</a:t>
            </a:r>
            <a:r>
              <a:rPr lang="en-US" altLang="zh-CN" sz="3200" dirty="0"/>
              <a:t>}.</a:t>
            </a:r>
            <a:r>
              <a:rPr lang="zh-CN" altLang="en-US" sz="3200" dirty="0"/>
              <a:t>由</a:t>
            </a:r>
            <a:r>
              <a:rPr lang="en-US" altLang="zh-CN" sz="3200" dirty="0"/>
              <a:t>S</a:t>
            </a:r>
            <a:r>
              <a:rPr lang="en-US" altLang="zh-CN" sz="3200" baseline="-25000" dirty="0"/>
              <a:t>15</a:t>
            </a:r>
            <a:r>
              <a:rPr lang="zh-CN" altLang="en-US" sz="3200" dirty="0"/>
              <a:t>和</a:t>
            </a:r>
            <a:r>
              <a:rPr lang="en-US" altLang="zh-CN" sz="3200" dirty="0"/>
              <a:t>S</a:t>
            </a:r>
            <a:r>
              <a:rPr lang="en-US" altLang="zh-CN" sz="3200" baseline="-25000" dirty="0"/>
              <a:t>22</a:t>
            </a:r>
            <a:r>
              <a:rPr lang="zh-CN" altLang="en-US" sz="3200" dirty="0"/>
              <a:t>所表示的</a:t>
            </a:r>
            <a:r>
              <a:rPr lang="en-US" altLang="zh-CN" sz="3200" dirty="0"/>
              <a:t>S</a:t>
            </a:r>
            <a:r>
              <a:rPr lang="zh-CN" altLang="en-US" sz="3200" dirty="0"/>
              <a:t>的子集是什么</a:t>
            </a:r>
            <a:r>
              <a:rPr lang="en-US" altLang="zh-CN" sz="3200" dirty="0"/>
              <a:t>?</a:t>
            </a:r>
            <a:r>
              <a:rPr lang="zh-CN" altLang="en-US" sz="3200" dirty="0"/>
              <a:t>如何表示子集</a:t>
            </a:r>
            <a:r>
              <a:rPr lang="en-US" altLang="zh-CN" sz="3200" dirty="0"/>
              <a:t>{a</a:t>
            </a:r>
            <a:r>
              <a:rPr lang="en-US" altLang="zh-CN" sz="3200" baseline="-25000" dirty="0"/>
              <a:t>3</a:t>
            </a:r>
            <a:r>
              <a:rPr lang="en-US" altLang="zh-CN" sz="3200" dirty="0"/>
              <a:t>,a</a:t>
            </a:r>
            <a:r>
              <a:rPr lang="en-US" altLang="zh-CN" sz="3200" baseline="-25000" dirty="0"/>
              <a:t>5</a:t>
            </a:r>
            <a:r>
              <a:rPr lang="en-US" altLang="zh-CN" sz="3200" dirty="0"/>
              <a:t>}</a:t>
            </a:r>
            <a:r>
              <a:rPr lang="zh-CN" altLang="en-US" sz="3200" dirty="0"/>
              <a:t>和</a:t>
            </a:r>
            <a:r>
              <a:rPr lang="en-US" altLang="zh-CN" sz="3200" dirty="0"/>
              <a:t>{a</a:t>
            </a:r>
            <a:r>
              <a:rPr lang="en-US" altLang="zh-CN" sz="3200" baseline="-25000" dirty="0"/>
              <a:t>2</a:t>
            </a:r>
            <a:r>
              <a:rPr lang="en-US" altLang="zh-CN" sz="3200" dirty="0"/>
              <a:t>,a</a:t>
            </a:r>
            <a:r>
              <a:rPr lang="en-US" altLang="zh-CN" sz="3200" baseline="-25000" dirty="0"/>
              <a:t>4</a:t>
            </a:r>
            <a:r>
              <a:rPr lang="en-US" altLang="zh-CN" sz="3200" dirty="0"/>
              <a:t>,a</a:t>
            </a:r>
            <a:r>
              <a:rPr lang="en-US" altLang="zh-CN" sz="3200" baseline="-25000" dirty="0"/>
              <a:t>6</a:t>
            </a:r>
            <a:r>
              <a:rPr lang="en-US" altLang="zh-CN" sz="3200" dirty="0"/>
              <a:t>}?</a:t>
            </a:r>
            <a:endParaRPr lang="en-US" altLang="zh-CN" dirty="0"/>
          </a:p>
          <a:p>
            <a:pPr>
              <a:lnSpc>
                <a:spcPct val="150000"/>
              </a:lnSpc>
              <a:buFontTx/>
              <a:buNone/>
            </a:pPr>
            <a:r>
              <a:rPr lang="zh-CN" altLang="pt-BR" dirty="0"/>
              <a:t>解： S</a:t>
            </a:r>
            <a:r>
              <a:rPr lang="zh-CN" altLang="pt-BR" baseline="-25000" dirty="0"/>
              <a:t>15</a:t>
            </a:r>
            <a:r>
              <a:rPr lang="zh-CN" altLang="pt-BR" dirty="0"/>
              <a:t>=S</a:t>
            </a:r>
            <a:r>
              <a:rPr lang="zh-CN" altLang="pt-BR" baseline="-25000" dirty="0"/>
              <a:t>001111</a:t>
            </a:r>
            <a:r>
              <a:rPr lang="zh-CN" altLang="pt-BR" dirty="0"/>
              <a:t>={a</a:t>
            </a:r>
            <a:r>
              <a:rPr lang="zh-CN" altLang="pt-BR" baseline="-25000" dirty="0"/>
              <a:t>3</a:t>
            </a:r>
            <a:r>
              <a:rPr lang="zh-CN" altLang="pt-BR" dirty="0"/>
              <a:t>,a</a:t>
            </a:r>
            <a:r>
              <a:rPr lang="zh-CN" altLang="pt-BR" baseline="-25000" dirty="0"/>
              <a:t>4</a:t>
            </a:r>
            <a:r>
              <a:rPr lang="zh-CN" altLang="pt-BR" dirty="0"/>
              <a:t>,a</a:t>
            </a:r>
            <a:r>
              <a:rPr lang="zh-CN" altLang="pt-BR" baseline="-25000" dirty="0"/>
              <a:t>5</a:t>
            </a:r>
            <a:r>
              <a:rPr lang="zh-CN" altLang="pt-BR" dirty="0"/>
              <a:t>,a</a:t>
            </a:r>
            <a:r>
              <a:rPr lang="zh-CN" altLang="pt-BR" baseline="-25000" dirty="0"/>
              <a:t>6</a:t>
            </a:r>
            <a:r>
              <a:rPr lang="zh-CN" altLang="pt-BR" dirty="0"/>
              <a:t>}</a:t>
            </a:r>
          </a:p>
          <a:p>
            <a:pPr>
              <a:lnSpc>
                <a:spcPct val="150000"/>
              </a:lnSpc>
              <a:buFontTx/>
              <a:buNone/>
            </a:pPr>
            <a:r>
              <a:rPr lang="zh-CN" altLang="en-US" dirty="0"/>
              <a:t>         </a:t>
            </a:r>
            <a:r>
              <a:rPr lang="zh-CN" altLang="pt-BR" dirty="0"/>
              <a:t>S</a:t>
            </a:r>
            <a:r>
              <a:rPr lang="zh-CN" altLang="pt-BR" baseline="-25000" dirty="0"/>
              <a:t>22</a:t>
            </a:r>
            <a:r>
              <a:rPr lang="zh-CN" altLang="pt-BR" dirty="0"/>
              <a:t>=S</a:t>
            </a:r>
            <a:r>
              <a:rPr lang="zh-CN" altLang="pt-BR" baseline="-25000" dirty="0"/>
              <a:t>010110</a:t>
            </a:r>
            <a:r>
              <a:rPr lang="zh-CN" altLang="pt-BR" dirty="0"/>
              <a:t>={a</a:t>
            </a:r>
            <a:r>
              <a:rPr lang="zh-CN" altLang="pt-BR" baseline="-25000" dirty="0"/>
              <a:t>2</a:t>
            </a:r>
            <a:r>
              <a:rPr lang="zh-CN" altLang="pt-BR" dirty="0"/>
              <a:t>,a</a:t>
            </a:r>
            <a:r>
              <a:rPr lang="zh-CN" altLang="pt-BR" baseline="-25000" dirty="0"/>
              <a:t>4</a:t>
            </a:r>
            <a:r>
              <a:rPr lang="zh-CN" altLang="pt-BR" dirty="0"/>
              <a:t>,a</a:t>
            </a:r>
            <a:r>
              <a:rPr lang="zh-CN" altLang="pt-BR" baseline="-25000" dirty="0"/>
              <a:t>5</a:t>
            </a:r>
            <a:r>
              <a:rPr lang="zh-CN" altLang="pt-BR" dirty="0"/>
              <a:t>}</a:t>
            </a:r>
          </a:p>
          <a:p>
            <a:pPr>
              <a:lnSpc>
                <a:spcPct val="150000"/>
              </a:lnSpc>
              <a:buFontTx/>
              <a:buNone/>
            </a:pPr>
            <a:r>
              <a:rPr lang="zh-CN" altLang="en-US" dirty="0"/>
              <a:t>         </a:t>
            </a:r>
            <a:r>
              <a:rPr lang="zh-CN" altLang="pt-BR" dirty="0"/>
              <a:t>{a</a:t>
            </a:r>
            <a:r>
              <a:rPr lang="zh-CN" altLang="pt-BR" baseline="-25000" dirty="0"/>
              <a:t>3</a:t>
            </a:r>
            <a:r>
              <a:rPr lang="zh-CN" altLang="pt-BR" dirty="0"/>
              <a:t>,a</a:t>
            </a:r>
            <a:r>
              <a:rPr lang="zh-CN" altLang="pt-BR" baseline="-25000" dirty="0"/>
              <a:t>5</a:t>
            </a:r>
            <a:r>
              <a:rPr lang="zh-CN" altLang="pt-BR" dirty="0"/>
              <a:t>}=S</a:t>
            </a:r>
            <a:r>
              <a:rPr lang="zh-CN" altLang="pt-BR" baseline="-25000" dirty="0"/>
              <a:t>001010</a:t>
            </a:r>
            <a:r>
              <a:rPr lang="zh-CN" altLang="pt-BR" dirty="0"/>
              <a:t>=S</a:t>
            </a:r>
            <a:r>
              <a:rPr lang="zh-CN" altLang="pt-BR" baseline="-25000" dirty="0"/>
              <a:t>10</a:t>
            </a:r>
          </a:p>
          <a:p>
            <a:pPr>
              <a:lnSpc>
                <a:spcPct val="150000"/>
              </a:lnSpc>
              <a:buFontTx/>
              <a:buNone/>
            </a:pPr>
            <a:r>
              <a:rPr lang="zh-CN" altLang="en-US" dirty="0"/>
              <a:t>         </a:t>
            </a:r>
            <a:r>
              <a:rPr lang="zh-CN" altLang="pt-BR" dirty="0"/>
              <a:t>{a</a:t>
            </a:r>
            <a:r>
              <a:rPr lang="zh-CN" altLang="pt-BR" baseline="-25000" dirty="0"/>
              <a:t>2</a:t>
            </a:r>
            <a:r>
              <a:rPr lang="zh-CN" altLang="pt-BR" dirty="0"/>
              <a:t>,a</a:t>
            </a:r>
            <a:r>
              <a:rPr lang="zh-CN" altLang="pt-BR" baseline="-25000" dirty="0"/>
              <a:t>4</a:t>
            </a:r>
            <a:r>
              <a:rPr lang="zh-CN" altLang="pt-BR" dirty="0"/>
              <a:t>,a</a:t>
            </a:r>
            <a:r>
              <a:rPr lang="zh-CN" altLang="pt-BR" baseline="-25000" dirty="0"/>
              <a:t>6</a:t>
            </a:r>
            <a:r>
              <a:rPr lang="zh-CN" altLang="pt-BR" dirty="0"/>
              <a:t>}=S</a:t>
            </a:r>
            <a:r>
              <a:rPr lang="zh-CN" altLang="pt-BR" baseline="-25000" dirty="0"/>
              <a:t>010101</a:t>
            </a:r>
            <a:r>
              <a:rPr lang="zh-CN" altLang="pt-BR" dirty="0"/>
              <a:t>=S</a:t>
            </a:r>
            <a:r>
              <a:rPr lang="zh-CN" altLang="pt-BR" baseline="-25000" dirty="0"/>
              <a:t>21</a:t>
            </a:r>
            <a:endParaRPr lang="en-US" altLang="zh-CN" baseline="-25000" dirty="0"/>
          </a:p>
        </p:txBody>
      </p:sp>
    </p:spTree>
    <p:extLst>
      <p:ext uri="{BB962C8B-B14F-4D97-AF65-F5344CB8AC3E}">
        <p14:creationId xmlns:p14="http://schemas.microsoft.com/office/powerpoint/2010/main" val="328757342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5B951417-CE20-40AA-8D80-89EAA23819B4}"/>
              </a:ext>
            </a:extLst>
          </p:cNvPr>
          <p:cNvSpPr>
            <a:spLocks noGrp="1"/>
          </p:cNvSpPr>
          <p:nvPr>
            <p:ph type="sldNum" sz="quarter" idx="12"/>
          </p:nvPr>
        </p:nvSpPr>
        <p:spPr/>
        <p:txBody>
          <a:bodyPr/>
          <a:lstStyle/>
          <a:p>
            <a:fld id="{0C913308-F349-4B6D-A68A-DD1791B4A57B}" type="slidenum">
              <a:rPr lang="zh-CN" altLang="en-US" smtClean="0"/>
              <a:pPr/>
              <a:t>61</a:t>
            </a:fld>
            <a:endParaRPr lang="zh-CN" altLang="en-US"/>
          </a:p>
        </p:txBody>
      </p:sp>
      <p:sp>
        <p:nvSpPr>
          <p:cNvPr id="3" name="Rectangle 2">
            <a:extLst>
              <a:ext uri="{FF2B5EF4-FFF2-40B4-BE49-F238E27FC236}">
                <a16:creationId xmlns:a16="http://schemas.microsoft.com/office/drawing/2014/main" id="{774ED59E-CA27-44C7-924F-9FAEE7C106C7}"/>
              </a:ext>
            </a:extLst>
          </p:cNvPr>
          <p:cNvSpPr txBox="1">
            <a:spLocks noChangeArrowheads="1"/>
          </p:cNvSpPr>
          <p:nvPr/>
        </p:nvSpPr>
        <p:spPr>
          <a:xfrm>
            <a:off x="2279576" y="334932"/>
            <a:ext cx="5628456" cy="1143000"/>
          </a:xfrm>
          <a:prstGeom prst="rect">
            <a:avLst/>
          </a:prstGeom>
        </p:spPr>
        <p:txBody>
          <a:bodyPr/>
          <a:lstStyle>
            <a:lvl1pPr algn="ctr" defTabSz="685800" rtl="0" eaLnBrk="1" latinLnBrk="0" hangingPunct="1">
              <a:spcBef>
                <a:spcPct val="0"/>
              </a:spcBef>
              <a:buNone/>
              <a:defRPr sz="3300" kern="1200">
                <a:solidFill>
                  <a:schemeClr val="tx1"/>
                </a:solidFill>
                <a:latin typeface="+mj-lt"/>
                <a:ea typeface="+mj-ea"/>
                <a:cs typeface="+mj-cs"/>
              </a:defRPr>
            </a:lvl1pPr>
          </a:lstStyle>
          <a:p>
            <a:r>
              <a:rPr lang="en-US" altLang="zh-CN" dirty="0"/>
              <a:t>1.5</a:t>
            </a:r>
            <a:r>
              <a:rPr lang="zh-CN" altLang="en-US" dirty="0"/>
              <a:t>集合恒等式证明</a:t>
            </a:r>
          </a:p>
        </p:txBody>
      </p:sp>
      <p:sp>
        <p:nvSpPr>
          <p:cNvPr id="4" name="Rectangle 3">
            <a:extLst>
              <a:ext uri="{FF2B5EF4-FFF2-40B4-BE49-F238E27FC236}">
                <a16:creationId xmlns:a16="http://schemas.microsoft.com/office/drawing/2014/main" id="{D7D287B2-FAB6-4096-89D1-2C90074A36B7}"/>
              </a:ext>
            </a:extLst>
          </p:cNvPr>
          <p:cNvSpPr txBox="1">
            <a:spLocks noChangeArrowheads="1"/>
          </p:cNvSpPr>
          <p:nvPr/>
        </p:nvSpPr>
        <p:spPr>
          <a:xfrm>
            <a:off x="457200" y="1772816"/>
            <a:ext cx="11399440" cy="4682920"/>
          </a:xfrm>
          <a:prstGeom prst="rect">
            <a:avLst/>
          </a:prstGeom>
        </p:spPr>
        <p:txBody>
          <a:bodyPr/>
          <a:lstStyle>
            <a:lvl1pPr marL="257175" indent="-257175" algn="l" defTabSz="685800" rtl="0" eaLnBrk="1" latinLnBrk="0" hangingPunct="1">
              <a:spcBef>
                <a:spcPct val="20000"/>
              </a:spcBef>
              <a:buFont typeface="Arial" pitchFamily="34" charset="0"/>
              <a:buChar char="•"/>
              <a:defRPr sz="2400" kern="1200">
                <a:solidFill>
                  <a:schemeClr val="tx1"/>
                </a:solidFill>
                <a:latin typeface="+mn-lt"/>
                <a:ea typeface="+mn-ea"/>
                <a:cs typeface="+mn-cs"/>
              </a:defRPr>
            </a:lvl1pPr>
            <a:lvl2pPr marL="557213" indent="-214313" algn="l" defTabSz="685800" rtl="0" eaLnBrk="1" latinLnBrk="0" hangingPunct="1">
              <a:spcBef>
                <a:spcPct val="20000"/>
              </a:spcBef>
              <a:buFont typeface="Arial" pitchFamily="34" charset="0"/>
              <a:buChar char="–"/>
              <a:defRPr sz="2100" kern="1200">
                <a:solidFill>
                  <a:schemeClr val="tx1"/>
                </a:solidFill>
                <a:latin typeface="+mn-lt"/>
                <a:ea typeface="+mn-ea"/>
                <a:cs typeface="+mn-cs"/>
              </a:defRPr>
            </a:lvl2pPr>
            <a:lvl3pPr marL="857250" indent="-171450" algn="l" defTabSz="685800" rtl="0" eaLnBrk="1" latinLnBrk="0" hangingPunct="1">
              <a:spcBef>
                <a:spcPct val="20000"/>
              </a:spcBef>
              <a:buFont typeface="Arial" pitchFamily="34" charset="0"/>
              <a:buChar char="•"/>
              <a:defRPr sz="1800" kern="1200">
                <a:solidFill>
                  <a:schemeClr val="tx1"/>
                </a:solidFill>
                <a:latin typeface="+mn-lt"/>
                <a:ea typeface="+mn-ea"/>
                <a:cs typeface="+mn-cs"/>
              </a:defRPr>
            </a:lvl3pPr>
            <a:lvl4pPr marL="12001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4pPr>
            <a:lvl5pPr marL="15430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a:lnSpc>
                <a:spcPct val="150000"/>
              </a:lnSpc>
              <a:buFontTx/>
              <a:buNone/>
            </a:pPr>
            <a:r>
              <a:rPr lang="zh-CN" altLang="en-US" sz="3200" dirty="0"/>
              <a:t>通过对集合恒等式的证明的练习，既可以加深对集合性质的理解与掌握，又可以为命题逻辑中公式的基本等价式的应用打下良好的基础。因此，集合恒等式的证明实际上是一种基本功训练。本节主要介绍三种方法来证明集合恒等式，分别是</a:t>
            </a:r>
            <a:r>
              <a:rPr lang="zh-CN" altLang="en-US" sz="3200" b="1" dirty="0">
                <a:solidFill>
                  <a:srgbClr val="00B0F0"/>
                </a:solidFill>
              </a:rPr>
              <a:t>基本定义法</a:t>
            </a:r>
            <a:r>
              <a:rPr lang="zh-CN" altLang="en-US" sz="3200" dirty="0"/>
              <a:t>、</a:t>
            </a:r>
            <a:r>
              <a:rPr lang="zh-CN" altLang="en-US" sz="3200" b="1" dirty="0">
                <a:solidFill>
                  <a:srgbClr val="00B0F0"/>
                </a:solidFill>
              </a:rPr>
              <a:t>公式法</a:t>
            </a:r>
            <a:r>
              <a:rPr lang="zh-CN" altLang="en-US" sz="3200" dirty="0"/>
              <a:t>和</a:t>
            </a:r>
            <a:r>
              <a:rPr lang="zh-CN" altLang="en-US" sz="3200" b="1" dirty="0">
                <a:solidFill>
                  <a:srgbClr val="00B0F0"/>
                </a:solidFill>
              </a:rPr>
              <a:t>集合成员表</a:t>
            </a:r>
            <a:r>
              <a:rPr lang="zh-CN" altLang="en-US" sz="3200" dirty="0"/>
              <a:t>的方法。</a:t>
            </a:r>
          </a:p>
        </p:txBody>
      </p:sp>
    </p:spTree>
    <p:extLst>
      <p:ext uri="{BB962C8B-B14F-4D97-AF65-F5344CB8AC3E}">
        <p14:creationId xmlns:p14="http://schemas.microsoft.com/office/powerpoint/2010/main" val="423592967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5B951417-CE20-40AA-8D80-89EAA23819B4}"/>
              </a:ext>
            </a:extLst>
          </p:cNvPr>
          <p:cNvSpPr>
            <a:spLocks noGrp="1"/>
          </p:cNvSpPr>
          <p:nvPr>
            <p:ph type="sldNum" sz="quarter" idx="12"/>
          </p:nvPr>
        </p:nvSpPr>
        <p:spPr/>
        <p:txBody>
          <a:bodyPr/>
          <a:lstStyle/>
          <a:p>
            <a:fld id="{0C913308-F349-4B6D-A68A-DD1791B4A57B}" type="slidenum">
              <a:rPr lang="zh-CN" altLang="en-US" smtClean="0"/>
              <a:pPr/>
              <a:t>62</a:t>
            </a:fld>
            <a:endParaRPr lang="zh-CN" altLang="en-US"/>
          </a:p>
        </p:txBody>
      </p:sp>
      <p:sp>
        <p:nvSpPr>
          <p:cNvPr id="3" name="Rectangle 3">
            <a:extLst>
              <a:ext uri="{FF2B5EF4-FFF2-40B4-BE49-F238E27FC236}">
                <a16:creationId xmlns:a16="http://schemas.microsoft.com/office/drawing/2014/main" id="{BDD8713B-7A8B-414A-B189-D133CC216928}"/>
              </a:ext>
            </a:extLst>
          </p:cNvPr>
          <p:cNvSpPr txBox="1">
            <a:spLocks noChangeArrowheads="1"/>
          </p:cNvSpPr>
          <p:nvPr/>
        </p:nvSpPr>
        <p:spPr>
          <a:xfrm>
            <a:off x="1541743" y="1371600"/>
            <a:ext cx="8631238" cy="4114800"/>
          </a:xfrm>
          <a:prstGeom prst="rect">
            <a:avLst/>
          </a:prstGeom>
        </p:spPr>
        <p:txBody>
          <a:bodyPr>
            <a:normAutofit fontScale="92500" lnSpcReduction="10000"/>
          </a:bodyPr>
          <a:lstStyle>
            <a:lvl1pPr marL="257175" indent="-257175" algn="l" defTabSz="685800" rtl="0" eaLnBrk="1" latinLnBrk="0" hangingPunct="1">
              <a:spcBef>
                <a:spcPct val="20000"/>
              </a:spcBef>
              <a:buFont typeface="Arial" pitchFamily="34" charset="0"/>
              <a:buChar char="•"/>
              <a:defRPr sz="2400" kern="1200">
                <a:solidFill>
                  <a:schemeClr val="tx1"/>
                </a:solidFill>
                <a:latin typeface="+mn-lt"/>
                <a:ea typeface="+mn-ea"/>
                <a:cs typeface="+mn-cs"/>
              </a:defRPr>
            </a:lvl1pPr>
            <a:lvl2pPr marL="557213" indent="-214313" algn="l" defTabSz="685800" rtl="0" eaLnBrk="1" latinLnBrk="0" hangingPunct="1">
              <a:spcBef>
                <a:spcPct val="20000"/>
              </a:spcBef>
              <a:buFont typeface="Arial" pitchFamily="34" charset="0"/>
              <a:buChar char="–"/>
              <a:defRPr sz="2100" kern="1200">
                <a:solidFill>
                  <a:schemeClr val="tx1"/>
                </a:solidFill>
                <a:latin typeface="+mn-lt"/>
                <a:ea typeface="+mn-ea"/>
                <a:cs typeface="+mn-cs"/>
              </a:defRPr>
            </a:lvl2pPr>
            <a:lvl3pPr marL="857250" indent="-171450" algn="l" defTabSz="685800" rtl="0" eaLnBrk="1" latinLnBrk="0" hangingPunct="1">
              <a:spcBef>
                <a:spcPct val="20000"/>
              </a:spcBef>
              <a:buFont typeface="Arial" pitchFamily="34" charset="0"/>
              <a:buChar char="•"/>
              <a:defRPr sz="1800" kern="1200">
                <a:solidFill>
                  <a:schemeClr val="tx1"/>
                </a:solidFill>
                <a:latin typeface="+mn-lt"/>
                <a:ea typeface="+mn-ea"/>
                <a:cs typeface="+mn-cs"/>
              </a:defRPr>
            </a:lvl3pPr>
            <a:lvl4pPr marL="12001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4pPr>
            <a:lvl5pPr marL="15430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a:buFontTx/>
              <a:buNone/>
            </a:pPr>
            <a:r>
              <a:rPr lang="zh-CN" altLang="en-US" sz="4000" b="1" dirty="0">
                <a:solidFill>
                  <a:srgbClr val="3308E8"/>
                </a:solidFill>
              </a:rPr>
              <a:t>例</a:t>
            </a:r>
            <a:r>
              <a:rPr lang="en-US" altLang="zh-CN" sz="4000" b="1" dirty="0">
                <a:solidFill>
                  <a:srgbClr val="3308E8"/>
                </a:solidFill>
              </a:rPr>
              <a:t>1.38  </a:t>
            </a:r>
            <a:r>
              <a:rPr lang="zh-CN" altLang="en-US" sz="4000" dirty="0"/>
              <a:t>设</a:t>
            </a:r>
            <a:r>
              <a:rPr lang="en-US" altLang="zh-CN" sz="4000" dirty="0"/>
              <a:t>A</a:t>
            </a:r>
            <a:r>
              <a:rPr lang="zh-CN" altLang="en-US" sz="4000" dirty="0"/>
              <a:t>、</a:t>
            </a:r>
            <a:r>
              <a:rPr lang="en-US" altLang="zh-CN" sz="4000" dirty="0"/>
              <a:t>B</a:t>
            </a:r>
            <a:r>
              <a:rPr lang="zh-CN" altLang="en-US" sz="4000" dirty="0"/>
              <a:t>、</a:t>
            </a:r>
            <a:r>
              <a:rPr lang="en-US" altLang="zh-CN" sz="4000" dirty="0"/>
              <a:t>C</a:t>
            </a:r>
            <a:r>
              <a:rPr lang="zh-CN" altLang="en-US" sz="4000" dirty="0"/>
              <a:t>是任意集合，证明</a:t>
            </a:r>
          </a:p>
          <a:p>
            <a:pPr>
              <a:buFontTx/>
              <a:buNone/>
            </a:pPr>
            <a:r>
              <a:rPr lang="zh-CN" altLang="en-US" sz="4000" dirty="0"/>
              <a:t>    </a:t>
            </a:r>
            <a:r>
              <a:rPr lang="en-US" altLang="zh-CN" sz="4000" dirty="0"/>
              <a:t>A-(B∪C)=(A-B)∩(A-C)</a:t>
            </a:r>
            <a:r>
              <a:rPr lang="en-US" altLang="zh-CN" sz="4000" dirty="0">
                <a:latin typeface="Arial"/>
              </a:rPr>
              <a:t> </a:t>
            </a:r>
            <a:r>
              <a:rPr lang="zh-CN" altLang="en-US" sz="4000" dirty="0">
                <a:latin typeface="Arial"/>
              </a:rPr>
              <a:t>。</a:t>
            </a:r>
            <a:endParaRPr lang="en-US" altLang="zh-CN" sz="4000" dirty="0">
              <a:latin typeface="Arial"/>
            </a:endParaRPr>
          </a:p>
          <a:p>
            <a:pPr>
              <a:buFontTx/>
              <a:buNone/>
            </a:pPr>
            <a:r>
              <a:rPr lang="zh-CN" altLang="en-US" dirty="0"/>
              <a:t>证明</a:t>
            </a:r>
            <a:r>
              <a:rPr lang="en-US" altLang="zh-CN" dirty="0"/>
              <a:t>:</a:t>
            </a:r>
            <a:r>
              <a:rPr lang="zh-CN" altLang="en-US" dirty="0"/>
              <a:t>对于 ∀</a:t>
            </a:r>
            <a:r>
              <a:rPr lang="en-US" altLang="zh-CN" dirty="0" err="1"/>
              <a:t>x∈A</a:t>
            </a:r>
            <a:r>
              <a:rPr lang="en-US" altLang="zh-CN" dirty="0"/>
              <a:t>-(B∪C) </a:t>
            </a:r>
          </a:p>
          <a:p>
            <a:pPr>
              <a:buFontTx/>
              <a:buNone/>
            </a:pPr>
            <a:r>
              <a:rPr lang="en-US" altLang="zh-CN" dirty="0"/>
              <a:t>       ⇔</a:t>
            </a:r>
            <a:r>
              <a:rPr lang="en-US" altLang="zh-CN" dirty="0" err="1"/>
              <a:t>x∈A</a:t>
            </a:r>
            <a:r>
              <a:rPr lang="zh-CN" altLang="en-US" dirty="0"/>
              <a:t>且</a:t>
            </a:r>
            <a:r>
              <a:rPr lang="en-US" altLang="zh-CN" dirty="0"/>
              <a:t>x∉(B∪C) </a:t>
            </a:r>
          </a:p>
          <a:p>
            <a:pPr>
              <a:buFontTx/>
              <a:buNone/>
            </a:pPr>
            <a:r>
              <a:rPr lang="en-US" altLang="zh-CN" dirty="0"/>
              <a:t>       ⇔</a:t>
            </a:r>
            <a:r>
              <a:rPr lang="en-US" altLang="zh-CN" dirty="0" err="1"/>
              <a:t>x∈A</a:t>
            </a:r>
            <a:r>
              <a:rPr lang="zh-CN" altLang="en-US" dirty="0"/>
              <a:t>且</a:t>
            </a:r>
            <a:r>
              <a:rPr lang="en-US" altLang="zh-CN" dirty="0"/>
              <a:t>(</a:t>
            </a:r>
            <a:r>
              <a:rPr lang="en-US" altLang="zh-CN" dirty="0" err="1"/>
              <a:t>x∉B</a:t>
            </a:r>
            <a:r>
              <a:rPr lang="zh-CN" altLang="en-US" dirty="0"/>
              <a:t>且</a:t>
            </a:r>
            <a:r>
              <a:rPr lang="en-US" altLang="zh-CN" dirty="0" err="1"/>
              <a:t>x∉C</a:t>
            </a:r>
            <a:r>
              <a:rPr lang="en-US" altLang="zh-CN" dirty="0"/>
              <a:t>) </a:t>
            </a:r>
          </a:p>
          <a:p>
            <a:pPr>
              <a:buFontTx/>
              <a:buNone/>
            </a:pPr>
            <a:r>
              <a:rPr lang="en-US" altLang="zh-CN" dirty="0"/>
              <a:t>       ⇔(</a:t>
            </a:r>
            <a:r>
              <a:rPr lang="en-US" altLang="zh-CN" dirty="0" err="1"/>
              <a:t>x∈A</a:t>
            </a:r>
            <a:r>
              <a:rPr lang="zh-CN" altLang="en-US" dirty="0"/>
              <a:t>且</a:t>
            </a:r>
            <a:r>
              <a:rPr lang="en-US" altLang="zh-CN" dirty="0" err="1"/>
              <a:t>x∉B</a:t>
            </a:r>
            <a:r>
              <a:rPr lang="en-US" altLang="zh-CN" dirty="0"/>
              <a:t>)</a:t>
            </a:r>
            <a:r>
              <a:rPr lang="zh-CN" altLang="en-US" dirty="0"/>
              <a:t>且</a:t>
            </a:r>
            <a:r>
              <a:rPr lang="en-US" altLang="zh-CN" dirty="0"/>
              <a:t>(</a:t>
            </a:r>
            <a:r>
              <a:rPr lang="en-US" altLang="zh-CN" dirty="0" err="1"/>
              <a:t>x∈A</a:t>
            </a:r>
            <a:r>
              <a:rPr lang="zh-CN" altLang="en-US" dirty="0"/>
              <a:t>且</a:t>
            </a:r>
            <a:r>
              <a:rPr lang="en-US" altLang="zh-CN" dirty="0" err="1"/>
              <a:t>x∉C</a:t>
            </a:r>
            <a:r>
              <a:rPr lang="en-US" altLang="zh-CN" dirty="0"/>
              <a:t>) </a:t>
            </a:r>
          </a:p>
          <a:p>
            <a:pPr>
              <a:buFontTx/>
              <a:buNone/>
            </a:pPr>
            <a:r>
              <a:rPr lang="en-US" altLang="zh-CN" dirty="0"/>
              <a:t>       ⇔x∈(A-B)</a:t>
            </a:r>
            <a:r>
              <a:rPr lang="zh-CN" altLang="en-US" dirty="0"/>
              <a:t>且</a:t>
            </a:r>
            <a:r>
              <a:rPr lang="en-US" altLang="zh-CN" dirty="0"/>
              <a:t>x∈(A-C) </a:t>
            </a:r>
          </a:p>
          <a:p>
            <a:pPr>
              <a:buFontTx/>
              <a:buNone/>
            </a:pPr>
            <a:r>
              <a:rPr lang="en-US" altLang="zh-CN" dirty="0"/>
              <a:t>       ⇔x∈(A-B)∩(A-C) </a:t>
            </a:r>
          </a:p>
          <a:p>
            <a:pPr>
              <a:buFontTx/>
              <a:buNone/>
            </a:pPr>
            <a:r>
              <a:rPr lang="zh-CN" altLang="en-US" dirty="0"/>
              <a:t>   因此</a:t>
            </a:r>
            <a:r>
              <a:rPr lang="en-US" altLang="zh-CN" dirty="0"/>
              <a:t>A-(B∪C)=(A-B)∩(A-C)</a:t>
            </a:r>
            <a:r>
              <a:rPr lang="zh-CN" altLang="en-US" dirty="0"/>
              <a:t>。</a:t>
            </a:r>
            <a:r>
              <a:rPr lang="en-US" altLang="zh-CN" sz="4000" dirty="0"/>
              <a:t> </a:t>
            </a:r>
          </a:p>
        </p:txBody>
      </p:sp>
    </p:spTree>
    <p:extLst>
      <p:ext uri="{BB962C8B-B14F-4D97-AF65-F5344CB8AC3E}">
        <p14:creationId xmlns:p14="http://schemas.microsoft.com/office/powerpoint/2010/main" val="325571059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5B951417-CE20-40AA-8D80-89EAA23819B4}"/>
              </a:ext>
            </a:extLst>
          </p:cNvPr>
          <p:cNvSpPr>
            <a:spLocks noGrp="1"/>
          </p:cNvSpPr>
          <p:nvPr>
            <p:ph type="sldNum" sz="quarter" idx="12"/>
          </p:nvPr>
        </p:nvSpPr>
        <p:spPr/>
        <p:txBody>
          <a:bodyPr/>
          <a:lstStyle/>
          <a:p>
            <a:fld id="{0C913308-F349-4B6D-A68A-DD1791B4A57B}" type="slidenum">
              <a:rPr lang="zh-CN" altLang="en-US" smtClean="0"/>
              <a:pPr/>
              <a:t>63</a:t>
            </a:fld>
            <a:endParaRPr lang="zh-CN" altLang="en-US"/>
          </a:p>
        </p:txBody>
      </p:sp>
      <p:sp>
        <p:nvSpPr>
          <p:cNvPr id="3" name="Rectangle 2">
            <a:extLst>
              <a:ext uri="{FF2B5EF4-FFF2-40B4-BE49-F238E27FC236}">
                <a16:creationId xmlns:a16="http://schemas.microsoft.com/office/drawing/2014/main" id="{81754C9C-74DE-482F-9D47-EA4DEF5CFFFA}"/>
              </a:ext>
            </a:extLst>
          </p:cNvPr>
          <p:cNvSpPr txBox="1">
            <a:spLocks noChangeArrowheads="1"/>
          </p:cNvSpPr>
          <p:nvPr/>
        </p:nvSpPr>
        <p:spPr>
          <a:xfrm>
            <a:off x="2711624" y="188640"/>
            <a:ext cx="5964832" cy="792088"/>
          </a:xfrm>
          <a:prstGeom prst="rect">
            <a:avLst/>
          </a:prstGeom>
        </p:spPr>
        <p:txBody>
          <a:bodyPr/>
          <a:lstStyle>
            <a:lvl1pPr algn="ctr" defTabSz="685800" rtl="0" eaLnBrk="1" latinLnBrk="0" hangingPunct="1">
              <a:spcBef>
                <a:spcPct val="0"/>
              </a:spcBef>
              <a:buNone/>
              <a:defRPr sz="3300" kern="1200">
                <a:solidFill>
                  <a:schemeClr val="tx1"/>
                </a:solidFill>
                <a:latin typeface="+mj-lt"/>
                <a:ea typeface="+mj-ea"/>
                <a:cs typeface="+mj-cs"/>
              </a:defRPr>
            </a:lvl1pPr>
          </a:lstStyle>
          <a:p>
            <a:r>
              <a:rPr lang="en-US" altLang="zh-CN" dirty="0"/>
              <a:t>1.5.2   </a:t>
            </a:r>
            <a:r>
              <a:rPr lang="zh-CN" altLang="en-US" dirty="0"/>
              <a:t>公式法</a:t>
            </a:r>
          </a:p>
        </p:txBody>
      </p:sp>
      <p:sp>
        <p:nvSpPr>
          <p:cNvPr id="4" name="Rectangle 3">
            <a:extLst>
              <a:ext uri="{FF2B5EF4-FFF2-40B4-BE49-F238E27FC236}">
                <a16:creationId xmlns:a16="http://schemas.microsoft.com/office/drawing/2014/main" id="{C89296A3-12F3-4BCF-BAA4-6B01BB79DE0D}"/>
              </a:ext>
            </a:extLst>
          </p:cNvPr>
          <p:cNvSpPr txBox="1">
            <a:spLocks noChangeArrowheads="1"/>
          </p:cNvSpPr>
          <p:nvPr/>
        </p:nvSpPr>
        <p:spPr>
          <a:xfrm>
            <a:off x="407368" y="1628800"/>
            <a:ext cx="10884718" cy="4536504"/>
          </a:xfrm>
          <a:prstGeom prst="rect">
            <a:avLst/>
          </a:prstGeom>
        </p:spPr>
        <p:txBody>
          <a:bodyPr/>
          <a:lstStyle>
            <a:lvl1pPr marL="257175" indent="-257175" algn="l" defTabSz="685800" rtl="0" eaLnBrk="1" latinLnBrk="0" hangingPunct="1">
              <a:spcBef>
                <a:spcPct val="20000"/>
              </a:spcBef>
              <a:buFont typeface="Arial" pitchFamily="34" charset="0"/>
              <a:buChar char="•"/>
              <a:defRPr sz="2400" kern="1200">
                <a:solidFill>
                  <a:schemeClr val="tx1"/>
                </a:solidFill>
                <a:latin typeface="+mn-lt"/>
                <a:ea typeface="+mn-ea"/>
                <a:cs typeface="+mn-cs"/>
              </a:defRPr>
            </a:lvl1pPr>
            <a:lvl2pPr marL="557213" indent="-214313" algn="l" defTabSz="685800" rtl="0" eaLnBrk="1" latinLnBrk="0" hangingPunct="1">
              <a:spcBef>
                <a:spcPct val="20000"/>
              </a:spcBef>
              <a:buFont typeface="Arial" pitchFamily="34" charset="0"/>
              <a:buChar char="–"/>
              <a:defRPr sz="2100" kern="1200">
                <a:solidFill>
                  <a:schemeClr val="tx1"/>
                </a:solidFill>
                <a:latin typeface="+mn-lt"/>
                <a:ea typeface="+mn-ea"/>
                <a:cs typeface="+mn-cs"/>
              </a:defRPr>
            </a:lvl2pPr>
            <a:lvl3pPr marL="857250" indent="-171450" algn="l" defTabSz="685800" rtl="0" eaLnBrk="1" latinLnBrk="0" hangingPunct="1">
              <a:spcBef>
                <a:spcPct val="20000"/>
              </a:spcBef>
              <a:buFont typeface="Arial" pitchFamily="34" charset="0"/>
              <a:buChar char="•"/>
              <a:defRPr sz="1800" kern="1200">
                <a:solidFill>
                  <a:schemeClr val="tx1"/>
                </a:solidFill>
                <a:latin typeface="+mn-lt"/>
                <a:ea typeface="+mn-ea"/>
                <a:cs typeface="+mn-cs"/>
              </a:defRPr>
            </a:lvl3pPr>
            <a:lvl4pPr marL="12001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4pPr>
            <a:lvl5pPr marL="15430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a:lnSpc>
                <a:spcPct val="130000"/>
              </a:lnSpc>
              <a:buFontTx/>
              <a:buNone/>
            </a:pPr>
            <a:r>
              <a:rPr lang="zh-CN" altLang="en-US" sz="2800" dirty="0"/>
              <a:t>所谓公式法就是利用已证明过的集合恒等式去证明新的集合恒等式。在用公式法证明集合恒等式的时候，要充分利用集合的运算定律，同时注意以下几个基本原则： </a:t>
            </a:r>
          </a:p>
          <a:p>
            <a:pPr>
              <a:lnSpc>
                <a:spcPct val="130000"/>
              </a:lnSpc>
              <a:buFontTx/>
              <a:buNone/>
            </a:pPr>
            <a:r>
              <a:rPr lang="en-US" altLang="zh-CN" sz="2800" dirty="0"/>
              <a:t>(1) </a:t>
            </a:r>
            <a:r>
              <a:rPr lang="zh-CN" altLang="en-US" sz="2800" dirty="0"/>
              <a:t>将集合运算表达式中其他运算符号转换为∪和∩； </a:t>
            </a:r>
          </a:p>
          <a:p>
            <a:pPr>
              <a:lnSpc>
                <a:spcPct val="130000"/>
              </a:lnSpc>
              <a:buFontTx/>
              <a:buNone/>
            </a:pPr>
            <a:r>
              <a:rPr lang="en-US" altLang="zh-CN" sz="2800" dirty="0"/>
              <a:t>(2) </a:t>
            </a:r>
            <a:r>
              <a:rPr lang="zh-CN" altLang="en-US" sz="2800" dirty="0"/>
              <a:t>将补运算作用到单一集合上； </a:t>
            </a:r>
          </a:p>
          <a:p>
            <a:pPr>
              <a:lnSpc>
                <a:spcPct val="130000"/>
              </a:lnSpc>
              <a:buFontTx/>
              <a:buNone/>
            </a:pPr>
            <a:r>
              <a:rPr lang="en-US" altLang="zh-CN" sz="2800" dirty="0"/>
              <a:t>(3) </a:t>
            </a:r>
            <a:r>
              <a:rPr lang="zh-CN" altLang="en-US" sz="2800" dirty="0"/>
              <a:t>左边</a:t>
            </a:r>
            <a:r>
              <a:rPr lang="zh-CN" altLang="en-US" sz="2000" dirty="0">
                <a:sym typeface="Symbol" pitchFamily="18" charset="2"/>
              </a:rPr>
              <a:t></a:t>
            </a:r>
            <a:r>
              <a:rPr lang="zh-CN" altLang="en-US" sz="2800" dirty="0"/>
              <a:t>右边，右边</a:t>
            </a:r>
            <a:r>
              <a:rPr lang="zh-CN" altLang="en-US" sz="2000" dirty="0">
                <a:sym typeface="Symbol" pitchFamily="18" charset="2"/>
              </a:rPr>
              <a:t></a:t>
            </a:r>
            <a:r>
              <a:rPr lang="zh-CN" altLang="en-US" sz="2800" dirty="0"/>
              <a:t>左边，左边</a:t>
            </a:r>
            <a:r>
              <a:rPr lang="zh-CN" altLang="en-US" sz="2000" dirty="0">
                <a:sym typeface="Symbol" pitchFamily="18" charset="2"/>
              </a:rPr>
              <a:t></a:t>
            </a:r>
            <a:r>
              <a:rPr lang="zh-CN" altLang="en-US" sz="2800" dirty="0"/>
              <a:t>中间式，右边 </a:t>
            </a:r>
            <a:r>
              <a:rPr lang="zh-CN" altLang="en-US" sz="2000" dirty="0">
                <a:sym typeface="Symbol" pitchFamily="18" charset="2"/>
              </a:rPr>
              <a:t></a:t>
            </a:r>
            <a:r>
              <a:rPr lang="zh-CN" altLang="en-US" sz="2800" dirty="0"/>
              <a:t>中间式； </a:t>
            </a:r>
          </a:p>
          <a:p>
            <a:pPr>
              <a:lnSpc>
                <a:spcPct val="130000"/>
              </a:lnSpc>
              <a:buFontTx/>
              <a:buNone/>
            </a:pPr>
            <a:r>
              <a:rPr lang="en-US" altLang="zh-CN" sz="2800" dirty="0"/>
              <a:t>(4) </a:t>
            </a:r>
            <a:r>
              <a:rPr lang="zh-CN" altLang="en-US" sz="2800" dirty="0"/>
              <a:t>根据基本运算符号的定义和运算定律转换。</a:t>
            </a:r>
          </a:p>
        </p:txBody>
      </p:sp>
    </p:spTree>
    <p:extLst>
      <p:ext uri="{BB962C8B-B14F-4D97-AF65-F5344CB8AC3E}">
        <p14:creationId xmlns:p14="http://schemas.microsoft.com/office/powerpoint/2010/main" val="385815284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5B951417-CE20-40AA-8D80-89EAA23819B4}"/>
              </a:ext>
            </a:extLst>
          </p:cNvPr>
          <p:cNvSpPr>
            <a:spLocks noGrp="1"/>
          </p:cNvSpPr>
          <p:nvPr>
            <p:ph type="sldNum" sz="quarter" idx="12"/>
          </p:nvPr>
        </p:nvSpPr>
        <p:spPr/>
        <p:txBody>
          <a:bodyPr/>
          <a:lstStyle/>
          <a:p>
            <a:fld id="{0C913308-F349-4B6D-A68A-DD1791B4A57B}" type="slidenum">
              <a:rPr lang="zh-CN" altLang="en-US" smtClean="0"/>
              <a:pPr/>
              <a:t>64</a:t>
            </a:fld>
            <a:endParaRPr lang="zh-CN" altLang="en-US"/>
          </a:p>
        </p:txBody>
      </p:sp>
      <p:sp>
        <p:nvSpPr>
          <p:cNvPr id="3" name="Rectangle 2">
            <a:extLst>
              <a:ext uri="{FF2B5EF4-FFF2-40B4-BE49-F238E27FC236}">
                <a16:creationId xmlns:a16="http://schemas.microsoft.com/office/drawing/2014/main" id="{2C53EEB9-0ACE-413C-AE0C-E04B4EEFFC92}"/>
              </a:ext>
            </a:extLst>
          </p:cNvPr>
          <p:cNvSpPr txBox="1">
            <a:spLocks noChangeArrowheads="1"/>
          </p:cNvSpPr>
          <p:nvPr/>
        </p:nvSpPr>
        <p:spPr>
          <a:xfrm>
            <a:off x="191344" y="1268760"/>
            <a:ext cx="11593288" cy="4682920"/>
          </a:xfrm>
          <a:prstGeom prst="rect">
            <a:avLst/>
          </a:prstGeom>
        </p:spPr>
        <p:txBody>
          <a:bodyPr/>
          <a:lstStyle>
            <a:lvl1pPr marL="257175" indent="-257175" algn="l" defTabSz="685800" rtl="0" eaLnBrk="1" latinLnBrk="0" hangingPunct="1">
              <a:spcBef>
                <a:spcPct val="20000"/>
              </a:spcBef>
              <a:buFont typeface="Arial" pitchFamily="34" charset="0"/>
              <a:buChar char="•"/>
              <a:defRPr sz="2400" kern="1200">
                <a:solidFill>
                  <a:schemeClr val="tx1"/>
                </a:solidFill>
                <a:latin typeface="+mn-lt"/>
                <a:ea typeface="+mn-ea"/>
                <a:cs typeface="+mn-cs"/>
              </a:defRPr>
            </a:lvl1pPr>
            <a:lvl2pPr marL="557213" indent="-214313" algn="l" defTabSz="685800" rtl="0" eaLnBrk="1" latinLnBrk="0" hangingPunct="1">
              <a:spcBef>
                <a:spcPct val="20000"/>
              </a:spcBef>
              <a:buFont typeface="Arial" pitchFamily="34" charset="0"/>
              <a:buChar char="–"/>
              <a:defRPr sz="2100" kern="1200">
                <a:solidFill>
                  <a:schemeClr val="tx1"/>
                </a:solidFill>
                <a:latin typeface="+mn-lt"/>
                <a:ea typeface="+mn-ea"/>
                <a:cs typeface="+mn-cs"/>
              </a:defRPr>
            </a:lvl2pPr>
            <a:lvl3pPr marL="857250" indent="-171450" algn="l" defTabSz="685800" rtl="0" eaLnBrk="1" latinLnBrk="0" hangingPunct="1">
              <a:spcBef>
                <a:spcPct val="20000"/>
              </a:spcBef>
              <a:buFont typeface="Arial" pitchFamily="34" charset="0"/>
              <a:buChar char="•"/>
              <a:defRPr sz="1800" kern="1200">
                <a:solidFill>
                  <a:schemeClr val="tx1"/>
                </a:solidFill>
                <a:latin typeface="+mn-lt"/>
                <a:ea typeface="+mn-ea"/>
                <a:cs typeface="+mn-cs"/>
              </a:defRPr>
            </a:lvl3pPr>
            <a:lvl4pPr marL="12001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4pPr>
            <a:lvl5pPr marL="15430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a:lnSpc>
                <a:spcPct val="110000"/>
              </a:lnSpc>
              <a:buFontTx/>
              <a:buNone/>
            </a:pPr>
            <a:r>
              <a:rPr lang="zh-CN" altLang="zh-CN" sz="3200" b="1" dirty="0">
                <a:solidFill>
                  <a:srgbClr val="3308E8"/>
                </a:solidFill>
              </a:rPr>
              <a:t>例</a:t>
            </a:r>
            <a:r>
              <a:rPr lang="en-US" altLang="zh-CN" sz="3200" b="1" dirty="0">
                <a:solidFill>
                  <a:srgbClr val="3308E8"/>
                </a:solidFill>
              </a:rPr>
              <a:t>1.39  </a:t>
            </a:r>
            <a:r>
              <a:rPr lang="zh-CN" altLang="en-US" sz="3200" dirty="0"/>
              <a:t>设</a:t>
            </a:r>
            <a:r>
              <a:rPr lang="en-US" altLang="zh-CN" sz="3200" dirty="0"/>
              <a:t>A</a:t>
            </a:r>
            <a:r>
              <a:rPr lang="zh-CN" altLang="en-US" sz="3200" dirty="0"/>
              <a:t>、</a:t>
            </a:r>
            <a:r>
              <a:rPr lang="en-US" altLang="zh-CN" sz="3200" dirty="0"/>
              <a:t>B</a:t>
            </a:r>
            <a:r>
              <a:rPr lang="zh-CN" altLang="en-US" sz="3200" dirty="0"/>
              <a:t>、</a:t>
            </a:r>
            <a:r>
              <a:rPr lang="en-US" altLang="zh-CN" sz="3200" dirty="0"/>
              <a:t>C</a:t>
            </a:r>
            <a:r>
              <a:rPr lang="zh-CN" altLang="en-US" sz="3200" dirty="0"/>
              <a:t>是任意三个集合，证明</a:t>
            </a:r>
            <a:r>
              <a:rPr lang="en-US" altLang="zh-CN" sz="3200" dirty="0"/>
              <a:t>A∩( B-C )=(A∩B)-(A∩C)</a:t>
            </a:r>
          </a:p>
          <a:p>
            <a:pPr>
              <a:lnSpc>
                <a:spcPct val="110000"/>
              </a:lnSpc>
              <a:buFontTx/>
              <a:buNone/>
            </a:pPr>
            <a:r>
              <a:rPr lang="zh-CN" altLang="en-US" dirty="0"/>
              <a:t>证明  </a:t>
            </a:r>
            <a:r>
              <a:rPr lang="en-US" altLang="zh-CN" dirty="0"/>
              <a:t>A∩(B-C) =A∩(B∩C</a:t>
            </a:r>
            <a:r>
              <a:rPr lang="en-US" altLang="zh-CN" dirty="0">
                <a:sym typeface="Symbol" pitchFamily="18" charset="2"/>
              </a:rPr>
              <a:t></a:t>
            </a:r>
            <a:r>
              <a:rPr lang="en-US" altLang="zh-CN" dirty="0"/>
              <a:t>)=A∩B∩C</a:t>
            </a:r>
            <a:r>
              <a:rPr lang="en-US" altLang="zh-CN" dirty="0">
                <a:sym typeface="Symbol" pitchFamily="18" charset="2"/>
              </a:rPr>
              <a:t></a:t>
            </a:r>
            <a:endParaRPr lang="en-US" altLang="zh-CN" dirty="0"/>
          </a:p>
          <a:p>
            <a:pPr>
              <a:lnSpc>
                <a:spcPct val="110000"/>
              </a:lnSpc>
              <a:buFontTx/>
              <a:buNone/>
            </a:pPr>
            <a:r>
              <a:rPr lang="en-US" altLang="zh-CN" dirty="0"/>
              <a:t>         </a:t>
            </a:r>
            <a:r>
              <a:rPr lang="zh-CN" altLang="en-US" dirty="0"/>
              <a:t>又 </a:t>
            </a:r>
            <a:r>
              <a:rPr lang="en-US" altLang="zh-CN" dirty="0"/>
              <a:t>(A∩B)-(A∩C)</a:t>
            </a:r>
          </a:p>
          <a:p>
            <a:pPr>
              <a:lnSpc>
                <a:spcPct val="110000"/>
              </a:lnSpc>
              <a:buFontTx/>
              <a:buNone/>
            </a:pPr>
            <a:r>
              <a:rPr lang="en-US" altLang="zh-CN" dirty="0"/>
              <a:t>          =(A∩B)∩(A∩C)</a:t>
            </a:r>
            <a:r>
              <a:rPr lang="en-US" altLang="zh-CN" dirty="0">
                <a:sym typeface="Symbol" pitchFamily="18" charset="2"/>
              </a:rPr>
              <a:t></a:t>
            </a:r>
            <a:endParaRPr lang="en-US" altLang="zh-CN" dirty="0"/>
          </a:p>
          <a:p>
            <a:pPr>
              <a:lnSpc>
                <a:spcPct val="110000"/>
              </a:lnSpc>
              <a:buFontTx/>
              <a:buNone/>
            </a:pPr>
            <a:r>
              <a:rPr lang="en-US" altLang="zh-CN" dirty="0"/>
              <a:t>          =(A∩B)∩(A</a:t>
            </a:r>
            <a:r>
              <a:rPr lang="en-US" altLang="zh-CN" dirty="0">
                <a:sym typeface="Symbol" pitchFamily="18" charset="2"/>
              </a:rPr>
              <a:t></a:t>
            </a:r>
            <a:r>
              <a:rPr lang="en-US" altLang="zh-CN" dirty="0"/>
              <a:t>∪C</a:t>
            </a:r>
            <a:r>
              <a:rPr lang="en-US" altLang="zh-CN" dirty="0">
                <a:sym typeface="Symbol" pitchFamily="18" charset="2"/>
              </a:rPr>
              <a:t></a:t>
            </a:r>
            <a:r>
              <a:rPr lang="en-US" altLang="zh-CN" dirty="0"/>
              <a:t>) </a:t>
            </a:r>
          </a:p>
          <a:p>
            <a:pPr>
              <a:lnSpc>
                <a:spcPct val="110000"/>
              </a:lnSpc>
              <a:buFontTx/>
              <a:buNone/>
            </a:pPr>
            <a:r>
              <a:rPr lang="en-US" altLang="zh-CN" dirty="0"/>
              <a:t>          =(A∩B∩A</a:t>
            </a:r>
            <a:r>
              <a:rPr lang="en-US" altLang="zh-CN" dirty="0">
                <a:sym typeface="Symbol" pitchFamily="18" charset="2"/>
              </a:rPr>
              <a:t></a:t>
            </a:r>
            <a:r>
              <a:rPr lang="en-US" altLang="zh-CN" dirty="0"/>
              <a:t>)∪(A∩B∩C</a:t>
            </a:r>
            <a:r>
              <a:rPr lang="en-US" altLang="zh-CN" dirty="0">
                <a:sym typeface="Symbol" pitchFamily="18" charset="2"/>
              </a:rPr>
              <a:t></a:t>
            </a:r>
            <a:r>
              <a:rPr lang="en-US" altLang="zh-CN" dirty="0"/>
              <a:t>)</a:t>
            </a:r>
          </a:p>
          <a:p>
            <a:pPr>
              <a:lnSpc>
                <a:spcPct val="110000"/>
              </a:lnSpc>
              <a:buFontTx/>
              <a:buNone/>
            </a:pPr>
            <a:r>
              <a:rPr lang="en-US" altLang="zh-CN" dirty="0"/>
              <a:t>          = </a:t>
            </a:r>
            <a:r>
              <a:rPr lang="en-US" altLang="zh-CN" i="1" dirty="0">
                <a:sym typeface="Symbol" pitchFamily="18" charset="2"/>
              </a:rPr>
              <a:t></a:t>
            </a:r>
            <a:r>
              <a:rPr lang="en-US" altLang="zh-CN" i="1" dirty="0"/>
              <a:t> </a:t>
            </a:r>
            <a:r>
              <a:rPr lang="en-US" altLang="zh-CN" dirty="0"/>
              <a:t>∪(A∩B∩C</a:t>
            </a:r>
            <a:r>
              <a:rPr lang="en-US" altLang="zh-CN" dirty="0">
                <a:latin typeface="Arial"/>
              </a:rPr>
              <a:t>’</a:t>
            </a:r>
            <a:r>
              <a:rPr lang="en-US" altLang="zh-CN" dirty="0"/>
              <a:t>)</a:t>
            </a:r>
          </a:p>
          <a:p>
            <a:pPr>
              <a:lnSpc>
                <a:spcPct val="110000"/>
              </a:lnSpc>
              <a:buFontTx/>
              <a:buNone/>
            </a:pPr>
            <a:r>
              <a:rPr lang="en-US" altLang="zh-CN" dirty="0"/>
              <a:t>          =A∩B∩C</a:t>
            </a:r>
            <a:r>
              <a:rPr lang="en-US" altLang="zh-CN" dirty="0">
                <a:sym typeface="Symbol" pitchFamily="18" charset="2"/>
              </a:rPr>
              <a:t></a:t>
            </a:r>
            <a:r>
              <a:rPr lang="en-US" altLang="zh-CN" dirty="0"/>
              <a:t> </a:t>
            </a:r>
          </a:p>
          <a:p>
            <a:pPr>
              <a:lnSpc>
                <a:spcPct val="110000"/>
              </a:lnSpc>
              <a:buFontTx/>
              <a:buNone/>
            </a:pPr>
            <a:r>
              <a:rPr lang="zh-CN" altLang="en-US" dirty="0"/>
              <a:t>  所以  </a:t>
            </a:r>
            <a:r>
              <a:rPr lang="en-US" altLang="zh-CN" dirty="0"/>
              <a:t>A∩( B-C )=(A∩B)-(A∩C)</a:t>
            </a:r>
          </a:p>
        </p:txBody>
      </p:sp>
    </p:spTree>
    <p:extLst>
      <p:ext uri="{BB962C8B-B14F-4D97-AF65-F5344CB8AC3E}">
        <p14:creationId xmlns:p14="http://schemas.microsoft.com/office/powerpoint/2010/main" val="354671714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5B951417-CE20-40AA-8D80-89EAA23819B4}"/>
              </a:ext>
            </a:extLst>
          </p:cNvPr>
          <p:cNvSpPr>
            <a:spLocks noGrp="1"/>
          </p:cNvSpPr>
          <p:nvPr>
            <p:ph type="sldNum" sz="quarter" idx="12"/>
          </p:nvPr>
        </p:nvSpPr>
        <p:spPr/>
        <p:txBody>
          <a:bodyPr/>
          <a:lstStyle/>
          <a:p>
            <a:fld id="{0C913308-F349-4B6D-A68A-DD1791B4A57B}" type="slidenum">
              <a:rPr lang="zh-CN" altLang="en-US" smtClean="0"/>
              <a:pPr/>
              <a:t>65</a:t>
            </a:fld>
            <a:endParaRPr lang="zh-CN" altLang="en-US"/>
          </a:p>
        </p:txBody>
      </p:sp>
      <p:sp>
        <p:nvSpPr>
          <p:cNvPr id="3" name="Rectangle 2">
            <a:extLst>
              <a:ext uri="{FF2B5EF4-FFF2-40B4-BE49-F238E27FC236}">
                <a16:creationId xmlns:a16="http://schemas.microsoft.com/office/drawing/2014/main" id="{D8538898-5BDD-4398-ADCB-CD2B5A8BF63F}"/>
              </a:ext>
            </a:extLst>
          </p:cNvPr>
          <p:cNvSpPr txBox="1">
            <a:spLocks noChangeArrowheads="1"/>
          </p:cNvSpPr>
          <p:nvPr/>
        </p:nvSpPr>
        <p:spPr>
          <a:xfrm>
            <a:off x="648308" y="1316037"/>
            <a:ext cx="10895384" cy="5040316"/>
          </a:xfrm>
          <a:prstGeom prst="rect">
            <a:avLst/>
          </a:prstGeom>
          <a:noFill/>
          <a:ln/>
        </p:spPr>
        <p:txBody>
          <a:bodyPr/>
          <a:lstStyle>
            <a:lvl1pPr marL="257175" indent="-257175" algn="l" defTabSz="685800" rtl="0" eaLnBrk="1" latinLnBrk="0" hangingPunct="1">
              <a:spcBef>
                <a:spcPct val="20000"/>
              </a:spcBef>
              <a:buFont typeface="Arial" pitchFamily="34" charset="0"/>
              <a:buChar char="•"/>
              <a:defRPr sz="2400" kern="1200">
                <a:solidFill>
                  <a:schemeClr val="tx1"/>
                </a:solidFill>
                <a:latin typeface="+mn-lt"/>
                <a:ea typeface="+mn-ea"/>
                <a:cs typeface="+mn-cs"/>
              </a:defRPr>
            </a:lvl1pPr>
            <a:lvl2pPr marL="557213" indent="-214313" algn="l" defTabSz="685800" rtl="0" eaLnBrk="1" latinLnBrk="0" hangingPunct="1">
              <a:spcBef>
                <a:spcPct val="20000"/>
              </a:spcBef>
              <a:buFont typeface="Arial" pitchFamily="34" charset="0"/>
              <a:buChar char="–"/>
              <a:defRPr sz="2100" kern="1200">
                <a:solidFill>
                  <a:schemeClr val="tx1"/>
                </a:solidFill>
                <a:latin typeface="+mn-lt"/>
                <a:ea typeface="+mn-ea"/>
                <a:cs typeface="+mn-cs"/>
              </a:defRPr>
            </a:lvl2pPr>
            <a:lvl3pPr marL="857250" indent="-171450" algn="l" defTabSz="685800" rtl="0" eaLnBrk="1" latinLnBrk="0" hangingPunct="1">
              <a:spcBef>
                <a:spcPct val="20000"/>
              </a:spcBef>
              <a:buFont typeface="Arial" pitchFamily="34" charset="0"/>
              <a:buChar char="•"/>
              <a:defRPr sz="1800" kern="1200">
                <a:solidFill>
                  <a:schemeClr val="tx1"/>
                </a:solidFill>
                <a:latin typeface="+mn-lt"/>
                <a:ea typeface="+mn-ea"/>
                <a:cs typeface="+mn-cs"/>
              </a:defRPr>
            </a:lvl3pPr>
            <a:lvl4pPr marL="12001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4pPr>
            <a:lvl5pPr marL="15430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a:lnSpc>
                <a:spcPct val="120000"/>
              </a:lnSpc>
              <a:buFontTx/>
              <a:buNone/>
            </a:pPr>
            <a:r>
              <a:rPr lang="zh-CN" altLang="en-US" sz="2800" b="1" dirty="0">
                <a:solidFill>
                  <a:srgbClr val="3308E8"/>
                </a:solidFill>
              </a:rPr>
              <a:t>例</a:t>
            </a:r>
            <a:r>
              <a:rPr lang="en-US" altLang="zh-CN" sz="2800" b="1" dirty="0">
                <a:solidFill>
                  <a:srgbClr val="3308E8"/>
                </a:solidFill>
              </a:rPr>
              <a:t>1.40 </a:t>
            </a:r>
            <a:r>
              <a:rPr lang="zh-CN" altLang="en-US" sz="2800" dirty="0"/>
              <a:t>设</a:t>
            </a:r>
            <a:r>
              <a:rPr lang="en-US" altLang="zh-CN" sz="2800" dirty="0"/>
              <a:t>A</a:t>
            </a:r>
            <a:r>
              <a:rPr lang="zh-CN" altLang="en-US" sz="2800" dirty="0"/>
              <a:t>、</a:t>
            </a:r>
            <a:r>
              <a:rPr lang="en-US" altLang="zh-CN" sz="2800" dirty="0"/>
              <a:t>B</a:t>
            </a:r>
            <a:r>
              <a:rPr lang="zh-CN" altLang="en-US" sz="2800" dirty="0"/>
              <a:t>、</a:t>
            </a:r>
            <a:r>
              <a:rPr lang="en-US" altLang="zh-CN" sz="2800" dirty="0"/>
              <a:t>C</a:t>
            </a:r>
            <a:r>
              <a:rPr lang="zh-CN" altLang="en-US" sz="2800" dirty="0"/>
              <a:t>是任意三个集合，证明</a:t>
            </a:r>
            <a:r>
              <a:rPr lang="en-US" altLang="zh-CN" sz="2800" dirty="0">
                <a:latin typeface="Times New Roman" pitchFamily="18" charset="0"/>
              </a:rPr>
              <a:t>A∪(B∩C) = (A∪B)∩(A∪C)</a:t>
            </a:r>
          </a:p>
          <a:p>
            <a:pPr>
              <a:lnSpc>
                <a:spcPct val="120000"/>
              </a:lnSpc>
              <a:buFontTx/>
              <a:buNone/>
            </a:pPr>
            <a:r>
              <a:rPr lang="zh-CN" altLang="en-US" sz="2800" dirty="0"/>
              <a:t>证明 </a:t>
            </a:r>
            <a:r>
              <a:rPr lang="en-US" altLang="zh-CN" sz="2800" dirty="0">
                <a:latin typeface="Times New Roman" pitchFamily="18" charset="0"/>
              </a:rPr>
              <a:t>(A∪B)∩(A∪C) = ((A∪B)∩A)∪((A∪B)∩C)</a:t>
            </a:r>
          </a:p>
          <a:p>
            <a:pPr>
              <a:lnSpc>
                <a:spcPct val="120000"/>
              </a:lnSpc>
              <a:buFontTx/>
              <a:buNone/>
            </a:pPr>
            <a:r>
              <a:rPr lang="en-US" altLang="zh-CN" sz="2800" dirty="0">
                <a:latin typeface="Times New Roman" pitchFamily="18" charset="0"/>
              </a:rPr>
              <a:t>   = (A∩(A∪B))∪(C∩(A∪B))</a:t>
            </a:r>
          </a:p>
          <a:p>
            <a:pPr>
              <a:lnSpc>
                <a:spcPct val="120000"/>
              </a:lnSpc>
              <a:buFontTx/>
              <a:buNone/>
            </a:pPr>
            <a:r>
              <a:rPr lang="en-US" altLang="zh-CN" sz="2800" dirty="0">
                <a:latin typeface="Times New Roman" pitchFamily="18" charset="0"/>
              </a:rPr>
              <a:t>   = A∪(C∩(A∪B))</a:t>
            </a:r>
          </a:p>
          <a:p>
            <a:pPr>
              <a:lnSpc>
                <a:spcPct val="120000"/>
              </a:lnSpc>
              <a:buFontTx/>
              <a:buNone/>
            </a:pPr>
            <a:r>
              <a:rPr lang="en-US" altLang="zh-CN" sz="2800" dirty="0">
                <a:latin typeface="Times New Roman" pitchFamily="18" charset="0"/>
              </a:rPr>
              <a:t>   = A∪((C∩A)∪(C∩B))</a:t>
            </a:r>
          </a:p>
          <a:p>
            <a:pPr>
              <a:lnSpc>
                <a:spcPct val="120000"/>
              </a:lnSpc>
              <a:buFontTx/>
              <a:buNone/>
            </a:pPr>
            <a:r>
              <a:rPr lang="en-US" altLang="zh-CN" sz="2800" dirty="0">
                <a:latin typeface="Times New Roman" pitchFamily="18" charset="0"/>
              </a:rPr>
              <a:t>   = (A∪(A∩C)) ∪(B∩C)</a:t>
            </a:r>
          </a:p>
          <a:p>
            <a:pPr>
              <a:lnSpc>
                <a:spcPct val="120000"/>
              </a:lnSpc>
              <a:buFontTx/>
              <a:buNone/>
            </a:pPr>
            <a:r>
              <a:rPr lang="en-US" altLang="zh-CN" sz="2800" dirty="0">
                <a:latin typeface="Times New Roman" pitchFamily="18" charset="0"/>
              </a:rPr>
              <a:t>   = A∪(B∩C)</a:t>
            </a:r>
            <a:r>
              <a:rPr lang="zh-CN" altLang="en-US" sz="2800" dirty="0">
                <a:latin typeface="Times New Roman" pitchFamily="18" charset="0"/>
              </a:rPr>
              <a:t>。</a:t>
            </a:r>
          </a:p>
          <a:p>
            <a:pPr>
              <a:lnSpc>
                <a:spcPct val="120000"/>
              </a:lnSpc>
              <a:buFontTx/>
              <a:buNone/>
            </a:pPr>
            <a:r>
              <a:rPr lang="zh-CN" altLang="en-US" sz="2800" dirty="0"/>
              <a:t> 所以</a:t>
            </a:r>
            <a:r>
              <a:rPr lang="en-US" altLang="zh-CN" sz="2800" dirty="0">
                <a:latin typeface="Times New Roman" pitchFamily="18" charset="0"/>
              </a:rPr>
              <a:t>A∪(B∩C) = (A∪B)∩(A∪C) </a:t>
            </a:r>
          </a:p>
        </p:txBody>
      </p:sp>
    </p:spTree>
    <p:extLst>
      <p:ext uri="{BB962C8B-B14F-4D97-AF65-F5344CB8AC3E}">
        <p14:creationId xmlns:p14="http://schemas.microsoft.com/office/powerpoint/2010/main" val="5713742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5B951417-CE20-40AA-8D80-89EAA23819B4}"/>
              </a:ext>
            </a:extLst>
          </p:cNvPr>
          <p:cNvSpPr>
            <a:spLocks noGrp="1"/>
          </p:cNvSpPr>
          <p:nvPr>
            <p:ph type="sldNum" sz="quarter" idx="12"/>
          </p:nvPr>
        </p:nvSpPr>
        <p:spPr/>
        <p:txBody>
          <a:bodyPr/>
          <a:lstStyle/>
          <a:p>
            <a:fld id="{0C913308-F349-4B6D-A68A-DD1791B4A57B}" type="slidenum">
              <a:rPr lang="zh-CN" altLang="en-US" smtClean="0"/>
              <a:pPr/>
              <a:t>66</a:t>
            </a:fld>
            <a:endParaRPr lang="zh-CN" altLang="en-US"/>
          </a:p>
        </p:txBody>
      </p:sp>
      <p:sp>
        <p:nvSpPr>
          <p:cNvPr id="3" name="Rectangle 2">
            <a:extLst>
              <a:ext uri="{FF2B5EF4-FFF2-40B4-BE49-F238E27FC236}">
                <a16:creationId xmlns:a16="http://schemas.microsoft.com/office/drawing/2014/main" id="{2D9DD406-13D9-495D-93EA-B8D283454E3F}"/>
              </a:ext>
            </a:extLst>
          </p:cNvPr>
          <p:cNvSpPr txBox="1">
            <a:spLocks noChangeArrowheads="1"/>
          </p:cNvSpPr>
          <p:nvPr/>
        </p:nvSpPr>
        <p:spPr>
          <a:xfrm>
            <a:off x="695400" y="1556792"/>
            <a:ext cx="11101064" cy="4225925"/>
          </a:xfrm>
          <a:prstGeom prst="rect">
            <a:avLst/>
          </a:prstGeom>
          <a:noFill/>
          <a:ln/>
        </p:spPr>
        <p:txBody>
          <a:bodyPr>
            <a:normAutofit/>
          </a:bodyPr>
          <a:lstStyle>
            <a:lvl1pPr marL="257175" indent="-257175" algn="l" defTabSz="685800" rtl="0" eaLnBrk="1" latinLnBrk="0" hangingPunct="1">
              <a:spcBef>
                <a:spcPct val="20000"/>
              </a:spcBef>
              <a:buFont typeface="Arial" pitchFamily="34" charset="0"/>
              <a:buChar char="•"/>
              <a:defRPr sz="2400" kern="1200">
                <a:solidFill>
                  <a:schemeClr val="tx1"/>
                </a:solidFill>
                <a:latin typeface="+mn-lt"/>
                <a:ea typeface="+mn-ea"/>
                <a:cs typeface="+mn-cs"/>
              </a:defRPr>
            </a:lvl1pPr>
            <a:lvl2pPr marL="557213" indent="-214313" algn="l" defTabSz="685800" rtl="0" eaLnBrk="1" latinLnBrk="0" hangingPunct="1">
              <a:spcBef>
                <a:spcPct val="20000"/>
              </a:spcBef>
              <a:buFont typeface="Arial" pitchFamily="34" charset="0"/>
              <a:buChar char="–"/>
              <a:defRPr sz="2100" kern="1200">
                <a:solidFill>
                  <a:schemeClr val="tx1"/>
                </a:solidFill>
                <a:latin typeface="+mn-lt"/>
                <a:ea typeface="+mn-ea"/>
                <a:cs typeface="+mn-cs"/>
              </a:defRPr>
            </a:lvl2pPr>
            <a:lvl3pPr marL="857250" indent="-171450" algn="l" defTabSz="685800" rtl="0" eaLnBrk="1" latinLnBrk="0" hangingPunct="1">
              <a:spcBef>
                <a:spcPct val="20000"/>
              </a:spcBef>
              <a:buFont typeface="Arial" pitchFamily="34" charset="0"/>
              <a:buChar char="•"/>
              <a:defRPr sz="1800" kern="1200">
                <a:solidFill>
                  <a:schemeClr val="tx1"/>
                </a:solidFill>
                <a:latin typeface="+mn-lt"/>
                <a:ea typeface="+mn-ea"/>
                <a:cs typeface="+mn-cs"/>
              </a:defRPr>
            </a:lvl3pPr>
            <a:lvl4pPr marL="12001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4pPr>
            <a:lvl5pPr marL="15430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a:lnSpc>
                <a:spcPct val="130000"/>
              </a:lnSpc>
              <a:buFontTx/>
              <a:buNone/>
            </a:pPr>
            <a:r>
              <a:rPr lang="zh-CN" altLang="en-US" sz="2800" b="1" dirty="0">
                <a:solidFill>
                  <a:srgbClr val="3308E8"/>
                </a:solidFill>
              </a:rPr>
              <a:t>例</a:t>
            </a:r>
            <a:r>
              <a:rPr lang="en-US" altLang="zh-CN" sz="2800" b="1" dirty="0">
                <a:solidFill>
                  <a:srgbClr val="3308E8"/>
                </a:solidFill>
              </a:rPr>
              <a:t>1.41 </a:t>
            </a:r>
            <a:r>
              <a:rPr lang="zh-CN" altLang="en-US" sz="2800" dirty="0"/>
              <a:t>设</a:t>
            </a:r>
            <a:r>
              <a:rPr lang="en-US" altLang="zh-CN" sz="2800" dirty="0"/>
              <a:t>A</a:t>
            </a:r>
            <a:r>
              <a:rPr lang="zh-CN" altLang="en-US" sz="2800" dirty="0"/>
              <a:t>、</a:t>
            </a:r>
            <a:r>
              <a:rPr lang="en-US" altLang="zh-CN" sz="2800" dirty="0"/>
              <a:t>B</a:t>
            </a:r>
            <a:r>
              <a:rPr lang="zh-CN" altLang="en-US" sz="2800" dirty="0"/>
              <a:t>、</a:t>
            </a:r>
            <a:r>
              <a:rPr lang="en-US" altLang="zh-CN" sz="2800" dirty="0"/>
              <a:t>C</a:t>
            </a:r>
            <a:r>
              <a:rPr lang="zh-CN" altLang="en-US" sz="2800" dirty="0"/>
              <a:t>是任意三个集合，证明</a:t>
            </a:r>
            <a:endParaRPr lang="en-US" altLang="zh-CN" sz="2800" dirty="0"/>
          </a:p>
          <a:p>
            <a:pPr>
              <a:lnSpc>
                <a:spcPct val="130000"/>
              </a:lnSpc>
              <a:buFontTx/>
              <a:buNone/>
            </a:pPr>
            <a:r>
              <a:rPr lang="en-US" altLang="zh-CN" sz="2800" dirty="0">
                <a:latin typeface="Times New Roman" pitchFamily="18" charset="0"/>
              </a:rPr>
              <a:t>   (A∩B)∪(A∩C)∪(B∩C)=(A∪B)∩ (A∪C)∩ (B ∪C)</a:t>
            </a:r>
          </a:p>
          <a:p>
            <a:pPr>
              <a:lnSpc>
                <a:spcPct val="130000"/>
              </a:lnSpc>
              <a:buFontTx/>
              <a:buNone/>
            </a:pPr>
            <a:r>
              <a:rPr lang="zh-CN" altLang="en-US" sz="2800" dirty="0"/>
              <a:t>证明 </a:t>
            </a:r>
            <a:r>
              <a:rPr lang="en-US" altLang="zh-CN" sz="2800" dirty="0">
                <a:latin typeface="Times New Roman" pitchFamily="18" charset="0"/>
              </a:rPr>
              <a:t>(A∩B)∪(A∩C)∪(B∩C)</a:t>
            </a:r>
          </a:p>
          <a:p>
            <a:pPr>
              <a:lnSpc>
                <a:spcPct val="130000"/>
              </a:lnSpc>
              <a:buFontTx/>
              <a:buNone/>
            </a:pPr>
            <a:r>
              <a:rPr lang="en-US" altLang="zh-CN" sz="2800" dirty="0">
                <a:latin typeface="Times New Roman" pitchFamily="18" charset="0"/>
              </a:rPr>
              <a:t>   =(A∪A∪B)∩(A∪A∪C)∩(A∪C∪B)∩(A∪C∪C) ∩(B∪A∪B)∩(B∪A∪C)∩(B∪C∪B)∩(B∪C∪C) =(A∪B)∩(A∪C)∩(A∪B∪C)∩(A∪C) ∩(A∪B)∩(A∪B∪C)∩(B∪C)∩(B∪C) =(A∪B)∩(A∪C)∩(B∪C)</a:t>
            </a:r>
          </a:p>
        </p:txBody>
      </p:sp>
    </p:spTree>
    <p:extLst>
      <p:ext uri="{BB962C8B-B14F-4D97-AF65-F5344CB8AC3E}">
        <p14:creationId xmlns:p14="http://schemas.microsoft.com/office/powerpoint/2010/main" val="217928596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5B951417-CE20-40AA-8D80-89EAA23819B4}"/>
              </a:ext>
            </a:extLst>
          </p:cNvPr>
          <p:cNvSpPr>
            <a:spLocks noGrp="1"/>
          </p:cNvSpPr>
          <p:nvPr>
            <p:ph type="sldNum" sz="quarter" idx="12"/>
          </p:nvPr>
        </p:nvSpPr>
        <p:spPr/>
        <p:txBody>
          <a:bodyPr/>
          <a:lstStyle/>
          <a:p>
            <a:fld id="{0C913308-F349-4B6D-A68A-DD1791B4A57B}" type="slidenum">
              <a:rPr lang="zh-CN" altLang="en-US" smtClean="0"/>
              <a:pPr/>
              <a:t>67</a:t>
            </a:fld>
            <a:endParaRPr lang="zh-CN" altLang="en-US"/>
          </a:p>
        </p:txBody>
      </p:sp>
      <p:sp>
        <p:nvSpPr>
          <p:cNvPr id="3" name="Rectangle 2">
            <a:extLst>
              <a:ext uri="{FF2B5EF4-FFF2-40B4-BE49-F238E27FC236}">
                <a16:creationId xmlns:a16="http://schemas.microsoft.com/office/drawing/2014/main" id="{9543EA78-3403-4097-B460-0AB976149D39}"/>
              </a:ext>
            </a:extLst>
          </p:cNvPr>
          <p:cNvSpPr txBox="1">
            <a:spLocks noChangeArrowheads="1"/>
          </p:cNvSpPr>
          <p:nvPr/>
        </p:nvSpPr>
        <p:spPr>
          <a:xfrm>
            <a:off x="2423592" y="188640"/>
            <a:ext cx="6252864" cy="720080"/>
          </a:xfrm>
          <a:prstGeom prst="rect">
            <a:avLst/>
          </a:prstGeom>
        </p:spPr>
        <p:txBody>
          <a:bodyPr/>
          <a:lstStyle>
            <a:lvl1pPr algn="ctr" defTabSz="685800" rtl="0" eaLnBrk="1" latinLnBrk="0" hangingPunct="1">
              <a:spcBef>
                <a:spcPct val="0"/>
              </a:spcBef>
              <a:buNone/>
              <a:defRPr sz="3300" kern="1200">
                <a:solidFill>
                  <a:schemeClr val="tx1"/>
                </a:solidFill>
                <a:latin typeface="+mj-lt"/>
                <a:ea typeface="+mj-ea"/>
                <a:cs typeface="+mj-cs"/>
              </a:defRPr>
            </a:lvl1pPr>
          </a:lstStyle>
          <a:p>
            <a:r>
              <a:rPr lang="zh-CN" altLang="zh-CN" dirty="0"/>
              <a:t>1.5.3</a:t>
            </a:r>
            <a:r>
              <a:rPr lang="en-US" altLang="zh-CN" dirty="0"/>
              <a:t>   </a:t>
            </a:r>
            <a:r>
              <a:rPr lang="zh-CN" altLang="en-US" dirty="0"/>
              <a:t>集合成员表法</a:t>
            </a:r>
            <a:endParaRPr lang="zh-CN" altLang="en-US" sz="1400" dirty="0"/>
          </a:p>
        </p:txBody>
      </p:sp>
      <p:sp>
        <p:nvSpPr>
          <p:cNvPr id="4" name="Rectangle 3">
            <a:extLst>
              <a:ext uri="{FF2B5EF4-FFF2-40B4-BE49-F238E27FC236}">
                <a16:creationId xmlns:a16="http://schemas.microsoft.com/office/drawing/2014/main" id="{94E0432C-9637-4CBF-933C-130DBCB9894C}"/>
              </a:ext>
            </a:extLst>
          </p:cNvPr>
          <p:cNvSpPr txBox="1">
            <a:spLocks noChangeArrowheads="1"/>
          </p:cNvSpPr>
          <p:nvPr/>
        </p:nvSpPr>
        <p:spPr>
          <a:xfrm>
            <a:off x="368300" y="1557338"/>
            <a:ext cx="11416332" cy="4607966"/>
          </a:xfrm>
          <a:prstGeom prst="rect">
            <a:avLst/>
          </a:prstGeom>
        </p:spPr>
        <p:txBody>
          <a:bodyPr>
            <a:normAutofit/>
          </a:bodyPr>
          <a:lstStyle>
            <a:lvl1pPr marL="257175" indent="-257175" algn="l" defTabSz="685800" rtl="0" eaLnBrk="1" latinLnBrk="0" hangingPunct="1">
              <a:spcBef>
                <a:spcPct val="20000"/>
              </a:spcBef>
              <a:buFont typeface="Arial" pitchFamily="34" charset="0"/>
              <a:buChar char="•"/>
              <a:defRPr sz="2400" kern="1200">
                <a:solidFill>
                  <a:schemeClr val="tx1"/>
                </a:solidFill>
                <a:latin typeface="+mn-lt"/>
                <a:ea typeface="+mn-ea"/>
                <a:cs typeface="+mn-cs"/>
              </a:defRPr>
            </a:lvl1pPr>
            <a:lvl2pPr marL="557213" indent="-214313" algn="l" defTabSz="685800" rtl="0" eaLnBrk="1" latinLnBrk="0" hangingPunct="1">
              <a:spcBef>
                <a:spcPct val="20000"/>
              </a:spcBef>
              <a:buFont typeface="Arial" pitchFamily="34" charset="0"/>
              <a:buChar char="–"/>
              <a:defRPr sz="2100" kern="1200">
                <a:solidFill>
                  <a:schemeClr val="tx1"/>
                </a:solidFill>
                <a:latin typeface="+mn-lt"/>
                <a:ea typeface="+mn-ea"/>
                <a:cs typeface="+mn-cs"/>
              </a:defRPr>
            </a:lvl2pPr>
            <a:lvl3pPr marL="857250" indent="-171450" algn="l" defTabSz="685800" rtl="0" eaLnBrk="1" latinLnBrk="0" hangingPunct="1">
              <a:spcBef>
                <a:spcPct val="20000"/>
              </a:spcBef>
              <a:buFont typeface="Arial" pitchFamily="34" charset="0"/>
              <a:buChar char="•"/>
              <a:defRPr sz="1800" kern="1200">
                <a:solidFill>
                  <a:schemeClr val="tx1"/>
                </a:solidFill>
                <a:latin typeface="+mn-lt"/>
                <a:ea typeface="+mn-ea"/>
                <a:cs typeface="+mn-cs"/>
              </a:defRPr>
            </a:lvl3pPr>
            <a:lvl4pPr marL="12001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4pPr>
            <a:lvl5pPr marL="15430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a:lnSpc>
                <a:spcPct val="150000"/>
              </a:lnSpc>
              <a:buFontTx/>
              <a:buNone/>
            </a:pPr>
            <a:r>
              <a:rPr lang="zh-CN" altLang="en-US" sz="2800" dirty="0">
                <a:sym typeface="Symbol" pitchFamily="18" charset="2"/>
              </a:rPr>
              <a:t>通过构造集合成员表，应用二进制的逻辑运算，也可以用来证明两个集合是否相等，即比较两个集合成员表，看它们是否相同，就可以判定这两个集合是否相等。</a:t>
            </a:r>
          </a:p>
          <a:p>
            <a:pPr>
              <a:lnSpc>
                <a:spcPct val="150000"/>
              </a:lnSpc>
              <a:buFontTx/>
              <a:buNone/>
            </a:pPr>
            <a:r>
              <a:rPr lang="zh-CN" altLang="en-US" sz="2800" b="1" dirty="0">
                <a:solidFill>
                  <a:schemeClr val="hlink"/>
                </a:solidFill>
                <a:sym typeface="Symbol" pitchFamily="18" charset="2"/>
              </a:rPr>
              <a:t>定义</a:t>
            </a:r>
            <a:r>
              <a:rPr lang="en-US" altLang="zh-CN" sz="2800" b="1" dirty="0">
                <a:solidFill>
                  <a:schemeClr val="hlink"/>
                </a:solidFill>
                <a:sym typeface="Symbol" pitchFamily="18" charset="2"/>
              </a:rPr>
              <a:t>1.15</a:t>
            </a:r>
            <a:r>
              <a:rPr lang="en-US" altLang="zh-CN" sz="2800" dirty="0">
                <a:sym typeface="Symbol" pitchFamily="18" charset="2"/>
              </a:rPr>
              <a:t>  </a:t>
            </a:r>
            <a:r>
              <a:rPr lang="zh-CN" altLang="en-US" sz="2800" dirty="0">
                <a:sym typeface="Symbol" pitchFamily="18" charset="2"/>
              </a:rPr>
              <a:t>设集合</a:t>
            </a:r>
            <a:r>
              <a:rPr lang="en-US" altLang="zh-CN" sz="2800" dirty="0">
                <a:sym typeface="Symbol" pitchFamily="18" charset="2"/>
              </a:rPr>
              <a:t>S</a:t>
            </a:r>
            <a:r>
              <a:rPr lang="zh-CN" altLang="en-US" sz="2800" dirty="0">
                <a:sym typeface="Symbol" pitchFamily="18" charset="2"/>
              </a:rPr>
              <a:t>，则对于集合</a:t>
            </a:r>
            <a:r>
              <a:rPr lang="en-US" altLang="zh-CN" sz="2800" dirty="0">
                <a:sym typeface="Symbol" pitchFamily="18" charset="2"/>
              </a:rPr>
              <a:t>S</a:t>
            </a:r>
            <a:r>
              <a:rPr lang="zh-CN" altLang="en-US" sz="2800" dirty="0">
                <a:sym typeface="Symbol" pitchFamily="18" charset="2"/>
              </a:rPr>
              <a:t>的补集</a:t>
            </a:r>
            <a:r>
              <a:rPr lang="en-US" altLang="zh-CN" sz="2800" dirty="0">
                <a:sym typeface="Symbol" pitchFamily="18" charset="2"/>
              </a:rPr>
              <a:t>S</a:t>
            </a:r>
            <a:r>
              <a:rPr lang="zh-CN" altLang="en-US" sz="2800" dirty="0">
                <a:sym typeface="Symbol" pitchFamily="18" charset="2"/>
              </a:rPr>
              <a:t>，用</a:t>
            </a:r>
            <a:r>
              <a:rPr lang="en-US" altLang="zh-CN" sz="2800" dirty="0">
                <a:sym typeface="Symbol" pitchFamily="18" charset="2"/>
              </a:rPr>
              <a:t>0</a:t>
            </a:r>
            <a:r>
              <a:rPr lang="zh-CN" altLang="en-US" sz="2800" dirty="0">
                <a:sym typeface="Symbol" pitchFamily="18" charset="2"/>
              </a:rPr>
              <a:t>表示，</a:t>
            </a:r>
            <a:r>
              <a:rPr lang="en-US" altLang="zh-CN" sz="2800" dirty="0">
                <a:sym typeface="Symbol" pitchFamily="18" charset="2"/>
              </a:rPr>
              <a:t>1</a:t>
            </a:r>
            <a:r>
              <a:rPr lang="zh-CN" altLang="en-US" sz="2800" dirty="0">
                <a:sym typeface="Symbol" pitchFamily="18" charset="2"/>
              </a:rPr>
              <a:t>表示，即</a:t>
            </a:r>
            <a:r>
              <a:rPr lang="en-US" altLang="zh-CN" sz="2800" dirty="0">
                <a:sym typeface="Symbol" pitchFamily="18" charset="2"/>
              </a:rPr>
              <a:t>:</a:t>
            </a:r>
            <a:r>
              <a:rPr lang="zh-CN" altLang="en-US" sz="2800" dirty="0">
                <a:sym typeface="Symbol" pitchFamily="18" charset="2"/>
              </a:rPr>
              <a:t>若元素</a:t>
            </a:r>
            <a:r>
              <a:rPr lang="en-US" altLang="zh-CN" sz="2800" dirty="0" err="1">
                <a:sym typeface="Symbol" pitchFamily="18" charset="2"/>
              </a:rPr>
              <a:t>xS</a:t>
            </a:r>
            <a:r>
              <a:rPr lang="zh-CN" altLang="en-US" sz="2800" dirty="0">
                <a:sym typeface="Symbol" pitchFamily="18" charset="2"/>
              </a:rPr>
              <a:t>，则</a:t>
            </a:r>
            <a:r>
              <a:rPr lang="en-US" altLang="zh-CN" sz="2800" dirty="0" err="1">
                <a:sym typeface="Symbol" pitchFamily="18" charset="2"/>
              </a:rPr>
              <a:t>xS</a:t>
            </a:r>
            <a:r>
              <a:rPr lang="en-US" altLang="zh-CN" sz="2800" dirty="0">
                <a:sym typeface="Symbol" pitchFamily="18" charset="2"/>
              </a:rPr>
              <a:t></a:t>
            </a:r>
            <a:r>
              <a:rPr lang="zh-CN" altLang="en-US" sz="2800" dirty="0">
                <a:sym typeface="Symbol" pitchFamily="18" charset="2"/>
              </a:rPr>
              <a:t>；若</a:t>
            </a:r>
            <a:r>
              <a:rPr lang="en-US" altLang="zh-CN" sz="2800" dirty="0">
                <a:sym typeface="Symbol" pitchFamily="18" charset="2"/>
              </a:rPr>
              <a:t>x S </a:t>
            </a:r>
            <a:r>
              <a:rPr lang="zh-CN" altLang="en-US" sz="2800" dirty="0">
                <a:sym typeface="Symbol" pitchFamily="18" charset="2"/>
              </a:rPr>
              <a:t>，则</a:t>
            </a:r>
            <a:r>
              <a:rPr lang="en-US" altLang="zh-CN" sz="2800" dirty="0">
                <a:sym typeface="Symbol" pitchFamily="18" charset="2"/>
              </a:rPr>
              <a:t>x S</a:t>
            </a:r>
            <a:r>
              <a:rPr lang="zh-CN" altLang="en-US" sz="2800" dirty="0">
                <a:sym typeface="Symbol" pitchFamily="18" charset="2"/>
              </a:rPr>
              <a:t>。</a:t>
            </a:r>
            <a:r>
              <a:rPr lang="en-US" altLang="zh-CN" sz="2800" dirty="0"/>
              <a:t>,</a:t>
            </a:r>
            <a:r>
              <a:rPr lang="zh-CN" altLang="en-US" sz="2800" dirty="0"/>
              <a:t>集合</a:t>
            </a:r>
            <a:r>
              <a:rPr lang="en-US" altLang="zh-CN" sz="2800" dirty="0"/>
              <a:t>S </a:t>
            </a:r>
            <a:r>
              <a:rPr lang="zh-CN" altLang="en-US" sz="2800" dirty="0"/>
              <a:t>成员表如表</a:t>
            </a:r>
            <a:r>
              <a:rPr lang="en-US" altLang="zh-CN" sz="2800" dirty="0"/>
              <a:t>1.1</a:t>
            </a:r>
            <a:r>
              <a:rPr lang="zh-CN" altLang="en-US" sz="2800" dirty="0"/>
              <a:t>所示</a:t>
            </a:r>
            <a:r>
              <a:rPr lang="zh-CN" altLang="en-US" sz="2800" dirty="0">
                <a:sym typeface="Symbol" pitchFamily="18" charset="2"/>
              </a:rPr>
              <a:t>：</a:t>
            </a:r>
            <a:endParaRPr lang="en-US" altLang="zh-CN" sz="2800" dirty="0">
              <a:sym typeface="Symbol" pitchFamily="18" charset="2"/>
            </a:endParaRPr>
          </a:p>
          <a:p>
            <a:pPr>
              <a:lnSpc>
                <a:spcPct val="150000"/>
              </a:lnSpc>
              <a:buFontTx/>
              <a:buNone/>
            </a:pPr>
            <a:r>
              <a:rPr lang="zh-CN" altLang="en-US" sz="2800" dirty="0">
                <a:sym typeface="Symbol" pitchFamily="18" charset="2"/>
              </a:rPr>
              <a:t>   </a:t>
            </a:r>
          </a:p>
        </p:txBody>
      </p:sp>
      <p:graphicFrame>
        <p:nvGraphicFramePr>
          <p:cNvPr id="5" name="表格 3">
            <a:extLst>
              <a:ext uri="{FF2B5EF4-FFF2-40B4-BE49-F238E27FC236}">
                <a16:creationId xmlns:a16="http://schemas.microsoft.com/office/drawing/2014/main" id="{19BE52B5-09D1-457E-8BD8-D40CBF2004E8}"/>
              </a:ext>
            </a:extLst>
          </p:cNvPr>
          <p:cNvGraphicFramePr>
            <a:graphicFrameLocks noGrp="1"/>
          </p:cNvGraphicFramePr>
          <p:nvPr>
            <p:extLst>
              <p:ext uri="{D42A27DB-BD31-4B8C-83A1-F6EECF244321}">
                <p14:modId xmlns:p14="http://schemas.microsoft.com/office/powerpoint/2010/main" val="3339024791"/>
              </p:ext>
            </p:extLst>
          </p:nvPr>
        </p:nvGraphicFramePr>
        <p:xfrm>
          <a:off x="2855640" y="5148309"/>
          <a:ext cx="5951984" cy="1158240"/>
        </p:xfrm>
        <a:graphic>
          <a:graphicData uri="http://schemas.openxmlformats.org/drawingml/2006/table">
            <a:tbl>
              <a:tblPr firstRow="1" bandRow="1">
                <a:tableStyleId>{5C22544A-7EE6-4342-B048-85BDC9FD1C3A}</a:tableStyleId>
              </a:tblPr>
              <a:tblGrid>
                <a:gridCol w="1379984">
                  <a:extLst>
                    <a:ext uri="{9D8B030D-6E8A-4147-A177-3AD203B41FA5}">
                      <a16:colId xmlns:a16="http://schemas.microsoft.com/office/drawing/2014/main" val="833563462"/>
                    </a:ext>
                  </a:extLst>
                </a:gridCol>
                <a:gridCol w="1524000">
                  <a:extLst>
                    <a:ext uri="{9D8B030D-6E8A-4147-A177-3AD203B41FA5}">
                      <a16:colId xmlns:a16="http://schemas.microsoft.com/office/drawing/2014/main" val="2717479325"/>
                    </a:ext>
                  </a:extLst>
                </a:gridCol>
                <a:gridCol w="1524000">
                  <a:extLst>
                    <a:ext uri="{9D8B030D-6E8A-4147-A177-3AD203B41FA5}">
                      <a16:colId xmlns:a16="http://schemas.microsoft.com/office/drawing/2014/main" val="295922543"/>
                    </a:ext>
                  </a:extLst>
                </a:gridCol>
                <a:gridCol w="1524000">
                  <a:extLst>
                    <a:ext uri="{9D8B030D-6E8A-4147-A177-3AD203B41FA5}">
                      <a16:colId xmlns:a16="http://schemas.microsoft.com/office/drawing/2014/main" val="245120899"/>
                    </a:ext>
                  </a:extLst>
                </a:gridCol>
              </a:tblGrid>
              <a:tr h="370840">
                <a:tc>
                  <a:txBody>
                    <a:bodyPr/>
                    <a:lstStyle/>
                    <a:p>
                      <a:pPr algn="ctr"/>
                      <a:r>
                        <a:rPr lang="en-US" altLang="zh-CN" sz="3200" dirty="0"/>
                        <a:t>S</a:t>
                      </a:r>
                      <a:endParaRPr lang="zh-CN" altLang="en-US" sz="3200" dirty="0"/>
                    </a:p>
                  </a:txBody>
                  <a:tcPr/>
                </a:tc>
                <a:tc>
                  <a:txBody>
                    <a:bodyPr/>
                    <a:lstStyle/>
                    <a:p>
                      <a:pPr algn="ctr"/>
                      <a:r>
                        <a:rPr lang="en-US" altLang="zh-CN" sz="3200" dirty="0"/>
                        <a:t>S’</a:t>
                      </a:r>
                      <a:endParaRPr lang="zh-CN" altLang="en-US" sz="3200" dirty="0"/>
                    </a:p>
                  </a:txBody>
                  <a:tcPr/>
                </a:tc>
                <a:tc>
                  <a:txBody>
                    <a:bodyPr/>
                    <a:lstStyle/>
                    <a:p>
                      <a:pPr algn="ctr"/>
                      <a:r>
                        <a:rPr lang="en-US" altLang="zh-CN" sz="3200" dirty="0"/>
                        <a:t>S</a:t>
                      </a:r>
                      <a:endParaRPr lang="zh-CN" altLang="en-US" sz="3200" dirty="0"/>
                    </a:p>
                  </a:txBody>
                  <a:tcPr/>
                </a:tc>
                <a:tc>
                  <a:txBody>
                    <a:bodyPr/>
                    <a:lstStyle/>
                    <a:p>
                      <a:pPr algn="ctr"/>
                      <a:r>
                        <a:rPr lang="en-US" altLang="zh-CN" sz="3200" dirty="0"/>
                        <a:t>S’</a:t>
                      </a:r>
                      <a:endParaRPr lang="zh-CN" altLang="en-US" sz="3200" dirty="0"/>
                    </a:p>
                  </a:txBody>
                  <a:tcPr/>
                </a:tc>
                <a:extLst>
                  <a:ext uri="{0D108BD9-81ED-4DB2-BD59-A6C34878D82A}">
                    <a16:rowId xmlns:a16="http://schemas.microsoft.com/office/drawing/2014/main" val="335640336"/>
                  </a:ext>
                </a:extLst>
              </a:tr>
              <a:tr h="370840">
                <a:tc>
                  <a:txBody>
                    <a:bodyPr/>
                    <a:lstStyle/>
                    <a:p>
                      <a:pPr algn="ctr"/>
                      <a:r>
                        <a:rPr lang="en-US" altLang="zh-CN" sz="3200" dirty="0"/>
                        <a:t>1</a:t>
                      </a:r>
                      <a:endParaRPr lang="zh-CN" altLang="en-US" sz="3200" dirty="0"/>
                    </a:p>
                  </a:txBody>
                  <a:tcPr/>
                </a:tc>
                <a:tc>
                  <a:txBody>
                    <a:bodyPr/>
                    <a:lstStyle/>
                    <a:p>
                      <a:pPr algn="ctr"/>
                      <a:r>
                        <a:rPr lang="en-US" altLang="zh-CN" sz="3200" dirty="0"/>
                        <a:t>0</a:t>
                      </a:r>
                      <a:endParaRPr lang="zh-CN" altLang="en-US" sz="3200" dirty="0"/>
                    </a:p>
                  </a:txBody>
                  <a:tcPr/>
                </a:tc>
                <a:tc>
                  <a:txBody>
                    <a:bodyPr/>
                    <a:lstStyle/>
                    <a:p>
                      <a:pPr algn="ctr"/>
                      <a:r>
                        <a:rPr lang="en-US" altLang="zh-CN" sz="3200" dirty="0"/>
                        <a:t>0</a:t>
                      </a:r>
                      <a:endParaRPr lang="zh-CN" altLang="en-US" sz="3200" dirty="0"/>
                    </a:p>
                  </a:txBody>
                  <a:tcPr/>
                </a:tc>
                <a:tc>
                  <a:txBody>
                    <a:bodyPr/>
                    <a:lstStyle/>
                    <a:p>
                      <a:pPr algn="ctr"/>
                      <a:r>
                        <a:rPr lang="en-US" altLang="zh-CN" sz="3200" dirty="0"/>
                        <a:t>1</a:t>
                      </a:r>
                      <a:endParaRPr lang="zh-CN" altLang="en-US" sz="3200" dirty="0"/>
                    </a:p>
                  </a:txBody>
                  <a:tcPr/>
                </a:tc>
                <a:extLst>
                  <a:ext uri="{0D108BD9-81ED-4DB2-BD59-A6C34878D82A}">
                    <a16:rowId xmlns:a16="http://schemas.microsoft.com/office/drawing/2014/main" val="3357421819"/>
                  </a:ext>
                </a:extLst>
              </a:tr>
            </a:tbl>
          </a:graphicData>
        </a:graphic>
      </p:graphicFrame>
    </p:spTree>
    <p:extLst>
      <p:ext uri="{BB962C8B-B14F-4D97-AF65-F5344CB8AC3E}">
        <p14:creationId xmlns:p14="http://schemas.microsoft.com/office/powerpoint/2010/main" val="2744253004"/>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5B951417-CE20-40AA-8D80-89EAA23819B4}"/>
              </a:ext>
            </a:extLst>
          </p:cNvPr>
          <p:cNvSpPr>
            <a:spLocks noGrp="1"/>
          </p:cNvSpPr>
          <p:nvPr>
            <p:ph type="sldNum" sz="quarter" idx="12"/>
          </p:nvPr>
        </p:nvSpPr>
        <p:spPr/>
        <p:txBody>
          <a:bodyPr/>
          <a:lstStyle/>
          <a:p>
            <a:fld id="{0C913308-F349-4B6D-A68A-DD1791B4A57B}" type="slidenum">
              <a:rPr lang="zh-CN" altLang="en-US" smtClean="0"/>
              <a:pPr/>
              <a:t>68</a:t>
            </a:fld>
            <a:endParaRPr lang="zh-CN" altLang="en-US"/>
          </a:p>
        </p:txBody>
      </p:sp>
      <p:sp>
        <p:nvSpPr>
          <p:cNvPr id="3" name="Rectangle 18">
            <a:extLst>
              <a:ext uri="{FF2B5EF4-FFF2-40B4-BE49-F238E27FC236}">
                <a16:creationId xmlns:a16="http://schemas.microsoft.com/office/drawing/2014/main" id="{4E12FCC1-CCD0-4BB4-8765-2EE2D8AEC798}"/>
              </a:ext>
            </a:extLst>
          </p:cNvPr>
          <p:cNvSpPr txBox="1">
            <a:spLocks noChangeArrowheads="1"/>
          </p:cNvSpPr>
          <p:nvPr/>
        </p:nvSpPr>
        <p:spPr>
          <a:xfrm>
            <a:off x="479376" y="1424083"/>
            <a:ext cx="11461104" cy="1572869"/>
          </a:xfrm>
          <a:prstGeom prst="rect">
            <a:avLst/>
          </a:prstGeom>
        </p:spPr>
        <p:txBody>
          <a:bodyPr/>
          <a:lstStyle>
            <a:lvl1pPr marL="257175" indent="-257175" algn="l" defTabSz="685800" rtl="0" eaLnBrk="1" latinLnBrk="0" hangingPunct="1">
              <a:spcBef>
                <a:spcPct val="20000"/>
              </a:spcBef>
              <a:buFont typeface="Arial" pitchFamily="34" charset="0"/>
              <a:buChar char="•"/>
              <a:defRPr sz="2400" kern="1200">
                <a:solidFill>
                  <a:schemeClr val="tx1"/>
                </a:solidFill>
                <a:latin typeface="+mn-lt"/>
                <a:ea typeface="+mn-ea"/>
                <a:cs typeface="+mn-cs"/>
              </a:defRPr>
            </a:lvl1pPr>
            <a:lvl2pPr marL="557213" indent="-214313" algn="l" defTabSz="685800" rtl="0" eaLnBrk="1" latinLnBrk="0" hangingPunct="1">
              <a:spcBef>
                <a:spcPct val="20000"/>
              </a:spcBef>
              <a:buFont typeface="Arial" pitchFamily="34" charset="0"/>
              <a:buChar char="–"/>
              <a:defRPr sz="2100" kern="1200">
                <a:solidFill>
                  <a:schemeClr val="tx1"/>
                </a:solidFill>
                <a:latin typeface="+mn-lt"/>
                <a:ea typeface="+mn-ea"/>
                <a:cs typeface="+mn-cs"/>
              </a:defRPr>
            </a:lvl2pPr>
            <a:lvl3pPr marL="857250" indent="-171450" algn="l" defTabSz="685800" rtl="0" eaLnBrk="1" latinLnBrk="0" hangingPunct="1">
              <a:spcBef>
                <a:spcPct val="20000"/>
              </a:spcBef>
              <a:buFont typeface="Arial" pitchFamily="34" charset="0"/>
              <a:buChar char="•"/>
              <a:defRPr sz="1800" kern="1200">
                <a:solidFill>
                  <a:schemeClr val="tx1"/>
                </a:solidFill>
                <a:latin typeface="+mn-lt"/>
                <a:ea typeface="+mn-ea"/>
                <a:cs typeface="+mn-cs"/>
              </a:defRPr>
            </a:lvl3pPr>
            <a:lvl4pPr marL="12001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4pPr>
            <a:lvl5pPr marL="15430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a:buFontTx/>
              <a:buNone/>
            </a:pPr>
            <a:r>
              <a:rPr lang="zh-CN" altLang="en-US" sz="2800" b="1" dirty="0">
                <a:solidFill>
                  <a:schemeClr val="hlink"/>
                </a:solidFill>
              </a:rPr>
              <a:t>定义</a:t>
            </a:r>
            <a:r>
              <a:rPr lang="en-US" altLang="zh-CN" sz="2800" b="1" dirty="0">
                <a:solidFill>
                  <a:schemeClr val="hlink"/>
                </a:solidFill>
              </a:rPr>
              <a:t>1.16</a:t>
            </a:r>
            <a:r>
              <a:rPr lang="en-US" altLang="zh-CN" sz="2800" dirty="0"/>
              <a:t> </a:t>
            </a:r>
            <a:r>
              <a:rPr lang="zh-CN" altLang="en-US" sz="2800" dirty="0"/>
              <a:t>任意有限集合</a:t>
            </a:r>
            <a:r>
              <a:rPr lang="en-US" altLang="zh-CN" sz="2800" dirty="0"/>
              <a:t>S</a:t>
            </a:r>
            <a:r>
              <a:rPr lang="zh-CN" altLang="en-US" sz="2800" dirty="0"/>
              <a:t>在其所有集合的可能赋值下的表称为集合</a:t>
            </a:r>
            <a:r>
              <a:rPr lang="en-US" altLang="zh-CN" sz="2800" dirty="0"/>
              <a:t>S</a:t>
            </a:r>
            <a:r>
              <a:rPr lang="zh-CN" altLang="en-US" sz="2800" dirty="0"/>
              <a:t>的</a:t>
            </a:r>
            <a:r>
              <a:rPr lang="zh-CN" altLang="en-US" sz="2800" b="1" dirty="0">
                <a:solidFill>
                  <a:srgbClr val="00B0F0"/>
                </a:solidFill>
              </a:rPr>
              <a:t>成员表</a:t>
            </a:r>
            <a:r>
              <a:rPr lang="zh-CN" altLang="en-US" sz="2800" dirty="0"/>
              <a:t>。</a:t>
            </a:r>
          </a:p>
          <a:p>
            <a:pPr>
              <a:buFontTx/>
              <a:buNone/>
            </a:pPr>
            <a:r>
              <a:rPr lang="zh-CN" altLang="en-US" sz="2800" dirty="0"/>
              <a:t>那么对于任意集合</a:t>
            </a:r>
            <a:r>
              <a:rPr lang="en-US" altLang="zh-CN" sz="2800" dirty="0"/>
              <a:t>A</a:t>
            </a:r>
            <a:r>
              <a:rPr lang="zh-CN" altLang="en-US" sz="2800" dirty="0"/>
              <a:t>、</a:t>
            </a:r>
            <a:r>
              <a:rPr lang="en-US" altLang="zh-CN" sz="2800" dirty="0"/>
              <a:t>B</a:t>
            </a:r>
            <a:r>
              <a:rPr lang="zh-CN" altLang="en-US" sz="2800" dirty="0"/>
              <a:t>，可以给出他们任意组合的成员表，如表</a:t>
            </a:r>
            <a:r>
              <a:rPr lang="en-US" altLang="zh-CN" sz="2800" dirty="0"/>
              <a:t>1.2</a:t>
            </a:r>
            <a:r>
              <a:rPr lang="zh-CN" altLang="en-US" sz="2800" dirty="0"/>
              <a:t>所示：  </a:t>
            </a:r>
          </a:p>
        </p:txBody>
      </p:sp>
      <p:graphicFrame>
        <p:nvGraphicFramePr>
          <p:cNvPr id="4" name="Group 150">
            <a:extLst>
              <a:ext uri="{FF2B5EF4-FFF2-40B4-BE49-F238E27FC236}">
                <a16:creationId xmlns:a16="http://schemas.microsoft.com/office/drawing/2014/main" id="{A4D2CEF1-C236-4A9C-ADF4-1631B92303A3}"/>
              </a:ext>
            </a:extLst>
          </p:cNvPr>
          <p:cNvGraphicFramePr>
            <a:graphicFrameLocks/>
          </p:cNvGraphicFramePr>
          <p:nvPr>
            <p:extLst>
              <p:ext uri="{D42A27DB-BD31-4B8C-83A1-F6EECF244321}">
                <p14:modId xmlns:p14="http://schemas.microsoft.com/office/powerpoint/2010/main" val="3650131049"/>
              </p:ext>
            </p:extLst>
          </p:nvPr>
        </p:nvGraphicFramePr>
        <p:xfrm>
          <a:off x="762248" y="3284984"/>
          <a:ext cx="9883502" cy="2286000"/>
        </p:xfrm>
        <a:graphic>
          <a:graphicData uri="http://schemas.openxmlformats.org/drawingml/2006/table">
            <a:tbl>
              <a:tblPr/>
              <a:tblGrid>
                <a:gridCol w="2472114">
                  <a:extLst>
                    <a:ext uri="{9D8B030D-6E8A-4147-A177-3AD203B41FA5}">
                      <a16:colId xmlns:a16="http://schemas.microsoft.com/office/drawing/2014/main" val="20000"/>
                    </a:ext>
                  </a:extLst>
                </a:gridCol>
                <a:gridCol w="2469636">
                  <a:extLst>
                    <a:ext uri="{9D8B030D-6E8A-4147-A177-3AD203B41FA5}">
                      <a16:colId xmlns:a16="http://schemas.microsoft.com/office/drawing/2014/main" val="20001"/>
                    </a:ext>
                  </a:extLst>
                </a:gridCol>
                <a:gridCol w="2472116">
                  <a:extLst>
                    <a:ext uri="{9D8B030D-6E8A-4147-A177-3AD203B41FA5}">
                      <a16:colId xmlns:a16="http://schemas.microsoft.com/office/drawing/2014/main" val="20002"/>
                    </a:ext>
                  </a:extLst>
                </a:gridCol>
                <a:gridCol w="2469636">
                  <a:extLst>
                    <a:ext uri="{9D8B030D-6E8A-4147-A177-3AD203B41FA5}">
                      <a16:colId xmlns:a16="http://schemas.microsoft.com/office/drawing/2014/main" val="20003"/>
                    </a:ext>
                  </a:extLst>
                </a:gridCol>
              </a:tblGrid>
              <a:tr h="425450">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A</a:t>
                      </a:r>
                      <a:endParaRPr kumimoji="0" lang="en-US" altLang="zh-CN" sz="24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B</a:t>
                      </a:r>
                      <a:endParaRPr kumimoji="0" lang="en-US" altLang="zh-CN" sz="24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A</a:t>
                      </a:r>
                      <a:r>
                        <a:rPr kumimoji="0" lang="en-US" altLang="zh-CN" sz="2400" b="0" i="0" u="none" strike="noStrike" cap="none" normalizeH="0" baseline="0">
                          <a:ln>
                            <a:noFill/>
                          </a:ln>
                          <a:solidFill>
                            <a:schemeClr val="tx1"/>
                          </a:solidFill>
                          <a:effectLst/>
                          <a:latin typeface="Times New Roman" pitchFamily="18" charset="0"/>
                          <a:ea typeface="SymbolProportionalBT-Regular" charset="-122"/>
                        </a:rPr>
                        <a:t>∪</a:t>
                      </a:r>
                      <a:r>
                        <a:rPr kumimoji="0" lang="en-US" altLang="zh-CN" sz="2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B</a:t>
                      </a:r>
                      <a:endParaRPr kumimoji="0" lang="en-US" altLang="zh-CN" sz="24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A∩B</a:t>
                      </a:r>
                      <a:endParaRPr kumimoji="0" lang="en-US" altLang="zh-CN" sz="24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25450">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0</a:t>
                      </a:r>
                      <a:endParaRPr kumimoji="0" lang="en-US" altLang="zh-CN" sz="2400" b="0" i="0" u="none" strike="noStrike" cap="none" normalizeH="0" baseline="0" dirty="0">
                        <a:ln>
                          <a:noFill/>
                        </a:ln>
                        <a:solidFill>
                          <a:schemeClr val="tx1"/>
                        </a:solidFill>
                        <a:effectLst/>
                        <a:latin typeface="Times New Roman" pitchFamily="18" charset="0"/>
                        <a:ea typeface="宋体"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0</a:t>
                      </a:r>
                      <a:endParaRPr kumimoji="0" lang="en-US" altLang="zh-CN" sz="24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0</a:t>
                      </a:r>
                      <a:endParaRPr kumimoji="0" lang="en-US" altLang="zh-CN" sz="24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0</a:t>
                      </a:r>
                      <a:endParaRPr kumimoji="0" lang="en-US" altLang="zh-CN" sz="24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25450">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0</a:t>
                      </a:r>
                      <a:endParaRPr kumimoji="0" lang="en-US" altLang="zh-CN" sz="24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1</a:t>
                      </a:r>
                      <a:endParaRPr kumimoji="0" lang="en-US" altLang="zh-CN" sz="24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1</a:t>
                      </a:r>
                      <a:endParaRPr kumimoji="0" lang="en-US" altLang="zh-CN" sz="24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0</a:t>
                      </a:r>
                      <a:endParaRPr kumimoji="0" lang="en-US" altLang="zh-CN" sz="24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25450">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1</a:t>
                      </a:r>
                      <a:endParaRPr kumimoji="0" lang="en-US" altLang="zh-CN" sz="24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0</a:t>
                      </a:r>
                      <a:endParaRPr kumimoji="0" lang="en-US" altLang="zh-CN" sz="24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1</a:t>
                      </a:r>
                      <a:endParaRPr kumimoji="0" lang="en-US" altLang="zh-CN" sz="24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0</a:t>
                      </a:r>
                      <a:endParaRPr kumimoji="0" lang="en-US" altLang="zh-CN" sz="24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25450">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1</a:t>
                      </a:r>
                      <a:endParaRPr kumimoji="0" lang="en-US" altLang="zh-CN" sz="24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1</a:t>
                      </a:r>
                      <a:endParaRPr kumimoji="0" lang="en-US" altLang="zh-CN" sz="2400" b="0" i="0" u="none" strike="noStrike" cap="none" normalizeH="0" baseline="0" dirty="0">
                        <a:ln>
                          <a:noFill/>
                        </a:ln>
                        <a:solidFill>
                          <a:schemeClr val="tx1"/>
                        </a:solidFill>
                        <a:effectLst/>
                        <a:latin typeface="Times New Roman" pitchFamily="18" charset="0"/>
                        <a:ea typeface="宋体"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1</a:t>
                      </a:r>
                      <a:endParaRPr kumimoji="0" lang="en-US" altLang="zh-CN" sz="24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1</a:t>
                      </a:r>
                      <a:endParaRPr kumimoji="0" lang="en-US" altLang="zh-CN" sz="2400" b="0" i="0" u="none" strike="noStrike" cap="none" normalizeH="0" baseline="0" dirty="0">
                        <a:ln>
                          <a:noFill/>
                        </a:ln>
                        <a:solidFill>
                          <a:schemeClr val="tx1"/>
                        </a:solidFill>
                        <a:effectLst/>
                        <a:latin typeface="Times New Roman" pitchFamily="18" charset="0"/>
                        <a:ea typeface="宋体"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3230343462"/>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5B951417-CE20-40AA-8D80-89EAA23819B4}"/>
              </a:ext>
            </a:extLst>
          </p:cNvPr>
          <p:cNvSpPr>
            <a:spLocks noGrp="1"/>
          </p:cNvSpPr>
          <p:nvPr>
            <p:ph type="sldNum" sz="quarter" idx="12"/>
          </p:nvPr>
        </p:nvSpPr>
        <p:spPr/>
        <p:txBody>
          <a:bodyPr/>
          <a:lstStyle/>
          <a:p>
            <a:fld id="{0C913308-F349-4B6D-A68A-DD1791B4A57B}" type="slidenum">
              <a:rPr lang="zh-CN" altLang="en-US" smtClean="0"/>
              <a:pPr/>
              <a:t>69</a:t>
            </a:fld>
            <a:endParaRPr lang="zh-CN" altLang="en-US"/>
          </a:p>
        </p:txBody>
      </p:sp>
      <p:sp>
        <p:nvSpPr>
          <p:cNvPr id="3" name="Rectangle 1026">
            <a:extLst>
              <a:ext uri="{FF2B5EF4-FFF2-40B4-BE49-F238E27FC236}">
                <a16:creationId xmlns:a16="http://schemas.microsoft.com/office/drawing/2014/main" id="{5B958AEC-F3A8-46DF-A440-4FE1300F0825}"/>
              </a:ext>
            </a:extLst>
          </p:cNvPr>
          <p:cNvSpPr txBox="1">
            <a:spLocks noChangeArrowheads="1"/>
          </p:cNvSpPr>
          <p:nvPr/>
        </p:nvSpPr>
        <p:spPr>
          <a:xfrm>
            <a:off x="335360" y="1556792"/>
            <a:ext cx="11521280" cy="4682920"/>
          </a:xfrm>
          <a:prstGeom prst="rect">
            <a:avLst/>
          </a:prstGeom>
        </p:spPr>
        <p:txBody>
          <a:bodyPr/>
          <a:lstStyle>
            <a:lvl1pPr marL="257175" indent="-257175" algn="l" defTabSz="685800" rtl="0" eaLnBrk="1" latinLnBrk="0" hangingPunct="1">
              <a:spcBef>
                <a:spcPct val="20000"/>
              </a:spcBef>
              <a:buFont typeface="Arial" pitchFamily="34" charset="0"/>
              <a:buChar char="•"/>
              <a:defRPr sz="2400" kern="1200">
                <a:solidFill>
                  <a:schemeClr val="tx1"/>
                </a:solidFill>
                <a:latin typeface="+mn-lt"/>
                <a:ea typeface="+mn-ea"/>
                <a:cs typeface="+mn-cs"/>
              </a:defRPr>
            </a:lvl1pPr>
            <a:lvl2pPr marL="557213" indent="-214313" algn="l" defTabSz="685800" rtl="0" eaLnBrk="1" latinLnBrk="0" hangingPunct="1">
              <a:spcBef>
                <a:spcPct val="20000"/>
              </a:spcBef>
              <a:buFont typeface="Arial" pitchFamily="34" charset="0"/>
              <a:buChar char="–"/>
              <a:defRPr sz="2100" kern="1200">
                <a:solidFill>
                  <a:schemeClr val="tx1"/>
                </a:solidFill>
                <a:latin typeface="+mn-lt"/>
                <a:ea typeface="+mn-ea"/>
                <a:cs typeface="+mn-cs"/>
              </a:defRPr>
            </a:lvl2pPr>
            <a:lvl3pPr marL="857250" indent="-171450" algn="l" defTabSz="685800" rtl="0" eaLnBrk="1" latinLnBrk="0" hangingPunct="1">
              <a:spcBef>
                <a:spcPct val="20000"/>
              </a:spcBef>
              <a:buFont typeface="Arial" pitchFamily="34" charset="0"/>
              <a:buChar char="•"/>
              <a:defRPr sz="1800" kern="1200">
                <a:solidFill>
                  <a:schemeClr val="tx1"/>
                </a:solidFill>
                <a:latin typeface="+mn-lt"/>
                <a:ea typeface="+mn-ea"/>
                <a:cs typeface="+mn-cs"/>
              </a:defRPr>
            </a:lvl3pPr>
            <a:lvl4pPr marL="12001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4pPr>
            <a:lvl5pPr marL="15430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a:lnSpc>
                <a:spcPct val="120000"/>
              </a:lnSpc>
              <a:buFontTx/>
              <a:buNone/>
            </a:pPr>
            <a:r>
              <a:rPr lang="zh-CN" altLang="en-US" sz="2800"/>
              <a:t>当集合</a:t>
            </a:r>
            <a:r>
              <a:rPr lang="en-US" altLang="zh-CN" sz="2800"/>
              <a:t>S</a:t>
            </a:r>
            <a:r>
              <a:rPr lang="zh-CN" altLang="en-US" sz="2800"/>
              <a:t>具有</a:t>
            </a:r>
            <a:r>
              <a:rPr lang="en-US" altLang="zh-CN" sz="2800"/>
              <a:t>n</a:t>
            </a:r>
            <a:r>
              <a:rPr lang="zh-CN" altLang="en-US" sz="2800"/>
              <a:t>个成员时，那么成员间的组合将有</a:t>
            </a:r>
            <a:r>
              <a:rPr lang="en-US" altLang="zh-CN" sz="2800"/>
              <a:t>2</a:t>
            </a:r>
            <a:r>
              <a:rPr lang="en-US" altLang="zh-CN" sz="2800" baseline="30000"/>
              <a:t>n</a:t>
            </a:r>
            <a:r>
              <a:rPr lang="zh-CN" altLang="en-US" sz="2800"/>
              <a:t>个，当</a:t>
            </a:r>
            <a:r>
              <a:rPr lang="en-US" altLang="zh-CN" sz="2800"/>
              <a:t>n</a:t>
            </a:r>
            <a:r>
              <a:rPr lang="zh-CN" altLang="en-US" sz="2800"/>
              <a:t>超过</a:t>
            </a:r>
            <a:r>
              <a:rPr lang="en-US" altLang="zh-CN" sz="2800"/>
              <a:t>4</a:t>
            </a:r>
            <a:r>
              <a:rPr lang="zh-CN" altLang="en-US" sz="2800"/>
              <a:t>时，集合成员表的构造就比较烦琐，一般就不采用集合成员表的方法来证明集合恒等式。下面给出构造集合成员表的步骤： </a:t>
            </a:r>
          </a:p>
          <a:p>
            <a:pPr>
              <a:lnSpc>
                <a:spcPct val="120000"/>
              </a:lnSpc>
              <a:buFontTx/>
              <a:buNone/>
            </a:pPr>
            <a:r>
              <a:rPr lang="zh-CN" altLang="en-US" sz="2800"/>
              <a:t>（</a:t>
            </a:r>
            <a:r>
              <a:rPr lang="en-US" altLang="zh-CN" sz="2800"/>
              <a:t>1</a:t>
            </a:r>
            <a:r>
              <a:rPr lang="zh-CN" altLang="en-US" sz="2800"/>
              <a:t>）  列出</a:t>
            </a:r>
            <a:r>
              <a:rPr lang="en-US" altLang="zh-CN" sz="2800"/>
              <a:t>S</a:t>
            </a:r>
            <a:r>
              <a:rPr lang="zh-CN" altLang="en-US" sz="2800"/>
              <a:t>中所有集合</a:t>
            </a:r>
            <a:r>
              <a:rPr lang="en-US" altLang="zh-CN" sz="2800"/>
              <a:t>S</a:t>
            </a:r>
            <a:r>
              <a:rPr lang="en-US" altLang="zh-CN" sz="2800" baseline="-25000"/>
              <a:t>1</a:t>
            </a:r>
            <a:r>
              <a:rPr lang="zh-CN" altLang="en-US" sz="2800"/>
              <a:t>，</a:t>
            </a:r>
            <a:r>
              <a:rPr lang="en-US" altLang="zh-CN" sz="2800"/>
              <a:t>S</a:t>
            </a:r>
            <a:r>
              <a:rPr lang="en-US" altLang="zh-CN" sz="2800" baseline="-25000"/>
              <a:t>2</a:t>
            </a:r>
            <a:r>
              <a:rPr lang="zh-CN" altLang="en-US" sz="2800"/>
              <a:t>，</a:t>
            </a:r>
            <a:r>
              <a:rPr lang="en-US" altLang="zh-CN" sz="2800">
                <a:latin typeface="Arial"/>
              </a:rPr>
              <a:t>…</a:t>
            </a:r>
            <a:r>
              <a:rPr lang="zh-CN" altLang="en-US" sz="2800"/>
              <a:t>，</a:t>
            </a:r>
            <a:r>
              <a:rPr lang="en-US" altLang="zh-CN" sz="2800"/>
              <a:t>S</a:t>
            </a:r>
            <a:r>
              <a:rPr lang="en-US" altLang="zh-CN" sz="2800" baseline="-25000"/>
              <a:t>n</a:t>
            </a:r>
            <a:r>
              <a:rPr lang="zh-CN" altLang="en-US" sz="2800"/>
              <a:t>所有可能的赋值，不同的赋值共有</a:t>
            </a:r>
            <a:r>
              <a:rPr lang="en-US" altLang="zh-CN" sz="2800"/>
              <a:t>2</a:t>
            </a:r>
            <a:r>
              <a:rPr lang="en-US" altLang="zh-CN" sz="2800" baseline="30000"/>
              <a:t>n</a:t>
            </a:r>
            <a:r>
              <a:rPr lang="zh-CN" altLang="en-US" sz="2800"/>
              <a:t>个； </a:t>
            </a:r>
          </a:p>
          <a:p>
            <a:pPr>
              <a:lnSpc>
                <a:spcPct val="120000"/>
              </a:lnSpc>
              <a:buFontTx/>
              <a:buNone/>
            </a:pPr>
            <a:r>
              <a:rPr lang="zh-CN" altLang="en-US" sz="2800"/>
              <a:t>（</a:t>
            </a:r>
            <a:r>
              <a:rPr lang="en-US" altLang="zh-CN" sz="2800"/>
              <a:t>2</a:t>
            </a:r>
            <a:r>
              <a:rPr lang="zh-CN" altLang="en-US" sz="2800"/>
              <a:t>）  按照从内到外的顺序写出集合</a:t>
            </a:r>
            <a:r>
              <a:rPr lang="en-US" altLang="zh-CN" sz="2800"/>
              <a:t>S</a:t>
            </a:r>
            <a:r>
              <a:rPr lang="zh-CN" altLang="en-US" sz="2800"/>
              <a:t>的各层次； </a:t>
            </a:r>
          </a:p>
          <a:p>
            <a:pPr>
              <a:lnSpc>
                <a:spcPct val="120000"/>
              </a:lnSpc>
              <a:buFontTx/>
              <a:buNone/>
            </a:pPr>
            <a:r>
              <a:rPr lang="zh-CN" altLang="en-US" sz="2800"/>
              <a:t>（</a:t>
            </a:r>
            <a:r>
              <a:rPr lang="en-US" altLang="zh-CN" sz="2800"/>
              <a:t>3</a:t>
            </a:r>
            <a:r>
              <a:rPr lang="zh-CN" altLang="en-US" sz="2800"/>
              <a:t>）  对应每个赋值，计算集合</a:t>
            </a:r>
            <a:r>
              <a:rPr lang="en-US" altLang="zh-CN" sz="2800"/>
              <a:t>S</a:t>
            </a:r>
            <a:r>
              <a:rPr lang="zh-CN" altLang="en-US" sz="2800"/>
              <a:t>的各层次值，直到最后计算出整个</a:t>
            </a:r>
            <a:r>
              <a:rPr lang="en-US" altLang="zh-CN" sz="2800"/>
              <a:t>S</a:t>
            </a:r>
            <a:r>
              <a:rPr lang="zh-CN" altLang="en-US" sz="2800"/>
              <a:t>的值。</a:t>
            </a:r>
            <a:endParaRPr lang="zh-CN" altLang="en-US" sz="2800" dirty="0"/>
          </a:p>
        </p:txBody>
      </p:sp>
      <p:sp>
        <p:nvSpPr>
          <p:cNvPr id="4" name="Rectangle 1027">
            <a:extLst>
              <a:ext uri="{FF2B5EF4-FFF2-40B4-BE49-F238E27FC236}">
                <a16:creationId xmlns:a16="http://schemas.microsoft.com/office/drawing/2014/main" id="{DE5996A6-44F6-4A00-9E94-5C783B946CAA}"/>
              </a:ext>
            </a:extLst>
          </p:cNvPr>
          <p:cNvSpPr txBox="1">
            <a:spLocks noChangeArrowheads="1"/>
          </p:cNvSpPr>
          <p:nvPr/>
        </p:nvSpPr>
        <p:spPr>
          <a:xfrm>
            <a:off x="2495600" y="402264"/>
            <a:ext cx="6120680" cy="720080"/>
          </a:xfrm>
          <a:prstGeom prst="rect">
            <a:avLst/>
          </a:prstGeom>
        </p:spPr>
        <p:txBody>
          <a:bodyPr/>
          <a:lstStyle>
            <a:lvl1pPr algn="ctr" defTabSz="685800" rtl="0" eaLnBrk="1" latinLnBrk="0" hangingPunct="1">
              <a:spcBef>
                <a:spcPct val="0"/>
              </a:spcBef>
              <a:buNone/>
              <a:defRPr sz="3300" kern="1200">
                <a:solidFill>
                  <a:schemeClr val="tx1"/>
                </a:solidFill>
                <a:latin typeface="+mj-lt"/>
                <a:ea typeface="+mj-ea"/>
                <a:cs typeface="+mj-cs"/>
              </a:defRPr>
            </a:lvl1pPr>
          </a:lstStyle>
          <a:p>
            <a:pPr algn="l"/>
            <a:r>
              <a:rPr lang="zh-CN" altLang="en-US" dirty="0"/>
              <a:t>构造集合成员表的步骤： </a:t>
            </a:r>
          </a:p>
        </p:txBody>
      </p:sp>
    </p:spTree>
    <p:extLst>
      <p:ext uri="{BB962C8B-B14F-4D97-AF65-F5344CB8AC3E}">
        <p14:creationId xmlns:p14="http://schemas.microsoft.com/office/powerpoint/2010/main" val="4142905750"/>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5B951417-CE20-40AA-8D80-89EAA23819B4}"/>
              </a:ext>
            </a:extLst>
          </p:cNvPr>
          <p:cNvSpPr>
            <a:spLocks noGrp="1"/>
          </p:cNvSpPr>
          <p:nvPr>
            <p:ph type="sldNum" sz="quarter" idx="12"/>
          </p:nvPr>
        </p:nvSpPr>
        <p:spPr/>
        <p:txBody>
          <a:bodyPr/>
          <a:lstStyle/>
          <a:p>
            <a:fld id="{0C913308-F349-4B6D-A68A-DD1791B4A57B}" type="slidenum">
              <a:rPr lang="zh-CN" altLang="en-US" smtClean="0"/>
              <a:pPr/>
              <a:t>70</a:t>
            </a:fld>
            <a:endParaRPr lang="zh-CN" altLang="en-US"/>
          </a:p>
        </p:txBody>
      </p:sp>
      <p:sp>
        <p:nvSpPr>
          <p:cNvPr id="3" name="Rectangle 2">
            <a:extLst>
              <a:ext uri="{FF2B5EF4-FFF2-40B4-BE49-F238E27FC236}">
                <a16:creationId xmlns:a16="http://schemas.microsoft.com/office/drawing/2014/main" id="{DDA11426-491A-4FAF-B4DC-5758097F0E65}"/>
              </a:ext>
            </a:extLst>
          </p:cNvPr>
          <p:cNvSpPr txBox="1">
            <a:spLocks noChangeArrowheads="1"/>
          </p:cNvSpPr>
          <p:nvPr/>
        </p:nvSpPr>
        <p:spPr>
          <a:xfrm>
            <a:off x="623392" y="1412776"/>
            <a:ext cx="8928992" cy="514350"/>
          </a:xfrm>
          <a:prstGeom prst="rect">
            <a:avLst/>
          </a:prstGeom>
        </p:spPr>
        <p:txBody>
          <a:bodyPr>
            <a:noAutofit/>
          </a:bodyPr>
          <a:lstStyle>
            <a:lvl1pPr algn="ctr" defTabSz="685800" rtl="0" eaLnBrk="1" latinLnBrk="0" hangingPunct="1">
              <a:spcBef>
                <a:spcPct val="0"/>
              </a:spcBef>
              <a:buNone/>
              <a:defRPr sz="3300" kern="1200">
                <a:solidFill>
                  <a:schemeClr val="tx1"/>
                </a:solidFill>
                <a:latin typeface="+mj-lt"/>
                <a:ea typeface="+mj-ea"/>
                <a:cs typeface="+mj-cs"/>
              </a:defRPr>
            </a:lvl1pPr>
          </a:lstStyle>
          <a:p>
            <a:r>
              <a:rPr lang="zh-CN" altLang="en-US" sz="3200" b="1" dirty="0">
                <a:solidFill>
                  <a:srgbClr val="3308E8"/>
                </a:solidFill>
              </a:rPr>
              <a:t>例</a:t>
            </a:r>
            <a:r>
              <a:rPr lang="en-US" altLang="zh-CN" sz="3200" b="1" dirty="0">
                <a:solidFill>
                  <a:srgbClr val="3308E8"/>
                </a:solidFill>
              </a:rPr>
              <a:t>1.42 </a:t>
            </a:r>
            <a:r>
              <a:rPr lang="zh-CN" altLang="en-US" sz="3200" dirty="0"/>
              <a:t>设</a:t>
            </a:r>
            <a:r>
              <a:rPr lang="en-US" altLang="zh-CN" sz="3200" dirty="0"/>
              <a:t>A,B </a:t>
            </a:r>
            <a:r>
              <a:rPr lang="zh-CN" altLang="en-US" sz="3200" dirty="0"/>
              <a:t>是任意两个集合</a:t>
            </a:r>
            <a:r>
              <a:rPr lang="en-US" altLang="zh-CN" sz="3200" dirty="0"/>
              <a:t>,</a:t>
            </a:r>
            <a:r>
              <a:rPr lang="zh-CN" altLang="en-US" sz="3200" dirty="0"/>
              <a:t>证明</a:t>
            </a:r>
            <a:r>
              <a:rPr lang="en-US" altLang="zh-CN" sz="3200" dirty="0"/>
              <a:t>A-B=A∩B'</a:t>
            </a:r>
            <a:r>
              <a:rPr lang="zh-CN" altLang="en-US" sz="3200" dirty="0"/>
              <a:t>。</a:t>
            </a:r>
            <a:endParaRPr lang="zh-CN" altLang="en-US" sz="3200" dirty="0">
              <a:sym typeface="Symbol" pitchFamily="18" charset="2"/>
            </a:endParaRPr>
          </a:p>
        </p:txBody>
      </p:sp>
      <p:graphicFrame>
        <p:nvGraphicFramePr>
          <p:cNvPr id="4" name="Group 4">
            <a:extLst>
              <a:ext uri="{FF2B5EF4-FFF2-40B4-BE49-F238E27FC236}">
                <a16:creationId xmlns:a16="http://schemas.microsoft.com/office/drawing/2014/main" id="{5F2E7A18-F4FF-4BD2-8425-E67E04BCE743}"/>
              </a:ext>
            </a:extLst>
          </p:cNvPr>
          <p:cNvGraphicFramePr>
            <a:graphicFrameLocks/>
          </p:cNvGraphicFramePr>
          <p:nvPr>
            <p:extLst>
              <p:ext uri="{D42A27DB-BD31-4B8C-83A1-F6EECF244321}">
                <p14:modId xmlns:p14="http://schemas.microsoft.com/office/powerpoint/2010/main" val="2983084269"/>
              </p:ext>
            </p:extLst>
          </p:nvPr>
        </p:nvGraphicFramePr>
        <p:xfrm>
          <a:off x="2927648" y="2464470"/>
          <a:ext cx="5544616" cy="2404690"/>
        </p:xfrm>
        <a:graphic>
          <a:graphicData uri="http://schemas.openxmlformats.org/drawingml/2006/table">
            <a:tbl>
              <a:tblPr/>
              <a:tblGrid>
                <a:gridCol w="696864">
                  <a:extLst>
                    <a:ext uri="{9D8B030D-6E8A-4147-A177-3AD203B41FA5}">
                      <a16:colId xmlns:a16="http://schemas.microsoft.com/office/drawing/2014/main" val="20000"/>
                    </a:ext>
                  </a:extLst>
                </a:gridCol>
                <a:gridCol w="681714">
                  <a:extLst>
                    <a:ext uri="{9D8B030D-6E8A-4147-A177-3AD203B41FA5}">
                      <a16:colId xmlns:a16="http://schemas.microsoft.com/office/drawing/2014/main" val="20001"/>
                    </a:ext>
                  </a:extLst>
                </a:gridCol>
                <a:gridCol w="999849">
                  <a:extLst>
                    <a:ext uri="{9D8B030D-6E8A-4147-A177-3AD203B41FA5}">
                      <a16:colId xmlns:a16="http://schemas.microsoft.com/office/drawing/2014/main" val="20003"/>
                    </a:ext>
                  </a:extLst>
                </a:gridCol>
                <a:gridCol w="1233580">
                  <a:extLst>
                    <a:ext uri="{9D8B030D-6E8A-4147-A177-3AD203B41FA5}">
                      <a16:colId xmlns:a16="http://schemas.microsoft.com/office/drawing/2014/main" val="20004"/>
                    </a:ext>
                  </a:extLst>
                </a:gridCol>
                <a:gridCol w="1932609">
                  <a:extLst>
                    <a:ext uri="{9D8B030D-6E8A-4147-A177-3AD203B41FA5}">
                      <a16:colId xmlns:a16="http://schemas.microsoft.com/office/drawing/2014/main" val="20006"/>
                    </a:ext>
                  </a:extLst>
                </a:gridCol>
              </a:tblGrid>
              <a:tr h="388377">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20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A</a:t>
                      </a:r>
                      <a:endParaRPr kumimoji="0" lang="en-US" altLang="zh-CN" sz="2000" b="0" i="0" u="none" strike="noStrike" cap="none" normalizeH="0" baseline="0" dirty="0">
                        <a:ln>
                          <a:noFill/>
                        </a:ln>
                        <a:solidFill>
                          <a:schemeClr val="tx1"/>
                        </a:solidFill>
                        <a:effectLst/>
                        <a:latin typeface="Times New Roman" pitchFamily="18" charset="0"/>
                        <a:ea typeface="宋体"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B</a:t>
                      </a:r>
                      <a:endParaRPr kumimoji="0" lang="en-US" altLang="zh-CN" sz="20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20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B’</a:t>
                      </a:r>
                      <a:endParaRPr kumimoji="0" lang="en-US" altLang="zh-CN" sz="2000" b="0" i="0" u="none" strike="noStrike" cap="none" normalizeH="0" baseline="0" dirty="0">
                        <a:ln>
                          <a:noFill/>
                        </a:ln>
                        <a:solidFill>
                          <a:schemeClr val="tx1"/>
                        </a:solidFill>
                        <a:effectLst/>
                        <a:latin typeface="Times New Roman" pitchFamily="18" charset="0"/>
                        <a:ea typeface="宋体"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20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A-B</a:t>
                      </a:r>
                      <a:endParaRPr kumimoji="0" lang="en-US" altLang="zh-CN" sz="2000" b="0" i="0" u="none" strike="noStrike" cap="none" normalizeH="0" baseline="0" dirty="0">
                        <a:ln>
                          <a:noFill/>
                        </a:ln>
                        <a:solidFill>
                          <a:schemeClr val="tx1"/>
                        </a:solidFill>
                        <a:effectLst/>
                        <a:latin typeface="Times New Roman" pitchFamily="18" charset="0"/>
                        <a:ea typeface="宋体"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20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A∩B ’</a:t>
                      </a:r>
                      <a:endParaRPr kumimoji="0" lang="en-US" altLang="zh-CN" sz="2000" b="0" i="0" u="none" strike="noStrike" cap="none" normalizeH="0" baseline="0" dirty="0">
                        <a:ln>
                          <a:noFill/>
                        </a:ln>
                        <a:solidFill>
                          <a:schemeClr val="tx1"/>
                        </a:solidFill>
                        <a:effectLst/>
                        <a:latin typeface="Times New Roman" pitchFamily="18" charset="0"/>
                        <a:ea typeface="宋体"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16342">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0</a:t>
                      </a:r>
                      <a:endParaRPr kumimoji="0" lang="en-US" altLang="zh-CN" sz="20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20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0</a:t>
                      </a:r>
                      <a:endParaRPr kumimoji="0" lang="en-US" altLang="zh-CN" sz="2000" b="0" i="0" u="none" strike="noStrike" cap="none" normalizeH="0" baseline="0" dirty="0">
                        <a:ln>
                          <a:noFill/>
                        </a:ln>
                        <a:solidFill>
                          <a:schemeClr val="tx1"/>
                        </a:solidFill>
                        <a:effectLst/>
                        <a:latin typeface="Times New Roman" pitchFamily="18" charset="0"/>
                        <a:ea typeface="宋体"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20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1</a:t>
                      </a:r>
                      <a:endParaRPr kumimoji="0" lang="en-US" altLang="zh-CN" sz="2000" b="0" i="0" u="none" strike="noStrike" cap="none" normalizeH="0" baseline="0" dirty="0">
                        <a:ln>
                          <a:noFill/>
                        </a:ln>
                        <a:solidFill>
                          <a:schemeClr val="tx1"/>
                        </a:solidFill>
                        <a:effectLst/>
                        <a:latin typeface="Times New Roman" pitchFamily="18" charset="0"/>
                        <a:ea typeface="宋体"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0</a:t>
                      </a:r>
                      <a:endParaRPr kumimoji="0" lang="en-US" altLang="zh-CN" sz="20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20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0</a:t>
                      </a:r>
                      <a:endParaRPr kumimoji="0" lang="en-US" altLang="zh-CN" sz="2000" b="0" i="0" u="none" strike="noStrike" cap="none" normalizeH="0" baseline="0" dirty="0">
                        <a:ln>
                          <a:noFill/>
                        </a:ln>
                        <a:solidFill>
                          <a:schemeClr val="tx1"/>
                        </a:solidFill>
                        <a:effectLst/>
                        <a:latin typeface="Times New Roman" pitchFamily="18" charset="0"/>
                        <a:ea typeface="宋体"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98047">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0</a:t>
                      </a:r>
                      <a:endParaRPr kumimoji="0" lang="en-US" altLang="zh-CN" sz="20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1</a:t>
                      </a:r>
                      <a:endParaRPr kumimoji="0" lang="en-US" altLang="zh-CN" sz="20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20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0</a:t>
                      </a:r>
                      <a:endParaRPr kumimoji="0" lang="en-US" altLang="zh-CN" sz="2000" b="0" i="0" u="none" strike="noStrike" cap="none" normalizeH="0" baseline="0" dirty="0">
                        <a:ln>
                          <a:noFill/>
                        </a:ln>
                        <a:solidFill>
                          <a:schemeClr val="tx1"/>
                        </a:solidFill>
                        <a:effectLst/>
                        <a:latin typeface="Times New Roman" pitchFamily="18" charset="0"/>
                        <a:ea typeface="宋体"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0</a:t>
                      </a:r>
                      <a:endParaRPr kumimoji="0" lang="en-US" altLang="zh-CN" sz="20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20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0</a:t>
                      </a:r>
                      <a:endParaRPr kumimoji="0" lang="en-US" altLang="zh-CN" sz="2000" b="0" i="0" u="none" strike="noStrike" cap="none" normalizeH="0" baseline="0" dirty="0">
                        <a:ln>
                          <a:noFill/>
                        </a:ln>
                        <a:solidFill>
                          <a:schemeClr val="tx1"/>
                        </a:solidFill>
                        <a:effectLst/>
                        <a:latin typeface="Times New Roman" pitchFamily="18" charset="0"/>
                        <a:ea typeface="宋体"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96014">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1</a:t>
                      </a:r>
                      <a:endParaRPr kumimoji="0" lang="en-US" altLang="zh-CN" sz="20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2000" b="0" i="0" u="none" strike="noStrike" cap="none" normalizeH="0" baseline="0" dirty="0">
                          <a:ln>
                            <a:noFill/>
                          </a:ln>
                          <a:solidFill>
                            <a:schemeClr val="tx1"/>
                          </a:solidFill>
                          <a:effectLst/>
                          <a:latin typeface="Times New Roman" pitchFamily="18" charset="0"/>
                          <a:ea typeface="宋体" pitchFamily="2" charset="-122"/>
                        </a:rPr>
                        <a:t>0</a:t>
                      </a: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1</a:t>
                      </a:r>
                      <a:endParaRPr kumimoji="0" lang="en-US" altLang="zh-CN" sz="20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1</a:t>
                      </a:r>
                      <a:endParaRPr kumimoji="0" lang="en-US" altLang="zh-CN" sz="20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20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1</a:t>
                      </a:r>
                      <a:endParaRPr kumimoji="0" lang="en-US" altLang="zh-CN" sz="2000" b="0" i="0" u="none" strike="noStrike" cap="none" normalizeH="0" baseline="0" dirty="0">
                        <a:ln>
                          <a:noFill/>
                        </a:ln>
                        <a:solidFill>
                          <a:schemeClr val="tx1"/>
                        </a:solidFill>
                        <a:effectLst/>
                        <a:latin typeface="Times New Roman" pitchFamily="18" charset="0"/>
                        <a:ea typeface="宋体"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498047">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1</a:t>
                      </a:r>
                      <a:endParaRPr kumimoji="0" lang="en-US" altLang="zh-CN" sz="20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1</a:t>
                      </a:r>
                      <a:endParaRPr kumimoji="0" lang="en-US" altLang="zh-CN" sz="20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20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0</a:t>
                      </a:r>
                      <a:endParaRPr kumimoji="0" lang="en-US" altLang="zh-CN" sz="2000" b="0" i="0" u="none" strike="noStrike" cap="none" normalizeH="0" baseline="0" dirty="0">
                        <a:ln>
                          <a:noFill/>
                        </a:ln>
                        <a:solidFill>
                          <a:schemeClr val="tx1"/>
                        </a:solidFill>
                        <a:effectLst/>
                        <a:latin typeface="Times New Roman" pitchFamily="18" charset="0"/>
                        <a:ea typeface="宋体"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2000" b="0" i="0" u="none" strike="noStrike" cap="none" normalizeH="0" baseline="0" dirty="0">
                          <a:ln>
                            <a:noFill/>
                          </a:ln>
                          <a:solidFill>
                            <a:schemeClr val="tx1"/>
                          </a:solidFill>
                          <a:effectLst/>
                          <a:latin typeface="Times New Roman" pitchFamily="18" charset="0"/>
                          <a:ea typeface="宋体" pitchFamily="2" charset="-122"/>
                        </a:rPr>
                        <a:t>0</a:t>
                      </a: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20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0</a:t>
                      </a:r>
                      <a:endParaRPr kumimoji="0" lang="en-US" altLang="zh-CN" sz="2000" b="0" i="0" u="none" strike="noStrike" cap="none" normalizeH="0" baseline="0" dirty="0">
                        <a:ln>
                          <a:noFill/>
                        </a:ln>
                        <a:solidFill>
                          <a:schemeClr val="tx1"/>
                        </a:solidFill>
                        <a:effectLst/>
                        <a:latin typeface="Times New Roman" pitchFamily="18" charset="0"/>
                        <a:ea typeface="宋体"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8"/>
                  </a:ext>
                </a:extLst>
              </a:tr>
            </a:tbl>
          </a:graphicData>
        </a:graphic>
      </p:graphicFrame>
      <p:sp>
        <p:nvSpPr>
          <p:cNvPr id="5" name="Rectangle 2">
            <a:extLst>
              <a:ext uri="{FF2B5EF4-FFF2-40B4-BE49-F238E27FC236}">
                <a16:creationId xmlns:a16="http://schemas.microsoft.com/office/drawing/2014/main" id="{E641E201-AD35-4FEC-BA43-0B94BB7B82F3}"/>
              </a:ext>
            </a:extLst>
          </p:cNvPr>
          <p:cNvSpPr txBox="1">
            <a:spLocks noChangeArrowheads="1"/>
          </p:cNvSpPr>
          <p:nvPr/>
        </p:nvSpPr>
        <p:spPr>
          <a:xfrm>
            <a:off x="623392" y="4924993"/>
            <a:ext cx="10729192" cy="701948"/>
          </a:xfrm>
          <a:prstGeom prst="rect">
            <a:avLst/>
          </a:prstGeom>
        </p:spPr>
        <p:txBody>
          <a:bodyPr vert="horz" lIns="45720" tIns="0" rIns="45720" bIns="0" anchor="b" anchorCtr="0">
            <a:noAutofit/>
          </a:bodyPr>
          <a:lstStyle>
            <a:lvl1pPr algn="l" rtl="0" eaLnBrk="1" latinLnBrk="0" hangingPunct="1">
              <a:spcBef>
                <a:spcPct val="0"/>
              </a:spcBef>
              <a:buNone/>
              <a:defRPr kumimoji="0" sz="3800" b="1" kern="1200" cap="all" baseline="0">
                <a:ln w="500">
                  <a:solidFill>
                    <a:schemeClr val="tx2">
                      <a:shade val="20000"/>
                      <a:satMod val="120000"/>
                    </a:schemeClr>
                  </a:solidFill>
                </a:ln>
                <a:gradFill>
                  <a:gsLst>
                    <a:gs pos="0">
                      <a:schemeClr val="accent4">
                        <a:tint val="13000"/>
                      </a:schemeClr>
                    </a:gs>
                    <a:gs pos="10000">
                      <a:schemeClr val="accent4">
                        <a:tint val="20000"/>
                      </a:schemeClr>
                    </a:gs>
                    <a:gs pos="49000">
                      <a:schemeClr val="accent4">
                        <a:tint val="70000"/>
                      </a:schemeClr>
                    </a:gs>
                    <a:gs pos="50000">
                      <a:schemeClr val="accent4">
                        <a:tint val="97000"/>
                      </a:schemeClr>
                    </a:gs>
                    <a:gs pos="100000">
                      <a:schemeClr val="accent4">
                        <a:tint val="20000"/>
                      </a:schemeClr>
                    </a:gs>
                  </a:gsLst>
                  <a:lin ang="5400000" scaled="1"/>
                </a:gradFill>
                <a:effectLst/>
                <a:latin typeface="+mj-lt"/>
                <a:ea typeface="+mj-ea"/>
                <a:cs typeface="+mj-cs"/>
              </a:defRPr>
            </a:lvl1pPr>
            <a:extLst/>
          </a:lstStyle>
          <a:p>
            <a:r>
              <a:rPr lang="zh-CN" altLang="en-US" sz="2800" b="0" dirty="0">
                <a:solidFill>
                  <a:schemeClr val="tx1"/>
                </a:solidFill>
              </a:rPr>
              <a:t>从表中可以看出</a:t>
            </a:r>
            <a:r>
              <a:rPr lang="en-US" altLang="zh-CN" sz="2800" b="0" dirty="0">
                <a:solidFill>
                  <a:schemeClr val="tx1"/>
                </a:solidFill>
              </a:rPr>
              <a:t>,</a:t>
            </a:r>
            <a:r>
              <a:rPr lang="zh-CN" altLang="en-US" sz="2800" b="0" dirty="0">
                <a:solidFill>
                  <a:schemeClr val="tx1"/>
                </a:solidFill>
              </a:rPr>
              <a:t>集合</a:t>
            </a:r>
            <a:r>
              <a:rPr lang="en-US" altLang="zh-CN" sz="2800" b="0" dirty="0">
                <a:solidFill>
                  <a:schemeClr val="tx1"/>
                </a:solidFill>
              </a:rPr>
              <a:t>A-B </a:t>
            </a:r>
            <a:r>
              <a:rPr lang="zh-CN" altLang="en-US" sz="2800" b="0" dirty="0">
                <a:solidFill>
                  <a:schemeClr val="tx1"/>
                </a:solidFill>
              </a:rPr>
              <a:t>与</a:t>
            </a:r>
            <a:r>
              <a:rPr lang="en-US" altLang="zh-CN" sz="2800" b="0" dirty="0">
                <a:solidFill>
                  <a:schemeClr val="tx1"/>
                </a:solidFill>
              </a:rPr>
              <a:t>A∩B'</a:t>
            </a:r>
            <a:r>
              <a:rPr lang="zh-CN" altLang="en-US" sz="2800" b="0" dirty="0">
                <a:solidFill>
                  <a:schemeClr val="tx1"/>
                </a:solidFill>
              </a:rPr>
              <a:t>所标记的列完全相同</a:t>
            </a:r>
            <a:r>
              <a:rPr lang="en-US" altLang="zh-CN" sz="2800" b="0" dirty="0">
                <a:solidFill>
                  <a:schemeClr val="tx1"/>
                </a:solidFill>
              </a:rPr>
              <a:t>,</a:t>
            </a:r>
            <a:r>
              <a:rPr lang="zh-CN" altLang="en-US" sz="2800" b="0" dirty="0">
                <a:solidFill>
                  <a:schemeClr val="tx1"/>
                </a:solidFill>
              </a:rPr>
              <a:t>因此</a:t>
            </a:r>
            <a:r>
              <a:rPr lang="en-US" altLang="zh-CN" sz="2800" b="0" dirty="0">
                <a:solidFill>
                  <a:schemeClr val="tx1"/>
                </a:solidFill>
              </a:rPr>
              <a:t>A-B=A∩B'</a:t>
            </a:r>
            <a:r>
              <a:rPr lang="zh-CN" altLang="en-US" sz="2800" b="0" dirty="0">
                <a:solidFill>
                  <a:schemeClr val="tx1"/>
                </a:solidFill>
              </a:rPr>
              <a:t>。</a:t>
            </a:r>
            <a:endParaRPr lang="zh-CN" altLang="en-US" sz="2800" b="0" dirty="0">
              <a:solidFill>
                <a:schemeClr val="tx1"/>
              </a:solidFill>
              <a:sym typeface="Symbol" pitchFamily="18" charset="2"/>
            </a:endParaRPr>
          </a:p>
        </p:txBody>
      </p:sp>
    </p:spTree>
    <p:extLst>
      <p:ext uri="{BB962C8B-B14F-4D97-AF65-F5344CB8AC3E}">
        <p14:creationId xmlns:p14="http://schemas.microsoft.com/office/powerpoint/2010/main" val="2944066502"/>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5B951417-CE20-40AA-8D80-89EAA23819B4}"/>
              </a:ext>
            </a:extLst>
          </p:cNvPr>
          <p:cNvSpPr>
            <a:spLocks noGrp="1"/>
          </p:cNvSpPr>
          <p:nvPr>
            <p:ph type="sldNum" sz="quarter" idx="12"/>
          </p:nvPr>
        </p:nvSpPr>
        <p:spPr/>
        <p:txBody>
          <a:bodyPr/>
          <a:lstStyle/>
          <a:p>
            <a:fld id="{0C913308-F349-4B6D-A68A-DD1791B4A57B}" type="slidenum">
              <a:rPr lang="zh-CN" altLang="en-US" smtClean="0"/>
              <a:pPr/>
              <a:t>71</a:t>
            </a:fld>
            <a:endParaRPr lang="zh-CN" altLang="en-US"/>
          </a:p>
        </p:txBody>
      </p:sp>
      <p:sp>
        <p:nvSpPr>
          <p:cNvPr id="3" name="Rectangle 2">
            <a:extLst>
              <a:ext uri="{FF2B5EF4-FFF2-40B4-BE49-F238E27FC236}">
                <a16:creationId xmlns:a16="http://schemas.microsoft.com/office/drawing/2014/main" id="{838231B2-6EFC-43DE-B3B3-C0A5C36D6FEF}"/>
              </a:ext>
            </a:extLst>
          </p:cNvPr>
          <p:cNvSpPr txBox="1">
            <a:spLocks noChangeArrowheads="1"/>
          </p:cNvSpPr>
          <p:nvPr/>
        </p:nvSpPr>
        <p:spPr>
          <a:xfrm>
            <a:off x="551384" y="1556792"/>
            <a:ext cx="10153128" cy="864096"/>
          </a:xfrm>
          <a:prstGeom prst="rect">
            <a:avLst/>
          </a:prstGeom>
        </p:spPr>
        <p:txBody>
          <a:bodyPr>
            <a:normAutofit/>
          </a:bodyPr>
          <a:lstStyle>
            <a:lvl1pPr algn="ctr" defTabSz="685800" rtl="0" eaLnBrk="1" latinLnBrk="0" hangingPunct="1">
              <a:spcBef>
                <a:spcPct val="0"/>
              </a:spcBef>
              <a:buNone/>
              <a:defRPr sz="3300" kern="1200">
                <a:solidFill>
                  <a:schemeClr val="tx1"/>
                </a:solidFill>
                <a:latin typeface="+mj-lt"/>
                <a:ea typeface="+mj-ea"/>
                <a:cs typeface="+mj-cs"/>
              </a:defRPr>
            </a:lvl1pPr>
          </a:lstStyle>
          <a:p>
            <a:pPr algn="l"/>
            <a:r>
              <a:rPr lang="zh-CN" altLang="en-US" sz="2800" b="1" dirty="0">
                <a:solidFill>
                  <a:srgbClr val="3308E8"/>
                </a:solidFill>
              </a:rPr>
              <a:t>例</a:t>
            </a:r>
            <a:r>
              <a:rPr lang="en-US" altLang="zh-CN" sz="2800" b="1" dirty="0">
                <a:solidFill>
                  <a:srgbClr val="3308E8"/>
                </a:solidFill>
              </a:rPr>
              <a:t>1.43 </a:t>
            </a:r>
            <a:r>
              <a:rPr lang="zh-CN" altLang="en-US" sz="2800" dirty="0"/>
              <a:t>设</a:t>
            </a:r>
            <a:r>
              <a:rPr lang="en-US" altLang="zh-CN" sz="2800" dirty="0"/>
              <a:t>A,B,C </a:t>
            </a:r>
            <a:r>
              <a:rPr lang="zh-CN" altLang="en-US" sz="2800" dirty="0"/>
              <a:t>是任意三个集合</a:t>
            </a:r>
            <a:r>
              <a:rPr lang="en-US" altLang="zh-CN" sz="2800" dirty="0"/>
              <a:t>,</a:t>
            </a:r>
            <a:r>
              <a:rPr lang="zh-CN" altLang="en-US" sz="2800" dirty="0"/>
              <a:t>证明</a:t>
            </a:r>
            <a:r>
              <a:rPr lang="en-US" altLang="zh-CN" sz="2800" dirty="0"/>
              <a:t>A∩(B-C)=(A∩B)-(A∩C)</a:t>
            </a:r>
            <a:r>
              <a:rPr lang="zh-CN" altLang="en-US" sz="2800" dirty="0"/>
              <a:t>。</a:t>
            </a:r>
            <a:endParaRPr lang="zh-CN" altLang="en-US" sz="2800" dirty="0">
              <a:sym typeface="Symbol" pitchFamily="18" charset="2"/>
            </a:endParaRPr>
          </a:p>
        </p:txBody>
      </p:sp>
      <p:graphicFrame>
        <p:nvGraphicFramePr>
          <p:cNvPr id="4" name="Group 4">
            <a:extLst>
              <a:ext uri="{FF2B5EF4-FFF2-40B4-BE49-F238E27FC236}">
                <a16:creationId xmlns:a16="http://schemas.microsoft.com/office/drawing/2014/main" id="{F4933773-240D-4348-9FED-D65B00AF1A62}"/>
              </a:ext>
            </a:extLst>
          </p:cNvPr>
          <p:cNvGraphicFramePr>
            <a:graphicFrameLocks/>
          </p:cNvGraphicFramePr>
          <p:nvPr>
            <p:extLst>
              <p:ext uri="{D42A27DB-BD31-4B8C-83A1-F6EECF244321}">
                <p14:modId xmlns:p14="http://schemas.microsoft.com/office/powerpoint/2010/main" val="2798657276"/>
              </p:ext>
            </p:extLst>
          </p:nvPr>
        </p:nvGraphicFramePr>
        <p:xfrm>
          <a:off x="1343474" y="2276872"/>
          <a:ext cx="7848870" cy="4114800"/>
        </p:xfrm>
        <a:graphic>
          <a:graphicData uri="http://schemas.openxmlformats.org/drawingml/2006/table">
            <a:tbl>
              <a:tblPr/>
              <a:tblGrid>
                <a:gridCol w="546924">
                  <a:extLst>
                    <a:ext uri="{9D8B030D-6E8A-4147-A177-3AD203B41FA5}">
                      <a16:colId xmlns:a16="http://schemas.microsoft.com/office/drawing/2014/main" val="20000"/>
                    </a:ext>
                  </a:extLst>
                </a:gridCol>
                <a:gridCol w="535033">
                  <a:extLst>
                    <a:ext uri="{9D8B030D-6E8A-4147-A177-3AD203B41FA5}">
                      <a16:colId xmlns:a16="http://schemas.microsoft.com/office/drawing/2014/main" val="20001"/>
                    </a:ext>
                  </a:extLst>
                </a:gridCol>
                <a:gridCol w="533336">
                  <a:extLst>
                    <a:ext uri="{9D8B030D-6E8A-4147-A177-3AD203B41FA5}">
                      <a16:colId xmlns:a16="http://schemas.microsoft.com/office/drawing/2014/main" val="20002"/>
                    </a:ext>
                  </a:extLst>
                </a:gridCol>
                <a:gridCol w="784717">
                  <a:extLst>
                    <a:ext uri="{9D8B030D-6E8A-4147-A177-3AD203B41FA5}">
                      <a16:colId xmlns:a16="http://schemas.microsoft.com/office/drawing/2014/main" val="20003"/>
                    </a:ext>
                  </a:extLst>
                </a:gridCol>
                <a:gridCol w="968158">
                  <a:extLst>
                    <a:ext uri="{9D8B030D-6E8A-4147-A177-3AD203B41FA5}">
                      <a16:colId xmlns:a16="http://schemas.microsoft.com/office/drawing/2014/main" val="20004"/>
                    </a:ext>
                  </a:extLst>
                </a:gridCol>
                <a:gridCol w="969857">
                  <a:extLst>
                    <a:ext uri="{9D8B030D-6E8A-4147-A177-3AD203B41FA5}">
                      <a16:colId xmlns:a16="http://schemas.microsoft.com/office/drawing/2014/main" val="20005"/>
                    </a:ext>
                  </a:extLst>
                </a:gridCol>
                <a:gridCol w="1516780">
                  <a:extLst>
                    <a:ext uri="{9D8B030D-6E8A-4147-A177-3AD203B41FA5}">
                      <a16:colId xmlns:a16="http://schemas.microsoft.com/office/drawing/2014/main" val="20006"/>
                    </a:ext>
                  </a:extLst>
                </a:gridCol>
                <a:gridCol w="1994065">
                  <a:extLst>
                    <a:ext uri="{9D8B030D-6E8A-4147-A177-3AD203B41FA5}">
                      <a16:colId xmlns:a16="http://schemas.microsoft.com/office/drawing/2014/main" val="20007"/>
                    </a:ext>
                  </a:extLst>
                </a:gridCol>
              </a:tblGrid>
              <a:tr h="427978">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24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A</a:t>
                      </a:r>
                      <a:endParaRPr kumimoji="0" lang="en-US" altLang="zh-CN" sz="2400" b="0" i="0" u="none" strike="noStrike" cap="none" normalizeH="0" baseline="0" dirty="0">
                        <a:ln>
                          <a:noFill/>
                        </a:ln>
                        <a:solidFill>
                          <a:schemeClr val="tx1"/>
                        </a:solidFill>
                        <a:effectLst/>
                        <a:latin typeface="Times New Roman" pitchFamily="18" charset="0"/>
                        <a:ea typeface="宋体"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2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B</a:t>
                      </a:r>
                      <a:endParaRPr kumimoji="0" lang="en-US" altLang="zh-CN" sz="24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2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C</a:t>
                      </a:r>
                      <a:endParaRPr kumimoji="0" lang="en-US" altLang="zh-CN" sz="24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2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B-C</a:t>
                      </a:r>
                      <a:endParaRPr kumimoji="0" lang="en-US" altLang="zh-CN" sz="24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2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A∩B</a:t>
                      </a:r>
                      <a:endParaRPr kumimoji="0" lang="en-US" altLang="zh-CN" sz="24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2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A∩C</a:t>
                      </a:r>
                      <a:endParaRPr kumimoji="0" lang="en-US" altLang="zh-CN" sz="24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2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A∩( B-C )</a:t>
                      </a:r>
                      <a:endParaRPr kumimoji="0" lang="en-US" altLang="zh-CN" sz="24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2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(A∩B)-(A∩C)</a:t>
                      </a:r>
                      <a:endParaRPr kumimoji="0" lang="en-US" altLang="zh-CN" sz="24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43699">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2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0</a:t>
                      </a:r>
                      <a:endParaRPr kumimoji="0" lang="en-US" altLang="zh-CN" sz="24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2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0</a:t>
                      </a:r>
                      <a:endParaRPr kumimoji="0" lang="en-US" altLang="zh-CN" sz="24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2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0</a:t>
                      </a:r>
                      <a:endParaRPr kumimoji="0" lang="en-US" altLang="zh-CN" sz="24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2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0</a:t>
                      </a:r>
                      <a:endParaRPr kumimoji="0" lang="en-US" altLang="zh-CN" sz="24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2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0</a:t>
                      </a:r>
                      <a:endParaRPr kumimoji="0" lang="en-US" altLang="zh-CN" sz="24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2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0</a:t>
                      </a:r>
                      <a:endParaRPr kumimoji="0" lang="en-US" altLang="zh-CN" sz="24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2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0</a:t>
                      </a:r>
                      <a:endParaRPr kumimoji="0" lang="en-US" altLang="zh-CN" sz="24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2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0</a:t>
                      </a:r>
                      <a:endParaRPr kumimoji="0" lang="en-US" altLang="zh-CN" sz="24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27978">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24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0</a:t>
                      </a:r>
                      <a:endParaRPr kumimoji="0" lang="en-US" altLang="zh-CN" sz="2400" b="0" i="0" u="none" strike="noStrike" cap="none" normalizeH="0" baseline="0" dirty="0">
                        <a:ln>
                          <a:noFill/>
                        </a:ln>
                        <a:solidFill>
                          <a:schemeClr val="tx1"/>
                        </a:solidFill>
                        <a:effectLst/>
                        <a:latin typeface="Times New Roman" pitchFamily="18" charset="0"/>
                        <a:ea typeface="宋体"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2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0</a:t>
                      </a:r>
                      <a:endParaRPr kumimoji="0" lang="en-US" altLang="zh-CN" sz="24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2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1</a:t>
                      </a:r>
                      <a:endParaRPr kumimoji="0" lang="en-US" altLang="zh-CN" sz="24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2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0</a:t>
                      </a:r>
                      <a:endParaRPr kumimoji="0" lang="en-US" altLang="zh-CN" sz="24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2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0</a:t>
                      </a:r>
                      <a:endParaRPr kumimoji="0" lang="en-US" altLang="zh-CN" sz="24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2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0</a:t>
                      </a:r>
                      <a:endParaRPr kumimoji="0" lang="en-US" altLang="zh-CN" sz="24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2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0</a:t>
                      </a:r>
                      <a:endParaRPr kumimoji="0" lang="en-US" altLang="zh-CN" sz="24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2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0</a:t>
                      </a:r>
                      <a:endParaRPr kumimoji="0" lang="en-US" altLang="zh-CN" sz="24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27978">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2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0</a:t>
                      </a:r>
                      <a:endParaRPr kumimoji="0" lang="en-US" altLang="zh-CN" sz="24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2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1</a:t>
                      </a:r>
                      <a:endParaRPr kumimoji="0" lang="en-US" altLang="zh-CN" sz="24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2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0</a:t>
                      </a:r>
                      <a:endParaRPr kumimoji="0" lang="en-US" altLang="zh-CN" sz="24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2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1</a:t>
                      </a:r>
                      <a:endParaRPr kumimoji="0" lang="en-US" altLang="zh-CN" sz="24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2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0</a:t>
                      </a:r>
                      <a:endParaRPr kumimoji="0" lang="en-US" altLang="zh-CN" sz="24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2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0</a:t>
                      </a:r>
                      <a:endParaRPr kumimoji="0" lang="en-US" altLang="zh-CN" sz="24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2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0</a:t>
                      </a:r>
                      <a:endParaRPr kumimoji="0" lang="en-US" altLang="zh-CN" sz="24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2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0</a:t>
                      </a:r>
                      <a:endParaRPr kumimoji="0" lang="en-US" altLang="zh-CN" sz="24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26230">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2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0</a:t>
                      </a:r>
                      <a:endParaRPr kumimoji="0" lang="en-US" altLang="zh-CN" sz="24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2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1</a:t>
                      </a:r>
                      <a:endParaRPr kumimoji="0" lang="en-US" altLang="zh-CN" sz="24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2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1</a:t>
                      </a:r>
                      <a:endParaRPr kumimoji="0" lang="en-US" altLang="zh-CN" sz="24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2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0</a:t>
                      </a:r>
                      <a:endParaRPr kumimoji="0" lang="en-US" altLang="zh-CN" sz="24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2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0</a:t>
                      </a:r>
                      <a:endParaRPr kumimoji="0" lang="en-US" altLang="zh-CN" sz="24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2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0</a:t>
                      </a:r>
                      <a:endParaRPr kumimoji="0" lang="en-US" altLang="zh-CN" sz="24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2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0</a:t>
                      </a:r>
                      <a:endParaRPr kumimoji="0" lang="en-US" altLang="zh-CN" sz="24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2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0</a:t>
                      </a:r>
                      <a:endParaRPr kumimoji="0" lang="en-US" altLang="zh-CN" sz="24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27978">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2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1</a:t>
                      </a:r>
                      <a:endParaRPr kumimoji="0" lang="en-US" altLang="zh-CN" sz="24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2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0</a:t>
                      </a:r>
                      <a:endParaRPr kumimoji="0" lang="en-US" altLang="zh-CN" sz="24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2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0</a:t>
                      </a:r>
                      <a:endParaRPr kumimoji="0" lang="en-US" altLang="zh-CN" sz="24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2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0</a:t>
                      </a:r>
                      <a:endParaRPr kumimoji="0" lang="en-US" altLang="zh-CN" sz="24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2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0</a:t>
                      </a:r>
                      <a:endParaRPr kumimoji="0" lang="en-US" altLang="zh-CN" sz="24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2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0</a:t>
                      </a:r>
                      <a:endParaRPr kumimoji="0" lang="en-US" altLang="zh-CN" sz="24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2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0</a:t>
                      </a:r>
                      <a:endParaRPr kumimoji="0" lang="en-US" altLang="zh-CN" sz="24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2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0</a:t>
                      </a:r>
                      <a:endParaRPr kumimoji="0" lang="en-US" altLang="zh-CN" sz="24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27978">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2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1</a:t>
                      </a:r>
                      <a:endParaRPr kumimoji="0" lang="en-US" altLang="zh-CN" sz="24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2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0</a:t>
                      </a:r>
                      <a:endParaRPr kumimoji="0" lang="en-US" altLang="zh-CN" sz="24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2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1</a:t>
                      </a:r>
                      <a:endParaRPr kumimoji="0" lang="en-US" altLang="zh-CN" sz="24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2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0</a:t>
                      </a:r>
                      <a:endParaRPr kumimoji="0" lang="en-US" altLang="zh-CN" sz="24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24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0</a:t>
                      </a:r>
                      <a:endParaRPr kumimoji="0" lang="en-US" altLang="zh-CN" sz="2400" b="0" i="0" u="none" strike="noStrike" cap="none" normalizeH="0" baseline="0" dirty="0">
                        <a:ln>
                          <a:noFill/>
                        </a:ln>
                        <a:solidFill>
                          <a:schemeClr val="tx1"/>
                        </a:solidFill>
                        <a:effectLst/>
                        <a:latin typeface="Times New Roman" pitchFamily="18" charset="0"/>
                        <a:ea typeface="宋体"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2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1</a:t>
                      </a:r>
                      <a:endParaRPr kumimoji="0" lang="en-US" altLang="zh-CN" sz="24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2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0</a:t>
                      </a:r>
                      <a:endParaRPr kumimoji="0" lang="en-US" altLang="zh-CN" sz="24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2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0</a:t>
                      </a:r>
                      <a:endParaRPr kumimoji="0" lang="en-US" altLang="zh-CN" sz="24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426230">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2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1</a:t>
                      </a:r>
                      <a:endParaRPr kumimoji="0" lang="en-US" altLang="zh-CN" sz="24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2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1</a:t>
                      </a:r>
                      <a:endParaRPr kumimoji="0" lang="en-US" altLang="zh-CN" sz="24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2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0</a:t>
                      </a:r>
                      <a:endParaRPr kumimoji="0" lang="en-US" altLang="zh-CN" sz="24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2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1</a:t>
                      </a:r>
                      <a:endParaRPr kumimoji="0" lang="en-US" altLang="zh-CN" sz="24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2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1</a:t>
                      </a:r>
                      <a:endParaRPr kumimoji="0" lang="en-US" altLang="zh-CN" sz="24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2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0</a:t>
                      </a:r>
                      <a:endParaRPr kumimoji="0" lang="en-US" altLang="zh-CN" sz="24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2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1</a:t>
                      </a:r>
                      <a:endParaRPr kumimoji="0" lang="en-US" altLang="zh-CN" sz="24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2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1</a:t>
                      </a:r>
                      <a:endParaRPr kumimoji="0" lang="en-US" altLang="zh-CN" sz="24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427978">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2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1</a:t>
                      </a:r>
                      <a:endParaRPr kumimoji="0" lang="en-US" altLang="zh-CN" sz="24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2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1</a:t>
                      </a:r>
                      <a:endParaRPr kumimoji="0" lang="en-US" altLang="zh-CN" sz="24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2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1</a:t>
                      </a:r>
                      <a:endParaRPr kumimoji="0" lang="en-US" altLang="zh-CN" sz="24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2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0</a:t>
                      </a:r>
                      <a:endParaRPr kumimoji="0" lang="en-US" altLang="zh-CN" sz="24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2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1</a:t>
                      </a:r>
                      <a:endParaRPr kumimoji="0" lang="en-US" altLang="zh-CN" sz="24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2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1</a:t>
                      </a:r>
                      <a:endParaRPr kumimoji="0" lang="en-US" altLang="zh-CN" sz="24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2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0</a:t>
                      </a:r>
                      <a:endParaRPr kumimoji="0" lang="en-US" altLang="zh-CN" sz="24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24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0</a:t>
                      </a:r>
                      <a:endParaRPr kumimoji="0" lang="en-US" altLang="zh-CN" sz="2400" b="0" i="0" u="none" strike="noStrike" cap="none" normalizeH="0" baseline="0" dirty="0">
                        <a:ln>
                          <a:noFill/>
                        </a:ln>
                        <a:solidFill>
                          <a:schemeClr val="tx1"/>
                        </a:solidFill>
                        <a:effectLst/>
                        <a:latin typeface="Times New Roman" pitchFamily="18" charset="0"/>
                        <a:ea typeface="宋体"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1819824734"/>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5B951417-CE20-40AA-8D80-89EAA23819B4}"/>
              </a:ext>
            </a:extLst>
          </p:cNvPr>
          <p:cNvSpPr>
            <a:spLocks noGrp="1"/>
          </p:cNvSpPr>
          <p:nvPr>
            <p:ph type="sldNum" sz="quarter" idx="12"/>
          </p:nvPr>
        </p:nvSpPr>
        <p:spPr/>
        <p:txBody>
          <a:bodyPr/>
          <a:lstStyle/>
          <a:p>
            <a:fld id="{0C913308-F349-4B6D-A68A-DD1791B4A57B}" type="slidenum">
              <a:rPr lang="zh-CN" altLang="en-US" smtClean="0"/>
              <a:pPr/>
              <a:t>72</a:t>
            </a:fld>
            <a:endParaRPr lang="zh-CN" altLang="en-US"/>
          </a:p>
        </p:txBody>
      </p:sp>
      <p:graphicFrame>
        <p:nvGraphicFramePr>
          <p:cNvPr id="3" name="Group 96">
            <a:extLst>
              <a:ext uri="{FF2B5EF4-FFF2-40B4-BE49-F238E27FC236}">
                <a16:creationId xmlns:a16="http://schemas.microsoft.com/office/drawing/2014/main" id="{E988E01E-262D-448B-97CA-4DEA3160591A}"/>
              </a:ext>
            </a:extLst>
          </p:cNvPr>
          <p:cNvGraphicFramePr>
            <a:graphicFrameLocks/>
          </p:cNvGraphicFramePr>
          <p:nvPr>
            <p:extLst>
              <p:ext uri="{D42A27DB-BD31-4B8C-83A1-F6EECF244321}">
                <p14:modId xmlns:p14="http://schemas.microsoft.com/office/powerpoint/2010/main" val="1418735704"/>
              </p:ext>
            </p:extLst>
          </p:nvPr>
        </p:nvGraphicFramePr>
        <p:xfrm>
          <a:off x="1127448" y="2348880"/>
          <a:ext cx="8712967" cy="4114800"/>
        </p:xfrm>
        <a:graphic>
          <a:graphicData uri="http://schemas.openxmlformats.org/drawingml/2006/table">
            <a:tbl>
              <a:tblPr/>
              <a:tblGrid>
                <a:gridCol w="591184">
                  <a:extLst>
                    <a:ext uri="{9D8B030D-6E8A-4147-A177-3AD203B41FA5}">
                      <a16:colId xmlns:a16="http://schemas.microsoft.com/office/drawing/2014/main" val="20000"/>
                    </a:ext>
                  </a:extLst>
                </a:gridCol>
                <a:gridCol w="565075">
                  <a:extLst>
                    <a:ext uri="{9D8B030D-6E8A-4147-A177-3AD203B41FA5}">
                      <a16:colId xmlns:a16="http://schemas.microsoft.com/office/drawing/2014/main" val="20001"/>
                    </a:ext>
                  </a:extLst>
                </a:gridCol>
                <a:gridCol w="563209">
                  <a:extLst>
                    <a:ext uri="{9D8B030D-6E8A-4147-A177-3AD203B41FA5}">
                      <a16:colId xmlns:a16="http://schemas.microsoft.com/office/drawing/2014/main" val="20002"/>
                    </a:ext>
                  </a:extLst>
                </a:gridCol>
                <a:gridCol w="1007064">
                  <a:extLst>
                    <a:ext uri="{9D8B030D-6E8A-4147-A177-3AD203B41FA5}">
                      <a16:colId xmlns:a16="http://schemas.microsoft.com/office/drawing/2014/main" val="20003"/>
                    </a:ext>
                  </a:extLst>
                </a:gridCol>
                <a:gridCol w="1025713">
                  <a:extLst>
                    <a:ext uri="{9D8B030D-6E8A-4147-A177-3AD203B41FA5}">
                      <a16:colId xmlns:a16="http://schemas.microsoft.com/office/drawing/2014/main" val="20004"/>
                    </a:ext>
                  </a:extLst>
                </a:gridCol>
                <a:gridCol w="1023848">
                  <a:extLst>
                    <a:ext uri="{9D8B030D-6E8A-4147-A177-3AD203B41FA5}">
                      <a16:colId xmlns:a16="http://schemas.microsoft.com/office/drawing/2014/main" val="20005"/>
                    </a:ext>
                  </a:extLst>
                </a:gridCol>
                <a:gridCol w="1648601">
                  <a:extLst>
                    <a:ext uri="{9D8B030D-6E8A-4147-A177-3AD203B41FA5}">
                      <a16:colId xmlns:a16="http://schemas.microsoft.com/office/drawing/2014/main" val="20006"/>
                    </a:ext>
                  </a:extLst>
                </a:gridCol>
                <a:gridCol w="2288273">
                  <a:extLst>
                    <a:ext uri="{9D8B030D-6E8A-4147-A177-3AD203B41FA5}">
                      <a16:colId xmlns:a16="http://schemas.microsoft.com/office/drawing/2014/main" val="20007"/>
                    </a:ext>
                  </a:extLst>
                </a:gridCol>
              </a:tblGrid>
              <a:tr h="323850">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A</a:t>
                      </a:r>
                      <a:endParaRPr kumimoji="0" lang="en-US" altLang="zh-CN" sz="24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B</a:t>
                      </a:r>
                      <a:endParaRPr kumimoji="0" lang="en-US" altLang="zh-CN" sz="24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C</a:t>
                      </a:r>
                      <a:endParaRPr kumimoji="0" lang="en-US" altLang="zh-CN" sz="24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B</a:t>
                      </a:r>
                      <a:r>
                        <a:rPr kumimoji="0" lang="en-US" altLang="zh-CN" sz="2400" b="0" i="0" u="none" strike="noStrike" cap="none" normalizeH="0" baseline="0">
                          <a:ln>
                            <a:noFill/>
                          </a:ln>
                          <a:solidFill>
                            <a:schemeClr val="tx1"/>
                          </a:solidFill>
                          <a:effectLst/>
                          <a:latin typeface="Times New Roman" pitchFamily="18" charset="0"/>
                          <a:ea typeface="SymbolProportionalBT-Regular" charset="-122"/>
                        </a:rPr>
                        <a:t>∩</a:t>
                      </a:r>
                      <a:r>
                        <a:rPr kumimoji="0" lang="en-US" altLang="zh-CN" sz="2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C</a:t>
                      </a:r>
                      <a:endParaRPr kumimoji="0" lang="en-US" altLang="zh-CN" sz="24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A</a:t>
                      </a:r>
                      <a:r>
                        <a:rPr kumimoji="0" lang="en-US" altLang="zh-CN" sz="2400" b="0" i="0" u="none" strike="noStrike" cap="none" normalizeH="0" baseline="0">
                          <a:ln>
                            <a:noFill/>
                          </a:ln>
                          <a:solidFill>
                            <a:schemeClr val="tx1"/>
                          </a:solidFill>
                          <a:effectLst/>
                          <a:latin typeface="Times New Roman" pitchFamily="18" charset="0"/>
                          <a:ea typeface="SymbolProportionalBT-Regular" charset="-122"/>
                        </a:rPr>
                        <a:t>∪</a:t>
                      </a:r>
                      <a:r>
                        <a:rPr kumimoji="0" lang="en-US" altLang="zh-CN" sz="2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B</a:t>
                      </a:r>
                      <a:endParaRPr kumimoji="0" lang="en-US" altLang="zh-CN" sz="24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A</a:t>
                      </a:r>
                      <a:r>
                        <a:rPr kumimoji="0" lang="en-US" altLang="zh-CN" sz="2400" b="0" i="0" u="none" strike="noStrike" cap="none" normalizeH="0" baseline="0">
                          <a:ln>
                            <a:noFill/>
                          </a:ln>
                          <a:solidFill>
                            <a:schemeClr val="tx1"/>
                          </a:solidFill>
                          <a:effectLst/>
                          <a:latin typeface="Times New Roman" pitchFamily="18" charset="0"/>
                          <a:ea typeface="SymbolProportionalBT-Regular" charset="-122"/>
                        </a:rPr>
                        <a:t>∪</a:t>
                      </a:r>
                      <a:r>
                        <a:rPr kumimoji="0" lang="en-US" altLang="zh-CN" sz="2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C</a:t>
                      </a:r>
                      <a:endParaRPr kumimoji="0" lang="en-US" altLang="zh-CN" sz="24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A</a:t>
                      </a:r>
                      <a:r>
                        <a:rPr kumimoji="0" lang="en-US" altLang="zh-CN" sz="2400" b="0" i="0" u="none" strike="noStrike" cap="none" normalizeH="0" baseline="0">
                          <a:ln>
                            <a:noFill/>
                          </a:ln>
                          <a:solidFill>
                            <a:schemeClr val="tx1"/>
                          </a:solidFill>
                          <a:effectLst/>
                          <a:latin typeface="Times New Roman" pitchFamily="18" charset="0"/>
                          <a:ea typeface="SymbolProportionalBT-Regular" charset="-122"/>
                        </a:rPr>
                        <a:t>∪</a:t>
                      </a:r>
                      <a:r>
                        <a:rPr kumimoji="0" lang="en-US" altLang="zh-CN" sz="2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(B</a:t>
                      </a:r>
                      <a:r>
                        <a:rPr kumimoji="0" lang="en-US" altLang="zh-CN" sz="2400" b="0" i="0" u="none" strike="noStrike" cap="none" normalizeH="0" baseline="0">
                          <a:ln>
                            <a:noFill/>
                          </a:ln>
                          <a:solidFill>
                            <a:schemeClr val="tx1"/>
                          </a:solidFill>
                          <a:effectLst/>
                          <a:latin typeface="Times New Roman" pitchFamily="18" charset="0"/>
                          <a:ea typeface="SymbolProportionalBT-Regular" charset="-122"/>
                        </a:rPr>
                        <a:t>∩</a:t>
                      </a:r>
                      <a:r>
                        <a:rPr kumimoji="0" lang="en-US" altLang="zh-CN" sz="2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C)</a:t>
                      </a:r>
                      <a:endParaRPr kumimoji="0" lang="en-US" altLang="zh-CN" sz="24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(A</a:t>
                      </a:r>
                      <a:r>
                        <a:rPr kumimoji="0" lang="en-US" altLang="zh-CN" sz="2400" b="0" i="0" u="none" strike="noStrike" cap="none" normalizeH="0" baseline="0">
                          <a:ln>
                            <a:noFill/>
                          </a:ln>
                          <a:solidFill>
                            <a:schemeClr val="tx1"/>
                          </a:solidFill>
                          <a:effectLst/>
                          <a:latin typeface="Times New Roman" pitchFamily="18" charset="0"/>
                          <a:ea typeface="SymbolProportionalBT-Regular" charset="-122"/>
                        </a:rPr>
                        <a:t>∪</a:t>
                      </a:r>
                      <a:r>
                        <a:rPr kumimoji="0" lang="en-US" altLang="zh-CN" sz="2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B)</a:t>
                      </a:r>
                      <a:r>
                        <a:rPr kumimoji="0" lang="en-US" altLang="zh-CN" sz="2400" b="0" i="0" u="none" strike="noStrike" cap="none" normalizeH="0" baseline="0">
                          <a:ln>
                            <a:noFill/>
                          </a:ln>
                          <a:solidFill>
                            <a:schemeClr val="tx1"/>
                          </a:solidFill>
                          <a:effectLst/>
                          <a:latin typeface="Times New Roman" pitchFamily="18" charset="0"/>
                          <a:ea typeface="SymbolProportionalBT-Regular" charset="-122"/>
                        </a:rPr>
                        <a:t>∩</a:t>
                      </a:r>
                      <a:r>
                        <a:rPr kumimoji="0" lang="en-US" altLang="zh-CN" sz="2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(A</a:t>
                      </a:r>
                      <a:r>
                        <a:rPr kumimoji="0" lang="en-US" altLang="zh-CN" sz="2400" b="0" i="0" u="none" strike="noStrike" cap="none" normalizeH="0" baseline="0">
                          <a:ln>
                            <a:noFill/>
                          </a:ln>
                          <a:solidFill>
                            <a:schemeClr val="tx1"/>
                          </a:solidFill>
                          <a:effectLst/>
                          <a:latin typeface="Times New Roman" pitchFamily="18" charset="0"/>
                          <a:ea typeface="SymbolProportionalBT-Regular" charset="-122"/>
                        </a:rPr>
                        <a:t>∪</a:t>
                      </a:r>
                      <a:r>
                        <a:rPr kumimoji="0" lang="en-US" altLang="zh-CN" sz="2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C)</a:t>
                      </a:r>
                      <a:endParaRPr kumimoji="0" lang="en-US" altLang="zh-CN" sz="24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25438">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0</a:t>
                      </a:r>
                      <a:endParaRPr kumimoji="0" lang="en-US" altLang="zh-CN" sz="24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0</a:t>
                      </a:r>
                      <a:endParaRPr kumimoji="0" lang="en-US" altLang="zh-CN" sz="24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0</a:t>
                      </a:r>
                      <a:endParaRPr kumimoji="0" lang="en-US" altLang="zh-CN" sz="24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0</a:t>
                      </a:r>
                      <a:endParaRPr kumimoji="0" lang="en-US" altLang="zh-CN" sz="24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0</a:t>
                      </a:r>
                      <a:endParaRPr kumimoji="0" lang="en-US" altLang="zh-CN" sz="24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0</a:t>
                      </a:r>
                      <a:endParaRPr kumimoji="0" lang="en-US" altLang="zh-CN" sz="24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0</a:t>
                      </a:r>
                      <a:endParaRPr kumimoji="0" lang="en-US" altLang="zh-CN" sz="24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0</a:t>
                      </a:r>
                      <a:endParaRPr kumimoji="0" lang="en-US" altLang="zh-CN" sz="24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23850">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0</a:t>
                      </a:r>
                      <a:endParaRPr kumimoji="0" lang="en-US" altLang="zh-CN" sz="24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0</a:t>
                      </a:r>
                      <a:endParaRPr kumimoji="0" lang="en-US" altLang="zh-CN" sz="24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1</a:t>
                      </a:r>
                      <a:endParaRPr kumimoji="0" lang="en-US" altLang="zh-CN" sz="24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0</a:t>
                      </a:r>
                      <a:endParaRPr kumimoji="0" lang="en-US" altLang="zh-CN" sz="24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0</a:t>
                      </a:r>
                      <a:endParaRPr kumimoji="0" lang="en-US" altLang="zh-CN" sz="24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1</a:t>
                      </a:r>
                      <a:endParaRPr kumimoji="0" lang="en-US" altLang="zh-CN" sz="24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0</a:t>
                      </a:r>
                      <a:endParaRPr kumimoji="0" lang="en-US" altLang="zh-CN" sz="24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0</a:t>
                      </a:r>
                      <a:endParaRPr kumimoji="0" lang="en-US" altLang="zh-CN" sz="24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23850">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0</a:t>
                      </a:r>
                      <a:endParaRPr kumimoji="0" lang="en-US" altLang="zh-CN" sz="24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1</a:t>
                      </a:r>
                      <a:endParaRPr kumimoji="0" lang="en-US" altLang="zh-CN" sz="24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0</a:t>
                      </a:r>
                      <a:endParaRPr kumimoji="0" lang="en-US" altLang="zh-CN" sz="24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0</a:t>
                      </a:r>
                      <a:endParaRPr kumimoji="0" lang="en-US" altLang="zh-CN" sz="24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1</a:t>
                      </a:r>
                      <a:endParaRPr kumimoji="0" lang="en-US" altLang="zh-CN" sz="24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0</a:t>
                      </a:r>
                      <a:endParaRPr kumimoji="0" lang="en-US" altLang="zh-CN" sz="24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0</a:t>
                      </a:r>
                      <a:endParaRPr kumimoji="0" lang="en-US" altLang="zh-CN" sz="24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0</a:t>
                      </a:r>
                      <a:endParaRPr kumimoji="0" lang="en-US" altLang="zh-CN" sz="24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25438">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0</a:t>
                      </a:r>
                      <a:endParaRPr kumimoji="0" lang="en-US" altLang="zh-CN" sz="24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1</a:t>
                      </a:r>
                      <a:endParaRPr kumimoji="0" lang="en-US" altLang="zh-CN" sz="24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1</a:t>
                      </a:r>
                      <a:endParaRPr kumimoji="0" lang="en-US" altLang="zh-CN" sz="24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1</a:t>
                      </a:r>
                      <a:endParaRPr kumimoji="0" lang="en-US" altLang="zh-CN" sz="24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1</a:t>
                      </a:r>
                      <a:endParaRPr kumimoji="0" lang="en-US" altLang="zh-CN" sz="24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1</a:t>
                      </a:r>
                      <a:endParaRPr kumimoji="0" lang="en-US" altLang="zh-CN" sz="24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1</a:t>
                      </a:r>
                      <a:endParaRPr kumimoji="0" lang="en-US" altLang="zh-CN" sz="24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1</a:t>
                      </a:r>
                      <a:endParaRPr kumimoji="0" lang="en-US" altLang="zh-CN" sz="24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23850">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1</a:t>
                      </a:r>
                      <a:endParaRPr kumimoji="0" lang="en-US" altLang="zh-CN" sz="24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0</a:t>
                      </a:r>
                      <a:endParaRPr kumimoji="0" lang="en-US" altLang="zh-CN" sz="24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0</a:t>
                      </a:r>
                      <a:endParaRPr kumimoji="0" lang="en-US" altLang="zh-CN" sz="24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0</a:t>
                      </a:r>
                      <a:endParaRPr kumimoji="0" lang="en-US" altLang="zh-CN" sz="24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1</a:t>
                      </a:r>
                      <a:endParaRPr kumimoji="0" lang="en-US" altLang="zh-CN" sz="24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1</a:t>
                      </a:r>
                      <a:endParaRPr kumimoji="0" lang="en-US" altLang="zh-CN" sz="24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1</a:t>
                      </a:r>
                      <a:endParaRPr kumimoji="0" lang="en-US" altLang="zh-CN" sz="24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1</a:t>
                      </a:r>
                      <a:endParaRPr kumimoji="0" lang="en-US" altLang="zh-CN" sz="24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23850">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1</a:t>
                      </a:r>
                      <a:endParaRPr kumimoji="0" lang="en-US" altLang="zh-CN" sz="24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0</a:t>
                      </a:r>
                      <a:endParaRPr kumimoji="0" lang="en-US" altLang="zh-CN" sz="24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1</a:t>
                      </a:r>
                      <a:endParaRPr kumimoji="0" lang="en-US" altLang="zh-CN" sz="24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0</a:t>
                      </a:r>
                      <a:endParaRPr kumimoji="0" lang="en-US" altLang="zh-CN" sz="24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1</a:t>
                      </a:r>
                      <a:endParaRPr kumimoji="0" lang="en-US" altLang="zh-CN" sz="24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1</a:t>
                      </a:r>
                      <a:endParaRPr kumimoji="0" lang="en-US" altLang="zh-CN" sz="24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1</a:t>
                      </a:r>
                      <a:endParaRPr kumimoji="0" lang="en-US" altLang="zh-CN" sz="24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1</a:t>
                      </a:r>
                      <a:endParaRPr kumimoji="0" lang="en-US" altLang="zh-CN" sz="24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25438">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1</a:t>
                      </a:r>
                      <a:endParaRPr kumimoji="0" lang="en-US" altLang="zh-CN" sz="24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1</a:t>
                      </a:r>
                      <a:endParaRPr kumimoji="0" lang="en-US" altLang="zh-CN" sz="24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0</a:t>
                      </a:r>
                      <a:endParaRPr kumimoji="0" lang="en-US" altLang="zh-CN" sz="24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0</a:t>
                      </a:r>
                      <a:endParaRPr kumimoji="0" lang="en-US" altLang="zh-CN" sz="24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1</a:t>
                      </a:r>
                      <a:endParaRPr kumimoji="0" lang="en-US" altLang="zh-CN" sz="24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1</a:t>
                      </a:r>
                      <a:endParaRPr kumimoji="0" lang="en-US" altLang="zh-CN" sz="24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1</a:t>
                      </a:r>
                      <a:endParaRPr kumimoji="0" lang="en-US" altLang="zh-CN" sz="24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1</a:t>
                      </a:r>
                      <a:endParaRPr kumimoji="0" lang="en-US" altLang="zh-CN" sz="24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23850">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1</a:t>
                      </a:r>
                      <a:endParaRPr kumimoji="0" lang="en-US" altLang="zh-CN" sz="24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1</a:t>
                      </a:r>
                      <a:endParaRPr kumimoji="0" lang="en-US" altLang="zh-CN" sz="24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1</a:t>
                      </a:r>
                      <a:endParaRPr kumimoji="0" lang="en-US" altLang="zh-CN" sz="24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1</a:t>
                      </a:r>
                      <a:endParaRPr kumimoji="0" lang="en-US" altLang="zh-CN" sz="24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1</a:t>
                      </a:r>
                      <a:endParaRPr kumimoji="0" lang="en-US" altLang="zh-CN" sz="24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1</a:t>
                      </a:r>
                      <a:endParaRPr kumimoji="0" lang="en-US" altLang="zh-CN" sz="24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1</a:t>
                      </a:r>
                      <a:endParaRPr kumimoji="0" lang="en-US" altLang="zh-CN" sz="2400" b="0" i="0" u="none" strike="noStrike" cap="none" normalizeH="0" baseline="0">
                        <a:ln>
                          <a:noFill/>
                        </a:ln>
                        <a:solidFill>
                          <a:schemeClr val="tx1"/>
                        </a:solidFill>
                        <a:effectLst/>
                        <a:latin typeface="Times New Roman" pitchFamily="18" charset="0"/>
                        <a:ea typeface="宋体"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1</a:t>
                      </a:r>
                      <a:endParaRPr kumimoji="0" lang="en-US" altLang="zh-CN" sz="2400" b="0" i="0" u="none" strike="noStrike" cap="none" normalizeH="0" baseline="0" dirty="0">
                        <a:ln>
                          <a:noFill/>
                        </a:ln>
                        <a:solidFill>
                          <a:schemeClr val="tx1"/>
                        </a:solidFill>
                        <a:effectLst/>
                        <a:latin typeface="Times New Roman" pitchFamily="18" charset="0"/>
                        <a:ea typeface="宋体"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8"/>
                  </a:ext>
                </a:extLst>
              </a:tr>
            </a:tbl>
          </a:graphicData>
        </a:graphic>
      </p:graphicFrame>
      <p:sp>
        <p:nvSpPr>
          <p:cNvPr id="4" name="Rectangle 2">
            <a:extLst>
              <a:ext uri="{FF2B5EF4-FFF2-40B4-BE49-F238E27FC236}">
                <a16:creationId xmlns:a16="http://schemas.microsoft.com/office/drawing/2014/main" id="{79759177-60C0-47C7-87FC-7045E26E4825}"/>
              </a:ext>
            </a:extLst>
          </p:cNvPr>
          <p:cNvSpPr txBox="1">
            <a:spLocks noChangeArrowheads="1"/>
          </p:cNvSpPr>
          <p:nvPr/>
        </p:nvSpPr>
        <p:spPr>
          <a:xfrm>
            <a:off x="983928" y="1125339"/>
            <a:ext cx="8352432" cy="1143000"/>
          </a:xfrm>
          <a:prstGeom prst="rect">
            <a:avLst/>
          </a:prstGeom>
        </p:spPr>
        <p:txBody>
          <a:bodyPr vert="horz" lIns="45720" tIns="0" rIns="45720" bIns="0" anchor="b" anchorCtr="0">
            <a:normAutofit/>
          </a:bodyPr>
          <a:lstStyle>
            <a:lvl1pPr algn="l" rtl="0" eaLnBrk="1" latinLnBrk="0" hangingPunct="1">
              <a:spcBef>
                <a:spcPct val="0"/>
              </a:spcBef>
              <a:buNone/>
              <a:defRPr kumimoji="0" sz="3800" b="1" kern="1200" cap="all" baseline="0">
                <a:ln w="500">
                  <a:solidFill>
                    <a:schemeClr val="tx2">
                      <a:shade val="20000"/>
                      <a:satMod val="120000"/>
                    </a:schemeClr>
                  </a:solidFill>
                </a:ln>
                <a:gradFill>
                  <a:gsLst>
                    <a:gs pos="0">
                      <a:schemeClr val="accent4">
                        <a:tint val="13000"/>
                      </a:schemeClr>
                    </a:gs>
                    <a:gs pos="10000">
                      <a:schemeClr val="accent4">
                        <a:tint val="20000"/>
                      </a:schemeClr>
                    </a:gs>
                    <a:gs pos="49000">
                      <a:schemeClr val="accent4">
                        <a:tint val="70000"/>
                      </a:schemeClr>
                    </a:gs>
                    <a:gs pos="50000">
                      <a:schemeClr val="accent4">
                        <a:tint val="97000"/>
                      </a:schemeClr>
                    </a:gs>
                    <a:gs pos="100000">
                      <a:schemeClr val="accent4">
                        <a:tint val="20000"/>
                      </a:schemeClr>
                    </a:gs>
                  </a:gsLst>
                  <a:lin ang="5400000" scaled="1"/>
                </a:gradFill>
                <a:effectLst/>
                <a:latin typeface="+mj-lt"/>
                <a:ea typeface="+mj-ea"/>
                <a:cs typeface="+mj-cs"/>
              </a:defRPr>
            </a:lvl1pPr>
            <a:extLst/>
          </a:lstStyle>
          <a:p>
            <a:r>
              <a:rPr lang="zh-CN" altLang="en-US" sz="2800" dirty="0">
                <a:solidFill>
                  <a:srgbClr val="3308E8"/>
                </a:solidFill>
              </a:rPr>
              <a:t>例</a:t>
            </a:r>
            <a:r>
              <a:rPr lang="en-US" altLang="zh-CN" sz="2800" dirty="0">
                <a:solidFill>
                  <a:srgbClr val="3308E8"/>
                </a:solidFill>
              </a:rPr>
              <a:t>1.44 </a:t>
            </a:r>
            <a:r>
              <a:rPr lang="zh-CN" altLang="en-US" sz="2800" dirty="0">
                <a:solidFill>
                  <a:schemeClr val="tx1"/>
                </a:solidFill>
              </a:rPr>
              <a:t>设</a:t>
            </a:r>
            <a:r>
              <a:rPr lang="en-US" altLang="zh-CN" sz="2800" dirty="0">
                <a:solidFill>
                  <a:schemeClr val="tx1"/>
                </a:solidFill>
              </a:rPr>
              <a:t>A</a:t>
            </a:r>
            <a:r>
              <a:rPr lang="zh-CN" altLang="en-US" sz="2800" dirty="0">
                <a:solidFill>
                  <a:schemeClr val="tx1"/>
                </a:solidFill>
              </a:rPr>
              <a:t>、</a:t>
            </a:r>
            <a:r>
              <a:rPr lang="en-US" altLang="zh-CN" sz="2800" dirty="0">
                <a:solidFill>
                  <a:schemeClr val="tx1"/>
                </a:solidFill>
              </a:rPr>
              <a:t>B</a:t>
            </a:r>
            <a:r>
              <a:rPr lang="zh-CN" altLang="en-US" sz="2800" dirty="0">
                <a:solidFill>
                  <a:schemeClr val="tx1"/>
                </a:solidFill>
              </a:rPr>
              <a:t>、</a:t>
            </a:r>
            <a:r>
              <a:rPr lang="en-US" altLang="zh-CN" sz="2800" dirty="0">
                <a:solidFill>
                  <a:schemeClr val="tx1"/>
                </a:solidFill>
              </a:rPr>
              <a:t>C</a:t>
            </a:r>
            <a:r>
              <a:rPr lang="zh-CN" altLang="en-US" sz="2800" dirty="0">
                <a:solidFill>
                  <a:schemeClr val="tx1"/>
                </a:solidFill>
              </a:rPr>
              <a:t>是任意三个集合，证明 </a:t>
            </a:r>
            <a:br>
              <a:rPr lang="zh-CN" altLang="en-US" sz="2800" dirty="0">
                <a:solidFill>
                  <a:schemeClr val="tx1"/>
                </a:solidFill>
              </a:rPr>
            </a:br>
            <a:r>
              <a:rPr lang="zh-CN" altLang="en-US" sz="2800" dirty="0">
                <a:solidFill>
                  <a:schemeClr val="tx1"/>
                </a:solidFill>
              </a:rPr>
              <a:t>          </a:t>
            </a:r>
            <a:r>
              <a:rPr lang="en-US" altLang="zh-CN" sz="3600" dirty="0">
                <a:solidFill>
                  <a:schemeClr val="tx1"/>
                </a:solidFill>
              </a:rPr>
              <a:t>A∪(B∩C) = (A∪B)∩(A∪C)</a:t>
            </a:r>
            <a:r>
              <a:rPr lang="en-US" altLang="zh-CN" sz="2800" dirty="0">
                <a:solidFill>
                  <a:schemeClr val="tx1"/>
                </a:solidFill>
              </a:rPr>
              <a:t> </a:t>
            </a:r>
          </a:p>
        </p:txBody>
      </p:sp>
    </p:spTree>
    <p:extLst>
      <p:ext uri="{BB962C8B-B14F-4D97-AF65-F5344CB8AC3E}">
        <p14:creationId xmlns:p14="http://schemas.microsoft.com/office/powerpoint/2010/main" val="488074366"/>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5B951417-CE20-40AA-8D80-89EAA23819B4}"/>
              </a:ext>
            </a:extLst>
          </p:cNvPr>
          <p:cNvSpPr>
            <a:spLocks noGrp="1"/>
          </p:cNvSpPr>
          <p:nvPr>
            <p:ph type="sldNum" sz="quarter" idx="12"/>
          </p:nvPr>
        </p:nvSpPr>
        <p:spPr/>
        <p:txBody>
          <a:bodyPr/>
          <a:lstStyle/>
          <a:p>
            <a:fld id="{0C913308-F349-4B6D-A68A-DD1791B4A57B}" type="slidenum">
              <a:rPr lang="zh-CN" altLang="en-US" smtClean="0"/>
              <a:pPr/>
              <a:t>73</a:t>
            </a:fld>
            <a:endParaRPr lang="zh-CN" altLang="en-US"/>
          </a:p>
        </p:txBody>
      </p:sp>
      <p:sp>
        <p:nvSpPr>
          <p:cNvPr id="3" name="Rectangle 47">
            <a:extLst>
              <a:ext uri="{FF2B5EF4-FFF2-40B4-BE49-F238E27FC236}">
                <a16:creationId xmlns:a16="http://schemas.microsoft.com/office/drawing/2014/main" id="{B6F5B2A8-8A91-49FE-A391-08606A7FCC8B}"/>
              </a:ext>
            </a:extLst>
          </p:cNvPr>
          <p:cNvSpPr txBox="1">
            <a:spLocks noChangeArrowheads="1"/>
          </p:cNvSpPr>
          <p:nvPr/>
        </p:nvSpPr>
        <p:spPr>
          <a:xfrm>
            <a:off x="360276" y="2038558"/>
            <a:ext cx="11471448" cy="3982730"/>
          </a:xfrm>
          <a:prstGeom prst="rect">
            <a:avLst/>
          </a:prstGeom>
          <a:ln>
            <a:solidFill>
              <a:schemeClr val="accent1"/>
            </a:solidFill>
          </a:ln>
        </p:spPr>
        <p:txBody>
          <a:bodyPr/>
          <a:lstStyle>
            <a:lvl1pPr marL="257175" indent="-257175" algn="l" defTabSz="685800" rtl="0" eaLnBrk="1" latinLnBrk="0" hangingPunct="1">
              <a:spcBef>
                <a:spcPct val="20000"/>
              </a:spcBef>
              <a:buFont typeface="Arial" pitchFamily="34" charset="0"/>
              <a:buChar char="•"/>
              <a:defRPr sz="2400" kern="1200">
                <a:solidFill>
                  <a:schemeClr val="tx1"/>
                </a:solidFill>
                <a:latin typeface="+mn-lt"/>
                <a:ea typeface="+mn-ea"/>
                <a:cs typeface="+mn-cs"/>
              </a:defRPr>
            </a:lvl1pPr>
            <a:lvl2pPr marL="557213" indent="-214313" algn="l" defTabSz="685800" rtl="0" eaLnBrk="1" latinLnBrk="0" hangingPunct="1">
              <a:spcBef>
                <a:spcPct val="20000"/>
              </a:spcBef>
              <a:buFont typeface="Arial" pitchFamily="34" charset="0"/>
              <a:buChar char="–"/>
              <a:defRPr sz="2100" kern="1200">
                <a:solidFill>
                  <a:schemeClr val="tx1"/>
                </a:solidFill>
                <a:latin typeface="+mn-lt"/>
                <a:ea typeface="+mn-ea"/>
                <a:cs typeface="+mn-cs"/>
              </a:defRPr>
            </a:lvl2pPr>
            <a:lvl3pPr marL="857250" indent="-171450" algn="l" defTabSz="685800" rtl="0" eaLnBrk="1" latinLnBrk="0" hangingPunct="1">
              <a:spcBef>
                <a:spcPct val="20000"/>
              </a:spcBef>
              <a:buFont typeface="Arial" pitchFamily="34" charset="0"/>
              <a:buChar char="•"/>
              <a:defRPr sz="1800" kern="1200">
                <a:solidFill>
                  <a:schemeClr val="tx1"/>
                </a:solidFill>
                <a:latin typeface="+mn-lt"/>
                <a:ea typeface="+mn-ea"/>
                <a:cs typeface="+mn-cs"/>
              </a:defRPr>
            </a:lvl3pPr>
            <a:lvl4pPr marL="12001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4pPr>
            <a:lvl5pPr marL="15430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a:lnSpc>
                <a:spcPct val="150000"/>
              </a:lnSpc>
              <a:buFontTx/>
              <a:buNone/>
            </a:pPr>
            <a:r>
              <a:rPr lang="en-US" altLang="zh-CN" sz="2800" dirty="0"/>
              <a:t>(1) </a:t>
            </a:r>
            <a:r>
              <a:rPr lang="zh-CN" altLang="en-US" sz="2800" dirty="0"/>
              <a:t>若集合是全集，则其成员表值必全为</a:t>
            </a:r>
            <a:r>
              <a:rPr lang="en-US" altLang="zh-CN" sz="2800" dirty="0"/>
              <a:t>1</a:t>
            </a:r>
            <a:r>
              <a:rPr lang="zh-CN" altLang="en-US" sz="2800" dirty="0"/>
              <a:t>，即所有集合都是它的成员；</a:t>
            </a:r>
          </a:p>
          <a:p>
            <a:pPr>
              <a:lnSpc>
                <a:spcPct val="150000"/>
              </a:lnSpc>
              <a:buFontTx/>
              <a:buNone/>
            </a:pPr>
            <a:r>
              <a:rPr lang="en-US" altLang="zh-CN" sz="2800" dirty="0"/>
              <a:t>(2) </a:t>
            </a:r>
            <a:r>
              <a:rPr lang="zh-CN" altLang="en-US" sz="2800" dirty="0"/>
              <a:t>若集合是空集，则其成员表值必全为</a:t>
            </a:r>
            <a:r>
              <a:rPr lang="en-US" altLang="zh-CN" sz="2800" dirty="0"/>
              <a:t>0</a:t>
            </a:r>
            <a:r>
              <a:rPr lang="zh-CN" altLang="en-US" sz="2800" dirty="0"/>
              <a:t>，即没有集合是它的成员；</a:t>
            </a:r>
          </a:p>
          <a:p>
            <a:pPr>
              <a:lnSpc>
                <a:spcPct val="150000"/>
              </a:lnSpc>
              <a:buFontTx/>
              <a:buNone/>
            </a:pPr>
            <a:r>
              <a:rPr lang="en-US" altLang="zh-CN" sz="2800" dirty="0"/>
              <a:t>(3) </a:t>
            </a:r>
            <a:r>
              <a:rPr lang="zh-CN" altLang="en-US" sz="2800" dirty="0"/>
              <a:t>若集合</a:t>
            </a:r>
            <a:r>
              <a:rPr lang="en-US" altLang="zh-CN" sz="2800" dirty="0"/>
              <a:t>A</a:t>
            </a:r>
            <a:r>
              <a:rPr lang="zh-CN" altLang="en-US" sz="2800" dirty="0"/>
              <a:t>和</a:t>
            </a:r>
            <a:r>
              <a:rPr lang="en-US" altLang="zh-CN" sz="2800" dirty="0"/>
              <a:t>B</a:t>
            </a:r>
            <a:r>
              <a:rPr lang="zh-CN" altLang="en-US" sz="2800" dirty="0"/>
              <a:t>相等，则它们的成员表对应行的值必相同；</a:t>
            </a:r>
          </a:p>
          <a:p>
            <a:pPr>
              <a:lnSpc>
                <a:spcPct val="150000"/>
              </a:lnSpc>
              <a:buFontTx/>
              <a:buNone/>
            </a:pPr>
            <a:r>
              <a:rPr lang="en-US" altLang="zh-CN" sz="2800" dirty="0"/>
              <a:t>(4) </a:t>
            </a:r>
            <a:r>
              <a:rPr lang="zh-CN" altLang="en-US" sz="2800" dirty="0"/>
              <a:t>若集合</a:t>
            </a:r>
            <a:r>
              <a:rPr lang="en-US" altLang="zh-CN" sz="2800" dirty="0"/>
              <a:t>A</a:t>
            </a:r>
            <a:r>
              <a:rPr lang="zh-CN" altLang="en-US" sz="2800" dirty="0"/>
              <a:t>是</a:t>
            </a:r>
            <a:r>
              <a:rPr lang="en-US" altLang="zh-CN" sz="2800" dirty="0"/>
              <a:t>B</a:t>
            </a:r>
            <a:r>
              <a:rPr lang="zh-CN" altLang="en-US" sz="2800" dirty="0"/>
              <a:t>的子集，则当</a:t>
            </a:r>
            <a:r>
              <a:rPr lang="en-US" altLang="zh-CN" sz="2800" dirty="0"/>
              <a:t>A</a:t>
            </a:r>
            <a:r>
              <a:rPr lang="zh-CN" altLang="en-US" sz="2800" dirty="0"/>
              <a:t>的值为</a:t>
            </a:r>
            <a:r>
              <a:rPr lang="en-US" altLang="zh-CN" sz="2800" dirty="0"/>
              <a:t>1</a:t>
            </a:r>
            <a:r>
              <a:rPr lang="zh-CN" altLang="en-US" sz="2800" dirty="0"/>
              <a:t>时，</a:t>
            </a:r>
            <a:r>
              <a:rPr lang="en-US" altLang="zh-CN" sz="2800" dirty="0"/>
              <a:t>B</a:t>
            </a:r>
            <a:r>
              <a:rPr lang="zh-CN" altLang="en-US" sz="2800" dirty="0"/>
              <a:t>的对应行的值必为</a:t>
            </a:r>
            <a:r>
              <a:rPr lang="en-US" altLang="zh-CN" sz="2800" dirty="0"/>
              <a:t>1</a:t>
            </a:r>
            <a:r>
              <a:rPr lang="zh-CN" altLang="en-US" sz="2800" dirty="0"/>
              <a:t>。 </a:t>
            </a:r>
          </a:p>
        </p:txBody>
      </p:sp>
      <p:sp>
        <p:nvSpPr>
          <p:cNvPr id="4" name="Rectangle 48">
            <a:extLst>
              <a:ext uri="{FF2B5EF4-FFF2-40B4-BE49-F238E27FC236}">
                <a16:creationId xmlns:a16="http://schemas.microsoft.com/office/drawing/2014/main" id="{713EEDB0-88EF-4AB9-8E48-A4F7105FB5A3}"/>
              </a:ext>
            </a:extLst>
          </p:cNvPr>
          <p:cNvSpPr txBox="1">
            <a:spLocks noChangeArrowheads="1"/>
          </p:cNvSpPr>
          <p:nvPr/>
        </p:nvSpPr>
        <p:spPr>
          <a:xfrm>
            <a:off x="1487488" y="1111030"/>
            <a:ext cx="8940824" cy="792088"/>
          </a:xfrm>
          <a:prstGeom prst="rect">
            <a:avLst/>
          </a:prstGeom>
          <a:noFill/>
          <a:ln/>
        </p:spPr>
        <p:txBody>
          <a:bodyPr/>
          <a:lstStyle>
            <a:lvl1pPr algn="ctr" defTabSz="685800" rtl="0" eaLnBrk="1" latinLnBrk="0" hangingPunct="1">
              <a:spcBef>
                <a:spcPct val="0"/>
              </a:spcBef>
              <a:buNone/>
              <a:defRPr sz="3300" kern="1200">
                <a:solidFill>
                  <a:schemeClr val="tx1"/>
                </a:solidFill>
                <a:latin typeface="+mj-lt"/>
                <a:ea typeface="+mj-ea"/>
                <a:cs typeface="+mj-cs"/>
              </a:defRPr>
            </a:lvl1pPr>
          </a:lstStyle>
          <a:p>
            <a:r>
              <a:rPr lang="zh-CN" altLang="en-US" sz="3200" dirty="0"/>
              <a:t>利用成员表可以判断集合的性质与集合间的关系。</a:t>
            </a:r>
          </a:p>
        </p:txBody>
      </p:sp>
    </p:spTree>
    <p:extLst>
      <p:ext uri="{BB962C8B-B14F-4D97-AF65-F5344CB8AC3E}">
        <p14:creationId xmlns:p14="http://schemas.microsoft.com/office/powerpoint/2010/main" val="3432262556"/>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5B951417-CE20-40AA-8D80-89EAA23819B4}"/>
              </a:ext>
            </a:extLst>
          </p:cNvPr>
          <p:cNvSpPr>
            <a:spLocks noGrp="1"/>
          </p:cNvSpPr>
          <p:nvPr>
            <p:ph type="sldNum" sz="quarter" idx="12"/>
          </p:nvPr>
        </p:nvSpPr>
        <p:spPr/>
        <p:txBody>
          <a:bodyPr/>
          <a:lstStyle/>
          <a:p>
            <a:fld id="{0C913308-F349-4B6D-A68A-DD1791B4A57B}" type="slidenum">
              <a:rPr lang="zh-CN" altLang="en-US" smtClean="0"/>
              <a:pPr/>
              <a:t>74</a:t>
            </a:fld>
            <a:endParaRPr lang="zh-CN" altLang="en-US"/>
          </a:p>
        </p:txBody>
      </p:sp>
      <p:graphicFrame>
        <p:nvGraphicFramePr>
          <p:cNvPr id="5" name="Object 4">
            <a:extLst>
              <a:ext uri="{FF2B5EF4-FFF2-40B4-BE49-F238E27FC236}">
                <a16:creationId xmlns:a16="http://schemas.microsoft.com/office/drawing/2014/main" id="{6D18D0EF-7B10-4389-A8F8-427223771587}"/>
              </a:ext>
            </a:extLst>
          </p:cNvPr>
          <p:cNvGraphicFramePr>
            <a:graphicFrameLocks/>
          </p:cNvGraphicFramePr>
          <p:nvPr>
            <p:extLst>
              <p:ext uri="{D42A27DB-BD31-4B8C-83A1-F6EECF244321}">
                <p14:modId xmlns:p14="http://schemas.microsoft.com/office/powerpoint/2010/main" val="2981824948"/>
              </p:ext>
            </p:extLst>
          </p:nvPr>
        </p:nvGraphicFramePr>
        <p:xfrm>
          <a:off x="3719736" y="1268760"/>
          <a:ext cx="3636541" cy="3632490"/>
        </p:xfrm>
        <a:graphic>
          <a:graphicData uri="http://schemas.openxmlformats.org/presentationml/2006/ole">
            <mc:AlternateContent xmlns:mc="http://schemas.openxmlformats.org/markup-compatibility/2006">
              <mc:Choice xmlns:v="urn:schemas-microsoft-com:vml" Requires="v">
                <p:oleObj spid="_x0000_s6161" name="Clip" r:id="rId3" imgW="7833960" imgH="7839000" progId="MS_ClipArt_Gallery.2">
                  <p:embed/>
                </p:oleObj>
              </mc:Choice>
              <mc:Fallback>
                <p:oleObj name="Clip" r:id="rId3" imgW="7833960" imgH="7839000" progId="MS_ClipArt_Gallery.2">
                  <p:embed/>
                  <p:pic>
                    <p:nvPicPr>
                      <p:cNvPr id="79876" name="Object 4">
                        <a:extLst>
                          <a:ext uri="{FF2B5EF4-FFF2-40B4-BE49-F238E27FC236}">
                            <a16:creationId xmlns:a16="http://schemas.microsoft.com/office/drawing/2014/main" id="{D1BDB82C-D2D8-42D8-B310-3403ACFE77CF}"/>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19736" y="1268760"/>
                        <a:ext cx="3636541" cy="3632490"/>
                      </a:xfrm>
                      <a:prstGeom prst="rect">
                        <a:avLst/>
                      </a:prstGeom>
                      <a:noFill/>
                      <a:ln>
                        <a:noFill/>
                      </a:ln>
                      <a:effectLst/>
                    </p:spPr>
                  </p:pic>
                </p:oleObj>
              </mc:Fallback>
            </mc:AlternateContent>
          </a:graphicData>
        </a:graphic>
      </p:graphicFrame>
      <p:sp>
        <p:nvSpPr>
          <p:cNvPr id="6" name="Rectangle 3">
            <a:extLst>
              <a:ext uri="{FF2B5EF4-FFF2-40B4-BE49-F238E27FC236}">
                <a16:creationId xmlns:a16="http://schemas.microsoft.com/office/drawing/2014/main" id="{23FF18A0-764C-490A-A990-682FFC75C696}"/>
              </a:ext>
            </a:extLst>
          </p:cNvPr>
          <p:cNvSpPr txBox="1">
            <a:spLocks noChangeArrowheads="1"/>
          </p:cNvSpPr>
          <p:nvPr/>
        </p:nvSpPr>
        <p:spPr>
          <a:xfrm>
            <a:off x="1775520" y="5137153"/>
            <a:ext cx="8077200" cy="1219200"/>
          </a:xfrm>
          <a:prstGeom prst="rect">
            <a:avLst/>
          </a:prstGeom>
          <a:noFill/>
          <a:ln>
            <a:noFill/>
          </a:ln>
          <a:extLst>
            <a:ext uri="{91240B29-F687-4F45-9708-019B960494DF}">
              <a14:hiddenLine xmlns:a14="http://schemas.microsoft.com/office/drawing/2010/main" w="57150">
                <a:solidFill>
                  <a:srgbClr val="5F5F5F"/>
                </a:solidFill>
                <a:miter lim="800000"/>
                <a:headEnd/>
                <a:tailEnd/>
              </a14:hiddenLine>
            </a:ext>
          </a:extLst>
        </p:spPr>
        <p:txBody>
          <a:bodyPr lIns="92075" tIns="46038" rIns="92075" bIns="46038"/>
          <a:lstStyle>
            <a:lvl1pPr marL="257175" indent="-257175" algn="l" defTabSz="685800" rtl="0" eaLnBrk="1" latinLnBrk="0" hangingPunct="1">
              <a:spcBef>
                <a:spcPct val="20000"/>
              </a:spcBef>
              <a:buFont typeface="Arial" pitchFamily="34" charset="0"/>
              <a:buChar char="•"/>
              <a:defRPr sz="2400" kern="1200">
                <a:solidFill>
                  <a:schemeClr val="tx1"/>
                </a:solidFill>
                <a:latin typeface="+mn-lt"/>
                <a:ea typeface="+mn-ea"/>
                <a:cs typeface="+mn-cs"/>
              </a:defRPr>
            </a:lvl1pPr>
            <a:lvl2pPr marL="557213" indent="-214313" algn="l" defTabSz="685800" rtl="0" eaLnBrk="1" latinLnBrk="0" hangingPunct="1">
              <a:spcBef>
                <a:spcPct val="20000"/>
              </a:spcBef>
              <a:buFont typeface="Arial" pitchFamily="34" charset="0"/>
              <a:buChar char="–"/>
              <a:defRPr sz="2100" kern="1200">
                <a:solidFill>
                  <a:schemeClr val="tx1"/>
                </a:solidFill>
                <a:latin typeface="+mn-lt"/>
                <a:ea typeface="+mn-ea"/>
                <a:cs typeface="+mn-cs"/>
              </a:defRPr>
            </a:lvl2pPr>
            <a:lvl3pPr marL="857250" indent="-171450" algn="l" defTabSz="685800" rtl="0" eaLnBrk="1" latinLnBrk="0" hangingPunct="1">
              <a:spcBef>
                <a:spcPct val="20000"/>
              </a:spcBef>
              <a:buFont typeface="Arial" pitchFamily="34" charset="0"/>
              <a:buChar char="•"/>
              <a:defRPr sz="1800" kern="1200">
                <a:solidFill>
                  <a:schemeClr val="tx1"/>
                </a:solidFill>
                <a:latin typeface="+mn-lt"/>
                <a:ea typeface="+mn-ea"/>
                <a:cs typeface="+mn-cs"/>
              </a:defRPr>
            </a:lvl3pPr>
            <a:lvl4pPr marL="12001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4pPr>
            <a:lvl5pPr marL="15430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algn="ctr">
              <a:lnSpc>
                <a:spcPct val="90000"/>
              </a:lnSpc>
              <a:buFont typeface="Wingdings" panose="05000000000000000000" pitchFamily="2" charset="2"/>
              <a:buNone/>
            </a:pPr>
            <a:r>
              <a:rPr lang="en-US" altLang="zh-CN" sz="7200" dirty="0">
                <a:solidFill>
                  <a:schemeClr val="hlink"/>
                </a:solidFill>
                <a:effectLst>
                  <a:outerShdw blurRad="38100" dist="38100" dir="2700000" algn="tl">
                    <a:srgbClr val="C0C0C0"/>
                  </a:outerShdw>
                </a:effectLst>
                <a:latin typeface="Arial" panose="020B0604020202020204" pitchFamily="34" charset="0"/>
              </a:rPr>
              <a:t>Thank you !!!</a:t>
            </a:r>
            <a:endParaRPr lang="en-US" altLang="zh-CN" sz="1600" dirty="0"/>
          </a:p>
        </p:txBody>
      </p:sp>
    </p:spTree>
    <p:extLst>
      <p:ext uri="{BB962C8B-B14F-4D97-AF65-F5344CB8AC3E}">
        <p14:creationId xmlns:p14="http://schemas.microsoft.com/office/powerpoint/2010/main" val="1374577395"/>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5770</TotalTime>
  <Words>7569</Words>
  <Application>Microsoft Office PowerPoint</Application>
  <PresentationFormat>宽屏</PresentationFormat>
  <Paragraphs>588</Paragraphs>
  <Slides>74</Slides>
  <Notes>0</Notes>
  <HiddenSlides>0</HiddenSlides>
  <MMClips>0</MMClips>
  <ScaleCrop>false</ScaleCrop>
  <HeadingPairs>
    <vt:vector size="8" baseType="variant">
      <vt:variant>
        <vt:lpstr>已用的字体</vt:lpstr>
      </vt:variant>
      <vt:variant>
        <vt:i4>12</vt:i4>
      </vt:variant>
      <vt:variant>
        <vt:lpstr>主题</vt:lpstr>
      </vt:variant>
      <vt:variant>
        <vt:i4>1</vt:i4>
      </vt:variant>
      <vt:variant>
        <vt:lpstr>嵌入 OLE 服务器</vt:lpstr>
      </vt:variant>
      <vt:variant>
        <vt:i4>2</vt:i4>
      </vt:variant>
      <vt:variant>
        <vt:lpstr>幻灯片标题</vt:lpstr>
      </vt:variant>
      <vt:variant>
        <vt:i4>74</vt:i4>
      </vt:variant>
    </vt:vector>
  </HeadingPairs>
  <TitlesOfParts>
    <vt:vector size="89" baseType="lpstr">
      <vt:lpstr>Arial Unicode MS</vt:lpstr>
      <vt:lpstr>楷体</vt:lpstr>
      <vt:lpstr>宋体</vt:lpstr>
      <vt:lpstr>微软雅黑</vt:lpstr>
      <vt:lpstr>Arial</vt:lpstr>
      <vt:lpstr>Calibri</vt:lpstr>
      <vt:lpstr>Cambria Math</vt:lpstr>
      <vt:lpstr>Impact</vt:lpstr>
      <vt:lpstr>Sitka Banner</vt:lpstr>
      <vt:lpstr>Tahoma</vt:lpstr>
      <vt:lpstr>Times New Roman</vt:lpstr>
      <vt:lpstr>Wingdings</vt:lpstr>
      <vt:lpstr>Office 主题</vt:lpstr>
      <vt:lpstr>公式</vt:lpstr>
      <vt:lpstr>Clip</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Dell</dc:creator>
  <cp:lastModifiedBy>xiemp@126.com</cp:lastModifiedBy>
  <cp:revision>584</cp:revision>
  <dcterms:created xsi:type="dcterms:W3CDTF">2014-06-18T03:25:23Z</dcterms:created>
  <dcterms:modified xsi:type="dcterms:W3CDTF">2025-02-27T12:29:06Z</dcterms:modified>
</cp:coreProperties>
</file>