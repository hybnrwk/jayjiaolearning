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48" d="100"/>
          <a:sy n="48" d="100"/>
        </p:scale>
        <p:origin x="-1218"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直接连接符 6"/>
          <p:cNvSpPr>
            <a:spLocks noChangeShapeType="1"/>
          </p:cNvSpPr>
          <p:nvPr/>
        </p:nvSpPr>
        <p:spPr bwMode="auto">
          <a:xfrm>
            <a:off x="514350" y="5349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9" name="标题 28"/>
          <p:cNvSpPr>
            <a:spLocks noGrp="1"/>
          </p:cNvSpPr>
          <p:nvPr>
            <p:ph type="ctrTitle"/>
          </p:nvPr>
        </p:nvSpPr>
        <p:spPr>
          <a:xfrm>
            <a:off x="381000" y="4853411"/>
            <a:ext cx="8458200" cy="1222375"/>
          </a:xfrm>
        </p:spPr>
        <p:txBody>
          <a:bodyPr anchor="t"/>
          <a:lstStyle/>
          <a:p>
            <a:r>
              <a:rPr kumimoji="0" lang="zh-CN" altLang="en-US" smtClean="0"/>
              <a:t>单击此处编辑母版标题样式</a:t>
            </a:r>
            <a:endParaRPr kumimoji="0" lang="en-US"/>
          </a:p>
        </p:txBody>
      </p:sp>
      <p:sp>
        <p:nvSpPr>
          <p:cNvPr id="9" name="副标题 8"/>
          <p:cNvSpPr>
            <a:spLocks noGrp="1"/>
          </p:cNvSpPr>
          <p:nvPr>
            <p:ph type="subTitle" idx="1"/>
          </p:nvPr>
        </p:nvSpPr>
        <p:spPr>
          <a:xfrm>
            <a:off x="381000" y="3886200"/>
            <a:ext cx="8458200" cy="914400"/>
          </a:xfrm>
        </p:spPr>
        <p:txBody>
          <a:bodyPr anchor="b"/>
          <a:lstStyle>
            <a:lvl1pPr marL="0" indent="0" algn="l">
              <a:buNone/>
              <a:defRPr sz="2400">
                <a:solidFill>
                  <a:schemeClr val="tx2">
                    <a:shade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smtClean="0"/>
              <a:t>单击此处编辑母版副标题样式</a:t>
            </a:r>
            <a:endParaRPr kumimoji="0" lang="en-US"/>
          </a:p>
        </p:txBody>
      </p:sp>
      <p:sp>
        <p:nvSpPr>
          <p:cNvPr id="16" name="日期占位符 15"/>
          <p:cNvSpPr>
            <a:spLocks noGrp="1"/>
          </p:cNvSpPr>
          <p:nvPr>
            <p:ph type="dt" sz="half" idx="10"/>
          </p:nvPr>
        </p:nvSpPr>
        <p:spPr/>
        <p:txBody>
          <a:bodyPr/>
          <a:lstStyle/>
          <a:p>
            <a:fld id="{A8F7DF1A-77F9-4CE1-AFE8-C2A859F1887C}" type="datetimeFigureOut">
              <a:rPr lang="zh-CN" altLang="en-US" smtClean="0"/>
              <a:t>2017/5/14</a:t>
            </a:fld>
            <a:endParaRPr lang="zh-CN" altLang="en-US"/>
          </a:p>
        </p:txBody>
      </p:sp>
      <p:sp>
        <p:nvSpPr>
          <p:cNvPr id="2" name="页脚占位符 1"/>
          <p:cNvSpPr>
            <a:spLocks noGrp="1"/>
          </p:cNvSpPr>
          <p:nvPr>
            <p:ph type="ftr" sz="quarter" idx="11"/>
          </p:nvPr>
        </p:nvSpPr>
        <p:spPr/>
        <p:txBody>
          <a:bodyPr/>
          <a:lstStyle/>
          <a:p>
            <a:endParaRPr lang="zh-CN" altLang="en-US"/>
          </a:p>
        </p:txBody>
      </p:sp>
      <p:sp>
        <p:nvSpPr>
          <p:cNvPr id="15" name="灯片编号占位符 14"/>
          <p:cNvSpPr>
            <a:spLocks noGrp="1"/>
          </p:cNvSpPr>
          <p:nvPr>
            <p:ph type="sldNum" sz="quarter" idx="12"/>
          </p:nvPr>
        </p:nvSpPr>
        <p:spPr>
          <a:xfrm>
            <a:off x="8229600" y="6473952"/>
            <a:ext cx="758952" cy="246888"/>
          </a:xfrm>
        </p:spPr>
        <p:txBody>
          <a:bodyPr/>
          <a:lstStyle/>
          <a:p>
            <a:fld id="{4CAB1775-10A9-4934-8A3A-054A0517D9C1}"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2" name="标题 21"/>
          <p:cNvSpPr>
            <a:spLocks noGrp="1"/>
          </p:cNvSpPr>
          <p:nvPr>
            <p:ph type="title"/>
          </p:nvPr>
        </p:nvSpPr>
        <p:spPr/>
        <p:txBody>
          <a:bodyPr/>
          <a:lstStyle/>
          <a:p>
            <a:r>
              <a:rPr kumimoji="0" lang="zh-CN" altLang="en-US" smtClean="0"/>
              <a:t>单击此处编辑母版标题样式</a:t>
            </a:r>
            <a:endParaRPr kumimoji="0" lang="en-US"/>
          </a:p>
        </p:txBody>
      </p:sp>
      <p:sp>
        <p:nvSpPr>
          <p:cNvPr id="27" name="内容占位符 26"/>
          <p:cNvSpPr>
            <a:spLocks noGrp="1"/>
          </p:cNvSpPr>
          <p:nvPr>
            <p:ph idx="1"/>
          </p:nvPr>
        </p:nvSpPr>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25" name="日期占位符 24"/>
          <p:cNvSpPr>
            <a:spLocks noGrp="1"/>
          </p:cNvSpPr>
          <p:nvPr>
            <p:ph type="dt" sz="half" idx="10"/>
          </p:nvPr>
        </p:nvSpPr>
        <p:spPr/>
        <p:txBody>
          <a:bodyPr/>
          <a:lstStyle/>
          <a:p>
            <a:fld id="{A8F7DF1A-77F9-4CE1-AFE8-C2A859F1887C}" type="datetimeFigureOut">
              <a:rPr lang="zh-CN" altLang="en-US" smtClean="0"/>
              <a:t>2017/5/14</a:t>
            </a:fld>
            <a:endParaRPr lang="zh-CN" altLang="en-US"/>
          </a:p>
        </p:txBody>
      </p:sp>
      <p:sp>
        <p:nvSpPr>
          <p:cNvPr id="19" name="页脚占位符 18"/>
          <p:cNvSpPr>
            <a:spLocks noGrp="1"/>
          </p:cNvSpPr>
          <p:nvPr>
            <p:ph type="ftr" sz="quarter" idx="11"/>
          </p:nvPr>
        </p:nvSpPr>
        <p:spPr>
          <a:xfrm>
            <a:off x="3581400" y="76200"/>
            <a:ext cx="2895600" cy="288925"/>
          </a:xfrm>
        </p:spPr>
        <p:txBody>
          <a:bodyPr/>
          <a:lstStyle/>
          <a:p>
            <a:endParaRPr lang="zh-CN" altLang="en-US"/>
          </a:p>
        </p:txBody>
      </p:sp>
      <p:sp>
        <p:nvSpPr>
          <p:cNvPr id="16" name="灯片编号占位符 15"/>
          <p:cNvSpPr>
            <a:spLocks noGrp="1"/>
          </p:cNvSpPr>
          <p:nvPr>
            <p:ph type="sldNum" sz="quarter" idx="12"/>
          </p:nvPr>
        </p:nvSpPr>
        <p:spPr>
          <a:xfrm>
            <a:off x="8229600" y="6473952"/>
            <a:ext cx="758952" cy="246888"/>
          </a:xfrm>
        </p:spPr>
        <p:txBody>
          <a:bodyPr/>
          <a:lstStyle/>
          <a:p>
            <a:fld id="{4CAB1775-10A9-4934-8A3A-054A0517D9C1}"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Ref idx="1003">
        <a:schemeClr val="bg2"/>
      </p:bgRef>
    </p:bg>
    <p:spTree>
      <p:nvGrpSpPr>
        <p:cNvPr id="1" name=""/>
        <p:cNvGrpSpPr/>
        <p:nvPr/>
      </p:nvGrpSpPr>
      <p:grpSpPr>
        <a:xfrm>
          <a:off x="0" y="0"/>
          <a:ext cx="0" cy="0"/>
          <a:chOff x="0" y="0"/>
          <a:chExt cx="0" cy="0"/>
        </a:xfrm>
      </p:grpSpPr>
      <p:sp>
        <p:nvSpPr>
          <p:cNvPr id="7" name="直接连接符 6"/>
          <p:cNvSpPr>
            <a:spLocks noChangeShapeType="1"/>
          </p:cNvSpPr>
          <p:nvPr/>
        </p:nvSpPr>
        <p:spPr bwMode="auto">
          <a:xfrm>
            <a:off x="514350" y="3444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文本占位符 5"/>
          <p:cNvSpPr>
            <a:spLocks noGrp="1"/>
          </p:cNvSpPr>
          <p:nvPr>
            <p:ph type="body" idx="1"/>
          </p:nvPr>
        </p:nvSpPr>
        <p:spPr>
          <a:xfrm>
            <a:off x="381000" y="1676400"/>
            <a:ext cx="8458200" cy="1219200"/>
          </a:xfrm>
        </p:spPr>
        <p:txBody>
          <a:bodyPr anchor="b"/>
          <a:lstStyle>
            <a:lvl1pPr marL="0" indent="0" algn="r">
              <a:buNone/>
              <a:defRPr sz="2000">
                <a:solidFill>
                  <a:schemeClr val="tx2">
                    <a:shade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smtClean="0"/>
              <a:t>单击此处编辑母版文本样式</a:t>
            </a:r>
          </a:p>
        </p:txBody>
      </p:sp>
      <p:sp>
        <p:nvSpPr>
          <p:cNvPr id="19" name="日期占位符 18"/>
          <p:cNvSpPr>
            <a:spLocks noGrp="1"/>
          </p:cNvSpPr>
          <p:nvPr>
            <p:ph type="dt" sz="half" idx="10"/>
          </p:nvPr>
        </p:nvSpPr>
        <p:spPr/>
        <p:txBody>
          <a:bodyPr/>
          <a:lstStyle/>
          <a:p>
            <a:fld id="{A8F7DF1A-77F9-4CE1-AFE8-C2A859F1887C}" type="datetimeFigureOut">
              <a:rPr lang="zh-CN" altLang="en-US" smtClean="0"/>
              <a:t>2017/5/14</a:t>
            </a:fld>
            <a:endParaRPr lang="zh-CN" altLang="en-US"/>
          </a:p>
        </p:txBody>
      </p:sp>
      <p:sp>
        <p:nvSpPr>
          <p:cNvPr id="11" name="页脚占位符 10"/>
          <p:cNvSpPr>
            <a:spLocks noGrp="1"/>
          </p:cNvSpPr>
          <p:nvPr>
            <p:ph type="ftr" sz="quarter" idx="11"/>
          </p:nvPr>
        </p:nvSpPr>
        <p:spPr/>
        <p:txBody>
          <a:bodyPr/>
          <a:lstStyle/>
          <a:p>
            <a:endParaRPr lang="zh-CN" altLang="en-US"/>
          </a:p>
        </p:txBody>
      </p:sp>
      <p:sp>
        <p:nvSpPr>
          <p:cNvPr id="16" name="灯片编号占位符 15"/>
          <p:cNvSpPr>
            <a:spLocks noGrp="1"/>
          </p:cNvSpPr>
          <p:nvPr>
            <p:ph type="sldNum" sz="quarter" idx="12"/>
          </p:nvPr>
        </p:nvSpPr>
        <p:spPr/>
        <p:txBody>
          <a:bodyPr/>
          <a:lstStyle/>
          <a:p>
            <a:fld id="{4CAB1775-10A9-4934-8A3A-054A0517D9C1}" type="slidenum">
              <a:rPr lang="zh-CN" altLang="en-US" smtClean="0"/>
              <a:t>‹#›</a:t>
            </a:fld>
            <a:endParaRPr lang="zh-CN" altLang="en-US"/>
          </a:p>
        </p:txBody>
      </p:sp>
      <p:sp>
        <p:nvSpPr>
          <p:cNvPr id="8" name="标题 7"/>
          <p:cNvSpPr>
            <a:spLocks noGrp="1"/>
          </p:cNvSpPr>
          <p:nvPr>
            <p:ph type="title"/>
          </p:nvPr>
        </p:nvSpPr>
        <p:spPr>
          <a:xfrm>
            <a:off x="180475" y="2947085"/>
            <a:ext cx="8686800" cy="1184825"/>
          </a:xfrm>
        </p:spPr>
        <p:txBody>
          <a:bodyPr rtlCol="0" anchor="t"/>
          <a:lstStyle>
            <a:lvl1pPr algn="r">
              <a:defRPr/>
            </a:lvl1pPr>
          </a:lstStyle>
          <a:p>
            <a:r>
              <a:rPr kumimoji="0" lang="zh-CN" altLang="en-US" smtClean="0"/>
              <a:t>单击此处编辑母版标题样式</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0" name="标题 19"/>
          <p:cNvSpPr>
            <a:spLocks noGrp="1"/>
          </p:cNvSpPr>
          <p:nvPr>
            <p:ph type="title"/>
          </p:nvPr>
        </p:nvSpPr>
        <p:spPr>
          <a:xfrm>
            <a:off x="301752" y="457200"/>
            <a:ext cx="8686800" cy="841248"/>
          </a:xfrm>
        </p:spPr>
        <p:txBody>
          <a:bodyPr/>
          <a:lstStyle/>
          <a:p>
            <a:r>
              <a:rPr kumimoji="0" lang="zh-CN" altLang="en-US" smtClean="0"/>
              <a:t>单击此处编辑母版标题样式</a:t>
            </a:r>
            <a:endParaRPr kumimoji="0" lang="en-US"/>
          </a:p>
        </p:txBody>
      </p:sp>
      <p:sp>
        <p:nvSpPr>
          <p:cNvPr id="14" name="内容占位符 13"/>
          <p:cNvSpPr>
            <a:spLocks noGrp="1"/>
          </p:cNvSpPr>
          <p:nvPr>
            <p:ph sz="half" idx="1"/>
          </p:nvPr>
        </p:nvSpPr>
        <p:spPr>
          <a:xfrm>
            <a:off x="304800" y="1600200"/>
            <a:ext cx="4191000" cy="4724400"/>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13" name="内容占位符 12"/>
          <p:cNvSpPr>
            <a:spLocks noGrp="1"/>
          </p:cNvSpPr>
          <p:nvPr>
            <p:ph sz="half" idx="2"/>
          </p:nvPr>
        </p:nvSpPr>
        <p:spPr>
          <a:xfrm>
            <a:off x="4648200" y="1600200"/>
            <a:ext cx="4343400" cy="4724400"/>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21" name="日期占位符 20"/>
          <p:cNvSpPr>
            <a:spLocks noGrp="1"/>
          </p:cNvSpPr>
          <p:nvPr>
            <p:ph type="dt" sz="half" idx="10"/>
          </p:nvPr>
        </p:nvSpPr>
        <p:spPr/>
        <p:txBody>
          <a:bodyPr/>
          <a:lstStyle/>
          <a:p>
            <a:fld id="{A8F7DF1A-77F9-4CE1-AFE8-C2A859F1887C}" type="datetimeFigureOut">
              <a:rPr lang="zh-CN" altLang="en-US" smtClean="0"/>
              <a:t>2017/5/14</a:t>
            </a:fld>
            <a:endParaRPr lang="zh-CN" altLang="en-US"/>
          </a:p>
        </p:txBody>
      </p:sp>
      <p:sp>
        <p:nvSpPr>
          <p:cNvPr id="10" name="页脚占位符 9"/>
          <p:cNvSpPr>
            <a:spLocks noGrp="1"/>
          </p:cNvSpPr>
          <p:nvPr>
            <p:ph type="ftr" sz="quarter" idx="11"/>
          </p:nvPr>
        </p:nvSpPr>
        <p:spPr/>
        <p:txBody>
          <a:bodyPr/>
          <a:lstStyle/>
          <a:p>
            <a:endParaRPr lang="zh-CN" altLang="en-US"/>
          </a:p>
        </p:txBody>
      </p:sp>
      <p:sp>
        <p:nvSpPr>
          <p:cNvPr id="31" name="灯片编号占位符 30"/>
          <p:cNvSpPr>
            <a:spLocks noGrp="1"/>
          </p:cNvSpPr>
          <p:nvPr>
            <p:ph type="sldNum" sz="quarter" idx="12"/>
          </p:nvPr>
        </p:nvSpPr>
        <p:spPr/>
        <p:txBody>
          <a:bodyPr/>
          <a:lstStyle/>
          <a:p>
            <a:fld id="{4CAB1775-10A9-4934-8A3A-054A0517D9C1}"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9" name="标题 28"/>
          <p:cNvSpPr>
            <a:spLocks noGrp="1"/>
          </p:cNvSpPr>
          <p:nvPr>
            <p:ph type="title"/>
          </p:nvPr>
        </p:nvSpPr>
        <p:spPr>
          <a:xfrm>
            <a:off x="304800" y="5410200"/>
            <a:ext cx="8610600" cy="882650"/>
          </a:xfrm>
        </p:spPr>
        <p:txBody>
          <a:bodyPr anchor="ctr"/>
          <a:lstStyle>
            <a:lvl1pPr>
              <a:defRPr/>
            </a:lvl1pPr>
          </a:lstStyle>
          <a:p>
            <a:r>
              <a:rPr kumimoji="0" lang="zh-CN" altLang="en-US" smtClean="0"/>
              <a:t>单击此处编辑母版标题样式</a:t>
            </a:r>
            <a:endParaRPr kumimoji="0" lang="en-US"/>
          </a:p>
        </p:txBody>
      </p:sp>
      <p:sp>
        <p:nvSpPr>
          <p:cNvPr id="13" name="文本占位符 12"/>
          <p:cNvSpPr>
            <a:spLocks noGrp="1"/>
          </p:cNvSpPr>
          <p:nvPr>
            <p:ph type="body" idx="1"/>
          </p:nvPr>
        </p:nvSpPr>
        <p:spPr>
          <a:xfrm>
            <a:off x="281444" y="666750"/>
            <a:ext cx="4290556"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p>
        </p:txBody>
      </p:sp>
      <p:sp>
        <p:nvSpPr>
          <p:cNvPr id="25" name="文本占位符 24"/>
          <p:cNvSpPr>
            <a:spLocks noGrp="1"/>
          </p:cNvSpPr>
          <p:nvPr>
            <p:ph type="body" sz="half" idx="3"/>
          </p:nvPr>
        </p:nvSpPr>
        <p:spPr>
          <a:xfrm>
            <a:off x="4645025" y="666750"/>
            <a:ext cx="4292241"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p>
        </p:txBody>
      </p:sp>
      <p:sp>
        <p:nvSpPr>
          <p:cNvPr id="4" name="内容占位符 3"/>
          <p:cNvSpPr>
            <a:spLocks noGrp="1"/>
          </p:cNvSpPr>
          <p:nvPr>
            <p:ph sz="quarter" idx="2"/>
          </p:nvPr>
        </p:nvSpPr>
        <p:spPr>
          <a:xfrm>
            <a:off x="281444" y="1316037"/>
            <a:ext cx="4290556"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28" name="内容占位符 27"/>
          <p:cNvSpPr>
            <a:spLocks noGrp="1"/>
          </p:cNvSpPr>
          <p:nvPr>
            <p:ph sz="quarter" idx="4"/>
          </p:nvPr>
        </p:nvSpPr>
        <p:spPr>
          <a:xfrm>
            <a:off x="4648730" y="1316037"/>
            <a:ext cx="4288536"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10" name="日期占位符 9"/>
          <p:cNvSpPr>
            <a:spLocks noGrp="1"/>
          </p:cNvSpPr>
          <p:nvPr>
            <p:ph type="dt" sz="half" idx="10"/>
          </p:nvPr>
        </p:nvSpPr>
        <p:spPr/>
        <p:txBody>
          <a:bodyPr/>
          <a:lstStyle/>
          <a:p>
            <a:fld id="{A8F7DF1A-77F9-4CE1-AFE8-C2A859F1887C}" type="datetimeFigureOut">
              <a:rPr lang="zh-CN" altLang="en-US" smtClean="0"/>
              <a:t>2017/5/14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a:xfrm>
            <a:off x="8229600" y="6477000"/>
            <a:ext cx="762000" cy="246888"/>
          </a:xfrm>
        </p:spPr>
        <p:txBody>
          <a:bodyPr/>
          <a:lstStyle/>
          <a:p>
            <a:fld id="{4CAB1775-10A9-4934-8A3A-054A0517D9C1}" type="slidenum">
              <a:rPr lang="zh-CN" altLang="en-US" smtClean="0"/>
              <a:t>‹#›</a:t>
            </a:fld>
            <a:endParaRPr lang="zh-CN" altLang="en-US"/>
          </a:p>
        </p:txBody>
      </p:sp>
      <p:sp>
        <p:nvSpPr>
          <p:cNvPr id="11" name="直接连接符 10"/>
          <p:cNvSpPr>
            <a:spLocks noChangeShapeType="1"/>
          </p:cNvSpPr>
          <p:nvPr/>
        </p:nvSpPr>
        <p:spPr bwMode="auto">
          <a:xfrm>
            <a:off x="514350" y="6019800"/>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0" name="标题 29"/>
          <p:cNvSpPr>
            <a:spLocks noGrp="1"/>
          </p:cNvSpPr>
          <p:nvPr>
            <p:ph type="title"/>
          </p:nvPr>
        </p:nvSpPr>
        <p:spPr>
          <a:xfrm>
            <a:off x="301752" y="457200"/>
            <a:ext cx="8686800" cy="841248"/>
          </a:xfrm>
        </p:spPr>
        <p:txBody>
          <a:bodyPr/>
          <a:lstStyle/>
          <a:p>
            <a:r>
              <a:rPr kumimoji="0" lang="zh-CN" altLang="en-US" smtClean="0"/>
              <a:t>单击此处编辑母版标题样式</a:t>
            </a:r>
            <a:endParaRPr kumimoji="0" lang="en-US"/>
          </a:p>
        </p:txBody>
      </p:sp>
      <p:sp>
        <p:nvSpPr>
          <p:cNvPr id="12" name="日期占位符 11"/>
          <p:cNvSpPr>
            <a:spLocks noGrp="1"/>
          </p:cNvSpPr>
          <p:nvPr>
            <p:ph type="dt" sz="half" idx="10"/>
          </p:nvPr>
        </p:nvSpPr>
        <p:spPr/>
        <p:txBody>
          <a:bodyPr/>
          <a:lstStyle/>
          <a:p>
            <a:fld id="{A8F7DF1A-77F9-4CE1-AFE8-C2A859F1887C}" type="datetimeFigureOut">
              <a:rPr lang="zh-CN" altLang="en-US" smtClean="0"/>
              <a:t>2017/5/14</a:t>
            </a:fld>
            <a:endParaRPr lang="zh-CN" altLang="en-US"/>
          </a:p>
        </p:txBody>
      </p:sp>
      <p:sp>
        <p:nvSpPr>
          <p:cNvPr id="21" name="页脚占位符 20"/>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CAB1775-10A9-4934-8A3A-054A0517D9C1}"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A8F7DF1A-77F9-4CE1-AFE8-C2A859F1887C}" type="datetimeFigureOut">
              <a:rPr lang="zh-CN" altLang="en-US" smtClean="0"/>
              <a:t>2017/5/14</a:t>
            </a:fld>
            <a:endParaRPr lang="zh-CN" altLang="en-US"/>
          </a:p>
        </p:txBody>
      </p:sp>
      <p:sp>
        <p:nvSpPr>
          <p:cNvPr id="24" name="页脚占位符 23"/>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CAB1775-10A9-4934-8A3A-054A0517D9C1}"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8" name="直接连接符 7"/>
          <p:cNvSpPr>
            <a:spLocks noChangeShapeType="1"/>
          </p:cNvSpPr>
          <p:nvPr/>
        </p:nvSpPr>
        <p:spPr bwMode="auto">
          <a:xfrm>
            <a:off x="514350" y="5849117"/>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标题 11"/>
          <p:cNvSpPr>
            <a:spLocks noGrp="1"/>
          </p:cNvSpPr>
          <p:nvPr>
            <p:ph type="title"/>
          </p:nvPr>
        </p:nvSpPr>
        <p:spPr>
          <a:xfrm>
            <a:off x="457200" y="5486400"/>
            <a:ext cx="8458200" cy="520700"/>
          </a:xfrm>
        </p:spPr>
        <p:txBody>
          <a:bodyPr anchor="ctr"/>
          <a:lstStyle>
            <a:lvl1pPr algn="l">
              <a:buNone/>
              <a:defRPr sz="2000" b="1"/>
            </a:lvl1pPr>
          </a:lstStyle>
          <a:p>
            <a:r>
              <a:rPr kumimoji="0" lang="zh-CN" altLang="en-US" smtClean="0"/>
              <a:t>单击此处编辑母版标题样式</a:t>
            </a:r>
            <a:endParaRPr kumimoji="0" lang="en-US"/>
          </a:p>
        </p:txBody>
      </p:sp>
      <p:sp>
        <p:nvSpPr>
          <p:cNvPr id="26" name="文本占位符 25"/>
          <p:cNvSpPr>
            <a:spLocks noGrp="1"/>
          </p:cNvSpPr>
          <p:nvPr>
            <p:ph type="body" idx="2"/>
          </p:nvPr>
        </p:nvSpPr>
        <p:spPr>
          <a:xfrm>
            <a:off x="457200" y="609600"/>
            <a:ext cx="3008313" cy="4800600"/>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zh-CN" altLang="en-US" smtClean="0"/>
              <a:t>单击此处编辑母版文本样式</a:t>
            </a:r>
          </a:p>
        </p:txBody>
      </p:sp>
      <p:sp>
        <p:nvSpPr>
          <p:cNvPr id="14" name="内容占位符 13"/>
          <p:cNvSpPr>
            <a:spLocks noGrp="1"/>
          </p:cNvSpPr>
          <p:nvPr>
            <p:ph sz="half" idx="1"/>
          </p:nvPr>
        </p:nvSpPr>
        <p:spPr>
          <a:xfrm>
            <a:off x="3575050" y="609600"/>
            <a:ext cx="5340350" cy="4800600"/>
          </a:xfrm>
        </p:spPr>
        <p:txBody>
          <a:bodyPr/>
          <a:lstStyle>
            <a:lvl1pPr>
              <a:defRPr sz="3200"/>
            </a:lvl1pPr>
            <a:lvl2pPr>
              <a:defRPr sz="2800"/>
            </a:lvl2pPr>
            <a:lvl3pPr>
              <a:defRPr sz="2400"/>
            </a:lvl3pPr>
            <a:lvl4pPr>
              <a:defRPr sz="2000"/>
            </a:lvl4pPr>
            <a:lvl5pPr>
              <a:defRPr sz="20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25" name="日期占位符 24"/>
          <p:cNvSpPr>
            <a:spLocks noGrp="1"/>
          </p:cNvSpPr>
          <p:nvPr>
            <p:ph type="dt" sz="half" idx="10"/>
          </p:nvPr>
        </p:nvSpPr>
        <p:spPr/>
        <p:txBody>
          <a:bodyPr/>
          <a:lstStyle/>
          <a:p>
            <a:fld id="{A8F7DF1A-77F9-4CE1-AFE8-C2A859F1887C}" type="datetimeFigureOut">
              <a:rPr lang="zh-CN" altLang="en-US" smtClean="0"/>
              <a:t>2017/5/14</a:t>
            </a:fld>
            <a:endParaRPr lang="zh-CN" altLang="en-US"/>
          </a:p>
        </p:txBody>
      </p:sp>
      <p:sp>
        <p:nvSpPr>
          <p:cNvPr id="29" name="页脚占位符 28"/>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CAB1775-10A9-4934-8A3A-054A0517D9C1}"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13" name="图片占位符 12"/>
          <p:cNvSpPr>
            <a:spLocks noGrp="1"/>
          </p:cNvSpPr>
          <p:nvPr>
            <p:ph type="pic" idx="1"/>
          </p:nvPr>
        </p:nvSpPr>
        <p:spPr>
          <a:xfrm>
            <a:off x="3505200" y="616634"/>
            <a:ext cx="5029200" cy="3657600"/>
          </a:xfrm>
          <a:solidFill>
            <a:schemeClr val="bg1"/>
          </a:solidFill>
          <a:ln w="6350">
            <a:solidFill>
              <a:schemeClr val="accent1"/>
            </a:solidFill>
          </a:ln>
          <a:effectLst>
            <a:reflection blurRad="1000" stA="49000" endA="500" endPos="10000" dist="900" dir="5400000" sy="-90000" algn="bl" rotWithShape="0"/>
          </a:effectLst>
        </p:spPr>
        <p:txBody>
          <a:bodyPr/>
          <a:lstStyle>
            <a:lvl1pPr marL="0" indent="0">
              <a:buNone/>
              <a:defRPr sz="3200"/>
            </a:lvl1pPr>
          </a:lstStyle>
          <a:p>
            <a:r>
              <a:rPr kumimoji="0" lang="zh-CN" altLang="en-US" smtClean="0"/>
              <a:t>单击图标添加图片</a:t>
            </a:r>
            <a:endParaRPr kumimoji="0" lang="en-US" dirty="0"/>
          </a:p>
        </p:txBody>
      </p:sp>
      <p:sp>
        <p:nvSpPr>
          <p:cNvPr id="7" name="日期占位符 6"/>
          <p:cNvSpPr>
            <a:spLocks noGrp="1"/>
          </p:cNvSpPr>
          <p:nvPr>
            <p:ph type="dt" sz="half" idx="10"/>
          </p:nvPr>
        </p:nvSpPr>
        <p:spPr/>
        <p:txBody>
          <a:bodyPr/>
          <a:lstStyle/>
          <a:p>
            <a:fld id="{A8F7DF1A-77F9-4CE1-AFE8-C2A859F1887C}" type="datetimeFigureOut">
              <a:rPr lang="zh-CN" altLang="en-US" smtClean="0"/>
              <a:t>2017/5/14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31" name="灯片编号占位符 30"/>
          <p:cNvSpPr>
            <a:spLocks noGrp="1"/>
          </p:cNvSpPr>
          <p:nvPr>
            <p:ph type="sldNum" sz="quarter" idx="12"/>
          </p:nvPr>
        </p:nvSpPr>
        <p:spPr/>
        <p:txBody>
          <a:bodyPr/>
          <a:lstStyle/>
          <a:p>
            <a:fld id="{4CAB1775-10A9-4934-8A3A-054A0517D9C1}" type="slidenum">
              <a:rPr lang="zh-CN" altLang="en-US" smtClean="0"/>
              <a:t>‹#›</a:t>
            </a:fld>
            <a:endParaRPr lang="zh-CN" altLang="en-US"/>
          </a:p>
        </p:txBody>
      </p:sp>
      <p:sp>
        <p:nvSpPr>
          <p:cNvPr id="17" name="标题 16"/>
          <p:cNvSpPr>
            <a:spLocks noGrp="1"/>
          </p:cNvSpPr>
          <p:nvPr>
            <p:ph type="title"/>
          </p:nvPr>
        </p:nvSpPr>
        <p:spPr>
          <a:xfrm>
            <a:off x="381000" y="4993760"/>
            <a:ext cx="5867400" cy="522288"/>
          </a:xfrm>
        </p:spPr>
        <p:txBody>
          <a:bodyPr anchor="ctr"/>
          <a:lstStyle>
            <a:lvl1pPr algn="l">
              <a:buNone/>
              <a:defRPr sz="2000" b="1"/>
            </a:lvl1pPr>
          </a:lstStyle>
          <a:p>
            <a:r>
              <a:rPr kumimoji="0" lang="zh-CN" altLang="en-US" smtClean="0"/>
              <a:t>单击此处编辑母版标题样式</a:t>
            </a:r>
            <a:endParaRPr kumimoji="0" lang="en-US"/>
          </a:p>
        </p:txBody>
      </p:sp>
      <p:sp>
        <p:nvSpPr>
          <p:cNvPr id="26" name="文本占位符 25"/>
          <p:cNvSpPr>
            <a:spLocks noGrp="1"/>
          </p:cNvSpPr>
          <p:nvPr>
            <p:ph type="body" sz="half" idx="2"/>
          </p:nvPr>
        </p:nvSpPr>
        <p:spPr>
          <a:xfrm>
            <a:off x="381000" y="5533218"/>
            <a:ext cx="5867400" cy="768350"/>
          </a:xfrm>
        </p:spPr>
        <p:txBody>
          <a:bodyPr lIns="109728" tIns="0"/>
          <a:lstStyle>
            <a:lvl1pPr marL="0" indent="0">
              <a:buNone/>
              <a:defRPr sz="1400"/>
            </a:lvl1pPr>
            <a:lvl2pPr>
              <a:defRPr sz="1200"/>
            </a:lvl2pPr>
            <a:lvl3pPr>
              <a:defRPr sz="1000"/>
            </a:lvl3pPr>
            <a:lvl4pPr>
              <a:defRPr sz="900"/>
            </a:lvl4pPr>
            <a:lvl5pPr>
              <a:defRPr sz="900"/>
            </a:lvl5pPr>
          </a:lstStyle>
          <a:p>
            <a:pPr lvl="0" eaLnBrk="1" latinLnBrk="0" hangingPunct="1"/>
            <a:r>
              <a:rPr kumimoji="0" lang="zh-CN" altLang="en-US" smtClean="0"/>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A8F7DF1A-77F9-4CE1-AFE8-C2A859F1887C}" type="datetimeFigureOut">
              <a:rPr lang="zh-CN" altLang="en-US" smtClean="0"/>
              <a:t>2017/5/14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CAB1775-10A9-4934-8A3A-054A0517D9C1}"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549276"/>
            <a:ext cx="1828800" cy="5851525"/>
          </a:xfrm>
        </p:spPr>
        <p:txBody>
          <a:bodyPr vert="eaVer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549276"/>
            <a:ext cx="6248400" cy="5851525"/>
          </a:xfrm>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A8F7DF1A-77F9-4CE1-AFE8-C2A859F1887C}" type="datetimeFigureOut">
              <a:rPr lang="zh-CN" altLang="en-US" smtClean="0"/>
              <a:t>2017/5/14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CAB1775-10A9-4934-8A3A-054A0517D9C1}"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直接连接符 6"/>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文本占位符 7"/>
          <p:cNvSpPr>
            <a:spLocks noGrp="1"/>
          </p:cNvSpPr>
          <p:nvPr>
            <p:ph type="body" idx="1"/>
          </p:nvPr>
        </p:nvSpPr>
        <p:spPr>
          <a:xfrm>
            <a:off x="304800" y="1554162"/>
            <a:ext cx="8686800" cy="4525963"/>
          </a:xfrm>
          <a:prstGeom prst="rect">
            <a:avLst/>
          </a:prstGeom>
        </p:spPr>
        <p:txBody>
          <a:bodyPr vert="horz">
            <a:normAutofit/>
          </a:bodyPr>
          <a:lstStyle/>
          <a:p>
            <a:pPr lvl="0" eaLnBrk="1" latinLnBrk="0" hangingPunct="1"/>
            <a:r>
              <a:rPr kumimoji="0" lang="zh-CN" altLang="en-US" smtClean="0"/>
              <a:t>单击此处编辑母版文本样式</a:t>
            </a:r>
          </a:p>
          <a:p>
            <a:pPr lvl="1" eaLnBrk="1" latinLnBrk="0" hangingPunct="1"/>
            <a:r>
              <a:rPr kumimoji="0" lang="zh-CN" altLang="en-US" smtClean="0"/>
              <a:t>第二级</a:t>
            </a:r>
          </a:p>
          <a:p>
            <a:pPr lvl="2" eaLnBrk="1" latinLnBrk="0" hangingPunct="1"/>
            <a:r>
              <a:rPr kumimoji="0" lang="zh-CN" altLang="en-US" smtClean="0"/>
              <a:t>第三级</a:t>
            </a:r>
          </a:p>
          <a:p>
            <a:pPr lvl="3" eaLnBrk="1" latinLnBrk="0" hangingPunct="1"/>
            <a:r>
              <a:rPr kumimoji="0" lang="zh-CN" altLang="en-US" smtClean="0"/>
              <a:t>第四级</a:t>
            </a:r>
          </a:p>
          <a:p>
            <a:pPr lvl="4" eaLnBrk="1" latinLnBrk="0" hangingPunct="1"/>
            <a:r>
              <a:rPr kumimoji="0" lang="zh-CN" altLang="en-US" smtClean="0"/>
              <a:t>第五级</a:t>
            </a:r>
            <a:endParaRPr kumimoji="0" lang="en-US"/>
          </a:p>
        </p:txBody>
      </p:sp>
      <p:sp>
        <p:nvSpPr>
          <p:cNvPr id="11" name="日期占位符 10"/>
          <p:cNvSpPr>
            <a:spLocks noGrp="1"/>
          </p:cNvSpPr>
          <p:nvPr>
            <p:ph type="dt" sz="half" idx="2"/>
          </p:nvPr>
        </p:nvSpPr>
        <p:spPr>
          <a:xfrm>
            <a:off x="6477000" y="76200"/>
            <a:ext cx="2514600" cy="288925"/>
          </a:xfrm>
          <a:prstGeom prst="rect">
            <a:avLst/>
          </a:prstGeom>
        </p:spPr>
        <p:txBody>
          <a:bodyPr vert="horz"/>
          <a:lstStyle>
            <a:lvl1pPr algn="l" eaLnBrk="1" latinLnBrk="0" hangingPunct="1">
              <a:defRPr kumimoji="0" sz="1200">
                <a:solidFill>
                  <a:schemeClr val="accent1">
                    <a:shade val="75000"/>
                  </a:schemeClr>
                </a:solidFill>
              </a:defRPr>
            </a:lvl1pPr>
          </a:lstStyle>
          <a:p>
            <a:fld id="{A8F7DF1A-77F9-4CE1-AFE8-C2A859F1887C}" type="datetimeFigureOut">
              <a:rPr lang="zh-CN" altLang="en-US" smtClean="0"/>
              <a:t>2017/5/14</a:t>
            </a:fld>
            <a:endParaRPr lang="zh-CN" altLang="en-US"/>
          </a:p>
        </p:txBody>
      </p:sp>
      <p:sp>
        <p:nvSpPr>
          <p:cNvPr id="28" name="页脚占位符 27"/>
          <p:cNvSpPr>
            <a:spLocks noGrp="1"/>
          </p:cNvSpPr>
          <p:nvPr>
            <p:ph type="ftr" sz="quarter" idx="3"/>
          </p:nvPr>
        </p:nvSpPr>
        <p:spPr>
          <a:xfrm>
            <a:off x="3124200" y="76200"/>
            <a:ext cx="3352800" cy="288925"/>
          </a:xfrm>
          <a:prstGeom prst="rect">
            <a:avLst/>
          </a:prstGeom>
        </p:spPr>
        <p:txBody>
          <a:bodyPr vert="horz"/>
          <a:lstStyle>
            <a:lvl1pPr algn="r" eaLnBrk="1" latinLnBrk="0" hangingPunct="1">
              <a:defRPr kumimoji="0" sz="1200">
                <a:solidFill>
                  <a:schemeClr val="accent1">
                    <a:shade val="75000"/>
                  </a:schemeClr>
                </a:solidFill>
              </a:defRPr>
            </a:lvl1pPr>
          </a:lstStyle>
          <a:p>
            <a:endParaRPr lang="zh-CN" altLang="en-US"/>
          </a:p>
        </p:txBody>
      </p:sp>
      <p:sp>
        <p:nvSpPr>
          <p:cNvPr id="5" name="灯片编号占位符 4"/>
          <p:cNvSpPr>
            <a:spLocks noGrp="1"/>
          </p:cNvSpPr>
          <p:nvPr>
            <p:ph type="sldNum" sz="quarter" idx="4"/>
          </p:nvPr>
        </p:nvSpPr>
        <p:spPr>
          <a:xfrm>
            <a:off x="8229600" y="6477000"/>
            <a:ext cx="762000" cy="244475"/>
          </a:xfrm>
          <a:prstGeom prst="rect">
            <a:avLst/>
          </a:prstGeom>
        </p:spPr>
        <p:txBody>
          <a:bodyPr vert="horz"/>
          <a:lstStyle>
            <a:lvl1pPr algn="r" eaLnBrk="1" latinLnBrk="0" hangingPunct="1">
              <a:defRPr kumimoji="0" sz="1200">
                <a:solidFill>
                  <a:schemeClr val="accent1">
                    <a:shade val="75000"/>
                  </a:schemeClr>
                </a:solidFill>
              </a:defRPr>
            </a:lvl1pPr>
          </a:lstStyle>
          <a:p>
            <a:fld id="{4CAB1775-10A9-4934-8A3A-054A0517D9C1}" type="slidenum">
              <a:rPr lang="zh-CN" altLang="en-US" smtClean="0"/>
              <a:t>‹#›</a:t>
            </a:fld>
            <a:endParaRPr lang="zh-CN" altLang="en-US"/>
          </a:p>
        </p:txBody>
      </p:sp>
      <p:sp>
        <p:nvSpPr>
          <p:cNvPr id="10" name="标题占位符 9"/>
          <p:cNvSpPr>
            <a:spLocks noGrp="1"/>
          </p:cNvSpPr>
          <p:nvPr>
            <p:ph type="title"/>
          </p:nvPr>
        </p:nvSpPr>
        <p:spPr>
          <a:xfrm>
            <a:off x="304800" y="457200"/>
            <a:ext cx="8686800" cy="838200"/>
          </a:xfrm>
          <a:prstGeom prst="rect">
            <a:avLst/>
          </a:prstGeom>
        </p:spPr>
        <p:txBody>
          <a:bodyPr vert="horz" anchor="ctr">
            <a:normAutofit/>
          </a:bodyPr>
          <a:lstStyle/>
          <a:p>
            <a:r>
              <a:rPr kumimoji="0" lang="zh-CN" altLang="en-US" smtClean="0"/>
              <a:t>单击此处编辑母版标题样式</a:t>
            </a:r>
            <a:endParaRPr kumimoji="0" lang="en-US"/>
          </a:p>
        </p:txBody>
      </p:sp>
      <p:sp>
        <p:nvSpPr>
          <p:cNvPr id="9" name="直接连接符 8"/>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直接连接符 11"/>
          <p:cNvSpPr>
            <a:spLocks noChangeShapeType="1"/>
          </p:cNvSpPr>
          <p:nvPr/>
        </p:nvSpPr>
        <p:spPr bwMode="auto">
          <a:xfrm>
            <a:off x="514350" y="1057986"/>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600" kern="1200" cap="all" baseline="0">
          <a:solidFill>
            <a:schemeClr val="tx2"/>
          </a:solidFill>
          <a:effectLst>
            <a:reflection blurRad="12700" stA="48000" endA="300" endPos="55000" dir="5400000" sy="-90000" algn="bl" rotWithShape="0"/>
          </a:effectLst>
          <a:latin typeface="+mj-lt"/>
          <a:ea typeface="+mj-ea"/>
          <a:cs typeface="+mj-cs"/>
        </a:defRPr>
      </a:lvl1pPr>
    </p:titleStyle>
    <p:bodyStyle>
      <a:lvl1pPr marL="342900" indent="-342900" algn="l" rtl="0" eaLnBrk="1" latinLnBrk="0" hangingPunct="1">
        <a:spcBef>
          <a:spcPct val="20000"/>
        </a:spcBef>
        <a:buClr>
          <a:schemeClr val="accent1"/>
        </a:buClr>
        <a:buSzPct val="70000"/>
        <a:buFont typeface="Wingdings 2"/>
        <a:buChar char=""/>
        <a:defRPr kumimoji="0" sz="3200" kern="1200">
          <a:solidFill>
            <a:schemeClr val="tx2"/>
          </a:solidFill>
          <a:latin typeface="+mn-lt"/>
          <a:ea typeface="+mn-ea"/>
          <a:cs typeface="+mn-cs"/>
        </a:defRPr>
      </a:lvl1pPr>
      <a:lvl2pPr marL="742950" indent="-285750" algn="l" rtl="0" eaLnBrk="1" latinLnBrk="0" hangingPunct="1">
        <a:spcBef>
          <a:spcPct val="20000"/>
        </a:spcBef>
        <a:buClr>
          <a:schemeClr val="accent1"/>
        </a:buClr>
        <a:buSzPct val="70000"/>
        <a:buFont typeface="Wingdings 2"/>
        <a:buChar char=""/>
        <a:defRPr kumimoji="0" sz="2800" kern="1200">
          <a:solidFill>
            <a:schemeClr val="tx2"/>
          </a:solidFill>
          <a:latin typeface="+mn-lt"/>
          <a:ea typeface="+mn-ea"/>
          <a:cs typeface="+mn-cs"/>
        </a:defRPr>
      </a:lvl2pPr>
      <a:lvl3pPr marL="1143000" indent="-228600" algn="l" rtl="0" eaLnBrk="1" latinLnBrk="0" hangingPunct="1">
        <a:spcBef>
          <a:spcPct val="20000"/>
        </a:spcBef>
        <a:buClr>
          <a:schemeClr val="accent1"/>
        </a:buClr>
        <a:buSzPct val="70000"/>
        <a:buFont typeface="Wingdings 2"/>
        <a:buChar char=""/>
        <a:defRPr kumimoji="0" sz="2400" kern="1200">
          <a:solidFill>
            <a:schemeClr val="tx2"/>
          </a:solidFill>
          <a:latin typeface="+mn-lt"/>
          <a:ea typeface="+mn-ea"/>
          <a:cs typeface="+mn-cs"/>
        </a:defRPr>
      </a:lvl3pPr>
      <a:lvl4pPr marL="1600200" indent="-228600" algn="l" rtl="0" eaLnBrk="1" latinLnBrk="0" hangingPunct="1">
        <a:spcBef>
          <a:spcPct val="20000"/>
        </a:spcBef>
        <a:buClr>
          <a:schemeClr val="accent1"/>
        </a:buClr>
        <a:buSzPct val="70000"/>
        <a:buFont typeface="Wingdings 2"/>
        <a:buChar char=""/>
        <a:defRPr kumimoji="0" sz="2000" kern="1200">
          <a:solidFill>
            <a:schemeClr val="tx2"/>
          </a:solidFill>
          <a:latin typeface="+mn-lt"/>
          <a:ea typeface="+mn-ea"/>
          <a:cs typeface="+mn-cs"/>
        </a:defRPr>
      </a:lvl4pPr>
      <a:lvl5pPr marL="2057400" indent="-228600"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5pPr>
      <a:lvl6pPr marL="2514600" indent="-228600"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1800" indent="-228600" algn="l" rtl="0" eaLnBrk="1" latinLnBrk="0"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9000" indent="-228600" algn="l" rtl="0" eaLnBrk="1" latinLnBrk="0"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6200" indent="-228600" algn="l" rtl="0" eaLnBrk="1" latinLnBrk="0"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zh-CN" altLang="zh-CN" b="1" dirty="0">
                <a:effectLst/>
              </a:rPr>
              <a:t>第</a:t>
            </a:r>
            <a:r>
              <a:rPr lang="en-US" altLang="zh-CN" b="1" dirty="0">
                <a:effectLst/>
              </a:rPr>
              <a:t>9</a:t>
            </a:r>
            <a:r>
              <a:rPr lang="zh-CN" altLang="zh-CN" b="1" dirty="0">
                <a:effectLst/>
              </a:rPr>
              <a:t>章 计算机网络系统方案设计分析和</a:t>
            </a:r>
            <a:r>
              <a:rPr lang="zh-CN" altLang="zh-CN" b="1" dirty="0" smtClean="0">
                <a:effectLst/>
              </a:rPr>
              <a:t>投标</a:t>
            </a:r>
            <a:endParaRPr lang="zh-CN" altLang="en-US" dirty="0"/>
          </a:p>
        </p:txBody>
      </p:sp>
      <p:sp>
        <p:nvSpPr>
          <p:cNvPr id="3" name="副标题 2"/>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39308253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zh-CN" dirty="0"/>
              <a:t>计算机网络系统的设计原则有：保证计算机网络系统能够工作；尽可能使计算机网络系统简单；作出明确的选择；尽可能的模块化；期望具备异构性；避免使用固定不变的选择和参数；寻找一个好的设计，计算机网络系统不必是最完美的；对于发送操作一定要严格，而对于接受操作要由一定的容忍度；要考虑伸缩性；要考虑性能和代价。</a:t>
            </a:r>
          </a:p>
          <a:p>
            <a:endParaRPr lang="zh-CN" altLang="en-US" dirty="0"/>
          </a:p>
        </p:txBody>
      </p:sp>
    </p:spTree>
    <p:extLst>
      <p:ext uri="{BB962C8B-B14F-4D97-AF65-F5344CB8AC3E}">
        <p14:creationId xmlns:p14="http://schemas.microsoft.com/office/powerpoint/2010/main" val="32109643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effectLst/>
              </a:rPr>
              <a:t>9.1 </a:t>
            </a:r>
            <a:r>
              <a:rPr lang="zh-CN" altLang="zh-CN" b="1" dirty="0" smtClean="0">
                <a:effectLst/>
              </a:rPr>
              <a:t>网络规划</a:t>
            </a:r>
            <a:endParaRPr lang="zh-CN" altLang="en-US" dirty="0"/>
          </a:p>
        </p:txBody>
      </p:sp>
      <p:sp>
        <p:nvSpPr>
          <p:cNvPr id="3" name="内容占位符 2"/>
          <p:cNvSpPr>
            <a:spLocks noGrp="1"/>
          </p:cNvSpPr>
          <p:nvPr>
            <p:ph idx="1"/>
          </p:nvPr>
        </p:nvSpPr>
        <p:spPr/>
        <p:txBody>
          <a:bodyPr/>
          <a:lstStyle/>
          <a:p>
            <a:r>
              <a:rPr lang="zh-CN" altLang="zh-CN" dirty="0"/>
              <a:t>网络规划就是为即将建设的网络系统提出一套完整的设想和方案，包括网络系统的可行性研究与计划、需求分析、软硬件设施的选择、系统结构的选择、投资预算、建立规范化的文档等。它是网络系统集成的整体规划，网络规划对建立一个功能完善、安全可靠、性能先进的网络系统至关重要。</a:t>
            </a:r>
          </a:p>
          <a:p>
            <a:endParaRPr lang="zh-CN" altLang="en-US" dirty="0"/>
          </a:p>
        </p:txBody>
      </p:sp>
    </p:spTree>
    <p:extLst>
      <p:ext uri="{BB962C8B-B14F-4D97-AF65-F5344CB8AC3E}">
        <p14:creationId xmlns:p14="http://schemas.microsoft.com/office/powerpoint/2010/main" val="16675997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网络的需求分析</a:t>
            </a:r>
            <a:endParaRPr lang="zh-CN" altLang="en-US" dirty="0"/>
          </a:p>
        </p:txBody>
      </p:sp>
      <p:sp>
        <p:nvSpPr>
          <p:cNvPr id="3" name="内容占位符 2"/>
          <p:cNvSpPr>
            <a:spLocks noGrp="1"/>
          </p:cNvSpPr>
          <p:nvPr>
            <p:ph idx="1"/>
          </p:nvPr>
        </p:nvSpPr>
        <p:spPr/>
        <p:txBody>
          <a:bodyPr/>
          <a:lstStyle/>
          <a:p>
            <a:r>
              <a:rPr lang="zh-CN" altLang="zh-CN" dirty="0"/>
              <a:t>网络需求分析的任务就是全面了解用户的具体要求，对用户目前的需求状况进行详细的调研。了解用户建网的目的、用户已有的网络基础和应用现状（包括综合布线、网络平台、己开展的网络应用等）。</a:t>
            </a:r>
            <a:endParaRPr lang="zh-CN" altLang="en-US" dirty="0"/>
          </a:p>
        </p:txBody>
      </p:sp>
    </p:spTree>
    <p:extLst>
      <p:ext uri="{BB962C8B-B14F-4D97-AF65-F5344CB8AC3E}">
        <p14:creationId xmlns:p14="http://schemas.microsoft.com/office/powerpoint/2010/main" val="3585336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网络系统的规划设计</a:t>
            </a:r>
            <a:endParaRPr lang="zh-CN" altLang="en-US" dirty="0"/>
          </a:p>
        </p:txBody>
      </p:sp>
      <p:sp>
        <p:nvSpPr>
          <p:cNvPr id="3" name="内容占位符 2"/>
          <p:cNvSpPr>
            <a:spLocks noGrp="1"/>
          </p:cNvSpPr>
          <p:nvPr>
            <p:ph idx="1"/>
          </p:nvPr>
        </p:nvSpPr>
        <p:spPr/>
        <p:txBody>
          <a:bodyPr>
            <a:normAutofit lnSpcReduction="10000"/>
          </a:bodyPr>
          <a:lstStyle/>
          <a:p>
            <a:r>
              <a:rPr lang="zh-CN" altLang="zh-CN" dirty="0"/>
              <a:t>网络的规划应符合现代技术发展的要求。网络系统结构、设备、操作系统及应用软件必须符合现代发展的需要，过于陈旧的东西不但功能差，也很难找到配套的设备和技术。</a:t>
            </a:r>
          </a:p>
          <a:p>
            <a:r>
              <a:rPr lang="zh-CN" altLang="zh-CN" dirty="0"/>
              <a:t>网络系统应有较好的可扩展性和兼容性，易于升级和更新。在不影响技术先进性的情况下，要尽量选用同种类型、同种规格或体系结构的网络产品，以方便与原有网络及设备实现较畅通的互连和兼容。</a:t>
            </a:r>
          </a:p>
          <a:p>
            <a:endParaRPr lang="zh-CN" altLang="en-US" dirty="0"/>
          </a:p>
        </p:txBody>
      </p:sp>
    </p:spTree>
    <p:extLst>
      <p:ext uri="{BB962C8B-B14F-4D97-AF65-F5344CB8AC3E}">
        <p14:creationId xmlns:p14="http://schemas.microsoft.com/office/powerpoint/2010/main" val="26521267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effectLst/>
              </a:rPr>
              <a:t>9.2 </a:t>
            </a:r>
            <a:r>
              <a:rPr lang="zh-CN" altLang="zh-CN" b="1" dirty="0">
                <a:effectLst/>
              </a:rPr>
              <a:t>网络结构</a:t>
            </a:r>
            <a:r>
              <a:rPr lang="zh-CN" altLang="zh-CN" b="1" dirty="0" smtClean="0">
                <a:effectLst/>
              </a:rPr>
              <a:t>设计</a:t>
            </a:r>
            <a:endParaRPr lang="zh-CN" altLang="en-US" dirty="0"/>
          </a:p>
        </p:txBody>
      </p:sp>
      <p:sp>
        <p:nvSpPr>
          <p:cNvPr id="3" name="内容占位符 2"/>
          <p:cNvSpPr>
            <a:spLocks noGrp="1"/>
          </p:cNvSpPr>
          <p:nvPr>
            <p:ph idx="1"/>
          </p:nvPr>
        </p:nvSpPr>
        <p:spPr/>
        <p:txBody>
          <a:bodyPr/>
          <a:lstStyle/>
          <a:p>
            <a:r>
              <a:rPr lang="zh-CN" altLang="zh-CN" dirty="0"/>
              <a:t>在网络规划的前提下，网络系统的设计包括系统架构、网络方案中的设备选型、综合布线系统、网络服务器、软件选型以及网络安全设计等。</a:t>
            </a:r>
          </a:p>
          <a:p>
            <a:endParaRPr lang="zh-CN" altLang="en-US" dirty="0"/>
          </a:p>
        </p:txBody>
      </p:sp>
    </p:spTree>
    <p:extLst>
      <p:ext uri="{BB962C8B-B14F-4D97-AF65-F5344CB8AC3E}">
        <p14:creationId xmlns:p14="http://schemas.microsoft.com/office/powerpoint/2010/main" val="3394887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网络拓扑架构</a:t>
            </a:r>
            <a:endParaRPr lang="zh-CN" altLang="en-US" dirty="0"/>
          </a:p>
        </p:txBody>
      </p:sp>
      <p:sp>
        <p:nvSpPr>
          <p:cNvPr id="3" name="内容占位符 2"/>
          <p:cNvSpPr>
            <a:spLocks noGrp="1"/>
          </p:cNvSpPr>
          <p:nvPr>
            <p:ph idx="1"/>
          </p:nvPr>
        </p:nvSpPr>
        <p:spPr/>
        <p:txBody>
          <a:bodyPr>
            <a:normAutofit fontScale="92500" lnSpcReduction="10000"/>
          </a:bodyPr>
          <a:lstStyle/>
          <a:p>
            <a:r>
              <a:rPr lang="zh-CN" altLang="zh-CN" dirty="0"/>
              <a:t>网络拓扑结构是企事业建设网络信息系统首先要考虑的问题。网络拓扑结构对整个网络的运行效率、技术性发挥、可靠性和费用等方面都有着重要的影响。确立网络的拓扑结构是整个网络方案规划设计的基础。网络拓扑结构设计是指在给定节点位置及保证一定可靠性、时延、吞吐量的情况下，服务器、工作站和网络连接设备如何通过选择合适的通路、线路的容量以及流量的分配，使网络的成本降低。常用的网络拓扑结构有总线型、环型、树型、网型以及混合型。</a:t>
            </a:r>
            <a:endParaRPr lang="zh-CN" altLang="en-US" dirty="0"/>
          </a:p>
        </p:txBody>
      </p:sp>
    </p:spTree>
    <p:extLst>
      <p:ext uri="{BB962C8B-B14F-4D97-AF65-F5344CB8AC3E}">
        <p14:creationId xmlns:p14="http://schemas.microsoft.com/office/powerpoint/2010/main" val="36704975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网络方案中的设备选型</a:t>
            </a:r>
            <a:endParaRPr lang="zh-CN" altLang="en-US" dirty="0"/>
          </a:p>
        </p:txBody>
      </p:sp>
      <p:sp>
        <p:nvSpPr>
          <p:cNvPr id="3" name="内容占位符 2"/>
          <p:cNvSpPr>
            <a:spLocks noGrp="1"/>
          </p:cNvSpPr>
          <p:nvPr>
            <p:ph idx="1"/>
          </p:nvPr>
        </p:nvSpPr>
        <p:spPr/>
        <p:txBody>
          <a:bodyPr/>
          <a:lstStyle/>
          <a:p>
            <a:r>
              <a:rPr lang="zh-CN" altLang="zh-CN" dirty="0"/>
              <a:t>网络系统中主要硬件设备的选择，直接影响到网络整体的性能，其投资占网络系统整体投资的很大比例。在网络系统总体设计时对其进行分析和选择是很重要的。网络设备选择一般有两种含义：一种是从应用需要出发进行的选择；另一种是众多厂商的产品中选择性能价格比高的产品。在组建网络时，通常涉及的主要网络硬件设备有服务器、工作站、集线器、路由器和交换机等。</a:t>
            </a:r>
          </a:p>
          <a:p>
            <a:endParaRPr lang="zh-CN" altLang="en-US" dirty="0"/>
          </a:p>
        </p:txBody>
      </p:sp>
    </p:spTree>
    <p:extLst>
      <p:ext uri="{BB962C8B-B14F-4D97-AF65-F5344CB8AC3E}">
        <p14:creationId xmlns:p14="http://schemas.microsoft.com/office/powerpoint/2010/main" val="38400977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网络方案中的软件选型</a:t>
            </a:r>
            <a:endParaRPr lang="zh-CN" altLang="en-US" dirty="0"/>
          </a:p>
        </p:txBody>
      </p:sp>
      <p:sp>
        <p:nvSpPr>
          <p:cNvPr id="3" name="内容占位符 2"/>
          <p:cNvSpPr>
            <a:spLocks noGrp="1"/>
          </p:cNvSpPr>
          <p:nvPr>
            <p:ph idx="1"/>
          </p:nvPr>
        </p:nvSpPr>
        <p:spPr/>
        <p:txBody>
          <a:bodyPr/>
          <a:lstStyle/>
          <a:p>
            <a:r>
              <a:rPr lang="zh-CN" altLang="zh-CN" dirty="0"/>
              <a:t>网络软件分网络操作系统软件、网络管理软件、应用软件、工具软件和支撑软件等，正确地选择能够相互配合、完成网络系统需求功能的软件组合是网络建设的关键。</a:t>
            </a:r>
          </a:p>
          <a:p>
            <a:endParaRPr lang="zh-CN" altLang="en-US" dirty="0"/>
          </a:p>
        </p:txBody>
      </p:sp>
    </p:spTree>
    <p:extLst>
      <p:ext uri="{BB962C8B-B14F-4D97-AF65-F5344CB8AC3E}">
        <p14:creationId xmlns:p14="http://schemas.microsoft.com/office/powerpoint/2010/main" val="1753561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网络安全设计</a:t>
            </a:r>
            <a:endParaRPr lang="zh-CN" altLang="en-US" dirty="0"/>
          </a:p>
        </p:txBody>
      </p:sp>
      <p:sp>
        <p:nvSpPr>
          <p:cNvPr id="3" name="内容占位符 2"/>
          <p:cNvSpPr>
            <a:spLocks noGrp="1"/>
          </p:cNvSpPr>
          <p:nvPr>
            <p:ph idx="1"/>
          </p:nvPr>
        </p:nvSpPr>
        <p:spPr/>
        <p:txBody>
          <a:bodyPr/>
          <a:lstStyle/>
          <a:p>
            <a:r>
              <a:rPr lang="zh-CN" altLang="zh-CN" dirty="0"/>
              <a:t>网络安全的内容既有技术方面的问题，也有管理方面的问题，两方面相互补充，缺一不可。技术方面主要侧重于防范外部非法用户的攻击，管理方面则侧重于内部人为因素的管理。如何有效地保护重要的信息数据、提高计算机网络系统的安全性已经成为所有计算机网络应用必须考虑和必须解决的一个重要问题。</a:t>
            </a:r>
          </a:p>
          <a:p>
            <a:endParaRPr lang="zh-CN" altLang="en-US" dirty="0"/>
          </a:p>
        </p:txBody>
      </p:sp>
    </p:spTree>
    <p:extLst>
      <p:ext uri="{BB962C8B-B14F-4D97-AF65-F5344CB8AC3E}">
        <p14:creationId xmlns:p14="http://schemas.microsoft.com/office/powerpoint/2010/main" val="15707763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effectLst/>
              </a:rPr>
              <a:t>9.3 </a:t>
            </a:r>
            <a:r>
              <a:rPr lang="zh-CN" altLang="zh-CN" b="1" dirty="0">
                <a:effectLst/>
              </a:rPr>
              <a:t>综合布线</a:t>
            </a:r>
            <a:r>
              <a:rPr lang="zh-CN" altLang="zh-CN" b="1" dirty="0" smtClean="0">
                <a:effectLst/>
              </a:rPr>
              <a:t>设计</a:t>
            </a:r>
            <a:endParaRPr lang="zh-CN" altLang="en-US" dirty="0"/>
          </a:p>
        </p:txBody>
      </p:sp>
      <p:sp>
        <p:nvSpPr>
          <p:cNvPr id="3" name="内容占位符 2"/>
          <p:cNvSpPr>
            <a:spLocks noGrp="1"/>
          </p:cNvSpPr>
          <p:nvPr>
            <p:ph idx="1"/>
          </p:nvPr>
        </p:nvSpPr>
        <p:spPr/>
        <p:txBody>
          <a:bodyPr/>
          <a:lstStyle/>
          <a:p>
            <a:r>
              <a:rPr lang="zh-CN" altLang="zh-CN" dirty="0"/>
              <a:t>综合布线系统是跨学科、跨行业的系统工程，主要涉及以下几个方面：楼宇自动化系统；通信自动化系统；；办公室自动化系统和计算机网络系统。</a:t>
            </a:r>
          </a:p>
          <a:p>
            <a:endParaRPr lang="zh-CN" altLang="en-US" dirty="0"/>
          </a:p>
        </p:txBody>
      </p:sp>
    </p:spTree>
    <p:extLst>
      <p:ext uri="{BB962C8B-B14F-4D97-AF65-F5344CB8AC3E}">
        <p14:creationId xmlns:p14="http://schemas.microsoft.com/office/powerpoint/2010/main" val="39269455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zh-CN" dirty="0"/>
              <a:t>综合布线系统的发展与城市建设及工矿企业的通信事业发展密切相关，现代化的智能楼、商住楼、办公楼、综合楼已成为城市建设的发展趋势。与传统布线相比，综合布线系统除具有其综合性外，还具有兼容性、开放性、灵活性、可靠性、先进性和经济性等特点。</a:t>
            </a:r>
          </a:p>
          <a:p>
            <a:endParaRPr lang="zh-CN" altLang="en-US" dirty="0"/>
          </a:p>
        </p:txBody>
      </p:sp>
    </p:spTree>
    <p:extLst>
      <p:ext uri="{BB962C8B-B14F-4D97-AF65-F5344CB8AC3E}">
        <p14:creationId xmlns:p14="http://schemas.microsoft.com/office/powerpoint/2010/main" val="4626106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综合布线系统的构成</a:t>
            </a:r>
            <a:endParaRPr lang="zh-CN" altLang="en-US" dirty="0"/>
          </a:p>
        </p:txBody>
      </p:sp>
      <p:sp>
        <p:nvSpPr>
          <p:cNvPr id="3" name="内容占位符 2"/>
          <p:cNvSpPr>
            <a:spLocks noGrp="1"/>
          </p:cNvSpPr>
          <p:nvPr>
            <p:ph idx="1"/>
          </p:nvPr>
        </p:nvSpPr>
        <p:spPr/>
        <p:txBody>
          <a:bodyPr/>
          <a:lstStyle/>
          <a:p>
            <a:r>
              <a:rPr lang="zh-CN" altLang="zh-CN" dirty="0"/>
              <a:t>综合布线系统采用模块化设计和分层星型拓扑结构，将各组成部分构成一个有机的整体，而不像传统布线那样自成体系，互不相干。综合布线系统结构可以划分成工作区子系统、配线子系统、管理子系统、干线</a:t>
            </a:r>
            <a:r>
              <a:rPr lang="en-US" altLang="zh-CN" dirty="0"/>
              <a:t>(</a:t>
            </a:r>
            <a:r>
              <a:rPr lang="zh-CN" altLang="zh-CN" dirty="0"/>
              <a:t>建筑物</a:t>
            </a:r>
            <a:r>
              <a:rPr lang="en-US" altLang="zh-CN" dirty="0"/>
              <a:t>)</a:t>
            </a:r>
            <a:r>
              <a:rPr lang="zh-CN" altLang="zh-CN" dirty="0"/>
              <a:t>子系统和建筑群子系统、设备间子系统等</a:t>
            </a:r>
            <a:r>
              <a:rPr lang="en-US" altLang="zh-CN" dirty="0"/>
              <a:t>6</a:t>
            </a:r>
            <a:r>
              <a:rPr lang="zh-CN" altLang="zh-CN" dirty="0"/>
              <a:t>个部分。</a:t>
            </a:r>
          </a:p>
          <a:p>
            <a:endParaRPr lang="zh-CN" altLang="en-US" dirty="0"/>
          </a:p>
        </p:txBody>
      </p:sp>
    </p:spTree>
    <p:extLst>
      <p:ext uri="{BB962C8B-B14F-4D97-AF65-F5344CB8AC3E}">
        <p14:creationId xmlns:p14="http://schemas.microsoft.com/office/powerpoint/2010/main" val="39144188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综合布线系统标准</a:t>
            </a:r>
            <a:endParaRPr lang="zh-CN" altLang="en-US" dirty="0"/>
          </a:p>
        </p:txBody>
      </p:sp>
      <p:sp>
        <p:nvSpPr>
          <p:cNvPr id="3" name="内容占位符 2"/>
          <p:cNvSpPr>
            <a:spLocks noGrp="1"/>
          </p:cNvSpPr>
          <p:nvPr>
            <p:ph idx="1"/>
          </p:nvPr>
        </p:nvSpPr>
        <p:spPr/>
        <p:txBody>
          <a:bodyPr/>
          <a:lstStyle/>
          <a:p>
            <a:r>
              <a:rPr lang="zh-CN" altLang="zh-CN" dirty="0"/>
              <a:t>世界上有许多标准化组织致力于综合布线系统标准的开发，国际标准化组织（</a:t>
            </a:r>
            <a:r>
              <a:rPr lang="en-US" altLang="zh-CN" dirty="0"/>
              <a:t>ISO</a:t>
            </a:r>
            <a:r>
              <a:rPr lang="zh-CN" altLang="zh-CN" dirty="0"/>
              <a:t>）的职责是保证所有普遍性的标准得到所有成员国的一致认可，</a:t>
            </a:r>
            <a:r>
              <a:rPr lang="en-US" altLang="zh-CN" dirty="0"/>
              <a:t>ISO</a:t>
            </a:r>
            <a:r>
              <a:rPr lang="zh-CN" altLang="zh-CN" dirty="0"/>
              <a:t>所负责的标准范围从制造和质量控制规程到电气与电信分布布线系统。在北美洲，有</a:t>
            </a:r>
            <a:r>
              <a:rPr lang="en-US" altLang="zh-CN" dirty="0"/>
              <a:t>4</a:t>
            </a:r>
            <a:r>
              <a:rPr lang="zh-CN" altLang="zh-CN" dirty="0"/>
              <a:t>个标准化组织为北美市场开发或推行布线标准：美国国家标准协会（</a:t>
            </a:r>
            <a:r>
              <a:rPr lang="en-US" altLang="zh-CN" dirty="0"/>
              <a:t>ANSI</a:t>
            </a:r>
            <a:r>
              <a:rPr lang="zh-CN" altLang="zh-CN" dirty="0"/>
              <a:t>）、电子工业协会（</a:t>
            </a:r>
            <a:r>
              <a:rPr lang="en-US" altLang="zh-CN" dirty="0"/>
              <a:t>EIA</a:t>
            </a:r>
            <a:r>
              <a:rPr lang="zh-CN" altLang="zh-CN" dirty="0"/>
              <a:t>）、电讯工业协会（</a:t>
            </a:r>
            <a:r>
              <a:rPr lang="en-US" altLang="zh-CN" dirty="0"/>
              <a:t>TIA</a:t>
            </a:r>
            <a:r>
              <a:rPr lang="zh-CN" altLang="zh-CN" dirty="0"/>
              <a:t>）和</a:t>
            </a:r>
            <a:r>
              <a:rPr lang="en-US" altLang="zh-CN" dirty="0"/>
              <a:t>CSA</a:t>
            </a:r>
            <a:r>
              <a:rPr lang="zh-CN" altLang="zh-CN" dirty="0"/>
              <a:t>国际。</a:t>
            </a:r>
          </a:p>
          <a:p>
            <a:endParaRPr lang="zh-CN" altLang="en-US" dirty="0"/>
          </a:p>
        </p:txBody>
      </p:sp>
    </p:spTree>
    <p:extLst>
      <p:ext uri="{BB962C8B-B14F-4D97-AF65-F5344CB8AC3E}">
        <p14:creationId xmlns:p14="http://schemas.microsoft.com/office/powerpoint/2010/main" val="2949396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effectLst/>
              </a:rPr>
              <a:t>9.4 </a:t>
            </a:r>
            <a:r>
              <a:rPr lang="zh-CN" altLang="zh-CN" b="1" dirty="0">
                <a:effectLst/>
              </a:rPr>
              <a:t>网络工程项目</a:t>
            </a:r>
            <a:r>
              <a:rPr lang="zh-CN" altLang="zh-CN" b="1" dirty="0" smtClean="0">
                <a:effectLst/>
              </a:rPr>
              <a:t>管理</a:t>
            </a:r>
            <a:endParaRPr lang="zh-CN" altLang="en-US" dirty="0"/>
          </a:p>
        </p:txBody>
      </p:sp>
      <p:sp>
        <p:nvSpPr>
          <p:cNvPr id="3" name="内容占位符 2"/>
          <p:cNvSpPr>
            <a:spLocks noGrp="1"/>
          </p:cNvSpPr>
          <p:nvPr>
            <p:ph idx="1"/>
          </p:nvPr>
        </p:nvSpPr>
        <p:spPr/>
        <p:txBody>
          <a:bodyPr>
            <a:normAutofit/>
          </a:bodyPr>
          <a:lstStyle/>
          <a:p>
            <a:r>
              <a:rPr lang="zh-CN" altLang="zh-CN" dirty="0"/>
              <a:t>项目管理是管理资源、人员、财政、时间进度和其他因素，以期在特定条件下达到特定目标的活动。每个项目实施之前首先要进行需求评估，通过需求评估来确定该项目是否有必要实施。</a:t>
            </a:r>
          </a:p>
          <a:p>
            <a:r>
              <a:rPr lang="zh-CN" altLang="zh-CN" dirty="0" smtClean="0"/>
              <a:t>一</a:t>
            </a:r>
            <a:r>
              <a:rPr lang="zh-CN" altLang="zh-CN" dirty="0"/>
              <a:t>个完整的项目还应该包括其他要素，诸如项目参与者、资金筹措、交流方式、处理流程、突发事件应付方案，以及测试和评价步骤等。</a:t>
            </a:r>
          </a:p>
          <a:p>
            <a:endParaRPr lang="zh-CN" altLang="en-US" dirty="0"/>
          </a:p>
        </p:txBody>
      </p:sp>
    </p:spTree>
    <p:extLst>
      <p:ext uri="{BB962C8B-B14F-4D97-AF65-F5344CB8AC3E}">
        <p14:creationId xmlns:p14="http://schemas.microsoft.com/office/powerpoint/2010/main" val="35099973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项目规划</a:t>
            </a:r>
            <a:endParaRPr lang="zh-CN" altLang="en-US" dirty="0"/>
          </a:p>
        </p:txBody>
      </p:sp>
      <p:sp>
        <p:nvSpPr>
          <p:cNvPr id="3" name="内容占位符 2"/>
          <p:cNvSpPr>
            <a:spLocks noGrp="1"/>
          </p:cNvSpPr>
          <p:nvPr>
            <p:ph idx="1"/>
          </p:nvPr>
        </p:nvSpPr>
        <p:spPr/>
        <p:txBody>
          <a:bodyPr/>
          <a:lstStyle/>
          <a:p>
            <a:r>
              <a:rPr lang="zh-CN" altLang="zh-CN" dirty="0"/>
              <a:t>项目规划是项目管理中细节内容（比如时间进度和关键点任务）的组织方式。对于规模较小的项目，可采用文本或表格文档的形式来制定规划。然而，对于规模较大的项目，光用文档形式来制定规划恐怕难以胜任，一般应该采用专门的项目管理软件帮助制定规划。</a:t>
            </a:r>
            <a:endParaRPr lang="zh-CN" altLang="en-US" dirty="0"/>
          </a:p>
        </p:txBody>
      </p:sp>
    </p:spTree>
    <p:extLst>
      <p:ext uri="{BB962C8B-B14F-4D97-AF65-F5344CB8AC3E}">
        <p14:creationId xmlns:p14="http://schemas.microsoft.com/office/powerpoint/2010/main" val="19051206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 项目参与者</a:t>
            </a:r>
            <a:endParaRPr lang="zh-CN" altLang="en-US" dirty="0"/>
          </a:p>
        </p:txBody>
      </p:sp>
      <p:sp>
        <p:nvSpPr>
          <p:cNvPr id="3" name="内容占位符 2"/>
          <p:cNvSpPr>
            <a:spLocks noGrp="1"/>
          </p:cNvSpPr>
          <p:nvPr>
            <p:ph idx="1"/>
          </p:nvPr>
        </p:nvSpPr>
        <p:spPr/>
        <p:txBody>
          <a:bodyPr/>
          <a:lstStyle/>
          <a:p>
            <a:r>
              <a:rPr lang="zh-CN" altLang="zh-CN" dirty="0"/>
              <a:t>每个项目都依赖许多资源。项目中的人力资源也许是组织内本部门或其他部门的员工、外面的顾问、供应商代表，或者来自其他组织的雇员。</a:t>
            </a:r>
            <a:endParaRPr lang="zh-CN" altLang="en-US" dirty="0"/>
          </a:p>
        </p:txBody>
      </p:sp>
    </p:spTree>
    <p:extLst>
      <p:ext uri="{BB962C8B-B14F-4D97-AF65-F5344CB8AC3E}">
        <p14:creationId xmlns:p14="http://schemas.microsoft.com/office/powerpoint/2010/main" val="36636967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资金</a:t>
            </a:r>
            <a:endParaRPr lang="zh-CN" altLang="en-US" dirty="0"/>
          </a:p>
        </p:txBody>
      </p:sp>
      <p:sp>
        <p:nvSpPr>
          <p:cNvPr id="3" name="内容占位符 2"/>
          <p:cNvSpPr>
            <a:spLocks noGrp="1"/>
          </p:cNvSpPr>
          <p:nvPr>
            <p:ph idx="1"/>
          </p:nvPr>
        </p:nvSpPr>
        <p:spPr/>
        <p:txBody>
          <a:bodyPr/>
          <a:lstStyle/>
          <a:p>
            <a:r>
              <a:rPr lang="zh-CN" altLang="zh-CN" dirty="0"/>
              <a:t>每个项目，无论它是个简单的硬件升级，或者整个网络的改造，都需要资金的支持。项目的资金通常在项目开始时已经落实，并且要经过参与本项目的管理层成员的同意。项目资金的多少会根据项目的规模和复杂性而定。项目管理者应在项目规划之初就要对资金预算予以足够的重视。</a:t>
            </a:r>
            <a:endParaRPr lang="zh-CN" altLang="en-US" dirty="0"/>
          </a:p>
        </p:txBody>
      </p:sp>
    </p:spTree>
    <p:extLst>
      <p:ext uri="{BB962C8B-B14F-4D97-AF65-F5344CB8AC3E}">
        <p14:creationId xmlns:p14="http://schemas.microsoft.com/office/powerpoint/2010/main" val="29407777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交流沟通</a:t>
            </a:r>
            <a:endParaRPr lang="zh-CN" altLang="en-US" dirty="0"/>
          </a:p>
        </p:txBody>
      </p:sp>
      <p:sp>
        <p:nvSpPr>
          <p:cNvPr id="3" name="内容占位符 2"/>
          <p:cNvSpPr>
            <a:spLocks noGrp="1"/>
          </p:cNvSpPr>
          <p:nvPr>
            <p:ph idx="1"/>
          </p:nvPr>
        </p:nvSpPr>
        <p:spPr/>
        <p:txBody>
          <a:bodyPr/>
          <a:lstStyle/>
          <a:p>
            <a:r>
              <a:rPr lang="zh-CN" altLang="zh-CN" dirty="0"/>
              <a:t>项目参与者相互间的交流沟通很关键，交流沟通可以确保项目的目标能够被项目参与者、相关人员等理解。能时刻跟踪项目的时间进度和财政情况。可以从以前错误中吸取教训。</a:t>
            </a:r>
            <a:endParaRPr lang="zh-CN" altLang="en-US" dirty="0"/>
          </a:p>
        </p:txBody>
      </p:sp>
    </p:spTree>
    <p:extLst>
      <p:ext uri="{BB962C8B-B14F-4D97-AF65-F5344CB8AC3E}">
        <p14:creationId xmlns:p14="http://schemas.microsoft.com/office/powerpoint/2010/main" val="24226322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过程管理</a:t>
            </a:r>
            <a:endParaRPr lang="zh-CN" altLang="en-US" dirty="0"/>
          </a:p>
        </p:txBody>
      </p:sp>
      <p:sp>
        <p:nvSpPr>
          <p:cNvPr id="3" name="内容占位符 2"/>
          <p:cNvSpPr>
            <a:spLocks noGrp="1"/>
          </p:cNvSpPr>
          <p:nvPr>
            <p:ph idx="1"/>
          </p:nvPr>
        </p:nvSpPr>
        <p:spPr/>
        <p:txBody>
          <a:bodyPr/>
          <a:lstStyle/>
          <a:p>
            <a:r>
              <a:rPr lang="zh-CN" altLang="zh-CN" dirty="0"/>
              <a:t>过程管理包括规划和处理系统化完成目标所需的步骤。在项目实现过程中需要管理的过程包括更改、支持、培训、转换、委派，以及问题解决等。</a:t>
            </a:r>
            <a:endParaRPr lang="zh-CN" altLang="en-US" dirty="0"/>
          </a:p>
        </p:txBody>
      </p:sp>
    </p:spTree>
    <p:extLst>
      <p:ext uri="{BB962C8B-B14F-4D97-AF65-F5344CB8AC3E}">
        <p14:creationId xmlns:p14="http://schemas.microsoft.com/office/powerpoint/2010/main" val="26844576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突发事件规划</a:t>
            </a:r>
            <a:endParaRPr lang="zh-CN" altLang="en-US" dirty="0"/>
          </a:p>
        </p:txBody>
      </p:sp>
      <p:sp>
        <p:nvSpPr>
          <p:cNvPr id="3" name="内容占位符 2"/>
          <p:cNvSpPr>
            <a:spLocks noGrp="1"/>
          </p:cNvSpPr>
          <p:nvPr>
            <p:ph idx="1"/>
          </p:nvPr>
        </p:nvSpPr>
        <p:spPr/>
        <p:txBody>
          <a:bodyPr/>
          <a:lstStyle/>
          <a:p>
            <a:r>
              <a:rPr lang="zh-CN" altLang="zh-CN" dirty="0"/>
              <a:t>即使最仔细的项目也可能会遇到不可预见的突发情况。比如，某关键成员退出项目组、资金被削减，或者某软件包不像预期的那样工作等。每种类似的情况都有可能推迟项目的完成日期。为对付这些情况，则必须在项目开始时就创建突发事件解决规划。突发事件规划是确定为减少不可预测因素对项目目标的质量或进度等的影响和危害所应采取的对策。</a:t>
            </a:r>
          </a:p>
          <a:p>
            <a:endParaRPr lang="zh-CN" altLang="en-US" dirty="0"/>
          </a:p>
        </p:txBody>
      </p:sp>
    </p:spTree>
    <p:extLst>
      <p:ext uri="{BB962C8B-B14F-4D97-AF65-F5344CB8AC3E}">
        <p14:creationId xmlns:p14="http://schemas.microsoft.com/office/powerpoint/2010/main" val="725249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测试和评估</a:t>
            </a:r>
            <a:endParaRPr lang="zh-CN" altLang="en-US" dirty="0"/>
          </a:p>
        </p:txBody>
      </p:sp>
      <p:sp>
        <p:nvSpPr>
          <p:cNvPr id="3" name="内容占位符 2"/>
          <p:cNvSpPr>
            <a:spLocks noGrp="1"/>
          </p:cNvSpPr>
          <p:nvPr>
            <p:ph idx="1"/>
          </p:nvPr>
        </p:nvSpPr>
        <p:spPr/>
        <p:txBody>
          <a:bodyPr/>
          <a:lstStyle/>
          <a:p>
            <a:r>
              <a:rPr lang="zh-CN" altLang="zh-CN" dirty="0"/>
              <a:t>无论测试客观还是主观，项目管理者应该指定一个领导来控制测试组。这个领导要定义测试标准、恢复测试、确定获取数据的方式、编辑测试数据，以及基于测试的结果，并把有关更改成功的结论告诉项目管理者。</a:t>
            </a:r>
          </a:p>
          <a:p>
            <a:endParaRPr lang="zh-CN" altLang="en-US" dirty="0"/>
          </a:p>
        </p:txBody>
      </p:sp>
    </p:spTree>
    <p:extLst>
      <p:ext uri="{BB962C8B-B14F-4D97-AF65-F5344CB8AC3E}">
        <p14:creationId xmlns:p14="http://schemas.microsoft.com/office/powerpoint/2010/main" val="16646531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effectLst/>
              </a:rPr>
              <a:t>9.5 </a:t>
            </a:r>
            <a:r>
              <a:rPr lang="zh-CN" altLang="zh-CN" b="1" dirty="0">
                <a:effectLst/>
              </a:rPr>
              <a:t>项目投标</a:t>
            </a:r>
            <a:r>
              <a:rPr lang="zh-CN" altLang="zh-CN" b="1" dirty="0" smtClean="0">
                <a:effectLst/>
              </a:rPr>
              <a:t>管理</a:t>
            </a:r>
            <a:endParaRPr lang="zh-CN" altLang="en-US" dirty="0"/>
          </a:p>
        </p:txBody>
      </p:sp>
      <p:sp>
        <p:nvSpPr>
          <p:cNvPr id="3" name="内容占位符 2"/>
          <p:cNvSpPr>
            <a:spLocks noGrp="1"/>
          </p:cNvSpPr>
          <p:nvPr>
            <p:ph idx="1"/>
          </p:nvPr>
        </p:nvSpPr>
        <p:spPr/>
        <p:txBody>
          <a:bodyPr>
            <a:normAutofit fontScale="92500" lnSpcReduction="10000"/>
          </a:bodyPr>
          <a:lstStyle/>
          <a:p>
            <a:r>
              <a:rPr lang="zh-CN" altLang="zh-CN" dirty="0"/>
              <a:t>对于用户来说，首先要公开发出邀标函，邀标函一般向社会公开发布。</a:t>
            </a:r>
          </a:p>
          <a:p>
            <a:r>
              <a:rPr lang="zh-CN" altLang="zh-CN" dirty="0"/>
              <a:t>对于系统集成商而言，针对不同的用户需要确定不同的方案，常常涉及到多种软件和多种硬件。投标方不仅要组织调度好公司内部资源而且要熟悉和了解用户需求，并与第三方产品厂商或合作伙伴形成良好的合作同盟。</a:t>
            </a:r>
          </a:p>
          <a:p>
            <a:r>
              <a:rPr lang="zh-CN" altLang="zh-CN" dirty="0"/>
              <a:t>投标管理不仅仅是单纯投标方案的组织，也包括与用户的交流与沟通，与第三方合作厂商的谈判与合作等内容。</a:t>
            </a:r>
          </a:p>
          <a:p>
            <a:endParaRPr lang="zh-CN" altLang="en-US" dirty="0"/>
          </a:p>
        </p:txBody>
      </p:sp>
    </p:spTree>
    <p:extLst>
      <p:ext uri="{BB962C8B-B14F-4D97-AF65-F5344CB8AC3E}">
        <p14:creationId xmlns:p14="http://schemas.microsoft.com/office/powerpoint/2010/main" val="6813460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effectLst/>
              </a:rPr>
              <a:t>项目投标管理的过程</a:t>
            </a:r>
            <a:endParaRPr lang="zh-CN" altLang="en-US" dirty="0"/>
          </a:p>
        </p:txBody>
      </p:sp>
      <p:sp>
        <p:nvSpPr>
          <p:cNvPr id="3" name="内容占位符 2"/>
          <p:cNvSpPr>
            <a:spLocks noGrp="1"/>
          </p:cNvSpPr>
          <p:nvPr>
            <p:ph idx="1"/>
          </p:nvPr>
        </p:nvSpPr>
        <p:spPr/>
        <p:txBody>
          <a:bodyPr/>
          <a:lstStyle/>
          <a:p>
            <a:r>
              <a:rPr lang="zh-CN" altLang="zh-CN" dirty="0"/>
              <a:t>系统集成项目的投标管理对外涉及用户和第三方合作厂商，对内涉及公司不同部门的人员的调度，而且投标限定时间要求比较紧，投标方案撰写以及客户联系等工作错综复杂，变化多样。根据这些特点，投标方开始尝试将项目管理的理论和方法引入到投标管理中来，将每次投标活动都作为一个独立的项目，从项目组织建设、项目计划与控制、项目总结与考核全过程进行管理。</a:t>
            </a:r>
            <a:endParaRPr lang="zh-CN" altLang="en-US" dirty="0"/>
          </a:p>
        </p:txBody>
      </p:sp>
    </p:spTree>
    <p:extLst>
      <p:ext uri="{BB962C8B-B14F-4D97-AF65-F5344CB8AC3E}">
        <p14:creationId xmlns:p14="http://schemas.microsoft.com/office/powerpoint/2010/main" val="17734453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effectLst/>
              </a:rPr>
              <a:t>9.6 </a:t>
            </a:r>
            <a:r>
              <a:rPr lang="zh-CN" altLang="zh-CN" b="1" dirty="0">
                <a:effectLst/>
              </a:rPr>
              <a:t>投标书的组成及内容</a:t>
            </a:r>
            <a:r>
              <a:rPr lang="zh-CN" altLang="zh-CN" b="1" dirty="0" smtClean="0">
                <a:effectLst/>
              </a:rPr>
              <a:t>要点</a:t>
            </a:r>
            <a:endParaRPr lang="zh-CN" altLang="en-US" dirty="0"/>
          </a:p>
        </p:txBody>
      </p:sp>
      <p:sp>
        <p:nvSpPr>
          <p:cNvPr id="3" name="内容占位符 2"/>
          <p:cNvSpPr>
            <a:spLocks noGrp="1"/>
          </p:cNvSpPr>
          <p:nvPr>
            <p:ph idx="1"/>
          </p:nvPr>
        </p:nvSpPr>
        <p:spPr/>
        <p:txBody>
          <a:bodyPr/>
          <a:lstStyle/>
          <a:p>
            <a:r>
              <a:rPr lang="zh-CN" altLang="zh-CN" dirty="0"/>
              <a:t>投标书包括三大部分：方案计划与报价、投标人的资质信息和招标文件响应信息。</a:t>
            </a:r>
          </a:p>
          <a:p>
            <a:endParaRPr lang="zh-CN" altLang="en-US" dirty="0"/>
          </a:p>
        </p:txBody>
      </p:sp>
    </p:spTree>
    <p:extLst>
      <p:ext uri="{BB962C8B-B14F-4D97-AF65-F5344CB8AC3E}">
        <p14:creationId xmlns:p14="http://schemas.microsoft.com/office/powerpoint/2010/main" val="31805743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b="1" dirty="0">
                <a:effectLst/>
              </a:rPr>
              <a:t>9.7 </a:t>
            </a:r>
            <a:r>
              <a:rPr lang="zh-CN" altLang="zh-CN" b="1" dirty="0">
                <a:effectLst/>
              </a:rPr>
              <a:t>计算机网络系统工程项目投标书</a:t>
            </a:r>
            <a:r>
              <a:rPr lang="zh-CN" altLang="zh-CN" b="1" dirty="0" smtClean="0">
                <a:effectLst/>
              </a:rPr>
              <a:t>范例</a:t>
            </a:r>
            <a:endParaRPr lang="zh-CN" altLang="en-US" dirty="0"/>
          </a:p>
        </p:txBody>
      </p:sp>
      <p:sp>
        <p:nvSpPr>
          <p:cNvPr id="3" name="内容占位符 2"/>
          <p:cNvSpPr>
            <a:spLocks noGrp="1"/>
          </p:cNvSpPr>
          <p:nvPr>
            <p:ph idx="1"/>
          </p:nvPr>
        </p:nvSpPr>
        <p:spPr/>
        <p:txBody>
          <a:bodyPr/>
          <a:lstStyle/>
          <a:p>
            <a:r>
              <a:rPr lang="zh-CN" altLang="zh-CN"/>
              <a:t>现以某大学校园网建设为例，介绍校园网的解决方案。方案比较系统地介绍了用户的基本情况，分析了用户需求，对综合布线、网络系统等进行了比较详细的设计。</a:t>
            </a:r>
          </a:p>
          <a:p>
            <a:endParaRPr lang="zh-CN" altLang="en-US"/>
          </a:p>
        </p:txBody>
      </p:sp>
    </p:spTree>
    <p:extLst>
      <p:ext uri="{BB962C8B-B14F-4D97-AF65-F5344CB8AC3E}">
        <p14:creationId xmlns:p14="http://schemas.microsoft.com/office/powerpoint/2010/main" val="3040809055"/>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跋涉">
  <a:themeElements>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跋涉">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跋涉">
      <a:fillStyleLst>
        <a:solidFill>
          <a:schemeClr val="phClr"/>
        </a:solidFill>
        <a:gradFill rotWithShape="1">
          <a:gsLst>
            <a:gs pos="0">
              <a:schemeClr val="phClr">
                <a:tint val="30000"/>
                <a:satMod val="250000"/>
              </a:schemeClr>
            </a:gs>
            <a:gs pos="72000">
              <a:schemeClr val="phClr">
                <a:tint val="75000"/>
                <a:satMod val="210000"/>
              </a:schemeClr>
            </a:gs>
            <a:gs pos="100000">
              <a:schemeClr val="phClr">
                <a:tint val="85000"/>
                <a:satMod val="210000"/>
              </a:schemeClr>
            </a:gs>
          </a:gsLst>
          <a:lin ang="5400000" scaled="1"/>
        </a:gradFill>
        <a:gradFill rotWithShape="1">
          <a:gsLst>
            <a:gs pos="0">
              <a:schemeClr val="phClr">
                <a:tint val="75000"/>
                <a:shade val="85000"/>
                <a:satMod val="230000"/>
              </a:schemeClr>
            </a:gs>
            <a:gs pos="25000">
              <a:schemeClr val="phClr">
                <a:tint val="90000"/>
                <a:shade val="70000"/>
                <a:satMod val="220000"/>
              </a:schemeClr>
            </a:gs>
            <a:gs pos="50000">
              <a:schemeClr val="phClr">
                <a:tint val="90000"/>
                <a:shade val="58000"/>
                <a:satMod val="225000"/>
              </a:schemeClr>
            </a:gs>
            <a:gs pos="65000">
              <a:schemeClr val="phClr">
                <a:tint val="90000"/>
                <a:shade val="58000"/>
                <a:satMod val="225000"/>
              </a:schemeClr>
            </a:gs>
            <a:gs pos="80000">
              <a:schemeClr val="phClr">
                <a:tint val="90000"/>
                <a:shade val="69000"/>
                <a:satMod val="220000"/>
              </a:schemeClr>
            </a:gs>
            <a:gs pos="100000">
              <a:schemeClr val="phClr">
                <a:tint val="77000"/>
                <a:shade val="80000"/>
                <a:satMod val="230000"/>
              </a:schemeClr>
            </a:gs>
          </a:gsLst>
          <a:lin ang="5400000" scaled="1"/>
        </a:gradFill>
      </a:fillStyleLst>
      <a:lnStyleLst>
        <a:ln w="100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st="50800" dir="5400000" rotWithShape="0">
              <a:srgbClr val="4E3B30">
                <a:alpha val="60000"/>
              </a:srgbClr>
            </a:outerShdw>
          </a:effectLst>
        </a:effectStyle>
        <a:effectStyle>
          <a:effectLst>
            <a:outerShdw blurRad="76200" dist="50800" dir="5400000" rotWithShape="0">
              <a:srgbClr val="4E3B30">
                <a:alpha val="60000"/>
              </a:srgbClr>
            </a:outerShdw>
          </a:effectLst>
          <a:scene3d>
            <a:camera prst="orthographicFront">
              <a:rot lat="0" lon="0" rev="0"/>
            </a:camera>
            <a:lightRig rig="threePt" dir="tl">
              <a:rot lat="0" lon="0" rev="0"/>
            </a:lightRig>
          </a:scene3d>
          <a:sp3d prstMaterial="metal">
            <a:bevelT w="10000" h="10000"/>
          </a:sp3d>
        </a:effectStyle>
        <a:effectStyle>
          <a:effectLst>
            <a:outerShdw blurRad="76200" dist="50800" dir="5400000" rotWithShape="0">
              <a:srgbClr val="4E3B30">
                <a:alpha val="60000"/>
              </a:srgbClr>
            </a:outerShdw>
          </a:effectLst>
          <a:scene3d>
            <a:camera prst="obliqueTopLeft" fov="600000">
              <a:rot lat="0" lon="0" rev="0"/>
            </a:camera>
            <a:lightRig rig="balanced" dir="t">
              <a:rot lat="0" lon="0" rev="19200000"/>
            </a:lightRig>
          </a:scene3d>
          <a:sp3d contourW="12700" prstMaterial="matte">
            <a:bevelT w="60000" h="50800"/>
            <a:contourClr>
              <a:schemeClr val="phClr">
                <a:shade val="60000"/>
                <a:satMod val="110000"/>
              </a:schemeClr>
            </a:contourClr>
          </a:sp3d>
        </a:effectStyle>
      </a:effectStyleLst>
      <a:bgFillStyleLst>
        <a:solidFill>
          <a:schemeClr val="phClr"/>
        </a:solidFill>
        <a:blipFill>
          <a:blip xmlns:r="http://schemas.openxmlformats.org/officeDocument/2006/relationships" r:embed="rId1">
            <a:duotone>
              <a:schemeClr val="phClr">
                <a:shade val="90000"/>
                <a:satMod val="150000"/>
              </a:schemeClr>
              <a:schemeClr val="phClr">
                <a:tint val="88000"/>
                <a:satMod val="105000"/>
              </a:schemeClr>
            </a:duotone>
          </a:blip>
          <a:tile tx="0" ty="0" sx="95000" sy="95000" flip="none" algn="t"/>
        </a:blipFill>
        <a:blipFill>
          <a:blip xmlns:r="http://schemas.openxmlformats.org/officeDocument/2006/relationships" r:embed="rId2">
            <a:duotone>
              <a:schemeClr val="phClr">
                <a:shade val="30000"/>
                <a:satMod val="455000"/>
              </a:schemeClr>
              <a:schemeClr val="phClr">
                <a:tint val="95000"/>
                <a:satMod val="120000"/>
              </a:schemeClr>
            </a:duotone>
          </a:blip>
          <a:stretch>
            <a:fillRect/>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Trek</Template>
  <TotalTime>14</TotalTime>
  <Words>1793</Words>
  <Application>Microsoft Office PowerPoint</Application>
  <PresentationFormat>全屏显示(4:3)</PresentationFormat>
  <Paragraphs>53</Paragraphs>
  <Slides>26</Slides>
  <Notes>0</Notes>
  <HiddenSlides>0</HiddenSlides>
  <MMClips>0</MMClips>
  <ScaleCrop>false</ScaleCrop>
  <HeadingPairs>
    <vt:vector size="4" baseType="variant">
      <vt:variant>
        <vt:lpstr>主题</vt:lpstr>
      </vt:variant>
      <vt:variant>
        <vt:i4>1</vt:i4>
      </vt:variant>
      <vt:variant>
        <vt:lpstr>幻灯片标题</vt:lpstr>
      </vt:variant>
      <vt:variant>
        <vt:i4>26</vt:i4>
      </vt:variant>
    </vt:vector>
  </HeadingPairs>
  <TitlesOfParts>
    <vt:vector size="27" baseType="lpstr">
      <vt:lpstr>跋涉</vt:lpstr>
      <vt:lpstr>第9章 计算机网络系统方案设计分析和投标</vt:lpstr>
      <vt:lpstr>PowerPoint 演示文稿</vt:lpstr>
      <vt:lpstr>9.1 网络规划</vt:lpstr>
      <vt:lpstr>网络的需求分析</vt:lpstr>
      <vt:lpstr>网络系统的规划设计</vt:lpstr>
      <vt:lpstr>9.2 网络结构设计</vt:lpstr>
      <vt:lpstr>网络拓扑架构</vt:lpstr>
      <vt:lpstr>网络方案中的设备选型</vt:lpstr>
      <vt:lpstr>网络方案中的软件选型</vt:lpstr>
      <vt:lpstr>网络安全设计</vt:lpstr>
      <vt:lpstr>9.3 综合布线设计</vt:lpstr>
      <vt:lpstr>PowerPoint 演示文稿</vt:lpstr>
      <vt:lpstr>综合布线系统的构成</vt:lpstr>
      <vt:lpstr>综合布线系统标准</vt:lpstr>
      <vt:lpstr>9.4 网络工程项目管理</vt:lpstr>
      <vt:lpstr>项目规划</vt:lpstr>
      <vt:lpstr> 项目参与者</vt:lpstr>
      <vt:lpstr>资金</vt:lpstr>
      <vt:lpstr>交流沟通</vt:lpstr>
      <vt:lpstr>过程管理</vt:lpstr>
      <vt:lpstr>突发事件规划</vt:lpstr>
      <vt:lpstr>测试和评估</vt:lpstr>
      <vt:lpstr>9.5 项目投标管理</vt:lpstr>
      <vt:lpstr>项目投标管理的过程</vt:lpstr>
      <vt:lpstr>9.6 投标书的组成及内容要点</vt:lpstr>
      <vt:lpstr>9.7 计算机网络系统工程项目投标书范例</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第9章 计算机网络系统方案设计分析和投标</dc:title>
  <dc:creator>123</dc:creator>
  <cp:lastModifiedBy>123</cp:lastModifiedBy>
  <cp:revision>3</cp:revision>
  <dcterms:created xsi:type="dcterms:W3CDTF">2017-05-14T08:29:18Z</dcterms:created>
  <dcterms:modified xsi:type="dcterms:W3CDTF">2017-05-14T08:43:27Z</dcterms:modified>
</cp:coreProperties>
</file>