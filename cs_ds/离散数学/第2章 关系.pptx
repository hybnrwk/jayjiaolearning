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gif" ContentType="image/gi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138"/>
  </p:handoutMasterIdLst>
  <p:sldIdLst>
    <p:sldId id="341" r:id="rId3"/>
    <p:sldId id="504" r:id="rId4"/>
    <p:sldId id="525" r:id="rId5"/>
    <p:sldId id="602" r:id="rId6"/>
    <p:sldId id="317" r:id="rId7"/>
    <p:sldId id="259" r:id="rId8"/>
    <p:sldId id="603" r:id="rId9"/>
    <p:sldId id="416" r:id="rId10"/>
    <p:sldId id="517" r:id="rId11"/>
    <p:sldId id="417" r:id="rId12"/>
    <p:sldId id="418" r:id="rId13"/>
    <p:sldId id="470" r:id="rId14"/>
    <p:sldId id="471" r:id="rId15"/>
    <p:sldId id="421" r:id="rId16"/>
    <p:sldId id="604" r:id="rId17"/>
    <p:sldId id="422" r:id="rId18"/>
    <p:sldId id="424" r:id="rId19"/>
    <p:sldId id="472" r:id="rId20"/>
    <p:sldId id="605" r:id="rId21"/>
    <p:sldId id="425" r:id="rId22"/>
    <p:sldId id="426" r:id="rId23"/>
    <p:sldId id="606" r:id="rId24"/>
    <p:sldId id="323" r:id="rId25"/>
    <p:sldId id="473" r:id="rId26"/>
    <p:sldId id="474" r:id="rId27"/>
    <p:sldId id="428" r:id="rId28"/>
    <p:sldId id="475" r:id="rId29"/>
    <p:sldId id="429" r:id="rId30"/>
    <p:sldId id="476" r:id="rId31"/>
    <p:sldId id="427" r:id="rId32"/>
    <p:sldId id="430" r:id="rId33"/>
    <p:sldId id="431" r:id="rId34"/>
    <p:sldId id="477" r:id="rId35"/>
    <p:sldId id="432" r:id="rId36"/>
    <p:sldId id="275" r:id="rId37"/>
    <p:sldId id="276" r:id="rId38"/>
    <p:sldId id="340" r:id="rId39"/>
    <p:sldId id="358" r:id="rId40"/>
    <p:sldId id="478" r:id="rId41"/>
    <p:sldId id="607" r:id="rId42"/>
    <p:sldId id="339" r:id="rId44"/>
    <p:sldId id="277" r:id="rId45"/>
    <p:sldId id="278" r:id="rId46"/>
    <p:sldId id="344" r:id="rId47"/>
    <p:sldId id="346" r:id="rId48"/>
    <p:sldId id="280" r:id="rId49"/>
    <p:sldId id="281" r:id="rId50"/>
    <p:sldId id="480" r:id="rId51"/>
    <p:sldId id="481" r:id="rId52"/>
    <p:sldId id="519" r:id="rId53"/>
    <p:sldId id="520" r:id="rId54"/>
    <p:sldId id="282" r:id="rId55"/>
    <p:sldId id="483" r:id="rId56"/>
    <p:sldId id="521" r:id="rId57"/>
    <p:sldId id="522" r:id="rId58"/>
    <p:sldId id="283" r:id="rId59"/>
    <p:sldId id="484" r:id="rId60"/>
    <p:sldId id="610" r:id="rId61"/>
    <p:sldId id="284" r:id="rId62"/>
    <p:sldId id="611" r:id="rId63"/>
    <p:sldId id="367" r:id="rId64"/>
    <p:sldId id="290" r:id="rId65"/>
    <p:sldId id="381" r:id="rId66"/>
    <p:sldId id="439" r:id="rId67"/>
    <p:sldId id="440" r:id="rId68"/>
    <p:sldId id="441" r:id="rId69"/>
    <p:sldId id="442" r:id="rId70"/>
    <p:sldId id="612" r:id="rId71"/>
    <p:sldId id="443" r:id="rId72"/>
    <p:sldId id="444" r:id="rId73"/>
    <p:sldId id="487" r:id="rId74"/>
    <p:sldId id="446" r:id="rId75"/>
    <p:sldId id="447" r:id="rId76"/>
    <p:sldId id="488" r:id="rId77"/>
    <p:sldId id="489" r:id="rId78"/>
    <p:sldId id="448" r:id="rId79"/>
    <p:sldId id="391" r:id="rId80"/>
    <p:sldId id="392" r:id="rId81"/>
    <p:sldId id="449" r:id="rId82"/>
    <p:sldId id="490" r:id="rId83"/>
    <p:sldId id="491" r:id="rId84"/>
    <p:sldId id="450" r:id="rId85"/>
    <p:sldId id="492" r:id="rId86"/>
    <p:sldId id="493" r:id="rId87"/>
    <p:sldId id="494" r:id="rId88"/>
    <p:sldId id="495" r:id="rId89"/>
    <p:sldId id="293" r:id="rId90"/>
    <p:sldId id="496" r:id="rId91"/>
    <p:sldId id="497" r:id="rId92"/>
    <p:sldId id="614" r:id="rId93"/>
    <p:sldId id="498" r:id="rId94"/>
    <p:sldId id="499" r:id="rId95"/>
    <p:sldId id="615" r:id="rId96"/>
    <p:sldId id="457" r:id="rId97"/>
    <p:sldId id="459" r:id="rId98"/>
    <p:sldId id="460" r:id="rId99"/>
    <p:sldId id="461" r:id="rId100"/>
    <p:sldId id="463" r:id="rId101"/>
    <p:sldId id="464" r:id="rId102"/>
    <p:sldId id="465" r:id="rId103"/>
    <p:sldId id="451" r:id="rId104"/>
    <p:sldId id="501" r:id="rId105"/>
    <p:sldId id="294" r:id="rId106"/>
    <p:sldId id="502" r:id="rId107"/>
    <p:sldId id="295" r:id="rId108"/>
    <p:sldId id="503" r:id="rId109"/>
    <p:sldId id="467" r:id="rId110"/>
    <p:sldId id="616" r:id="rId111"/>
    <p:sldId id="466" r:id="rId112"/>
    <p:sldId id="302" r:id="rId113"/>
    <p:sldId id="617" r:id="rId114"/>
    <p:sldId id="507" r:id="rId115"/>
    <p:sldId id="508" r:id="rId116"/>
    <p:sldId id="618" r:id="rId117"/>
    <p:sldId id="399" r:id="rId118"/>
    <p:sldId id="469" r:id="rId119"/>
    <p:sldId id="303" r:id="rId120"/>
    <p:sldId id="510" r:id="rId121"/>
    <p:sldId id="512" r:id="rId122"/>
    <p:sldId id="304" r:id="rId123"/>
    <p:sldId id="514" r:id="rId124"/>
    <p:sldId id="305" r:id="rId125"/>
    <p:sldId id="619" r:id="rId126"/>
    <p:sldId id="311" r:id="rId127"/>
    <p:sldId id="306" r:id="rId128"/>
    <p:sldId id="408" r:id="rId129"/>
    <p:sldId id="409" r:id="rId130"/>
    <p:sldId id="308" r:id="rId131"/>
    <p:sldId id="309" r:id="rId132"/>
    <p:sldId id="410" r:id="rId133"/>
    <p:sldId id="411" r:id="rId134"/>
    <p:sldId id="312" r:id="rId135"/>
    <p:sldId id="412" r:id="rId136"/>
    <p:sldId id="601" r:id="rId1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9" autoAdjust="0"/>
    <p:restoredTop sz="95221"/>
  </p:normalViewPr>
  <p:slideViewPr>
    <p:cSldViewPr showGuides="1">
      <p:cViewPr varScale="1">
        <p:scale>
          <a:sx n="85" d="100"/>
          <a:sy n="85" d="100"/>
        </p:scale>
        <p:origin x="102" y="558"/>
      </p:cViewPr>
      <p:guideLst>
        <p:guide orient="horz" pos="2160"/>
        <p:guide pos="3840"/>
        <p:guide pos="37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187"/>
    </p:cViewPr>
  </p:sorterViewPr>
  <p:notesViewPr>
    <p:cSldViewPr>
      <p:cViewPr varScale="1">
        <p:scale>
          <a:sx n="79" d="100"/>
          <a:sy n="79" d="100"/>
        </p:scale>
        <p:origin x="201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1" Type="http://schemas.openxmlformats.org/officeDocument/2006/relationships/tableStyles" Target="tableStyles.xml"/><Relationship Id="rId140" Type="http://schemas.openxmlformats.org/officeDocument/2006/relationships/viewProps" Target="viewProps.xml"/><Relationship Id="rId14" Type="http://schemas.openxmlformats.org/officeDocument/2006/relationships/slide" Target="slides/slide12.xml"/><Relationship Id="rId139" Type="http://schemas.openxmlformats.org/officeDocument/2006/relationships/presProps" Target="presProps.xml"/><Relationship Id="rId138" Type="http://schemas.openxmlformats.org/officeDocument/2006/relationships/handoutMaster" Target="handoutMasters/handoutMaster1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DD35C-9005-4FD9-B71B-87823BD0FF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38E58-6308-44B7-90BB-BB8DDE771F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41EAB-6F73-40A5-AD73-1065070DFF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ACA1E-031E-4ACA-9C90-D2FA77FC98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77A9B6A-BCE5-40C9-A14A-E58E364CC7DB}" type="slidenum">
              <a:rPr lang="en-US" altLang="zh-CN"/>
            </a:fld>
            <a:endParaRPr lang="en-US" altLang="zh-CN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次课结束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87971-DAE0-48E0-83C0-7B3C60553A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143CD3F-4BE4-4E2A-AA0E-30332B78B8BF}" type="slidenum">
              <a:rPr lang="en-US" altLang="zh-CN"/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次课结束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8" y="260648"/>
            <a:ext cx="966945" cy="9440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812" y="170439"/>
            <a:ext cx="1259325" cy="1259325"/>
          </a:xfrm>
          <a:prstGeom prst="rect">
            <a:avLst/>
          </a:prstGeom>
        </p:spPr>
      </p:pic>
      <p:cxnSp>
        <p:nvCxnSpPr>
          <p:cNvPr id="15" name="直接连接符 14"/>
          <p:cNvCxnSpPr/>
          <p:nvPr userDrawn="1"/>
        </p:nvCxnSpPr>
        <p:spPr>
          <a:xfrm>
            <a:off x="1174448" y="932723"/>
            <a:ext cx="9619185" cy="0"/>
          </a:xfrm>
          <a:prstGeom prst="line">
            <a:avLst/>
          </a:prstGeom>
          <a:ln w="28575">
            <a:solidFill>
              <a:srgbClr val="74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 flipV="1">
            <a:off x="1828801" y="1052736"/>
            <a:ext cx="7795591" cy="2"/>
          </a:xfrm>
          <a:prstGeom prst="line">
            <a:avLst/>
          </a:prstGeom>
          <a:ln w="31750">
            <a:solidFill>
              <a:srgbClr val="7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8" y="260648"/>
            <a:ext cx="966945" cy="9440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812" y="170439"/>
            <a:ext cx="1259325" cy="12593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1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5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3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19.bin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9.w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25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2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NULL" TargetMode="External"/><Relationship Id="rId1" Type="http://schemas.openxmlformats.org/officeDocument/2006/relationships/image" Target="../media/image38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64761" y="4077072"/>
            <a:ext cx="7268984" cy="42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600" tIns="28800" rIns="57600" bIns="28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信息管理与工程学院</a:t>
            </a:r>
            <a:endParaRPr lang="en-US" altLang="zh-CN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1924022" y="1772816"/>
            <a:ext cx="8208912" cy="7495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6799" tIns="38399" rIns="76799" bIns="38399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300" b="1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300" b="1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300" b="1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 关系</a:t>
            </a:r>
            <a:endParaRPr lang="en-US" altLang="zh-CN" sz="3300" b="1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26774" y="260648"/>
            <a:ext cx="44935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dirty="0"/>
              <a:t>本章主要内容：</a:t>
            </a:r>
            <a:endParaRPr lang="zh-CN" altLang="en-US" sz="4800" b="1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2855640" y="1050762"/>
            <a:ext cx="8291264" cy="5046141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/>
              <a:t>关系的基本概念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关系的表示方法 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关系的运算 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关系的性质 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关系的闭包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等价关系与划分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偏序关系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559496" y="188640"/>
            <a:ext cx="820891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 algn="l" rtl="0">
              <a:spcBef>
                <a:spcPct val="0"/>
              </a:spcBef>
            </a:pPr>
            <a:r>
              <a:rPr lang="en-US" altLang="zh-CN" sz="4400" kern="0">
                <a:solidFill>
                  <a:sysClr val="windowText" lastClr="000000"/>
                </a:solidFill>
              </a:rPr>
              <a:t>2.1</a:t>
            </a:r>
            <a:r>
              <a:rPr lang="zh-CN" altLang="en-US" sz="4400" kern="0">
                <a:solidFill>
                  <a:sysClr val="windowText" lastClr="000000"/>
                </a:solidFill>
              </a:rPr>
              <a:t>关系的基本概念</a:t>
            </a:r>
            <a:endParaRPr lang="zh-CN" altLang="en-US" sz="440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95400" y="1061638"/>
            <a:ext cx="11377264" cy="4682920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/>
              <a:t>为了讨论关系，首先引入有序对和笛卡儿积两个概念。由两个元素</a:t>
            </a:r>
            <a:r>
              <a:rPr lang="en-US" altLang="zh-CN" sz="2800" b="1" dirty="0"/>
              <a:t>a, b</a:t>
            </a:r>
            <a:r>
              <a:rPr lang="zh-CN" altLang="en-US" sz="2800" b="1" dirty="0"/>
              <a:t>组成的集合</a:t>
            </a:r>
            <a:r>
              <a:rPr lang="en-US" altLang="zh-CN" sz="2800" b="1" dirty="0"/>
              <a:t>{a, b}</a:t>
            </a:r>
            <a:r>
              <a:rPr lang="zh-CN" altLang="en-US" sz="2800" b="1" dirty="0"/>
              <a:t>中，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是没有次序的。有时需要考虑有次序的两个元素，所以需要由两个元素组成新的东西，并且两个元素是有次序的。</a:t>
            </a:r>
            <a:endParaRPr lang="zh-CN" altLang="en-US" sz="2800" b="1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2.1</a:t>
            </a:r>
            <a:r>
              <a:rPr lang="zh-CN" altLang="en-US" sz="2800" dirty="0">
                <a:solidFill>
                  <a:srgbClr val="000000"/>
                </a:solidFill>
              </a:rPr>
              <a:t>两个元素</a:t>
            </a:r>
            <a:r>
              <a:rPr lang="en-US" altLang="zh-CN" sz="2800" dirty="0">
                <a:solidFill>
                  <a:srgbClr val="000000"/>
                </a:solidFill>
              </a:rPr>
              <a:t>a, b </a:t>
            </a:r>
            <a:r>
              <a:rPr lang="zh-CN" altLang="en-US" sz="2800" dirty="0">
                <a:solidFill>
                  <a:srgbClr val="000000"/>
                </a:solidFill>
              </a:rPr>
              <a:t>有次序地放在一起，称为一个</a:t>
            </a:r>
            <a:r>
              <a:rPr lang="zh-CN" altLang="en-US" sz="2800" b="1" dirty="0">
                <a:solidFill>
                  <a:srgbClr val="0000FF"/>
                </a:solidFill>
              </a:rPr>
              <a:t>有序对</a:t>
            </a:r>
            <a:r>
              <a:rPr lang="zh-CN" altLang="en-US" sz="2800" dirty="0">
                <a:solidFill>
                  <a:srgbClr val="000000"/>
                </a:solidFill>
              </a:rPr>
              <a:t>或</a:t>
            </a:r>
            <a:r>
              <a:rPr lang="zh-CN" altLang="en-US" sz="2800" b="1" dirty="0">
                <a:solidFill>
                  <a:srgbClr val="0000FF"/>
                </a:solidFill>
              </a:rPr>
              <a:t>序偶</a:t>
            </a:r>
            <a:r>
              <a:rPr lang="zh-CN" altLang="en-US" sz="2800" dirty="0">
                <a:solidFill>
                  <a:srgbClr val="000000"/>
                </a:solidFill>
              </a:rPr>
              <a:t>，记为</a:t>
            </a:r>
            <a:r>
              <a:rPr lang="en-US" altLang="zh-CN" sz="2800" dirty="0">
                <a:solidFill>
                  <a:srgbClr val="000000"/>
                </a:solidFill>
              </a:rPr>
              <a:t>(a, b)</a:t>
            </a:r>
            <a:r>
              <a:rPr lang="zh-CN" altLang="en-US" sz="2800" dirty="0">
                <a:solidFill>
                  <a:srgbClr val="000000"/>
                </a:solidFill>
              </a:rPr>
              <a:t>。在有序对</a:t>
            </a:r>
            <a:r>
              <a:rPr lang="en-US" altLang="zh-CN" sz="2800" dirty="0">
                <a:solidFill>
                  <a:srgbClr val="000000"/>
                </a:solidFill>
              </a:rPr>
              <a:t>(a, b)</a:t>
            </a:r>
            <a:r>
              <a:rPr lang="zh-CN" altLang="en-US" sz="2800" dirty="0">
                <a:solidFill>
                  <a:srgbClr val="000000"/>
                </a:solidFill>
              </a:rPr>
              <a:t>中，</a:t>
            </a:r>
            <a:r>
              <a:rPr lang="en-US" altLang="zh-CN" sz="2800" dirty="0">
                <a:solidFill>
                  <a:srgbClr val="000000"/>
                </a:solidFill>
              </a:rPr>
              <a:t>a </a:t>
            </a:r>
            <a:r>
              <a:rPr lang="zh-CN" altLang="en-US" sz="2800" dirty="0">
                <a:solidFill>
                  <a:srgbClr val="000000"/>
                </a:solidFill>
              </a:rPr>
              <a:t>称为</a:t>
            </a:r>
            <a:r>
              <a:rPr lang="zh-CN" altLang="en-US" sz="2800" b="1" dirty="0">
                <a:solidFill>
                  <a:srgbClr val="0000FF"/>
                </a:solidFill>
              </a:rPr>
              <a:t>第一元素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称为</a:t>
            </a:r>
            <a:r>
              <a:rPr lang="zh-CN" altLang="en-US" sz="2800" b="1" dirty="0">
                <a:solidFill>
                  <a:srgbClr val="0000FF"/>
                </a:solidFill>
              </a:rPr>
              <a:t>第二元素</a:t>
            </a:r>
            <a:r>
              <a:rPr lang="zh-CN" altLang="en-US" sz="2800" dirty="0">
                <a:solidFill>
                  <a:srgbClr val="000000"/>
                </a:solidFill>
              </a:rPr>
              <a:t>。且</a:t>
            </a:r>
            <a:r>
              <a:rPr lang="en-US" altLang="zh-CN" sz="2800" dirty="0">
                <a:solidFill>
                  <a:srgbClr val="000000"/>
                </a:solidFill>
              </a:rPr>
              <a:t>(a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, 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) = (a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, 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当且仅当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 = 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 = 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70C0"/>
                </a:solidFill>
              </a:rPr>
              <a:t>例</a:t>
            </a:r>
            <a:r>
              <a:rPr lang="en-US" altLang="zh-CN" sz="2800" b="1" dirty="0">
                <a:solidFill>
                  <a:srgbClr val="0070C0"/>
                </a:solidFill>
              </a:rPr>
              <a:t>2.1 </a:t>
            </a:r>
            <a:r>
              <a:rPr lang="zh-CN" altLang="en-US" sz="2800" dirty="0">
                <a:solidFill>
                  <a:srgbClr val="000000"/>
                </a:solidFill>
              </a:rPr>
              <a:t>直角坐标系中的点</a:t>
            </a:r>
            <a:r>
              <a:rPr lang="en-US" altLang="zh-CN" sz="2800" dirty="0">
                <a:solidFill>
                  <a:srgbClr val="000000"/>
                </a:solidFill>
              </a:rPr>
              <a:t>(1,2)</a:t>
            </a:r>
            <a:r>
              <a:rPr lang="zh-CN" altLang="en-US" sz="2800" dirty="0">
                <a:solidFill>
                  <a:srgbClr val="000000"/>
                </a:solidFill>
              </a:rPr>
              <a:t>与点</a:t>
            </a:r>
            <a:r>
              <a:rPr lang="en-US" altLang="zh-CN" sz="2800" dirty="0">
                <a:solidFill>
                  <a:srgbClr val="000000"/>
                </a:solidFill>
              </a:rPr>
              <a:t>(2,1)</a:t>
            </a:r>
            <a:r>
              <a:rPr lang="zh-CN" altLang="en-US" sz="2800" dirty="0">
                <a:solidFill>
                  <a:srgbClr val="000000"/>
                </a:solidFill>
              </a:rPr>
              <a:t>是两个不同的点。 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27448" y="980728"/>
            <a:ext cx="10072687" cy="4683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定义</a:t>
            </a:r>
            <a:r>
              <a:rPr lang="en-US" altLang="zh-CN" sz="3200" dirty="0">
                <a:solidFill>
                  <a:srgbClr val="0000FF"/>
                </a:solidFill>
              </a:rPr>
              <a:t>2.2 </a:t>
            </a:r>
            <a:r>
              <a:rPr lang="zh-CN" altLang="en-US" sz="3200" dirty="0"/>
              <a:t>任给</a:t>
            </a:r>
            <a:r>
              <a:rPr lang="en-US" altLang="zh-CN" sz="3200" dirty="0"/>
              <a:t>n≥2,n </a:t>
            </a:r>
            <a:r>
              <a:rPr lang="zh-CN" altLang="en-US" sz="3200" dirty="0"/>
              <a:t>个元素</a:t>
            </a:r>
            <a:r>
              <a:rPr lang="en-US" altLang="zh-CN" sz="3200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,…,a</a:t>
            </a:r>
            <a:r>
              <a:rPr lang="en-US" altLang="zh-CN" sz="3200" baseline="-25000" dirty="0"/>
              <a:t>n</a:t>
            </a:r>
            <a:r>
              <a:rPr lang="en-US" altLang="zh-CN" sz="3200" dirty="0"/>
              <a:t> </a:t>
            </a:r>
            <a:r>
              <a:rPr lang="zh-CN" altLang="en-US" sz="3200" dirty="0"/>
              <a:t>有次序地放在一起</a:t>
            </a:r>
            <a:r>
              <a:rPr lang="en-US" altLang="zh-CN" sz="3200" dirty="0"/>
              <a:t>,</a:t>
            </a:r>
            <a:r>
              <a:rPr lang="zh-CN" altLang="en-US" sz="3200" dirty="0"/>
              <a:t>称为一个</a:t>
            </a:r>
            <a:r>
              <a:rPr lang="en-US" altLang="zh-CN" sz="3200" dirty="0"/>
              <a:t>n </a:t>
            </a:r>
            <a:r>
              <a:rPr lang="zh-CN" altLang="en-US" sz="3200" dirty="0"/>
              <a:t>元有序 组</a:t>
            </a:r>
            <a:r>
              <a:rPr lang="en-US" altLang="zh-CN" sz="3200" dirty="0"/>
              <a:t>,</a:t>
            </a:r>
            <a:r>
              <a:rPr lang="zh-CN" altLang="en-US" sz="3200" dirty="0"/>
              <a:t>记为</a:t>
            </a:r>
            <a:r>
              <a:rPr lang="en-US" altLang="zh-CN" sz="3200" dirty="0"/>
              <a:t>(a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,…,a</a:t>
            </a:r>
            <a:r>
              <a:rPr lang="en-US" altLang="zh-CN" sz="3200" baseline="-25000" dirty="0"/>
              <a:t>n</a:t>
            </a:r>
            <a:r>
              <a:rPr lang="en-US" altLang="zh-CN" sz="3200" dirty="0"/>
              <a:t> )</a:t>
            </a:r>
            <a:r>
              <a:rPr lang="zh-CN" altLang="en-US" sz="3200" dirty="0"/>
              <a:t>。为了体现</a:t>
            </a:r>
            <a:r>
              <a:rPr lang="en-US" altLang="zh-CN" sz="3200" dirty="0"/>
              <a:t>n </a:t>
            </a:r>
            <a:r>
              <a:rPr lang="zh-CN" altLang="en-US" sz="3200" dirty="0"/>
              <a:t>元有序组的次序</a:t>
            </a:r>
            <a:r>
              <a:rPr lang="en-US" altLang="zh-CN" sz="3200" dirty="0"/>
              <a:t>,</a:t>
            </a:r>
            <a:r>
              <a:rPr lang="zh-CN" altLang="en-US" sz="3200" dirty="0"/>
              <a:t>规定</a:t>
            </a:r>
            <a:r>
              <a:rPr lang="en-US" altLang="zh-CN" sz="3200" dirty="0"/>
              <a:t>(a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,…,a</a:t>
            </a:r>
            <a:r>
              <a:rPr lang="en-US" altLang="zh-CN" sz="3200" baseline="-25000" dirty="0"/>
              <a:t>n</a:t>
            </a:r>
            <a:r>
              <a:rPr lang="en-US" altLang="zh-CN" sz="3200" dirty="0"/>
              <a:t> )=(b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,b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,…,b</a:t>
            </a:r>
            <a:r>
              <a:rPr lang="en-US" altLang="zh-CN" sz="3200" baseline="-25000" dirty="0"/>
              <a:t>n</a:t>
            </a:r>
            <a:r>
              <a:rPr lang="en-US" altLang="zh-CN" sz="3200" dirty="0"/>
              <a:t> )</a:t>
            </a:r>
            <a:r>
              <a:rPr lang="zh-CN" altLang="en-US" sz="3200" dirty="0"/>
              <a:t>当且仅当任给</a:t>
            </a:r>
            <a:r>
              <a:rPr lang="en-US" altLang="zh-CN" sz="3200" dirty="0"/>
              <a:t>1≤i≤n,</a:t>
            </a:r>
            <a:r>
              <a:rPr lang="zh-CN" altLang="en-US" sz="3200" dirty="0"/>
              <a:t>都有</a:t>
            </a:r>
            <a:r>
              <a:rPr lang="en-US" altLang="zh-CN" sz="3200" dirty="0"/>
              <a:t>a</a:t>
            </a:r>
            <a:r>
              <a:rPr lang="en-US" altLang="zh-CN" sz="3200" baseline="-25000" dirty="0"/>
              <a:t>i</a:t>
            </a:r>
            <a:r>
              <a:rPr lang="en-US" altLang="zh-CN" sz="3200" dirty="0"/>
              <a:t>=b</a:t>
            </a:r>
            <a:r>
              <a:rPr lang="en-US" altLang="zh-CN" sz="3200" baseline="-25000" dirty="0"/>
              <a:t>i</a:t>
            </a:r>
            <a:r>
              <a:rPr lang="zh-CN" altLang="en-US" sz="3200" dirty="0"/>
              <a:t>。 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rgbClr val="0070C0"/>
                </a:solidFill>
              </a:rPr>
              <a:t>例</a:t>
            </a:r>
            <a:r>
              <a:rPr lang="en-US" altLang="zh-CN" sz="3200" b="1" dirty="0">
                <a:solidFill>
                  <a:srgbClr val="0070C0"/>
                </a:solidFill>
              </a:rPr>
              <a:t>2.2 </a:t>
            </a:r>
            <a:r>
              <a:rPr lang="zh-CN" altLang="en-US" sz="3200" dirty="0"/>
              <a:t>三维坐标系中的点</a:t>
            </a:r>
            <a:r>
              <a:rPr lang="en-US" altLang="zh-CN" sz="3200" dirty="0"/>
              <a:t>(1,2,3)</a:t>
            </a:r>
            <a:r>
              <a:rPr lang="zh-CN" altLang="en-US" sz="3200" dirty="0"/>
              <a:t>与点</a:t>
            </a:r>
            <a:r>
              <a:rPr lang="en-US" altLang="zh-CN" sz="3200" dirty="0"/>
              <a:t>(3,2,1)</a:t>
            </a:r>
            <a:r>
              <a:rPr lang="zh-CN" altLang="en-US" sz="3200" dirty="0"/>
              <a:t>是两个不同的点。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14118C5-AF13-4739-A394-642969F86C9C}" type="slidenum">
              <a:rPr lang="en-US" altLang="zh-CN"/>
            </a:fld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623392" y="1412776"/>
            <a:ext cx="11161240" cy="4391025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</a:rPr>
              <a:t>2.3</a:t>
            </a:r>
            <a:r>
              <a:rPr lang="en-US" altLang="zh-CN" sz="3200" dirty="0"/>
              <a:t>  </a:t>
            </a:r>
            <a:r>
              <a:rPr lang="zh-CN" altLang="en-US" sz="3200" dirty="0"/>
              <a:t>设</a:t>
            </a:r>
            <a:r>
              <a:rPr lang="en-US" altLang="zh-CN" sz="3200" dirty="0">
                <a:latin typeface="Times New Roman" panose="02020603050405020304" pitchFamily="18" charset="0"/>
              </a:rPr>
              <a:t>A, B</a:t>
            </a:r>
            <a:r>
              <a:rPr lang="en-US" altLang="zh-CN" sz="3200" i="1" dirty="0"/>
              <a:t> </a:t>
            </a:r>
            <a:r>
              <a:rPr lang="zh-CN" altLang="en-US" sz="3200" dirty="0"/>
              <a:t>是两个集合，集合</a:t>
            </a:r>
            <a:r>
              <a:rPr lang="en-US" altLang="zh-CN" sz="3200" dirty="0"/>
              <a:t>{(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/>
              <a:t>) | 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dirty="0" err="1"/>
              <a:t>∈</a:t>
            </a:r>
            <a:r>
              <a:rPr lang="en-US" altLang="zh-CN" sz="3200" dirty="0" err="1">
                <a:latin typeface="Times New Roman" panose="02020603050405020304" pitchFamily="18" charset="0"/>
              </a:rPr>
              <a:t>A</a:t>
            </a:r>
            <a:r>
              <a:rPr lang="en-US" altLang="zh-CN" sz="3200" i="1" dirty="0"/>
              <a:t> </a:t>
            </a:r>
            <a:r>
              <a:rPr lang="zh-CN" altLang="en-US" sz="3200" dirty="0"/>
              <a:t>且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dirty="0" err="1"/>
              <a:t>∈</a:t>
            </a:r>
            <a:r>
              <a:rPr lang="en-US" altLang="zh-CN" sz="3200" dirty="0" err="1">
                <a:latin typeface="Times New Roman" panose="02020603050405020304" pitchFamily="18" charset="0"/>
              </a:rPr>
              <a:t>B</a:t>
            </a:r>
            <a:r>
              <a:rPr lang="en-US" altLang="zh-CN" sz="3200" dirty="0"/>
              <a:t>}</a:t>
            </a:r>
            <a:r>
              <a:rPr lang="zh-CN" altLang="en-US" sz="3200" dirty="0"/>
              <a:t>称为</a:t>
            </a:r>
            <a:r>
              <a:rPr lang="en-US" altLang="zh-CN" sz="3200" dirty="0">
                <a:latin typeface="Times New Roman" panose="02020603050405020304" pitchFamily="18" charset="0"/>
              </a:rPr>
              <a:t>A</a:t>
            </a:r>
            <a:r>
              <a:rPr lang="en-US" altLang="zh-CN" sz="3200" i="1" dirty="0"/>
              <a:t> </a:t>
            </a:r>
            <a:r>
              <a:rPr lang="zh-CN" altLang="en-US" sz="3200" dirty="0"/>
              <a:t>和</a:t>
            </a:r>
            <a:r>
              <a:rPr lang="en-US" altLang="zh-CN" sz="3200" dirty="0">
                <a:latin typeface="Times New Roman" panose="02020603050405020304" pitchFamily="18" charset="0"/>
              </a:rPr>
              <a:t>B</a:t>
            </a:r>
            <a:r>
              <a:rPr lang="en-US" altLang="zh-CN" sz="3200" i="1" dirty="0"/>
              <a:t> 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0000FF"/>
                </a:solidFill>
              </a:rPr>
              <a:t>笛卡儿积</a:t>
            </a:r>
            <a:r>
              <a:rPr lang="zh-CN" altLang="en-US" sz="3200" dirty="0"/>
              <a:t>，也称</a:t>
            </a:r>
            <a:r>
              <a:rPr lang="zh-CN" altLang="en-US" sz="3200" b="1" dirty="0">
                <a:solidFill>
                  <a:srgbClr val="0000FF"/>
                </a:solidFill>
              </a:rPr>
              <a:t>卡氏积</a:t>
            </a:r>
            <a:r>
              <a:rPr lang="zh-CN" altLang="en-US" sz="3200" dirty="0"/>
              <a:t>，记为</a:t>
            </a:r>
            <a:r>
              <a:rPr lang="en-US" altLang="zh-CN" sz="3200" dirty="0">
                <a:latin typeface="Times New Roman" panose="02020603050405020304" pitchFamily="18" charset="0"/>
              </a:rPr>
              <a:t>A×B</a:t>
            </a:r>
            <a:r>
              <a:rPr lang="zh-CN" altLang="en-US" sz="3200" dirty="0"/>
              <a:t>。用属于关系来表示就是：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x, y</a:t>
            </a:r>
            <a:r>
              <a:rPr lang="en-US" altLang="zh-CN" sz="3200" dirty="0">
                <a:latin typeface="Times New Roman" panose="02020603050405020304" pitchFamily="18" charset="0"/>
              </a:rPr>
              <a:t>)∈A×B</a:t>
            </a:r>
            <a:r>
              <a:rPr lang="en-US" altLang="zh-CN" sz="3200" i="1" dirty="0"/>
              <a:t> </a:t>
            </a:r>
            <a:r>
              <a:rPr lang="zh-CN" altLang="en-US" sz="3200" dirty="0"/>
              <a:t>当且仅当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dirty="0" err="1">
                <a:latin typeface="Times New Roman" panose="02020603050405020304" pitchFamily="18" charset="0"/>
              </a:rPr>
              <a:t>∈A</a:t>
            </a:r>
            <a:r>
              <a:rPr lang="en-US" altLang="zh-CN" sz="3200" i="1" dirty="0"/>
              <a:t> </a:t>
            </a:r>
            <a:r>
              <a:rPr lang="zh-CN" altLang="en-US" sz="3200" dirty="0"/>
              <a:t>且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3200" dirty="0"/>
              <a:t>和</a:t>
            </a:r>
            <a:r>
              <a:rPr lang="en-US" altLang="zh-CN" sz="3200" dirty="0"/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/>
              <a:t>)∉</a:t>
            </a:r>
            <a:r>
              <a:rPr lang="en-US" altLang="zh-CN" sz="3200" dirty="0">
                <a:latin typeface="Times New Roman" panose="02020603050405020304" pitchFamily="18" charset="0"/>
              </a:rPr>
              <a:t>A×B</a:t>
            </a:r>
            <a:r>
              <a:rPr lang="en-US" altLang="zh-CN" sz="3200" i="1" dirty="0"/>
              <a:t> </a:t>
            </a:r>
            <a:r>
              <a:rPr lang="zh-CN" altLang="en-US" sz="3200" dirty="0"/>
              <a:t>当且仅当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dirty="0" err="1"/>
              <a:t>∉</a:t>
            </a:r>
            <a:r>
              <a:rPr lang="en-US" altLang="zh-CN" sz="3200" dirty="0" err="1">
                <a:latin typeface="Times New Roman" panose="02020603050405020304" pitchFamily="18" charset="0"/>
              </a:rPr>
              <a:t>A</a:t>
            </a:r>
            <a:r>
              <a:rPr lang="zh-CN" altLang="en-US" sz="3200" dirty="0"/>
              <a:t>或</a:t>
            </a:r>
            <a:r>
              <a:rPr lang="en-US" altLang="zh-CN" sz="3200" i="1" dirty="0">
                <a:latin typeface="Times New Roman" panose="02020603050405020304" pitchFamily="18" charset="0"/>
              </a:rPr>
              <a:t>y </a:t>
            </a:r>
            <a:r>
              <a:rPr lang="en-US" altLang="zh-CN" sz="3200" dirty="0">
                <a:latin typeface="Times New Roman" panose="02020603050405020304" pitchFamily="18" charset="0"/>
              </a:rPr>
              <a:t>∉B</a:t>
            </a:r>
            <a:r>
              <a:rPr lang="zh-CN" altLang="en-US" sz="3200" dirty="0"/>
              <a:t>。其中</a:t>
            </a:r>
            <a:r>
              <a:rPr lang="en-US" altLang="zh-CN" sz="3200" dirty="0">
                <a:latin typeface="Times New Roman" panose="02020603050405020304" pitchFamily="18" charset="0"/>
              </a:rPr>
              <a:t>A</a:t>
            </a:r>
            <a:r>
              <a:rPr lang="en-US" altLang="zh-CN" sz="3200" i="1" dirty="0"/>
              <a:t> </a:t>
            </a:r>
            <a:r>
              <a:rPr lang="zh-CN" altLang="en-US" sz="3200" dirty="0"/>
              <a:t>称为</a:t>
            </a:r>
            <a:r>
              <a:rPr lang="zh-CN" altLang="en-US" sz="3200" b="1" dirty="0">
                <a:solidFill>
                  <a:srgbClr val="0000FF"/>
                </a:solidFill>
              </a:rPr>
              <a:t>第一集合</a:t>
            </a:r>
            <a:r>
              <a:rPr lang="zh-CN" altLang="en-US" sz="3200" dirty="0"/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/>
              <a:t> </a:t>
            </a:r>
            <a:r>
              <a:rPr lang="zh-CN" altLang="en-US" sz="3200" dirty="0"/>
              <a:t>称为</a:t>
            </a:r>
            <a:r>
              <a:rPr lang="zh-CN" altLang="en-US" sz="3200" b="1" dirty="0">
                <a:solidFill>
                  <a:srgbClr val="0000FF"/>
                </a:solidFill>
              </a:rPr>
              <a:t>第二集合</a:t>
            </a:r>
            <a:r>
              <a:rPr lang="zh-CN" altLang="en-US" sz="3200" dirty="0"/>
              <a:t>。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24AAB79-78D4-41A3-A9B4-07F55471101A}" type="slidenum">
              <a:rPr lang="en-US" altLang="zh-CN"/>
            </a:fld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148138" y="341313"/>
            <a:ext cx="8043862" cy="1143000"/>
          </a:xfrm>
        </p:spPr>
        <p:txBody>
          <a:bodyPr/>
          <a:lstStyle/>
          <a:p>
            <a:r>
              <a:rPr lang="zh-CN" altLang="en-US" sz="3200" b="1" dirty="0"/>
              <a:t>例</a:t>
            </a:r>
            <a:r>
              <a:rPr lang="en-US" altLang="zh-CN" sz="3200" b="1" dirty="0"/>
              <a:t>2.3</a:t>
            </a:r>
            <a:r>
              <a:rPr lang="en-US" altLang="zh-CN" sz="3200" dirty="0"/>
              <a:t> </a:t>
            </a:r>
            <a:r>
              <a:rPr lang="zh-CN" altLang="en-US" sz="3200" dirty="0"/>
              <a:t>设</a:t>
            </a:r>
            <a:r>
              <a:rPr lang="en-US" altLang="zh-CN" sz="3200" dirty="0"/>
              <a:t>A={1,2,3}, B={</a:t>
            </a:r>
            <a:r>
              <a:rPr lang="en-US" altLang="zh-CN" sz="3200" dirty="0" err="1"/>
              <a:t>a,b</a:t>
            </a:r>
            <a:r>
              <a:rPr lang="en-US" altLang="zh-CN" sz="3200" dirty="0"/>
              <a:t>}</a:t>
            </a:r>
            <a:r>
              <a:rPr lang="zh-CN" altLang="en-US" sz="3200" dirty="0"/>
              <a:t>，</a:t>
            </a:r>
            <a:r>
              <a:rPr lang="zh-CN" altLang="en-US" sz="3200" dirty="0"/>
              <a:t>求</a:t>
            </a:r>
            <a:r>
              <a:rPr lang="en-US" altLang="zh-CN" sz="3200" dirty="0"/>
              <a:t>A×B</a:t>
            </a:r>
            <a:r>
              <a:rPr lang="zh-CN" altLang="en-US" sz="3200" dirty="0"/>
              <a:t>。</a:t>
            </a:r>
            <a:endParaRPr lang="zh-CN" altLang="en-US" sz="32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3723" y="1484313"/>
            <a:ext cx="11064553" cy="4114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/>
              <a:t>由笛卡儿积的定义可知有A</a:t>
            </a:r>
            <a:r>
              <a:rPr lang="en-US" altLang="en-US" sz="2800" dirty="0"/>
              <a:t>×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en-US" altLang="en-US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en-US" altLang="en-US" sz="2800" dirty="0"/>
              <a:t>×A=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en-US" altLang="zh-CN" sz="2800" dirty="0"/>
              <a:t> </a:t>
            </a:r>
            <a:r>
              <a:rPr lang="en-US" altLang="en-US" sz="2800" dirty="0"/>
              <a:t>。</a:t>
            </a:r>
            <a:r>
              <a:rPr lang="en-US" altLang="en-US" sz="2800" dirty="0" err="1"/>
              <a:t>又由有序对的性质可知，一般没有A×B≠B×A。A×B也是一个集合，所以可以和另一集合C作笛卡儿积</a:t>
            </a:r>
            <a:r>
              <a:rPr lang="en-US" altLang="en-US" sz="2800" dirty="0"/>
              <a:t>(A×B)×</a:t>
            </a:r>
            <a:r>
              <a:rPr lang="en-US" altLang="en-US" sz="2800" dirty="0" err="1"/>
              <a:t>C，类似地有A</a:t>
            </a:r>
            <a:r>
              <a:rPr lang="en-US" altLang="en-US" sz="2800" dirty="0"/>
              <a:t>×(B×C)。</a:t>
            </a:r>
            <a:r>
              <a:rPr lang="en-US" altLang="en-US" sz="2800" dirty="0" err="1"/>
              <a:t>但是，一般没有</a:t>
            </a:r>
            <a:r>
              <a:rPr lang="en-US" altLang="en-US" sz="2800" dirty="0"/>
              <a:t>(A×B)×C=A×(B×C)，</a:t>
            </a:r>
            <a:r>
              <a:rPr lang="en-US" altLang="en-US" sz="2800" dirty="0" err="1"/>
              <a:t>且A×B中的元素既不是A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中的元素，也不是B中的元素</a:t>
            </a:r>
            <a:r>
              <a:rPr lang="en-US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3392" y="1412776"/>
            <a:ext cx="10945216" cy="43577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定义</a:t>
            </a:r>
            <a:r>
              <a:rPr lang="en-US" altLang="zh-CN" sz="3200" dirty="0">
                <a:solidFill>
                  <a:srgbClr val="0000FF"/>
                </a:solidFill>
              </a:rPr>
              <a:t>2.4 </a:t>
            </a:r>
            <a:r>
              <a:rPr lang="zh-CN" altLang="en-US" sz="3200" dirty="0"/>
              <a:t>任给</a:t>
            </a:r>
            <a:r>
              <a:rPr lang="en-US" altLang="zh-CN" sz="3200" dirty="0"/>
              <a:t>n≥2,A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,…,A</a:t>
            </a:r>
            <a:r>
              <a:rPr lang="en-US" altLang="zh-CN" sz="3200" baseline="-25000" dirty="0"/>
              <a:t>n</a:t>
            </a:r>
            <a:r>
              <a:rPr lang="en-US" altLang="zh-CN" sz="3200" dirty="0"/>
              <a:t> </a:t>
            </a:r>
            <a:r>
              <a:rPr lang="zh-CN" altLang="en-US" sz="3200" dirty="0"/>
              <a:t>是</a:t>
            </a:r>
            <a:r>
              <a:rPr lang="en-US" altLang="zh-CN" sz="3200" dirty="0"/>
              <a:t>n </a:t>
            </a:r>
            <a:r>
              <a:rPr lang="zh-CN" altLang="en-US" sz="3200" dirty="0"/>
              <a:t>个集合</a:t>
            </a:r>
            <a:r>
              <a:rPr lang="en-US" altLang="zh-CN" sz="3200" dirty="0"/>
              <a:t>,</a:t>
            </a:r>
            <a:r>
              <a:rPr lang="zh-CN" altLang="en-US" sz="3200" dirty="0"/>
              <a:t>集合</a:t>
            </a:r>
            <a:r>
              <a:rPr lang="en-US" altLang="zh-CN" sz="3200" dirty="0"/>
              <a:t>{(x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,x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</a:t>
            </a:r>
            <a:r>
              <a:rPr lang="en-US" altLang="zh-CN" sz="3200" dirty="0" err="1"/>
              <a:t>x</a:t>
            </a:r>
            <a:r>
              <a:rPr lang="en-US" altLang="zh-CN" sz="3200" baseline="-25000" dirty="0" err="1"/>
              <a:t>n</a:t>
            </a:r>
            <a:r>
              <a:rPr lang="en-US" altLang="zh-CN" sz="3200" dirty="0"/>
              <a:t>)|</a:t>
            </a:r>
            <a:r>
              <a:rPr lang="zh-CN" altLang="en-US" sz="3200" dirty="0"/>
              <a:t>任给</a:t>
            </a:r>
            <a:r>
              <a:rPr lang="en-US" altLang="zh-CN" sz="3200" dirty="0"/>
              <a:t>1≤i≤ n,</a:t>
            </a:r>
            <a:r>
              <a:rPr lang="zh-CN" altLang="en-US" sz="3200" dirty="0"/>
              <a:t>都有</a:t>
            </a:r>
            <a:r>
              <a:rPr lang="en-US" altLang="zh-CN" sz="3200" dirty="0" err="1"/>
              <a:t>x</a:t>
            </a:r>
            <a:r>
              <a:rPr lang="en-US" altLang="zh-CN" sz="3200" baseline="-25000" dirty="0" err="1"/>
              <a:t>i</a:t>
            </a:r>
            <a:r>
              <a:rPr lang="en-US" altLang="zh-CN" sz="3200" dirty="0" err="1"/>
              <a:t>∈A</a:t>
            </a:r>
            <a:r>
              <a:rPr lang="en-US" altLang="zh-CN" sz="3200" baseline="-25000" dirty="0" err="1"/>
              <a:t>i</a:t>
            </a:r>
            <a:r>
              <a:rPr lang="en-US" altLang="zh-CN" sz="3200" dirty="0"/>
              <a:t>}</a:t>
            </a:r>
            <a:r>
              <a:rPr lang="zh-CN" altLang="en-US" sz="3200" dirty="0"/>
              <a:t>称为</a:t>
            </a:r>
            <a:r>
              <a:rPr lang="en-US" altLang="zh-CN" sz="3200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,…,A</a:t>
            </a:r>
            <a:r>
              <a:rPr lang="en-US" altLang="zh-CN" sz="3200" baseline="-25000" dirty="0"/>
              <a:t>n</a:t>
            </a:r>
            <a:r>
              <a:rPr lang="zh-CN" altLang="en-US" sz="3200" dirty="0"/>
              <a:t>的笛卡儿积</a:t>
            </a:r>
            <a:r>
              <a:rPr lang="en-US" altLang="zh-CN" sz="3200" dirty="0"/>
              <a:t>,</a:t>
            </a:r>
            <a:r>
              <a:rPr lang="zh-CN" altLang="en-US" sz="3200" dirty="0"/>
              <a:t>记为 </a:t>
            </a:r>
            <a:r>
              <a:rPr lang="en-US" altLang="zh-CN" sz="3200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×A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×…×A</a:t>
            </a:r>
            <a:r>
              <a:rPr lang="en-US" altLang="zh-CN" sz="3200" baseline="-25000" dirty="0"/>
              <a:t>n</a:t>
            </a:r>
            <a:r>
              <a:rPr lang="zh-CN" altLang="en-US" sz="3200" dirty="0"/>
              <a:t>。任给</a:t>
            </a:r>
            <a:r>
              <a:rPr lang="en-US" altLang="zh-CN" sz="3200" dirty="0"/>
              <a:t>1≤i≤n, A</a:t>
            </a:r>
            <a:r>
              <a:rPr lang="en-US" altLang="zh-CN" sz="3200" baseline="-25000" dirty="0"/>
              <a:t>i</a:t>
            </a:r>
            <a:r>
              <a:rPr lang="en-US" altLang="zh-CN" sz="3200" dirty="0"/>
              <a:t> </a:t>
            </a:r>
            <a:r>
              <a:rPr lang="zh-CN" altLang="en-US" sz="3200" dirty="0"/>
              <a:t>称为这个卡氏积的第</a:t>
            </a:r>
            <a:r>
              <a:rPr lang="en-US" altLang="zh-CN" sz="3200" dirty="0" err="1"/>
              <a:t>i</a:t>
            </a:r>
            <a:r>
              <a:rPr lang="zh-CN" altLang="en-US" sz="3200" dirty="0"/>
              <a:t>个集合。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4294967295"/>
          </p:nvPr>
        </p:nvSpPr>
        <p:spPr>
          <a:xfrm>
            <a:off x="131676" y="1412776"/>
            <a:ext cx="11928648" cy="43577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70C0"/>
                </a:solidFill>
              </a:rPr>
              <a:t>例</a:t>
            </a:r>
            <a:r>
              <a:rPr lang="en-US" altLang="zh-CN" sz="2800" b="1" dirty="0">
                <a:solidFill>
                  <a:srgbClr val="0070C0"/>
                </a:solidFill>
              </a:rPr>
              <a:t>2.4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A={1,2},</a:t>
            </a:r>
            <a:r>
              <a:rPr lang="zh-CN" altLang="en-US" sz="2800" dirty="0"/>
              <a:t>集合</a:t>
            </a:r>
            <a:r>
              <a:rPr lang="en-US" altLang="zh-CN" sz="2800" dirty="0"/>
              <a:t>B={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},</a:t>
            </a:r>
            <a:r>
              <a:rPr lang="zh-CN" altLang="en-US" sz="2800" dirty="0"/>
              <a:t>集合</a:t>
            </a:r>
            <a:r>
              <a:rPr lang="en-US" altLang="zh-CN" sz="2800" dirty="0"/>
              <a:t>C={</a:t>
            </a:r>
            <a:r>
              <a:rPr lang="el-GR" altLang="zh-CN" sz="2800" dirty="0"/>
              <a:t>β,δ},</a:t>
            </a:r>
            <a:r>
              <a:rPr lang="zh-CN" altLang="en-US" sz="2800" dirty="0"/>
              <a:t>计算</a:t>
            </a:r>
            <a:r>
              <a:rPr lang="en-US" altLang="zh-CN" sz="2800" dirty="0"/>
              <a:t>A×B×C,(A×B)× C,A×(B×C)</a:t>
            </a:r>
            <a:r>
              <a:rPr lang="zh-CN" altLang="en-US" sz="2800" dirty="0"/>
              <a:t>。 </a:t>
            </a:r>
            <a:r>
              <a:rPr lang="zh-CN" altLang="en-US" sz="2800" b="1" dirty="0"/>
              <a:t>解</a:t>
            </a:r>
            <a:r>
              <a:rPr lang="en-US" altLang="zh-CN" sz="2800" dirty="0"/>
              <a:t>:A×B×C ={(1,a,</a:t>
            </a:r>
            <a:r>
              <a:rPr lang="el-GR" altLang="zh-CN" sz="2800" dirty="0"/>
              <a:t>β),(1,</a:t>
            </a:r>
            <a:r>
              <a:rPr lang="en-US" altLang="zh-CN" sz="2800" dirty="0"/>
              <a:t>b,</a:t>
            </a:r>
            <a:r>
              <a:rPr lang="el-GR" altLang="zh-CN" sz="2800" dirty="0"/>
              <a:t>β),(2,</a:t>
            </a:r>
            <a:r>
              <a:rPr lang="en-US" altLang="zh-CN" sz="2800" dirty="0"/>
              <a:t>a,</a:t>
            </a:r>
            <a:r>
              <a:rPr lang="el-GR" altLang="zh-CN" sz="2800" dirty="0"/>
              <a:t>β),(2,</a:t>
            </a:r>
            <a:r>
              <a:rPr lang="en-US" altLang="zh-CN" sz="2800" dirty="0"/>
              <a:t>b,</a:t>
            </a:r>
            <a:r>
              <a:rPr lang="el-GR" altLang="zh-CN" sz="2800" dirty="0"/>
              <a:t>β),(1,</a:t>
            </a:r>
            <a:r>
              <a:rPr lang="en-US" altLang="zh-CN" sz="2800" dirty="0"/>
              <a:t>a,</a:t>
            </a:r>
            <a:r>
              <a:rPr lang="el-GR" altLang="zh-CN" sz="2800" dirty="0"/>
              <a:t>δ),(1,</a:t>
            </a:r>
            <a:r>
              <a:rPr lang="en-US" altLang="zh-CN" sz="2800" dirty="0"/>
              <a:t>b,</a:t>
            </a:r>
            <a:r>
              <a:rPr lang="el-GR" altLang="zh-CN" sz="2800" dirty="0"/>
              <a:t>δ),(2,</a:t>
            </a:r>
            <a:r>
              <a:rPr lang="en-US" altLang="zh-CN" sz="2800" dirty="0"/>
              <a:t>a,</a:t>
            </a:r>
            <a:r>
              <a:rPr lang="el-GR" altLang="zh-CN" sz="2800" dirty="0"/>
              <a:t>δ),(2,</a:t>
            </a:r>
            <a:r>
              <a:rPr lang="en-US" altLang="zh-CN" sz="2800" dirty="0"/>
              <a:t>b,</a:t>
            </a:r>
            <a:r>
              <a:rPr lang="el-GR" altLang="zh-CN" sz="2800" dirty="0"/>
              <a:t>δ)} 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l-GR" altLang="zh-CN" sz="2800" dirty="0"/>
              <a:t>(</a:t>
            </a:r>
            <a:r>
              <a:rPr lang="en-US" altLang="zh-CN" sz="2800" dirty="0"/>
              <a:t>A×B)×C ={((1,a),</a:t>
            </a:r>
            <a:r>
              <a:rPr lang="el-GR" altLang="zh-CN" sz="2800" dirty="0"/>
              <a:t>β),((1,</a:t>
            </a:r>
            <a:r>
              <a:rPr lang="en-US" altLang="zh-CN" sz="2800" dirty="0"/>
              <a:t>b),</a:t>
            </a:r>
            <a:r>
              <a:rPr lang="el-GR" altLang="zh-CN" sz="2800" dirty="0"/>
              <a:t>β),((2,</a:t>
            </a:r>
            <a:r>
              <a:rPr lang="en-US" altLang="zh-CN" sz="2800" dirty="0"/>
              <a:t>a),</a:t>
            </a:r>
            <a:r>
              <a:rPr lang="el-GR" altLang="zh-CN" sz="2800" dirty="0"/>
              <a:t>β),((2,</a:t>
            </a:r>
            <a:r>
              <a:rPr lang="en-US" altLang="zh-CN" sz="2800" dirty="0"/>
              <a:t>b),</a:t>
            </a:r>
            <a:r>
              <a:rPr lang="el-GR" altLang="zh-CN" sz="2800" dirty="0"/>
              <a:t>β),((1,</a:t>
            </a:r>
            <a:r>
              <a:rPr lang="en-US" altLang="zh-CN" sz="2800" dirty="0"/>
              <a:t>a),</a:t>
            </a:r>
            <a:r>
              <a:rPr lang="el-GR" altLang="zh-CN" sz="2800" dirty="0"/>
              <a:t>δ),((1,</a:t>
            </a:r>
            <a:r>
              <a:rPr lang="en-US" altLang="zh-CN" sz="2800" dirty="0"/>
              <a:t>b),</a:t>
            </a:r>
            <a:r>
              <a:rPr lang="el-GR" altLang="zh-CN" sz="2800" dirty="0"/>
              <a:t>δ),((2,</a:t>
            </a:r>
            <a:r>
              <a:rPr lang="en-US" altLang="zh-CN" sz="2800" dirty="0"/>
              <a:t>a),</a:t>
            </a:r>
            <a:r>
              <a:rPr lang="el-GR" altLang="zh-CN" sz="2800" dirty="0"/>
              <a:t>δ),((2,</a:t>
            </a:r>
            <a:r>
              <a:rPr lang="en-US" altLang="zh-CN" sz="2800" dirty="0"/>
              <a:t>b),</a:t>
            </a:r>
            <a:r>
              <a:rPr lang="el-GR" altLang="zh-CN" sz="2800" dirty="0"/>
              <a:t>δ)} 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A×(B×C) ={(1,(a,</a:t>
            </a:r>
            <a:r>
              <a:rPr lang="el-GR" altLang="zh-CN" sz="2800" dirty="0"/>
              <a:t>β)),(1,(</a:t>
            </a:r>
            <a:r>
              <a:rPr lang="en-US" altLang="zh-CN" sz="2800" dirty="0"/>
              <a:t>b,</a:t>
            </a:r>
            <a:r>
              <a:rPr lang="el-GR" altLang="zh-CN" sz="2800" dirty="0"/>
              <a:t>β)),(2,(</a:t>
            </a:r>
            <a:r>
              <a:rPr lang="en-US" altLang="zh-CN" sz="2800" dirty="0"/>
              <a:t>a,</a:t>
            </a:r>
            <a:r>
              <a:rPr lang="el-GR" altLang="zh-CN" sz="2800" dirty="0"/>
              <a:t>β)),(2,(</a:t>
            </a:r>
            <a:r>
              <a:rPr lang="en-US" altLang="zh-CN" sz="2800" dirty="0"/>
              <a:t>b,</a:t>
            </a:r>
            <a:r>
              <a:rPr lang="el-GR" altLang="zh-CN" sz="2800" dirty="0"/>
              <a:t>β)),(1,(</a:t>
            </a:r>
            <a:r>
              <a:rPr lang="en-US" altLang="zh-CN" sz="2800" dirty="0"/>
              <a:t>a,</a:t>
            </a:r>
            <a:r>
              <a:rPr lang="el-GR" altLang="zh-CN" sz="2800" dirty="0"/>
              <a:t>δ)),(1,(</a:t>
            </a:r>
            <a:r>
              <a:rPr lang="en-US" altLang="zh-CN" sz="2800" dirty="0"/>
              <a:t>b,</a:t>
            </a:r>
            <a:r>
              <a:rPr lang="el-GR" altLang="zh-CN" sz="2800" dirty="0"/>
              <a:t>δ)),(2,(</a:t>
            </a:r>
            <a:r>
              <a:rPr lang="en-US" altLang="zh-CN" sz="2800" dirty="0"/>
              <a:t>a,</a:t>
            </a:r>
            <a:r>
              <a:rPr lang="el-GR" altLang="zh-CN" sz="2800" dirty="0"/>
              <a:t>δ)), (2,(</a:t>
            </a:r>
            <a:r>
              <a:rPr lang="en-US" altLang="zh-CN" sz="2800" dirty="0"/>
              <a:t>b,</a:t>
            </a:r>
            <a:r>
              <a:rPr lang="el-GR" altLang="zh-CN" sz="2800" dirty="0"/>
              <a:t>δ))}</a:t>
            </a:r>
            <a:endParaRPr lang="zh-CN" altLang="en-US" sz="28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23DA180-51C3-438A-97FB-283FB1B5C7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7CFB4E2-21DC-4CB2-9136-6EA78AC2372A}" type="slidenum">
              <a:rPr lang="en-US" altLang="zh-CN"/>
            </a:fld>
            <a:endParaRPr lang="en-US" altLang="zh-CN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1716" y="1628800"/>
            <a:ext cx="11208568" cy="32997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</a:rPr>
              <a:t>2.1 </a:t>
            </a:r>
            <a:r>
              <a:rPr lang="zh-CN" altLang="en-US" sz="3200" dirty="0">
                <a:latin typeface="宋体" panose="02010600030101010101" pitchFamily="2" charset="-122"/>
              </a:rPr>
              <a:t>如果</a:t>
            </a:r>
            <a:r>
              <a:rPr lang="en-US" altLang="zh-CN" sz="3200" i="1" dirty="0">
                <a:latin typeface="宋体" panose="02010600030101010101" pitchFamily="2" charset="-122"/>
              </a:rPr>
              <a:t>B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i="1" dirty="0">
                <a:latin typeface="宋体" panose="02010600030101010101" pitchFamily="2" charset="-122"/>
              </a:rPr>
              <a:t>A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</a:rPr>
              <a:t>，</a:t>
            </a:r>
            <a:r>
              <a:rPr lang="en-US" altLang="zh-CN" sz="3200" i="1" dirty="0">
                <a:latin typeface="宋体" panose="02010600030101010101" pitchFamily="2" charset="-122"/>
              </a:rPr>
              <a:t>B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i="1" dirty="0">
                <a:latin typeface="宋体" panose="02010600030101010101" pitchFamily="2" charset="-122"/>
              </a:rPr>
              <a:t>A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</a:rPr>
              <a:t>，则</a:t>
            </a:r>
            <a:r>
              <a:rPr lang="en-US" altLang="zh-CN" sz="3200" i="1" dirty="0">
                <a:latin typeface="宋体" panose="02010600030101010101" pitchFamily="2" charset="-122"/>
              </a:rPr>
              <a:t>B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3200" dirty="0">
                <a:latin typeface="宋体" panose="02010600030101010101" pitchFamily="2" charset="-122"/>
              </a:rPr>
              <a:t>×</a:t>
            </a:r>
            <a:r>
              <a:rPr lang="en-US" altLang="zh-CN" sz="3200" i="1" dirty="0">
                <a:latin typeface="宋体" panose="02010600030101010101" pitchFamily="2" charset="-122"/>
              </a:rPr>
              <a:t>B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3200" dirty="0">
                <a:latin typeface="宋体" panose="02010600030101010101" pitchFamily="2" charset="-122"/>
              </a:rPr>
              <a:t> 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宋体" panose="02010600030101010101" pitchFamily="2" charset="-122"/>
              </a:rPr>
              <a:t>A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3200" dirty="0">
                <a:latin typeface="宋体" panose="02010600030101010101" pitchFamily="2" charset="-122"/>
              </a:rPr>
              <a:t>×</a:t>
            </a:r>
            <a:r>
              <a:rPr lang="en-US" altLang="zh-CN" sz="3200" i="1" dirty="0">
                <a:latin typeface="宋体" panose="02010600030101010101" pitchFamily="2" charset="-122"/>
              </a:rPr>
              <a:t>A</a:t>
            </a:r>
            <a:r>
              <a:rPr lang="en-US" altLang="zh-CN" sz="32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</a:rPr>
              <a:t>。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证明</a:t>
            </a:r>
            <a:r>
              <a:rPr lang="zh-CN" altLang="en-US" sz="3200" dirty="0"/>
              <a:t> 对</a:t>
            </a:r>
            <a:r>
              <a:rPr lang="zh-CN" altLang="en-US" sz="3200" dirty="0">
                <a:sym typeface="Symbol" panose="05050102010706020507" pitchFamily="18" charset="2"/>
              </a:rPr>
              <a:t></a:t>
            </a:r>
            <a:r>
              <a:rPr lang="en-US" altLang="zh-CN" sz="3200" dirty="0"/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/>
              <a:t>)∈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×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，有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/>
              <a:t>∈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 </a:t>
            </a:r>
            <a:r>
              <a:rPr lang="zh-CN" altLang="en-US" sz="3200" dirty="0"/>
              <a:t>且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/>
              <a:t>∈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，又因为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 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 </a:t>
            </a:r>
            <a:r>
              <a:rPr lang="zh-CN" altLang="en-US" sz="3200" dirty="0"/>
              <a:t>，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 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</a:t>
            </a:r>
            <a:r>
              <a:rPr lang="zh-CN" altLang="en-US" sz="3200" dirty="0"/>
              <a:t>，则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/>
              <a:t>∈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 </a:t>
            </a:r>
            <a:r>
              <a:rPr lang="zh-CN" altLang="en-US" sz="3200" dirty="0"/>
              <a:t>且</a:t>
            </a:r>
            <a:r>
              <a:rPr lang="en-US" altLang="zh-CN" sz="3200" i="1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/>
              <a:t>∈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，所以</a:t>
            </a:r>
            <a:r>
              <a:rPr lang="en-US" altLang="zh-CN" sz="3200" dirty="0"/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x, y</a:t>
            </a:r>
            <a:r>
              <a:rPr lang="en-US" altLang="zh-CN" sz="3200" dirty="0"/>
              <a:t>)∈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×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，即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×</a:t>
            </a:r>
            <a:r>
              <a:rPr lang="en-US" altLang="zh-CN" sz="3200" i="1" dirty="0"/>
              <a:t>B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 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×</a:t>
            </a:r>
            <a:r>
              <a:rPr lang="en-US" altLang="zh-CN" sz="3200" i="1" dirty="0"/>
              <a:t>A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。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ED0AF1C6-C588-497C-A65C-6FD37E512FAE}" type="slidenum">
              <a:rPr lang="en-US" altLang="zh-CN"/>
            </a:fld>
            <a:endParaRPr lang="en-US" altLang="zh-CN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981075"/>
            <a:ext cx="10920536" cy="468312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</a:rPr>
              <a:t>2.2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A, B, C</a:t>
            </a:r>
            <a:r>
              <a:rPr lang="en-US" altLang="zh-CN" sz="3200" i="1" dirty="0"/>
              <a:t> </a:t>
            </a:r>
            <a:r>
              <a:rPr lang="zh-CN" altLang="en-US" sz="3200" dirty="0"/>
              <a:t>是任意集合，则：</a:t>
            </a:r>
            <a:endParaRPr lang="zh-CN" altLang="en-US" sz="3200" dirty="0"/>
          </a:p>
          <a:p>
            <a:pPr marL="514350" indent="-514350">
              <a:lnSpc>
                <a:spcPct val="12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3200" dirty="0">
                <a:latin typeface="Times New Roman" panose="02020603050405020304" pitchFamily="18" charset="0"/>
              </a:rPr>
              <a:t>   A×(B∪C) = (A×B)∪(A×C)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(B∪C)×A = (B×A)∪(C×A)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(2)    A×(B∩C) = (A×B)∩(A×C)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(B∩C)×A = (B×A)∩(C×A)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(3)   A×(B -C) = (A×B)- (A×C)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      </a:t>
            </a:r>
            <a:r>
              <a:rPr lang="en-US" altLang="zh-CN" sz="3200" dirty="0">
                <a:latin typeface="Times New Roman" panose="02020603050405020304" pitchFamily="18" charset="0"/>
              </a:rPr>
              <a:t>(B -C)×A = (B×A) - (C×A)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1493977-ED33-4F09-882D-E50A762DCBA7}" type="slidenum">
              <a:rPr lang="en-US" altLang="zh-CN"/>
            </a:fld>
            <a:endParaRPr lang="en-US" altLang="zh-CN"/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3393" y="1104900"/>
            <a:ext cx="11568608" cy="4648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</a:t>
            </a:r>
            <a:r>
              <a:rPr lang="en-US" altLang="zh-CN" sz="2800" dirty="0"/>
              <a:t>(1) </a:t>
            </a:r>
            <a:r>
              <a:rPr lang="zh-CN" altLang="en-US" sz="2800" dirty="0"/>
              <a:t>对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/>
              <a:t>)∈</a:t>
            </a:r>
            <a:r>
              <a:rPr lang="en-US" altLang="zh-CN" sz="2800" dirty="0">
                <a:latin typeface="Times New Roman" panose="02020603050405020304" pitchFamily="18" charset="0"/>
              </a:rPr>
              <a:t>A×(B∪C)</a:t>
            </a:r>
            <a:r>
              <a:rPr lang="zh-CN" altLang="en-US" sz="2800" dirty="0"/>
              <a:t>，有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dirty="0"/>
              <a:t> </a:t>
            </a:r>
            <a:r>
              <a:rPr lang="zh-CN" altLang="en-US" sz="2800" dirty="0"/>
              <a:t>且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B∪C</a:t>
            </a:r>
            <a:r>
              <a:rPr lang="zh-CN" altLang="en-US" sz="2800" dirty="0"/>
              <a:t>，因此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/>
              <a:t>且</a:t>
            </a:r>
            <a:r>
              <a:rPr lang="en-US" altLang="zh-CN" sz="2800" dirty="0"/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i="1" dirty="0"/>
              <a:t> </a:t>
            </a:r>
            <a:r>
              <a:rPr lang="zh-CN" altLang="en-US" sz="2800" dirty="0"/>
              <a:t>或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dirty="0"/>
              <a:t>)</a:t>
            </a:r>
            <a:r>
              <a:rPr lang="zh-CN" altLang="en-US" sz="2800" dirty="0"/>
              <a:t>，当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i="1" dirty="0"/>
              <a:t> </a:t>
            </a:r>
            <a:r>
              <a:rPr lang="en-US" altLang="zh-CN" sz="2800" dirty="0"/>
              <a:t>∈</a:t>
            </a:r>
            <a:r>
              <a:rPr lang="en-US" altLang="zh-CN" sz="2800" dirty="0">
                <a:latin typeface="Times New Roman" panose="02020603050405020304" pitchFamily="18" charset="0"/>
              </a:rPr>
              <a:t>B </a:t>
            </a:r>
            <a:r>
              <a:rPr lang="zh-CN" altLang="en-US" sz="2800" dirty="0"/>
              <a:t>时，由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dirty="0"/>
              <a:t> </a:t>
            </a:r>
            <a:r>
              <a:rPr lang="zh-CN" altLang="en-US" sz="2800" dirty="0"/>
              <a:t>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i="1" dirty="0"/>
              <a:t> </a:t>
            </a:r>
            <a:r>
              <a:rPr lang="zh-CN" altLang="en-US" sz="2800" dirty="0"/>
              <a:t>得</a:t>
            </a:r>
            <a:r>
              <a:rPr lang="en-US" altLang="zh-CN" sz="2800" dirty="0"/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x, y</a:t>
            </a:r>
            <a:r>
              <a:rPr lang="en-US" altLang="zh-CN" sz="2800" dirty="0"/>
              <a:t>)∈</a:t>
            </a:r>
            <a:r>
              <a:rPr lang="en-US" altLang="zh-CN" sz="2800" dirty="0">
                <a:latin typeface="Times New Roman" panose="02020603050405020304" pitchFamily="18" charset="0"/>
              </a:rPr>
              <a:t>A×B</a:t>
            </a:r>
            <a:r>
              <a:rPr lang="zh-CN" altLang="en-US" sz="2800" dirty="0"/>
              <a:t>，当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i="1" dirty="0"/>
              <a:t> </a:t>
            </a:r>
            <a:r>
              <a:rPr lang="zh-CN" altLang="en-US" sz="2800" dirty="0"/>
              <a:t>时，由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dirty="0"/>
              <a:t> </a:t>
            </a:r>
            <a:r>
              <a:rPr lang="zh-CN" altLang="en-US" sz="2800" dirty="0"/>
              <a:t>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/>
              <a:t>∈</a:t>
            </a:r>
            <a:r>
              <a:rPr lang="en-US" altLang="zh-CN" sz="2800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/>
              <a:t>得</a:t>
            </a:r>
            <a:r>
              <a:rPr lang="en-US" altLang="zh-CN" sz="2800" dirty="0"/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x, y</a:t>
            </a:r>
            <a:r>
              <a:rPr lang="en-US" altLang="zh-CN" sz="2800" dirty="0"/>
              <a:t>)∈</a:t>
            </a:r>
            <a:r>
              <a:rPr lang="en-US" altLang="zh-CN" sz="2800" dirty="0">
                <a:latin typeface="Times New Roman" panose="02020603050405020304" pitchFamily="18" charset="0"/>
              </a:rPr>
              <a:t>A×C</a:t>
            </a:r>
            <a:r>
              <a:rPr lang="zh-CN" altLang="en-US" sz="2800" dirty="0"/>
              <a:t>，所以</a:t>
            </a:r>
            <a:r>
              <a:rPr lang="en-US" altLang="zh-CN" sz="2800" dirty="0"/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x, y</a:t>
            </a:r>
            <a:r>
              <a:rPr lang="en-US" altLang="zh-CN" sz="2800" dirty="0"/>
              <a:t>)∈</a:t>
            </a:r>
            <a:r>
              <a:rPr lang="en-US" altLang="zh-CN" sz="2800" dirty="0">
                <a:latin typeface="Times New Roman" panose="02020603050405020304" pitchFamily="18" charset="0"/>
              </a:rPr>
              <a:t>(A×B)∪(A×C)</a:t>
            </a:r>
            <a:r>
              <a:rPr lang="zh-CN" altLang="en-US" sz="2800" dirty="0"/>
              <a:t>，即</a:t>
            </a:r>
            <a:r>
              <a:rPr lang="en-US" altLang="zh-CN" sz="2800" dirty="0">
                <a:latin typeface="Times New Roman" panose="02020603050405020304" pitchFamily="18" charset="0"/>
              </a:rPr>
              <a:t>A×(B∪C) ⊆ (A×B)∪(A×C)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因为</a:t>
            </a:r>
            <a:r>
              <a:rPr lang="en-US" altLang="zh-CN" sz="2800" dirty="0">
                <a:latin typeface="Times New Roman" panose="02020603050405020304" pitchFamily="18" charset="0"/>
              </a:rPr>
              <a:t>A ⊆ 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B ⊆ B∪C</a:t>
            </a:r>
            <a:r>
              <a:rPr lang="en-US" altLang="zh-CN" sz="2800" i="1" dirty="0"/>
              <a:t> </a:t>
            </a:r>
            <a:r>
              <a:rPr lang="zh-CN" altLang="en-US" sz="2800" dirty="0"/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C ⊆ B∪C</a:t>
            </a:r>
            <a:r>
              <a:rPr lang="en-US" altLang="zh-CN" sz="2800" i="1" dirty="0"/>
              <a:t> </a:t>
            </a:r>
            <a:r>
              <a:rPr lang="zh-CN" altLang="en-US" sz="2800" dirty="0"/>
              <a:t>得</a:t>
            </a:r>
            <a:r>
              <a:rPr lang="en-US" altLang="zh-CN" sz="2800" dirty="0">
                <a:latin typeface="Times New Roman" panose="02020603050405020304" pitchFamily="18" charset="0"/>
              </a:rPr>
              <a:t>A×B ⊆ A×(B∪C)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A×C ⊆ A×(B∪C)</a:t>
            </a:r>
            <a:r>
              <a:rPr lang="zh-CN" altLang="en-US" sz="2800" dirty="0"/>
              <a:t>，因此</a:t>
            </a:r>
            <a:r>
              <a:rPr lang="en-US" altLang="zh-CN" sz="2800" dirty="0">
                <a:latin typeface="Times New Roman" panose="02020603050405020304" pitchFamily="18" charset="0"/>
              </a:rPr>
              <a:t>(A×B)∪(A×C) ⊆ A×(B∪C)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因此</a:t>
            </a:r>
            <a:r>
              <a:rPr lang="en-US" altLang="zh-CN" sz="2800" dirty="0">
                <a:latin typeface="Times New Roman" panose="02020603050405020304" pitchFamily="18" charset="0"/>
              </a:rPr>
              <a:t>A×(B∪C) = (A×B)∪(A×C)</a:t>
            </a:r>
            <a:r>
              <a:rPr lang="zh-CN" altLang="en-US" sz="2800" dirty="0">
                <a:latin typeface="Times New Roman" panose="02020603050405020304" pitchFamily="18" charset="0"/>
              </a:rPr>
              <a:t>成立。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同理可证</a:t>
            </a:r>
            <a:r>
              <a:rPr lang="en-US" altLang="zh-CN" sz="2800" dirty="0">
                <a:latin typeface="Times New Roman" panose="02020603050405020304" pitchFamily="18" charset="0"/>
              </a:rPr>
              <a:t>(B∪C)×A = (B×A)∪(C×A)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5252976-52A8-4236-B43E-52D36C04BD3B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3433" y="981075"/>
            <a:ext cx="11208568" cy="46831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(2) </a:t>
            </a:r>
            <a:r>
              <a:rPr lang="zh-CN" altLang="en-US" sz="2800" dirty="0">
                <a:latin typeface="Times New Roman" panose="02020603050405020304" pitchFamily="18" charset="0"/>
              </a:rPr>
              <a:t>对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</a:rPr>
              <a:t>)∈(A×B)∩(A×C)</a:t>
            </a:r>
            <a:r>
              <a:rPr lang="zh-CN" altLang="en-US" sz="2800" dirty="0">
                <a:latin typeface="Times New Roman" panose="02020603050405020304" pitchFamily="18" charset="0"/>
              </a:rPr>
              <a:t>，有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</a:rPr>
              <a:t>)∈A×B</a:t>
            </a:r>
            <a:r>
              <a:rPr lang="zh-CN" altLang="en-US" sz="2800" dirty="0">
                <a:latin typeface="Times New Roman" panose="02020603050405020304" pitchFamily="18" charset="0"/>
              </a:rPr>
              <a:t>且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</a:rPr>
              <a:t>)∈A×C</a:t>
            </a:r>
            <a:r>
              <a:rPr lang="zh-CN" altLang="en-US" sz="2800" dirty="0">
                <a:latin typeface="Times New Roman" panose="02020603050405020304" pitchFamily="18" charset="0"/>
              </a:rPr>
              <a:t>，所以（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800" dirty="0">
                <a:latin typeface="Times New Roman" panose="02020603050405020304" pitchFamily="18" charset="0"/>
              </a:rPr>
              <a:t>且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800" dirty="0">
                <a:latin typeface="Times New Roman" panose="02020603050405020304" pitchFamily="18" charset="0"/>
              </a:rPr>
              <a:t>）且（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800" dirty="0">
                <a:latin typeface="Times New Roman" panose="02020603050405020304" pitchFamily="18" charset="0"/>
              </a:rPr>
              <a:t>且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∈C</a:t>
            </a:r>
            <a:r>
              <a:rPr lang="zh-CN" altLang="en-US" sz="2800" dirty="0">
                <a:latin typeface="Times New Roman" panose="02020603050405020304" pitchFamily="18" charset="0"/>
              </a:rPr>
              <a:t>）。由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800" dirty="0">
                <a:latin typeface="Times New Roman" panose="02020603050405020304" pitchFamily="18" charset="0"/>
              </a:rPr>
              <a:t>且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∈C</a:t>
            </a:r>
            <a:r>
              <a:rPr lang="zh-CN" altLang="en-US" sz="2800" dirty="0">
                <a:latin typeface="Times New Roman" panose="02020603050405020304" pitchFamily="18" charset="0"/>
              </a:rPr>
              <a:t>得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∈B∩C</a:t>
            </a:r>
            <a:r>
              <a:rPr lang="zh-CN" altLang="en-US" sz="2800" dirty="0">
                <a:latin typeface="Times New Roman" panose="02020603050405020304" pitchFamily="18" charset="0"/>
              </a:rPr>
              <a:t>，由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800" dirty="0">
                <a:latin typeface="Times New Roman" panose="02020603050405020304" pitchFamily="18" charset="0"/>
              </a:rPr>
              <a:t>且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∈B∩C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得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</a:rPr>
              <a:t>)∈A×(B∩C)</a:t>
            </a:r>
            <a:r>
              <a:rPr lang="zh-CN" altLang="en-US" sz="2800" dirty="0">
                <a:latin typeface="Times New Roman" panose="02020603050405020304" pitchFamily="18" charset="0"/>
              </a:rPr>
              <a:t>。因此</a:t>
            </a:r>
            <a:r>
              <a:rPr lang="en-US" altLang="zh-CN" sz="2800" dirty="0">
                <a:latin typeface="Times New Roman" panose="02020603050405020304" pitchFamily="18" charset="0"/>
              </a:rPr>
              <a:t>(A×B)∩(A×C) ⊆ A×(B∩C)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因为</a:t>
            </a:r>
            <a:r>
              <a:rPr lang="en-US" altLang="zh-CN" sz="2800" dirty="0">
                <a:latin typeface="Times New Roman" panose="02020603050405020304" pitchFamily="18" charset="0"/>
              </a:rPr>
              <a:t>A ⊆ 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B∩C ⊆ B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B∩C ⊆ C</a:t>
            </a:r>
            <a:r>
              <a:rPr lang="zh-CN" altLang="en-US" sz="2800" dirty="0">
                <a:latin typeface="Times New Roman" panose="02020603050405020304" pitchFamily="18" charset="0"/>
              </a:rPr>
              <a:t>，所以有</a:t>
            </a:r>
            <a:r>
              <a:rPr lang="en-US" altLang="zh-CN" sz="2800" dirty="0">
                <a:latin typeface="Times New Roman" panose="02020603050405020304" pitchFamily="18" charset="0"/>
              </a:rPr>
              <a:t>A×(B∩C) ⊆ A×B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A×(B∩C) ⊆ A×C</a:t>
            </a:r>
            <a:r>
              <a:rPr lang="zh-CN" altLang="en-US" sz="2800" dirty="0">
                <a:latin typeface="Times New Roman" panose="02020603050405020304" pitchFamily="18" charset="0"/>
              </a:rPr>
              <a:t>成立，因此</a:t>
            </a:r>
            <a:r>
              <a:rPr lang="en-US" altLang="zh-CN" sz="2800" dirty="0">
                <a:latin typeface="Times New Roman" panose="02020603050405020304" pitchFamily="18" charset="0"/>
              </a:rPr>
              <a:t>A×(B∩C) ⊆(A×B)∩(A×C)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因此</a:t>
            </a:r>
            <a:r>
              <a:rPr lang="en-US" altLang="zh-CN" sz="2800" dirty="0">
                <a:latin typeface="Times New Roman" panose="02020603050405020304" pitchFamily="18" charset="0"/>
              </a:rPr>
              <a:t>A×(B∩C)=(A×B)∩(A×C)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同理可证</a:t>
            </a:r>
            <a:r>
              <a:rPr lang="en-US" altLang="zh-CN" sz="2800" dirty="0">
                <a:latin typeface="Times New Roman" panose="02020603050405020304" pitchFamily="18" charset="0"/>
              </a:rPr>
              <a:t>(B∩C)×A=(B×A)∩(C×A)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80CA7CD-94A1-4B37-BAA3-87E39019E315}" type="slidenum">
              <a:rPr lang="en-US" altLang="zh-CN"/>
            </a:fld>
            <a:endParaRPr lang="en-US" altLang="zh-CN"/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9416" y="1268413"/>
            <a:ext cx="11352584" cy="46831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(3) </a:t>
            </a:r>
            <a:r>
              <a:rPr lang="zh-CN" altLang="en-US" sz="2400" dirty="0">
                <a:latin typeface="Times New Roman" panose="02020603050405020304" pitchFamily="18" charset="0"/>
              </a:rPr>
              <a:t>对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)∈A×(B-C)</a:t>
            </a:r>
            <a:r>
              <a:rPr lang="zh-CN" altLang="en-US" sz="2400" dirty="0">
                <a:latin typeface="Times New Roman" panose="02020603050405020304" pitchFamily="18" charset="0"/>
              </a:rPr>
              <a:t>，有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∈B-C</a:t>
            </a:r>
            <a:r>
              <a:rPr lang="zh-CN" altLang="en-US" sz="2400" dirty="0">
                <a:latin typeface="Times New Roman" panose="02020603050405020304" pitchFamily="18" charset="0"/>
              </a:rPr>
              <a:t>，所以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dirty="0" err="1">
                <a:latin typeface="Times New Roman" panose="02020603050405020304" pitchFamily="18" charset="0"/>
              </a:rPr>
              <a:t>y∈B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 err="1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。由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400" dirty="0">
                <a:latin typeface="Times New Roman" panose="02020603050405020304" pitchFamily="18" charset="0"/>
              </a:rPr>
              <a:t>得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)∈A×B</a:t>
            </a:r>
            <a:r>
              <a:rPr lang="zh-CN" altLang="en-US" sz="2400" dirty="0">
                <a:latin typeface="Times New Roman" panose="02020603050405020304" pitchFamily="18" charset="0"/>
              </a:rPr>
              <a:t>，由</a:t>
            </a:r>
            <a:r>
              <a:rPr lang="en-US" altLang="zh-CN" sz="24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C</a:t>
            </a:r>
            <a:r>
              <a:rPr lang="zh-CN" altLang="en-US" sz="2400" dirty="0">
                <a:latin typeface="Times New Roman" panose="02020603050405020304" pitchFamily="18" charset="0"/>
              </a:rPr>
              <a:t>得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A×C</a:t>
            </a:r>
            <a:r>
              <a:rPr lang="zh-CN" altLang="en-US" sz="2400" dirty="0">
                <a:latin typeface="Times New Roman" panose="02020603050405020304" pitchFamily="18" charset="0"/>
              </a:rPr>
              <a:t>，所以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)∈(A×B)-(A×C)</a:t>
            </a:r>
            <a:r>
              <a:rPr lang="zh-CN" altLang="en-US" sz="2400" dirty="0">
                <a:latin typeface="Times New Roman" panose="02020603050405020304" pitchFamily="18" charset="0"/>
              </a:rPr>
              <a:t>。因此</a:t>
            </a:r>
            <a:r>
              <a:rPr lang="en-US" altLang="zh-CN" sz="2400" dirty="0">
                <a:latin typeface="Times New Roman" panose="02020603050405020304" pitchFamily="18" charset="0"/>
              </a:rPr>
              <a:t>A×(B-C) ⊆(A×B)-(A×C)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对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)∈(A×B)-(A×C)</a:t>
            </a:r>
            <a:r>
              <a:rPr lang="zh-CN" altLang="en-US" sz="2400" dirty="0">
                <a:latin typeface="Times New Roman" panose="02020603050405020304" pitchFamily="18" charset="0"/>
              </a:rPr>
              <a:t>，有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)∈A×B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A×C</a:t>
            </a:r>
            <a:r>
              <a:rPr lang="zh-CN" altLang="en-US" sz="2400" dirty="0">
                <a:latin typeface="Times New Roman" panose="02020603050405020304" pitchFamily="18" charset="0"/>
              </a:rPr>
              <a:t>，由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)∈A×B </a:t>
            </a:r>
            <a:r>
              <a:rPr lang="zh-CN" altLang="en-US" sz="2400" dirty="0">
                <a:latin typeface="Times New Roman" panose="02020603050405020304" pitchFamily="18" charset="0"/>
              </a:rPr>
              <a:t>得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400" dirty="0">
                <a:latin typeface="Times New Roman" panose="02020603050405020304" pitchFamily="18" charset="0"/>
              </a:rPr>
              <a:t>，由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A×C</a:t>
            </a:r>
            <a:r>
              <a:rPr lang="zh-CN" altLang="en-US" sz="2400" dirty="0">
                <a:latin typeface="Times New Roman" panose="02020603050405020304" pitchFamily="18" charset="0"/>
              </a:rPr>
              <a:t>得</a:t>
            </a:r>
            <a:r>
              <a:rPr lang="en-US" altLang="zh-CN" sz="24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C</a:t>
            </a:r>
            <a:r>
              <a:rPr lang="zh-CN" altLang="en-US" sz="2400" dirty="0">
                <a:latin typeface="Times New Roman" panose="02020603050405020304" pitchFamily="18" charset="0"/>
              </a:rPr>
              <a:t>，所以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∈A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>
                <a:latin typeface="Times New Roman" panose="02020603050405020304" pitchFamily="18" charset="0"/>
              </a:rPr>
              <a:t>y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C</a:t>
            </a:r>
            <a:r>
              <a:rPr lang="zh-CN" altLang="en-US" sz="2400" dirty="0">
                <a:latin typeface="Times New Roman" panose="02020603050405020304" pitchFamily="18" charset="0"/>
              </a:rPr>
              <a:t>。由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</a:t>
            </a:r>
            <a:r>
              <a:rPr lang="zh-CN" altLang="en-US" sz="2400" dirty="0">
                <a:latin typeface="Times New Roman" panose="02020603050405020304" pitchFamily="18" charset="0"/>
              </a:rPr>
              <a:t>且</a:t>
            </a:r>
            <a:r>
              <a:rPr lang="en-US" altLang="zh-CN" sz="24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latin typeface="Times New Roman" panose="02020603050405020304" pitchFamily="18" charset="0"/>
              </a:rPr>
              <a:t> C</a:t>
            </a:r>
            <a:r>
              <a:rPr lang="zh-CN" altLang="en-US" sz="2400" dirty="0">
                <a:latin typeface="Times New Roman" panose="02020603050405020304" pitchFamily="18" charset="0"/>
              </a:rPr>
              <a:t>得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</a:rPr>
              <a:t>∈B-C</a:t>
            </a:r>
            <a:r>
              <a:rPr lang="zh-CN" altLang="en-US" sz="2400" dirty="0">
                <a:latin typeface="Times New Roman" panose="02020603050405020304" pitchFamily="18" charset="0"/>
              </a:rPr>
              <a:t>，所以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</a:rPr>
              <a:t>)∈A×(B-C)</a:t>
            </a:r>
            <a:r>
              <a:rPr lang="zh-CN" altLang="en-US" sz="2400" dirty="0">
                <a:latin typeface="Times New Roman" panose="02020603050405020304" pitchFamily="18" charset="0"/>
              </a:rPr>
              <a:t>。因此</a:t>
            </a:r>
            <a:r>
              <a:rPr lang="en-US" altLang="zh-CN" sz="2400" dirty="0">
                <a:latin typeface="Times New Roman" panose="02020603050405020304" pitchFamily="18" charset="0"/>
              </a:rPr>
              <a:t>(A×B)-(A×C) ⊆ A×(B-C)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因此</a:t>
            </a:r>
            <a:r>
              <a:rPr lang="en-US" altLang="zh-CN" sz="2400" dirty="0">
                <a:latin typeface="Times New Roman" panose="02020603050405020304" pitchFamily="18" charset="0"/>
              </a:rPr>
              <a:t>A×(B-C)=(A×B)-(A×C)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同理可证</a:t>
            </a:r>
            <a:r>
              <a:rPr lang="en-US" altLang="zh-CN" sz="2400" dirty="0">
                <a:latin typeface="Times New Roman" panose="02020603050405020304" pitchFamily="18" charset="0"/>
              </a:rPr>
              <a:t>(B-C)×A=(B×A)-(C×A)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5407A90B-B08E-480C-8AC4-2AEF8B31D61A}" type="slidenum">
              <a:rPr lang="en-US" altLang="zh-CN"/>
            </a:fld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7368" y="981075"/>
            <a:ext cx="11784632" cy="468312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2.5</a:t>
            </a:r>
            <a:r>
              <a:rPr lang="en-US" altLang="zh-CN" sz="2800" dirty="0"/>
              <a:t> </a:t>
            </a:r>
            <a:r>
              <a:rPr lang="zh-CN" altLang="en-US" sz="2800" dirty="0"/>
              <a:t>如果一个集合满足以下条件之一：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）集合非空，且它的元素都是有序对；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）集合是空集。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则称该集合为一个</a:t>
            </a:r>
            <a:r>
              <a:rPr lang="zh-CN" altLang="en-US" sz="2800" dirty="0">
                <a:solidFill>
                  <a:srgbClr val="0000FF"/>
                </a:solidFill>
              </a:rPr>
              <a:t>二元关系</a:t>
            </a:r>
            <a:r>
              <a:rPr lang="zh-CN" altLang="en-US" sz="2800" dirty="0"/>
              <a:t>，记作</a:t>
            </a:r>
            <a:r>
              <a:rPr lang="en-US" altLang="zh-CN" sz="2800" dirty="0"/>
              <a:t>R</a:t>
            </a:r>
            <a:r>
              <a:rPr lang="zh-CN" altLang="en-US" sz="2800" dirty="0"/>
              <a:t>。二元关系也可简称为</a:t>
            </a:r>
            <a:r>
              <a:rPr lang="zh-CN" altLang="en-US" sz="2800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。对于二元关系</a:t>
            </a:r>
            <a:r>
              <a:rPr lang="en-US" altLang="zh-CN" sz="2800" dirty="0"/>
              <a:t>R</a:t>
            </a:r>
            <a:r>
              <a:rPr lang="zh-CN" altLang="en-US" sz="2800" dirty="0"/>
              <a:t>，如果</a:t>
            </a:r>
            <a:r>
              <a:rPr lang="en-US" altLang="zh-CN" sz="2800" dirty="0"/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/>
              <a:t>)∈R</a:t>
            </a:r>
            <a:r>
              <a:rPr lang="zh-CN" altLang="en-US" sz="2800" dirty="0"/>
              <a:t>，可记作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R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zh-CN" altLang="en-US" sz="2800" dirty="0"/>
              <a:t>；如果</a:t>
            </a:r>
            <a:r>
              <a:rPr lang="en-US" altLang="zh-CN" sz="2800" dirty="0"/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</a:t>
            </a:r>
            <a:r>
              <a:rPr lang="en-US" altLang="zh-CN" sz="2800" dirty="0"/>
              <a:t>R</a:t>
            </a:r>
            <a:r>
              <a:rPr lang="zh-CN" altLang="en-US" sz="2800" dirty="0"/>
              <a:t>，则记作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dirty="0" err="1"/>
              <a:t>R</a:t>
            </a:r>
            <a:r>
              <a:rPr lang="en-US" altLang="zh-CN" sz="2800" dirty="0" err="1">
                <a:sym typeface="Symbol" panose="05050102010706020507" pitchFamily="18" charset="2"/>
              </a:rPr>
              <a:t>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y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为集合，</a:t>
            </a:r>
            <a:r>
              <a:rPr lang="en-US" altLang="zh-CN" sz="2800" dirty="0"/>
              <a:t>A×B</a:t>
            </a:r>
            <a:r>
              <a:rPr lang="zh-CN" altLang="en-US" sz="2800" dirty="0"/>
              <a:t>的任何子集所定义的二元关系叫做</a:t>
            </a:r>
            <a:r>
              <a:rPr lang="zh-CN" altLang="en-US" sz="2800" dirty="0">
                <a:solidFill>
                  <a:srgbClr val="0000FF"/>
                </a:solidFill>
              </a:rPr>
              <a:t>从</a:t>
            </a:r>
            <a:r>
              <a:rPr lang="en-US" altLang="zh-CN" sz="2800" dirty="0">
                <a:solidFill>
                  <a:srgbClr val="0000FF"/>
                </a:solidFill>
              </a:rPr>
              <a:t>A</a:t>
            </a:r>
            <a:r>
              <a:rPr lang="zh-CN" altLang="en-US" sz="2800" dirty="0">
                <a:solidFill>
                  <a:srgbClr val="0000FF"/>
                </a:solidFill>
              </a:rPr>
              <a:t>到</a:t>
            </a:r>
            <a:r>
              <a:rPr lang="en-US" altLang="zh-CN" sz="2800" dirty="0">
                <a:solidFill>
                  <a:srgbClr val="0000FF"/>
                </a:solidFill>
              </a:rPr>
              <a:t>B</a:t>
            </a:r>
            <a:r>
              <a:rPr lang="zh-CN" altLang="en-US" sz="2800" dirty="0">
                <a:solidFill>
                  <a:srgbClr val="0000FF"/>
                </a:solidFill>
              </a:rPr>
              <a:t>的二元关系</a:t>
            </a:r>
            <a:r>
              <a:rPr lang="zh-CN" altLang="en-US" sz="2800" dirty="0"/>
              <a:t>，特别当</a:t>
            </a:r>
            <a:r>
              <a:rPr lang="en-US" altLang="zh-CN" sz="2800" dirty="0"/>
              <a:t>A=B</a:t>
            </a:r>
            <a:r>
              <a:rPr lang="zh-CN" altLang="en-US" sz="2800" dirty="0"/>
              <a:t>时则叫做</a:t>
            </a:r>
            <a:r>
              <a:rPr lang="en-US" altLang="zh-CN" sz="2800" dirty="0">
                <a:solidFill>
                  <a:srgbClr val="0000FF"/>
                </a:solidFill>
              </a:rPr>
              <a:t>A</a:t>
            </a:r>
            <a:r>
              <a:rPr lang="zh-CN" altLang="en-US" sz="2800" dirty="0">
                <a:solidFill>
                  <a:srgbClr val="0000FF"/>
                </a:solidFill>
              </a:rPr>
              <a:t>上的二元关系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77" y="981075"/>
            <a:ext cx="11712624" cy="4683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2.5 </a:t>
            </a:r>
            <a:r>
              <a:rPr lang="zh-CN" altLang="en-US" dirty="0"/>
              <a:t>判断下列集合是否是二元关系。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 </a:t>
            </a:r>
            <a:r>
              <a:rPr lang="en-US" altLang="zh-CN" dirty="0"/>
              <a:t>(1)   A=</a:t>
            </a:r>
            <a:r>
              <a:rPr lang="en-US" altLang="zh-CN" dirty="0">
                <a:sym typeface="Symbol" panose="05050102010706020507" pitchFamily="18" charset="2"/>
              </a:rPr>
              <a:t>  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  (2)   B={(1,2),(</a:t>
            </a:r>
            <a:r>
              <a:rPr lang="en-US" altLang="zh-CN" dirty="0" err="1"/>
              <a:t>a,b</a:t>
            </a:r>
            <a:r>
              <a:rPr lang="en-US" altLang="zh-CN" dirty="0"/>
              <a:t>)}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  (3)    C={a,(</a:t>
            </a:r>
            <a:r>
              <a:rPr lang="en-US" altLang="zh-CN" dirty="0" err="1"/>
              <a:t>a,b</a:t>
            </a:r>
            <a:r>
              <a:rPr lang="en-US" altLang="zh-CN" dirty="0"/>
              <a:t>)}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  (4)    D={((1,2),(</a:t>
            </a:r>
            <a:r>
              <a:rPr lang="en-US" altLang="zh-CN" dirty="0" err="1"/>
              <a:t>a,b</a:t>
            </a:r>
            <a:r>
              <a:rPr lang="en-US" altLang="zh-CN" dirty="0"/>
              <a:t>)),((3,4),(</a:t>
            </a:r>
            <a:r>
              <a:rPr lang="en-US" altLang="zh-CN" dirty="0" err="1"/>
              <a:t>c,d</a:t>
            </a:r>
            <a:r>
              <a:rPr lang="en-US" altLang="zh-CN" dirty="0"/>
              <a:t>))}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2.6</a:t>
            </a:r>
            <a:r>
              <a:rPr lang="en-US" altLang="zh-CN" dirty="0"/>
              <a:t> </a:t>
            </a:r>
            <a:r>
              <a:rPr lang="zh-CN" altLang="en-US" dirty="0"/>
              <a:t>设集合</a:t>
            </a:r>
            <a:r>
              <a:rPr lang="en-US" altLang="zh-CN" dirty="0"/>
              <a:t>A={0,1}</a:t>
            </a:r>
            <a:r>
              <a:rPr lang="zh-CN" altLang="en-US" dirty="0"/>
              <a:t>，</a:t>
            </a:r>
            <a:r>
              <a:rPr lang="en-US" altLang="zh-CN" dirty="0"/>
              <a:t>B={1,2,3}</a:t>
            </a:r>
            <a:r>
              <a:rPr lang="zh-CN" altLang="en-US" dirty="0"/>
              <a:t>，那么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={(0,2)}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=A×B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={(0,1)}</a:t>
            </a:r>
            <a:r>
              <a:rPr lang="zh-CN" altLang="en-US" dirty="0"/>
              <a:t>等都是从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的二元关系，而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en-US" altLang="zh-CN" baseline="-25000" dirty="0"/>
              <a:t>4</a:t>
            </a:r>
            <a:r>
              <a:rPr lang="zh-CN" altLang="en-US" dirty="0"/>
              <a:t>同时也是</a:t>
            </a:r>
            <a:r>
              <a:rPr lang="en-US" altLang="zh-CN" dirty="0"/>
              <a:t>A</a:t>
            </a:r>
            <a:r>
              <a:rPr lang="zh-CN" altLang="en-US" dirty="0"/>
              <a:t>上的二元关系。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E038363-9334-4C41-B42C-626E872ACED0}" type="slidenum">
              <a:rPr lang="en-US" altLang="zh-CN"/>
            </a:fld>
            <a:endParaRPr lang="en-US" altLang="zh-CN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3393" y="1087438"/>
            <a:ext cx="11568608" cy="46831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2.6</a:t>
            </a:r>
            <a:r>
              <a:rPr lang="zh-CN" altLang="en-US" sz="2800" dirty="0">
                <a:latin typeface="Times New Roman" panose="02020603050405020304" pitchFamily="18" charset="0"/>
              </a:rPr>
              <a:t>笛卡尔积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×A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×… × 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的任意一个子集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称为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上的一个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元关系。当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= … =A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=A</a:t>
            </a:r>
            <a:r>
              <a:rPr lang="zh-CN" altLang="en-US" sz="2800" dirty="0">
                <a:latin typeface="Times New Roman" panose="02020603050405020304" pitchFamily="18" charset="0"/>
              </a:rPr>
              <a:t>时，称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上的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元关系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2.7</a:t>
            </a: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空集</a:t>
            </a:r>
            <a:r>
              <a:rPr lang="zh-CN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</a:rPr>
              <a:t>上定义一个二元关系，简称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空关系</a:t>
            </a:r>
            <a:r>
              <a:rPr lang="zh-CN" altLang="en-US" sz="2800" dirty="0">
                <a:latin typeface="Times New Roman" panose="02020603050405020304" pitchFamily="18" charset="0"/>
              </a:rPr>
              <a:t>；若一个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元关系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本身是笛卡儿积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×A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×… × 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，则称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全关系</a:t>
            </a:r>
            <a:r>
              <a:rPr lang="zh-CN" altLang="en-US" sz="2800" dirty="0">
                <a:latin typeface="Times New Roman" panose="02020603050405020304" pitchFamily="18" charset="0"/>
              </a:rPr>
              <a:t>，用符号</a:t>
            </a:r>
            <a:r>
              <a:rPr lang="en-US" altLang="zh-CN" sz="2800" dirty="0">
                <a:latin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表示，即</a:t>
            </a:r>
            <a:r>
              <a:rPr lang="en-US" altLang="zh-CN" sz="2800" dirty="0">
                <a:latin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={(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800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)|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800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 ∈ A}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上的全关系。 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符号</a:t>
            </a:r>
            <a:r>
              <a:rPr lang="en-US" altLang="zh-CN" sz="2800" dirty="0"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={(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x,x</a:t>
            </a:r>
            <a:r>
              <a:rPr lang="en-US" altLang="zh-CN" sz="2800" dirty="0">
                <a:latin typeface="Times New Roman" panose="02020603050405020304" pitchFamily="18" charset="0"/>
              </a:rPr>
              <a:t>)|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∈ A}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恒等</a:t>
            </a:r>
            <a:r>
              <a:rPr lang="zh-CN" altLang="en-US" sz="2800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 。注意，若</a:t>
            </a:r>
            <a:r>
              <a:rPr lang="en-US" altLang="zh-CN" sz="2800" dirty="0"/>
              <a:t>A={1,2},</a:t>
            </a:r>
            <a:r>
              <a:rPr lang="zh-CN" altLang="en-US" sz="2800" dirty="0"/>
              <a:t>则</a:t>
            </a:r>
            <a:r>
              <a:rPr lang="en-US" altLang="zh-CN" sz="2800" dirty="0"/>
              <a:t>I={</a:t>
            </a:r>
            <a:r>
              <a:rPr lang="zh-CN" altLang="en-US" sz="2800" dirty="0"/>
              <a:t>（</a:t>
            </a:r>
            <a:r>
              <a:rPr lang="en-US" altLang="zh-CN" sz="2800" dirty="0"/>
              <a:t>1,1</a:t>
            </a:r>
            <a:r>
              <a:rPr lang="zh-CN" altLang="en-US" sz="2800" dirty="0"/>
              <a:t>），（</a:t>
            </a:r>
            <a:r>
              <a:rPr lang="en-US" altLang="zh-CN" sz="2800" dirty="0"/>
              <a:t>2,2</a:t>
            </a:r>
            <a:r>
              <a:rPr lang="zh-CN" altLang="en-US" sz="2800" dirty="0"/>
              <a:t>）</a:t>
            </a:r>
            <a:r>
              <a:rPr lang="en-US" altLang="zh-CN" sz="2800" dirty="0"/>
              <a:t>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F175445-9823-4CCF-B0D4-F65FF19CB584}" type="slidenum">
              <a:rPr lang="en-US" altLang="zh-CN"/>
            </a:fld>
            <a:endParaRPr lang="en-US" altLang="zh-CN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688" y="1340768"/>
            <a:ext cx="11712624" cy="45783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70C0"/>
                </a:solidFill>
              </a:rPr>
              <a:t>例</a:t>
            </a:r>
            <a:r>
              <a:rPr lang="en-US" altLang="zh-CN" sz="2800" b="1" dirty="0">
                <a:solidFill>
                  <a:srgbClr val="0070C0"/>
                </a:solidFill>
              </a:rPr>
              <a:t>2.8 </a:t>
            </a:r>
            <a:r>
              <a:rPr lang="zh-CN" altLang="en-US" sz="2800" dirty="0"/>
              <a:t>设</a:t>
            </a:r>
            <a:r>
              <a:rPr lang="en-US" altLang="zh-CN" sz="2800" dirty="0"/>
              <a:t>A={1,2,3,4}</a:t>
            </a:r>
            <a:r>
              <a:rPr lang="zh-CN" altLang="en-US" sz="2800" dirty="0"/>
              <a:t>，下面各式定义的</a:t>
            </a:r>
            <a:r>
              <a:rPr lang="en-US" altLang="zh-CN" sz="2800" dirty="0"/>
              <a:t>R</a:t>
            </a:r>
            <a:r>
              <a:rPr lang="zh-CN" altLang="en-US" sz="2800" dirty="0"/>
              <a:t>都是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上的关系，试用列元素法表示</a:t>
            </a:r>
            <a:r>
              <a:rPr lang="en-US" altLang="zh-CN" sz="28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(1)  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)|x</a:t>
            </a:r>
            <a:r>
              <a:rPr lang="zh-CN" altLang="en-US" sz="2800" dirty="0"/>
              <a:t>是</a:t>
            </a:r>
            <a:r>
              <a:rPr lang="en-US" altLang="zh-CN" sz="2800" dirty="0"/>
              <a:t>y</a:t>
            </a:r>
            <a:r>
              <a:rPr lang="zh-CN" altLang="en-US" sz="2800" dirty="0"/>
              <a:t>的倍数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 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)|(x-y)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∈A}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(3)  R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)|x/y</a:t>
            </a:r>
            <a:r>
              <a:rPr lang="zh-CN" altLang="en-US" sz="2800" dirty="0"/>
              <a:t>是素数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(4)  R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</a:t>
            </a:r>
            <a:r>
              <a:rPr lang="en-US" altLang="zh-CN" sz="2800" dirty="0" err="1"/>
              <a:t>x≠y</a:t>
            </a:r>
            <a:r>
              <a:rPr lang="en-US" altLang="zh-CN" sz="2800" dirty="0"/>
              <a:t>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428CE25-FFA1-4922-BBA6-7CFCFB5595AD}" type="slidenum">
              <a:rPr lang="en-US" altLang="zh-CN"/>
            </a:fld>
            <a:endParaRPr lang="en-US" altLang="zh-CN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836612"/>
            <a:ext cx="9577387" cy="51847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dirty="0">
                <a:solidFill>
                  <a:srgbClr val="0000FF"/>
                </a:solidFill>
              </a:rPr>
              <a:t>解</a:t>
            </a:r>
            <a:r>
              <a:rPr lang="zh-CN" altLang="pt-BR" sz="2800" dirty="0"/>
              <a:t>：  </a:t>
            </a:r>
            <a:endParaRPr lang="zh-CN" altLang="pt-BR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dirty="0"/>
              <a:t>(1)  R</a:t>
            </a:r>
            <a:r>
              <a:rPr lang="en-US" altLang="zh-CN" sz="2800" baseline="-25000" dirty="0"/>
              <a:t>1</a:t>
            </a:r>
            <a:r>
              <a:rPr lang="zh-CN" altLang="pt-BR" sz="2800" dirty="0"/>
              <a:t>=</a:t>
            </a:r>
            <a:r>
              <a:rPr lang="en-US" altLang="zh-CN" sz="2800" dirty="0"/>
              <a:t>{</a:t>
            </a:r>
            <a:r>
              <a:rPr lang="zh-CN" altLang="pt-BR" sz="2800" dirty="0"/>
              <a:t>(4,4)</a:t>
            </a:r>
            <a:r>
              <a:rPr lang="en-US" altLang="zh-CN" sz="2800" dirty="0"/>
              <a:t>,</a:t>
            </a:r>
            <a:r>
              <a:rPr lang="zh-CN" altLang="pt-BR" sz="2800" dirty="0"/>
              <a:t>(4</a:t>
            </a:r>
            <a:r>
              <a:rPr lang="en-US" altLang="zh-CN" sz="2800" dirty="0"/>
              <a:t>,</a:t>
            </a:r>
            <a:r>
              <a:rPr lang="zh-CN" altLang="pt-BR" sz="2800" dirty="0"/>
              <a:t>2),</a:t>
            </a:r>
            <a:r>
              <a:rPr lang="en-US" altLang="zh-CN" sz="2800" dirty="0"/>
              <a:t>(</a:t>
            </a:r>
            <a:r>
              <a:rPr lang="zh-CN" altLang="pt-BR" sz="2800" dirty="0"/>
              <a:t>4,1</a:t>
            </a:r>
            <a:r>
              <a:rPr lang="en-US" altLang="zh-CN" sz="2800" dirty="0"/>
              <a:t>)</a:t>
            </a:r>
            <a:r>
              <a:rPr lang="zh-CN" altLang="pt-BR" sz="2800" dirty="0"/>
              <a:t>,(3,3),(3,1),(2,2),(2,1),(1,1)}</a:t>
            </a:r>
            <a:endParaRPr lang="zh-CN" altLang="pt-BR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dirty="0"/>
              <a:t>(2)</a:t>
            </a:r>
            <a:r>
              <a:rPr lang="zh-CN" altLang="en-US" sz="2800" dirty="0"/>
              <a:t>  </a:t>
            </a:r>
            <a:r>
              <a:rPr lang="zh-CN" altLang="pt-BR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pt-BR" sz="2800" dirty="0"/>
              <a:t>={(2,1),(3,2),(4,3),(3,1),(4,2),(2,4),(1,3),(3,4),(2,3),(1,2)}</a:t>
            </a:r>
            <a:endParaRPr lang="zh-CN" altLang="pt-BR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dirty="0"/>
              <a:t>(3)</a:t>
            </a:r>
            <a:r>
              <a:rPr lang="zh-CN" altLang="en-US" sz="2800" dirty="0"/>
              <a:t> </a:t>
            </a:r>
            <a:r>
              <a:rPr lang="zh-CN" altLang="pt-BR" sz="2800" dirty="0"/>
              <a:t> R</a:t>
            </a:r>
            <a:r>
              <a:rPr lang="en-US" altLang="zh-CN" sz="2800" baseline="-25000" dirty="0"/>
              <a:t>3</a:t>
            </a:r>
            <a:r>
              <a:rPr lang="zh-CN" altLang="pt-BR" sz="2800" dirty="0"/>
              <a:t>={(2,1),(3,1),(4,2)}</a:t>
            </a:r>
            <a:endParaRPr lang="zh-CN" altLang="pt-BR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dirty="0"/>
              <a:t>(4)</a:t>
            </a:r>
            <a:r>
              <a:rPr lang="zh-CN" altLang="en-US" sz="2800" dirty="0"/>
              <a:t> </a:t>
            </a:r>
            <a:r>
              <a:rPr lang="zh-CN" altLang="pt-BR" sz="2800" dirty="0"/>
              <a:t> R</a:t>
            </a:r>
            <a:r>
              <a:rPr lang="en-US" altLang="zh-CN" sz="2800" baseline="-25000" dirty="0"/>
              <a:t>4</a:t>
            </a:r>
            <a:r>
              <a:rPr lang="zh-CN" altLang="pt-BR" sz="2800" dirty="0"/>
              <a:t>=U</a:t>
            </a:r>
            <a:r>
              <a:rPr lang="zh-CN" altLang="pt-BR" sz="2800" baseline="-25000" dirty="0"/>
              <a:t>A</a:t>
            </a:r>
            <a:r>
              <a:rPr lang="zh-CN" altLang="pt-BR" sz="2800" dirty="0"/>
              <a:t>-I</a:t>
            </a:r>
            <a:r>
              <a:rPr lang="zh-CN" altLang="pt-BR" sz="2800" baseline="-25000" dirty="0"/>
              <a:t>A </a:t>
            </a:r>
            <a:r>
              <a:rPr lang="zh-CN" altLang="pt-BR" sz="2800" dirty="0"/>
              <a:t>={(1,2),(1,3),(1,4),(2,1),(2,3),(2,4),(3,1),(3,2),(3,4),(4,1),(4,2),(4,3)}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55440" y="1087437"/>
            <a:ext cx="9793287" cy="4683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70C0"/>
                </a:solidFill>
              </a:rPr>
              <a:t>例</a:t>
            </a:r>
            <a:r>
              <a:rPr lang="en-US" altLang="zh-CN" sz="2800" b="1" dirty="0">
                <a:solidFill>
                  <a:srgbClr val="0070C0"/>
                </a:solidFill>
              </a:rPr>
              <a:t>2.9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},</a:t>
            </a:r>
            <a:r>
              <a:rPr lang="zh-CN" altLang="en-US" sz="2800" dirty="0"/>
              <a:t>求出定义在</a:t>
            </a:r>
            <a:r>
              <a:rPr lang="en-US" altLang="zh-CN" sz="2800" dirty="0"/>
              <a:t>A </a:t>
            </a:r>
            <a:r>
              <a:rPr lang="zh-CN" altLang="en-US" sz="2800" dirty="0"/>
              <a:t>上的所有二元关系。 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解</a:t>
            </a:r>
            <a:r>
              <a:rPr lang="en-US" altLang="zh-CN" sz="2800" dirty="0"/>
              <a:t>:</a:t>
            </a:r>
            <a:r>
              <a:rPr lang="zh-CN" altLang="en-US" sz="2800" dirty="0"/>
              <a:t>首先计算出</a:t>
            </a:r>
            <a:r>
              <a:rPr lang="en-US" altLang="zh-CN" sz="2800" dirty="0"/>
              <a:t>A×A={(</a:t>
            </a:r>
            <a:r>
              <a:rPr lang="en-US" altLang="zh-CN" sz="2800" dirty="0" err="1"/>
              <a:t>a,a</a:t>
            </a:r>
            <a:r>
              <a:rPr lang="en-US" altLang="zh-CN" sz="2800" dirty="0"/>
              <a:t>),(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),(</a:t>
            </a:r>
            <a:r>
              <a:rPr lang="en-US" altLang="zh-CN" sz="2800" dirty="0" err="1"/>
              <a:t>b,a</a:t>
            </a:r>
            <a:r>
              <a:rPr lang="en-US" altLang="zh-CN" sz="2800" dirty="0"/>
              <a:t>),(</a:t>
            </a:r>
            <a:r>
              <a:rPr lang="en-US" altLang="zh-CN" sz="2800" dirty="0" err="1"/>
              <a:t>b,b</a:t>
            </a:r>
            <a:r>
              <a:rPr lang="en-US" altLang="zh-CN" sz="2800" dirty="0"/>
              <a:t>)},</a:t>
            </a:r>
            <a:r>
              <a:rPr lang="zh-CN" altLang="en-US" sz="2800" dirty="0"/>
              <a:t>则定义在 </a:t>
            </a:r>
            <a:r>
              <a:rPr lang="en-US" altLang="zh-CN" sz="2800" dirty="0"/>
              <a:t>A</a:t>
            </a:r>
            <a:r>
              <a:rPr lang="zh-CN" altLang="en-US" sz="2800" dirty="0"/>
              <a:t>上的二元关系共有</a:t>
            </a:r>
            <a:r>
              <a:rPr lang="en-US" altLang="zh-CN" sz="2800" dirty="0"/>
              <a:t>16</a:t>
            </a:r>
            <a:r>
              <a:rPr lang="zh-CN" altLang="en-US" sz="2800" dirty="0"/>
              <a:t>个</a:t>
            </a:r>
            <a:r>
              <a:rPr lang="en-US" altLang="zh-CN" sz="2800" dirty="0"/>
              <a:t>,</a:t>
            </a:r>
            <a:r>
              <a:rPr lang="zh-CN" altLang="en-US" sz="2800" dirty="0"/>
              <a:t>即</a:t>
            </a:r>
            <a:r>
              <a:rPr lang="en-US" altLang="zh-CN" sz="2800" dirty="0"/>
              <a:t>A×A</a:t>
            </a:r>
            <a:r>
              <a:rPr lang="zh-CN" altLang="en-US" sz="2800" dirty="0"/>
              <a:t>的所有子集。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862CDA6-29D6-44AD-B5F7-A0CF642C7296}" type="slidenum">
              <a:rPr lang="en-US" altLang="zh-CN"/>
            </a:fld>
            <a:endParaRPr lang="en-US" altLang="zh-CN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196752"/>
            <a:ext cx="9712325" cy="46831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2.8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</a:t>
            </a:r>
            <a:r>
              <a:rPr lang="zh-CN" altLang="en-US" sz="2800" dirty="0"/>
              <a:t>中所有的有序对的第一元素构成的集合称为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定义域</a:t>
            </a:r>
            <a:r>
              <a:rPr lang="zh-CN" altLang="en-US" sz="2800" dirty="0"/>
              <a:t>，记为</a:t>
            </a:r>
            <a:r>
              <a:rPr lang="en-US" altLang="zh-CN" sz="2800" dirty="0" err="1"/>
              <a:t>domR</a:t>
            </a:r>
            <a:r>
              <a:rPr lang="zh-CN" altLang="en-US" sz="2800" dirty="0"/>
              <a:t>。形式化表示为：</a:t>
            </a:r>
            <a:r>
              <a:rPr lang="en-US" altLang="zh-CN" sz="2800" dirty="0" err="1"/>
              <a:t>domR</a:t>
            </a:r>
            <a:r>
              <a:rPr lang="en-US" altLang="zh-CN" sz="2800" dirty="0"/>
              <a:t>={</a:t>
            </a:r>
            <a:r>
              <a:rPr lang="en-US" altLang="zh-CN" sz="2800" dirty="0" err="1"/>
              <a:t>x|x</a:t>
            </a:r>
            <a:r>
              <a:rPr lang="en-US" altLang="zh-CN" sz="2800" dirty="0"/>
              <a:t> ∈</a:t>
            </a:r>
            <a:r>
              <a:rPr lang="en-US" altLang="zh-CN" sz="2800" dirty="0" err="1"/>
              <a:t>A,</a:t>
            </a:r>
            <a:r>
              <a:rPr lang="en-US" altLang="zh-CN" sz="2800" dirty="0" err="1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y</a:t>
            </a:r>
            <a:r>
              <a:rPr lang="en-US" altLang="zh-CN" sz="2800" dirty="0"/>
              <a:t> ∈B,</a:t>
            </a:r>
            <a:r>
              <a:rPr lang="zh-CN" altLang="en-US" sz="2800" dirty="0"/>
              <a:t>使得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)∈R}</a:t>
            </a:r>
            <a:r>
              <a:rPr lang="zh-CN" altLang="en-US" sz="2800" dirty="0"/>
              <a:t>。 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</a:t>
            </a:r>
            <a:r>
              <a:rPr lang="zh-CN" altLang="en-US" sz="2800" dirty="0"/>
              <a:t>中所有有序对的第二元素构成的集合称为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值域</a:t>
            </a:r>
            <a:r>
              <a:rPr lang="zh-CN" altLang="en-US" sz="2800" dirty="0"/>
              <a:t>，记作</a:t>
            </a:r>
            <a:r>
              <a:rPr lang="en-US" altLang="zh-CN" sz="2800" dirty="0" err="1"/>
              <a:t>ranR</a:t>
            </a:r>
            <a:r>
              <a:rPr lang="zh-CN" altLang="en-US" sz="2800" dirty="0"/>
              <a:t>。形式化表示为</a:t>
            </a:r>
            <a:r>
              <a:rPr lang="en-US" altLang="zh-CN" sz="2800" dirty="0" err="1"/>
              <a:t>ranR</a:t>
            </a:r>
            <a:r>
              <a:rPr lang="en-US" altLang="zh-CN" sz="2800" dirty="0"/>
              <a:t>={y| </a:t>
            </a:r>
            <a:r>
              <a:rPr lang="en-US" altLang="zh-CN" sz="2800" dirty="0" err="1"/>
              <a:t>y∈B</a:t>
            </a:r>
            <a:r>
              <a:rPr lang="en-US" altLang="zh-CN" sz="2800" dirty="0"/>
              <a:t> ,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,</a:t>
            </a:r>
            <a:r>
              <a:rPr lang="zh-CN" altLang="en-US" sz="2800" dirty="0"/>
              <a:t>使得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)∈R}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5D81DDB-5011-4CAD-B8F5-50599A332513}" type="slidenum">
              <a:rPr lang="en-US" altLang="zh-CN"/>
            </a:fld>
            <a:endParaRPr lang="en-US" altLang="zh-CN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943768"/>
            <a:ext cx="9793088" cy="4970463"/>
          </a:xfrm>
        </p:spPr>
        <p:txBody>
          <a:bodyPr>
            <a:normAutofit fontScale="92500" lnSpcReduction="20000"/>
          </a:bodyPr>
          <a:lstStyle/>
          <a:p>
            <a:pPr marL="609600" indent="-609600" algn="just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2.9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为二元关系，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逆关系</a:t>
            </a:r>
            <a:r>
              <a:rPr lang="zh-CN" altLang="en-US" sz="2800" dirty="0"/>
              <a:t>，简称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逆</a:t>
            </a:r>
            <a:r>
              <a:rPr lang="zh-CN" altLang="en-US" sz="2800" dirty="0"/>
              <a:t>，记作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,</a:t>
            </a:r>
            <a:r>
              <a:rPr lang="zh-CN" altLang="en-US" sz="2800" dirty="0"/>
              <a:t>其中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={(y, x)|(x, y)∈R}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2.10</a:t>
            </a:r>
            <a:r>
              <a:rPr lang="en-US" altLang="zh-CN" sz="2800" dirty="0"/>
              <a:t> </a:t>
            </a:r>
            <a:r>
              <a:rPr lang="zh-CN" altLang="en-US" sz="2800" dirty="0"/>
              <a:t>整除关系</a:t>
            </a:r>
            <a:endParaRPr lang="zh-CN" altLang="en-US" sz="2800" dirty="0"/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A={2, 3, 4,8}, B={3, 4, 5, 6, 7}, </a:t>
            </a:r>
            <a:r>
              <a:rPr lang="zh-CN" altLang="en-US" sz="2800" dirty="0"/>
              <a:t>定义从</a:t>
            </a:r>
            <a:r>
              <a:rPr lang="en-US" altLang="zh-CN" sz="2800" dirty="0"/>
              <a:t>A</a:t>
            </a:r>
            <a:r>
              <a:rPr lang="zh-CN" altLang="en-US" sz="2800" dirty="0"/>
              <a:t>到</a:t>
            </a:r>
            <a:r>
              <a:rPr lang="en-US" altLang="zh-CN" sz="2800" dirty="0"/>
              <a:t>B</a:t>
            </a:r>
            <a:r>
              <a:rPr lang="zh-CN" altLang="en-US" sz="2800" dirty="0"/>
              <a:t>的二元关系</a:t>
            </a:r>
            <a:r>
              <a:rPr lang="en-US" altLang="zh-CN" sz="2800" dirty="0"/>
              <a:t>R: (a, b)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R</a:t>
            </a:r>
            <a:r>
              <a:rPr lang="en-US" altLang="zh-CN" sz="2800" dirty="0" err="1">
                <a:sym typeface="Symbol" panose="05050102010706020507" pitchFamily="18" charset="2"/>
              </a:rPr>
              <a:t></a:t>
            </a:r>
            <a:r>
              <a:rPr lang="en-US" altLang="zh-CN" sz="2800" dirty="0" err="1"/>
              <a:t>a</a:t>
            </a:r>
            <a:r>
              <a:rPr lang="zh-CN" altLang="en-US" sz="2800" dirty="0"/>
              <a:t>整除</a:t>
            </a:r>
            <a:r>
              <a:rPr lang="en-US" altLang="zh-CN" sz="2800" dirty="0"/>
              <a:t>b</a:t>
            </a:r>
            <a:r>
              <a:rPr lang="zh-CN" altLang="en-US" sz="2800" dirty="0"/>
              <a:t>。则          </a:t>
            </a:r>
            <a:endParaRPr lang="en-US" altLang="zh-CN" sz="2800" dirty="0"/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en-US" altLang="zh-CN" sz="2800" dirty="0"/>
              <a:t>        R={(2, 4), (2, 6), (3, 3), (3, 6), (4, 4)}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en-US" altLang="zh-CN" sz="2800" dirty="0"/>
              <a:t>               Dom R={2, 3, 4},             Ran R={3, 4, 6}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 marL="609600" indent="-609600" algn="just">
              <a:lnSpc>
                <a:spcPct val="150000"/>
              </a:lnSpc>
              <a:buNone/>
            </a:pPr>
            <a:r>
              <a:rPr lang="en-US" altLang="zh-CN" sz="2800" dirty="0"/>
              <a:t>        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={(4, 2), (6, 2), (3, 3), (6, 3), (4, 4)} 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27448" y="1087437"/>
            <a:ext cx="9278937" cy="4683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2.11 </a:t>
            </a:r>
            <a:r>
              <a:rPr lang="zh-CN" altLang="en-US" dirty="0"/>
              <a:t>设集合</a:t>
            </a:r>
            <a:r>
              <a:rPr lang="en-US" altLang="zh-CN" dirty="0"/>
              <a:t>A={1,2},</a:t>
            </a:r>
            <a:r>
              <a:rPr lang="zh-CN" altLang="en-US" dirty="0"/>
              <a:t>集合</a:t>
            </a:r>
            <a:r>
              <a:rPr lang="en-US" altLang="zh-CN" dirty="0"/>
              <a:t>B={2,3,4},</a:t>
            </a:r>
            <a:r>
              <a:rPr lang="zh-CN" altLang="en-US" dirty="0"/>
              <a:t>定义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上的二元关系</a:t>
            </a:r>
            <a:r>
              <a:rPr lang="en-US" altLang="zh-CN" dirty="0"/>
              <a:t>R={(1,2),(1,3),(2,2),(2,4)} </a:t>
            </a:r>
            <a:r>
              <a:rPr lang="zh-CN" altLang="en-US" dirty="0"/>
              <a:t>则</a:t>
            </a:r>
            <a:r>
              <a:rPr lang="en-US" altLang="zh-CN" dirty="0" err="1"/>
              <a:t>domR</a:t>
            </a:r>
            <a:r>
              <a:rPr lang="en-US" altLang="zh-CN" dirty="0"/>
              <a:t>={1,2},</a:t>
            </a:r>
            <a:r>
              <a:rPr lang="en-US" altLang="zh-CN" dirty="0" err="1"/>
              <a:t>ranR</a:t>
            </a:r>
            <a:r>
              <a:rPr lang="en-US" altLang="zh-CN" dirty="0"/>
              <a:t>={2,3,4}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2.12 </a:t>
            </a:r>
            <a:r>
              <a:rPr lang="zh-CN" altLang="en-US" dirty="0"/>
              <a:t>设集合</a:t>
            </a:r>
            <a:r>
              <a:rPr lang="en-US" altLang="zh-CN" dirty="0"/>
              <a:t>A={</a:t>
            </a:r>
            <a:r>
              <a:rPr lang="en-US" altLang="zh-CN" dirty="0" err="1"/>
              <a:t>a,b,c</a:t>
            </a:r>
            <a:r>
              <a:rPr lang="en-US" altLang="zh-CN" dirty="0"/>
              <a:t>},</a:t>
            </a:r>
            <a:r>
              <a:rPr lang="zh-CN" altLang="en-US" dirty="0"/>
              <a:t>定义</a:t>
            </a:r>
            <a:r>
              <a:rPr lang="en-US" altLang="zh-CN" dirty="0"/>
              <a:t>A</a:t>
            </a:r>
            <a:r>
              <a:rPr lang="zh-CN" altLang="en-US" dirty="0"/>
              <a:t>上的二元关系</a:t>
            </a:r>
            <a:r>
              <a:rPr lang="en-US" altLang="zh-CN" dirty="0"/>
              <a:t>R={(</a:t>
            </a:r>
            <a:r>
              <a:rPr lang="en-US" altLang="zh-CN" dirty="0" err="1"/>
              <a:t>a,a</a:t>
            </a:r>
            <a:r>
              <a:rPr lang="en-US" altLang="zh-CN" dirty="0"/>
              <a:t>),(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b,c</a:t>
            </a:r>
            <a:r>
              <a:rPr lang="en-US" altLang="zh-CN" dirty="0"/>
              <a:t>)},</a:t>
            </a:r>
            <a:r>
              <a:rPr lang="zh-CN" altLang="en-US" dirty="0"/>
              <a:t>则</a:t>
            </a:r>
            <a:endParaRPr lang="en-US" altLang="zh-CN" dirty="0"/>
          </a:p>
          <a:p>
            <a:pPr marL="247015" lvl="1" indent="0">
              <a:lnSpc>
                <a:spcPct val="150000"/>
              </a:lnSpc>
              <a:buNone/>
            </a:pPr>
            <a:r>
              <a:rPr lang="zh-CN" altLang="en-US" sz="2400" dirty="0"/>
              <a:t>  </a:t>
            </a:r>
            <a:r>
              <a:rPr lang="en-US" altLang="zh-CN" sz="2400" dirty="0" err="1"/>
              <a:t>domR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</a:t>
            </a:r>
            <a:r>
              <a:rPr lang="en-US" altLang="zh-CN" sz="2400" dirty="0" err="1"/>
              <a:t>ranR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},</a:t>
            </a:r>
            <a:endParaRPr lang="en-US" altLang="zh-CN" sz="2400" dirty="0"/>
          </a:p>
          <a:p>
            <a:pPr marL="484505" lvl="2" indent="0">
              <a:lnSpc>
                <a:spcPct val="150000"/>
              </a:lnSpc>
              <a:buNone/>
            </a:pPr>
            <a:r>
              <a:rPr lang="en-US" altLang="zh-CN" sz="2400" dirty="0"/>
              <a:t>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={(</a:t>
            </a:r>
            <a:r>
              <a:rPr lang="en-US" altLang="zh-CN" sz="2400" dirty="0" err="1"/>
              <a:t>a,a</a:t>
            </a:r>
            <a:r>
              <a:rPr lang="en-US" altLang="zh-CN" sz="2400" dirty="0"/>
              <a:t>),(</a:t>
            </a:r>
            <a:r>
              <a:rPr lang="en-US" altLang="zh-CN" sz="2400" dirty="0" err="1"/>
              <a:t>b,a</a:t>
            </a:r>
            <a:r>
              <a:rPr lang="en-US" altLang="zh-CN" sz="2400" dirty="0"/>
              <a:t>),(</a:t>
            </a:r>
            <a:r>
              <a:rPr lang="en-US" altLang="zh-CN" sz="2400" dirty="0" err="1"/>
              <a:t>c,b</a:t>
            </a:r>
            <a:r>
              <a:rPr lang="en-US" altLang="zh-CN" sz="2400" dirty="0"/>
              <a:t>)},</a:t>
            </a:r>
            <a:endParaRPr lang="en-US" altLang="zh-CN" sz="2400" dirty="0"/>
          </a:p>
          <a:p>
            <a:pPr marL="484505" lvl="2" indent="0">
              <a:lnSpc>
                <a:spcPct val="150000"/>
              </a:lnSpc>
              <a:buNone/>
            </a:pPr>
            <a:r>
              <a:rPr lang="en-US" altLang="zh-CN" sz="2400" dirty="0"/>
              <a:t>domR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}, </a:t>
            </a:r>
            <a:endParaRPr lang="en-US" altLang="zh-CN" sz="2400" dirty="0"/>
          </a:p>
          <a:p>
            <a:pPr marL="484505" lvl="2" indent="0">
              <a:lnSpc>
                <a:spcPct val="150000"/>
              </a:lnSpc>
              <a:buNone/>
            </a:pPr>
            <a:r>
              <a:rPr lang="en-US" altLang="zh-CN" sz="2400" dirty="0"/>
              <a:t>ranR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0654200-53A8-42EF-A475-01B3AEC3667A}" type="slidenum">
              <a:rPr lang="en-US" altLang="zh-CN"/>
            </a:fld>
            <a:endParaRPr lang="en-US" altLang="zh-CN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1052736"/>
            <a:ext cx="10297144" cy="4937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关系从本质上讲，仍是集合，只是这个集合中的元素都是以有序对的形式出现。既然关系是一个集合，那么集合的表示方法就可以用来表示关系，又因为关系是一个特殊的集合，其中的元素均以序偶的形式出现，除了可以用集合的表示方法外，还可以用其他的表示方法。这里主要介绍如下几种表示方法。 </a:t>
            </a:r>
            <a:endParaRPr lang="zh-CN" altLang="en-US" sz="3200" dirty="0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199456" y="296639"/>
            <a:ext cx="6600825" cy="1143000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关系的表示方法 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40956AB-3DE5-4A66-840A-35145925B3F1}" type="slidenum">
              <a:rPr lang="en-US" altLang="zh-CN"/>
            </a:fld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087437"/>
            <a:ext cx="10225136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用列举法表示二元关系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如果二元关系中的序偶个数是有限的，可以用列举法将其所包含的全部元素一一列举出来。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2.13</a:t>
            </a:r>
            <a:r>
              <a:rPr lang="en-US" altLang="zh-CN" sz="2800" dirty="0"/>
              <a:t> 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A={1,2,3}</a:t>
            </a:r>
            <a:r>
              <a:rPr lang="zh-CN" altLang="en-US" sz="2800" dirty="0"/>
              <a:t>，在集合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上定义的小于等于关系，</a:t>
            </a:r>
            <a:r>
              <a:rPr lang="en-US" altLang="zh-CN" sz="2800" dirty="0"/>
              <a:t>L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)|</a:t>
            </a:r>
            <a:r>
              <a:rPr lang="en-US" altLang="zh-CN" sz="2800" dirty="0" err="1"/>
              <a:t>a,b∈A,a≤b</a:t>
            </a:r>
            <a:r>
              <a:rPr lang="en-US" altLang="zh-CN" sz="2800" dirty="0"/>
              <a:t>}</a:t>
            </a:r>
            <a:r>
              <a:rPr lang="zh-CN" altLang="en-US" sz="2800" dirty="0"/>
              <a:t>，则</a:t>
            </a:r>
            <a:r>
              <a:rPr lang="en-US" altLang="zh-CN" sz="2800" dirty="0"/>
              <a:t>L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={(1,1),(1,2),(1,3),(2,2),(2,3),(3,3)}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54B18F0-8BF9-4D79-A8DF-7C499DA197AE}" type="slidenum">
              <a:rPr lang="en-US" altLang="zh-CN"/>
            </a:fld>
            <a:endParaRPr lang="en-US" altLang="zh-CN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873125"/>
            <a:ext cx="10801200" cy="511175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用描述法表示二元关系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用确定的条件表示某些序偶是否属于这个关系，并把这个条件写在大括号内表示关系的方法。 格式是： </a:t>
            </a:r>
            <a:r>
              <a:rPr lang="en-US" altLang="zh-CN" sz="2800" dirty="0"/>
              <a:t>L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</a:t>
            </a:r>
            <a:r>
              <a:rPr lang="en-US" altLang="zh-CN" sz="2800" dirty="0" err="1"/>
              <a:t>x∈R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y∈R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x≥y</a:t>
            </a:r>
            <a:r>
              <a:rPr lang="en-US" altLang="zh-CN" sz="2800" dirty="0"/>
              <a:t>}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2.14</a:t>
            </a:r>
            <a:r>
              <a:rPr lang="zh-CN" altLang="en-US" sz="2800" dirty="0"/>
              <a:t>设</a:t>
            </a:r>
            <a:r>
              <a:rPr lang="en-US" altLang="zh-CN" sz="2800" dirty="0"/>
              <a:t>A={1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4}</a:t>
            </a:r>
            <a:r>
              <a:rPr lang="zh-CN" altLang="en-US" sz="2800" dirty="0"/>
              <a:t>，下面两式定义的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都是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上的关系，分别列出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与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的元素如下： 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(1) 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)|x</a:t>
            </a:r>
            <a:r>
              <a:rPr lang="zh-CN" altLang="en-US" sz="2800" dirty="0"/>
              <a:t>是</a:t>
            </a:r>
            <a:r>
              <a:rPr lang="en-US" altLang="zh-CN" sz="2800" dirty="0"/>
              <a:t>y</a:t>
            </a:r>
            <a:r>
              <a:rPr lang="zh-CN" altLang="en-US" sz="2800" dirty="0"/>
              <a:t>的倍数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(2)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)|(x-y)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∈A}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6EF94C1-0427-4F61-A8CF-6275717E657A}" type="slidenum">
              <a:rPr lang="en-US" altLang="zh-CN"/>
            </a:fld>
            <a:endParaRPr lang="en-US" altLang="zh-CN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19537" y="188913"/>
            <a:ext cx="6336704" cy="1143000"/>
          </a:xfrm>
        </p:spPr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用关系矩阵表示关系</a:t>
            </a:r>
            <a:endParaRPr lang="zh-CN" altLang="en-US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3592" y="1196752"/>
            <a:ext cx="8440489" cy="411480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2.10 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是两个有限集</a:t>
            </a:r>
            <a:r>
              <a:rPr lang="en-US" altLang="zh-CN" sz="2800" dirty="0"/>
              <a:t>A={a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r>
              <a:rPr lang="en-US" altLang="zh-CN" sz="2800" dirty="0"/>
              <a:t>B={b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zh-CN" altLang="en-US" sz="2800" dirty="0"/>
              <a:t>是从</a:t>
            </a:r>
            <a:r>
              <a:rPr lang="en-US" altLang="zh-CN" sz="2800" dirty="0"/>
              <a:t>A</a:t>
            </a:r>
            <a:r>
              <a:rPr lang="zh-CN" altLang="en-US" sz="2800" dirty="0"/>
              <a:t>到</a:t>
            </a:r>
            <a:r>
              <a:rPr lang="en-US" altLang="zh-CN" sz="2800" dirty="0"/>
              <a:t>B</a:t>
            </a:r>
            <a:r>
              <a:rPr lang="zh-CN" altLang="en-US" sz="2800" dirty="0"/>
              <a:t>的二元关系，称</a:t>
            </a:r>
            <a:r>
              <a:rPr lang="en-US" altLang="zh-CN" sz="2800" dirty="0" err="1"/>
              <a:t>m</a:t>
            </a:r>
            <a:r>
              <a:rPr lang="en-US" altLang="zh-CN" sz="2800" dirty="0" err="1">
                <a:sym typeface="Symbol" panose="05050102010706020507" pitchFamily="18" charset="2"/>
              </a:rPr>
              <a:t></a:t>
            </a:r>
            <a:r>
              <a:rPr lang="en-US" altLang="zh-CN" sz="2800" dirty="0" err="1"/>
              <a:t>n</a:t>
            </a:r>
            <a:r>
              <a:rPr lang="zh-CN" altLang="en-US" sz="2800" dirty="0"/>
              <a:t>阶矩阵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=(</a:t>
            </a:r>
            <a:r>
              <a:rPr lang="en-US" altLang="zh-CN" sz="2800" dirty="0" err="1"/>
              <a:t>r</a:t>
            </a:r>
            <a:r>
              <a:rPr lang="en-US" altLang="zh-CN" sz="2800" baseline="-25000" dirty="0" err="1"/>
              <a:t>ij</a:t>
            </a:r>
            <a:r>
              <a:rPr lang="en-US" altLang="zh-CN" sz="2800" dirty="0"/>
              <a:t>)</a:t>
            </a:r>
            <a:r>
              <a:rPr lang="zh-CN" altLang="en-US" sz="2800" dirty="0"/>
              <a:t>为</a:t>
            </a:r>
            <a:r>
              <a:rPr lang="en-US" altLang="zh-CN" sz="2800" dirty="0"/>
              <a:t>R</a:t>
            </a:r>
            <a:r>
              <a:rPr lang="zh-CN" altLang="en-US" sz="2800" dirty="0"/>
              <a:t>的关系矩阵，其中</a:t>
            </a:r>
            <a:endParaRPr lang="zh-CN" altLang="en-US" sz="2800" i="1" dirty="0"/>
          </a:p>
          <a:p>
            <a:pPr marL="609600" indent="-609600">
              <a:lnSpc>
                <a:spcPct val="150000"/>
              </a:lnSpc>
              <a:buNone/>
            </a:pPr>
            <a:r>
              <a:rPr lang="zh-CN" altLang="en-US" sz="2800" i="1" dirty="0"/>
              <a:t>             </a:t>
            </a:r>
            <a:r>
              <a:rPr lang="en-US" altLang="zh-CN" sz="2800" dirty="0" err="1"/>
              <a:t>r</a:t>
            </a:r>
            <a:r>
              <a:rPr lang="en-US" altLang="zh-CN" sz="2800" baseline="-25000" dirty="0" err="1"/>
              <a:t>ij</a:t>
            </a:r>
            <a:r>
              <a:rPr lang="en-US" altLang="zh-CN" sz="2800" dirty="0"/>
              <a:t> = 1</a:t>
            </a:r>
            <a:r>
              <a:rPr lang="en-US" altLang="zh-CN" sz="2800" i="1" dirty="0"/>
              <a:t> </a:t>
            </a:r>
            <a:r>
              <a:rPr lang="zh-CN" altLang="en-US" sz="2800" dirty="0"/>
              <a:t>，当且仅当</a:t>
            </a:r>
            <a:r>
              <a:rPr lang="en-US" altLang="zh-CN" sz="2800" dirty="0"/>
              <a:t>(a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endParaRPr lang="en-US" altLang="zh-CN" sz="2800" i="1" dirty="0"/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zh-CN" sz="2800" i="1" dirty="0"/>
              <a:t>             </a:t>
            </a:r>
            <a:r>
              <a:rPr lang="en-US" altLang="zh-CN" sz="2800" dirty="0" err="1"/>
              <a:t>r</a:t>
            </a:r>
            <a:r>
              <a:rPr lang="en-US" altLang="zh-CN" sz="2800" baseline="-25000" dirty="0" err="1"/>
              <a:t>ij</a:t>
            </a:r>
            <a:r>
              <a:rPr lang="en-US" altLang="zh-CN" sz="2800" dirty="0"/>
              <a:t> = 0 </a:t>
            </a:r>
            <a:r>
              <a:rPr lang="zh-CN" altLang="en-US" sz="2800" dirty="0"/>
              <a:t>，当且仅当</a:t>
            </a:r>
            <a:r>
              <a:rPr lang="en-US" altLang="zh-CN" sz="2800" dirty="0"/>
              <a:t>(a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Symbol" panose="05050102010706020507" pitchFamily="18" charset="2"/>
              </a:rPr>
              <a:t></a:t>
            </a:r>
            <a:r>
              <a:rPr lang="en-US" altLang="zh-CN" sz="2800" dirty="0"/>
              <a:t>R</a:t>
            </a:r>
            <a:endParaRPr lang="en-US" altLang="zh-CN" sz="2800" dirty="0"/>
          </a:p>
          <a:p>
            <a:pPr marL="609600" indent="-609600">
              <a:lnSpc>
                <a:spcPct val="150000"/>
              </a:lnSpc>
            </a:pPr>
            <a:endParaRPr lang="en-US" altLang="zh-CN" sz="2800" dirty="0"/>
          </a:p>
        </p:txBody>
      </p:sp>
      <p:sp>
        <p:nvSpPr>
          <p:cNvPr id="198660" name="AutoShape 4"/>
          <p:cNvSpPr/>
          <p:nvPr/>
        </p:nvSpPr>
        <p:spPr bwMode="auto">
          <a:xfrm>
            <a:off x="3503712" y="3645024"/>
            <a:ext cx="216024" cy="936104"/>
          </a:xfrm>
          <a:prstGeom prst="leftBrace">
            <a:avLst>
              <a:gd name="adj1" fmla="val 37778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A45C253-506C-4C41-B8A2-3CB806C7FE8F}" type="slidenum">
              <a:rPr lang="en-US" altLang="zh-CN"/>
            </a:fld>
            <a:endParaRPr lang="en-US" altLang="zh-CN"/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2663" y="430213"/>
            <a:ext cx="11209337" cy="443865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2.16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A={1,2,3},</a:t>
            </a:r>
            <a:r>
              <a:rPr lang="zh-CN" altLang="en-US" sz="2800" dirty="0"/>
              <a:t>在集合 </a:t>
            </a:r>
            <a:r>
              <a:rPr lang="en-US" altLang="zh-CN" sz="2800" dirty="0"/>
              <a:t>A </a:t>
            </a:r>
            <a:r>
              <a:rPr lang="zh-CN" altLang="en-US" sz="2800" dirty="0"/>
              <a:t>上定义的小于或等于关系</a:t>
            </a:r>
            <a:r>
              <a:rPr lang="en-US" altLang="zh-CN" sz="2800" dirty="0"/>
              <a:t>,</a:t>
            </a:r>
            <a:r>
              <a:rPr lang="zh-CN" altLang="en-US" sz="2800" dirty="0"/>
              <a:t>则关系</a:t>
            </a:r>
            <a:r>
              <a:rPr lang="en-US" altLang="zh-CN" sz="2800" dirty="0"/>
              <a:t>R </a:t>
            </a:r>
            <a:r>
              <a:rPr lang="zh-CN" altLang="en-US" sz="2800" dirty="0"/>
              <a:t>的关系 矩阵为 ：</a:t>
            </a: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2.17</a:t>
            </a:r>
            <a:r>
              <a:rPr lang="zh-CN" altLang="en-US" sz="2800" dirty="0"/>
              <a:t>设</a:t>
            </a:r>
            <a:r>
              <a:rPr lang="en-US" altLang="zh-CN" sz="2800" dirty="0"/>
              <a:t>A={1,2,3,4},</a:t>
            </a:r>
            <a:r>
              <a:rPr lang="zh-CN" altLang="en-US" sz="2800" dirty="0"/>
              <a:t>下面两式定义的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都是</a:t>
            </a:r>
            <a:r>
              <a:rPr lang="en-US" altLang="zh-CN" sz="2800" dirty="0"/>
              <a:t>A </a:t>
            </a:r>
            <a:r>
              <a:rPr lang="zh-CN" altLang="en-US" sz="2800" dirty="0"/>
              <a:t>上的关系</a:t>
            </a:r>
            <a:r>
              <a:rPr lang="en-US" altLang="zh-CN" sz="2800" dirty="0"/>
              <a:t>,</a:t>
            </a:r>
            <a:r>
              <a:rPr lang="zh-CN" altLang="en-US" sz="2800" dirty="0"/>
              <a:t>分别列出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与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的元素。 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(1)  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)|x </a:t>
            </a:r>
            <a:r>
              <a:rPr lang="zh-CN" altLang="en-US" sz="2800" dirty="0"/>
              <a:t>是</a:t>
            </a:r>
            <a:r>
              <a:rPr lang="en-US" altLang="zh-CN" sz="2800" dirty="0"/>
              <a:t>y </a:t>
            </a:r>
            <a:r>
              <a:rPr lang="zh-CN" altLang="en-US" sz="2800" dirty="0"/>
              <a:t>的倍数</a:t>
            </a:r>
            <a:r>
              <a:rPr lang="en-US" altLang="zh-CN" sz="2800" dirty="0"/>
              <a:t>} 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(2) 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)|(x-y)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∈A} 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则关系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与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的关系矩阵分别为：</a:t>
            </a:r>
            <a:endParaRPr lang="zh-CN" altLang="en-US" sz="2800" dirty="0"/>
          </a:p>
        </p:txBody>
      </p:sp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3575845" y="1467644"/>
          <a:ext cx="7207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" name="公式" r:id="rId1" imgW="254000" imgH="215900" progId="Equation.3">
                  <p:embed/>
                </p:oleObj>
              </mc:Choice>
              <mc:Fallback>
                <p:oleObj name="公式" r:id="rId1" imgW="2540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845" y="1467644"/>
                        <a:ext cx="720725" cy="614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4403950" y="1124744"/>
          <a:ext cx="143827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" name="公式" r:id="rId3" imgW="787400" imgH="711200" progId="Equation.3">
                  <p:embed/>
                </p:oleObj>
              </mc:Choice>
              <mc:Fallback>
                <p:oleObj name="公式" r:id="rId3" imgW="7874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950" y="1124744"/>
                        <a:ext cx="1438275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1" name="Object 11"/>
          <p:cNvGraphicFramePr>
            <a:graphicFrameLocks noChangeAspect="1"/>
          </p:cNvGraphicFramePr>
          <p:nvPr/>
        </p:nvGraphicFramePr>
        <p:xfrm>
          <a:off x="2063750" y="5373689"/>
          <a:ext cx="6477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2" name="公式" r:id="rId5" imgW="292100" imgH="241300" progId="Equation.3">
                  <p:embed/>
                </p:oleObj>
              </mc:Choice>
              <mc:Fallback>
                <p:oleObj name="公式" r:id="rId5" imgW="2921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73689"/>
                        <a:ext cx="647700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0" name="Object 10"/>
          <p:cNvGraphicFramePr>
            <a:graphicFrameLocks noChangeAspect="1"/>
          </p:cNvGraphicFramePr>
          <p:nvPr/>
        </p:nvGraphicFramePr>
        <p:xfrm>
          <a:off x="2711450" y="4868863"/>
          <a:ext cx="1728788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" name="公式" r:id="rId7" imgW="1003300" imgH="914400" progId="Equation.3">
                  <p:embed/>
                </p:oleObj>
              </mc:Choice>
              <mc:Fallback>
                <p:oleObj name="公式" r:id="rId7" imgW="1003300" imgH="914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868863"/>
                        <a:ext cx="1728788" cy="158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9" name="Object 9"/>
          <p:cNvGraphicFramePr>
            <a:graphicFrameLocks noChangeAspect="1"/>
          </p:cNvGraphicFramePr>
          <p:nvPr/>
        </p:nvGraphicFramePr>
        <p:xfrm>
          <a:off x="6027738" y="5376863"/>
          <a:ext cx="6651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" name="公式" r:id="rId9" imgW="304800" imgH="241300" progId="Equation.3">
                  <p:embed/>
                </p:oleObj>
              </mc:Choice>
              <mc:Fallback>
                <p:oleObj name="公式" r:id="rId9" imgW="3048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5376863"/>
                        <a:ext cx="665162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/>
          <p:cNvGraphicFramePr>
            <a:graphicFrameLocks noChangeAspect="1"/>
          </p:cNvGraphicFramePr>
          <p:nvPr/>
        </p:nvGraphicFramePr>
        <p:xfrm>
          <a:off x="6672263" y="5000626"/>
          <a:ext cx="1604962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" name="公式" r:id="rId11" imgW="1028700" imgH="914400" progId="Equation.3">
                  <p:embed/>
                </p:oleObj>
              </mc:Choice>
              <mc:Fallback>
                <p:oleObj name="公式" r:id="rId11" imgW="102870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5000626"/>
                        <a:ext cx="1604962" cy="1427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2" name="Rectangle 12"/>
          <p:cNvSpPr>
            <a:spLocks noChangeArrowheads="1"/>
          </p:cNvSpPr>
          <p:nvPr/>
        </p:nvSpPr>
        <p:spPr bwMode="auto">
          <a:xfrm>
            <a:off x="1524001" y="1969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14" name="Rectangle 14"/>
          <p:cNvSpPr>
            <a:spLocks noChangeArrowheads="1"/>
          </p:cNvSpPr>
          <p:nvPr/>
        </p:nvSpPr>
        <p:spPr bwMode="auto">
          <a:xfrm>
            <a:off x="5894663" y="3305891"/>
            <a:ext cx="40267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3A332E"/>
                </a:solidFill>
                <a:latin typeface="Verdana" panose="020B0604030504040204" pitchFamily="34" charset="0"/>
              </a:rPr>
              <a:t>，  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00495A0-9D57-4438-AD50-9AF28E0F7D4C}" type="slidenum">
              <a:rPr lang="en-US" altLang="zh-CN"/>
            </a:fld>
            <a:endParaRPr lang="en-US" altLang="zh-CN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27649" y="188913"/>
            <a:ext cx="7416824" cy="1143000"/>
          </a:xfrm>
        </p:spPr>
        <p:txBody>
          <a:bodyPr/>
          <a:lstStyle/>
          <a:p>
            <a:r>
              <a:rPr lang="en-US" altLang="zh-CN" dirty="0"/>
              <a:t> 4.</a:t>
            </a:r>
            <a:r>
              <a:rPr lang="zh-CN" altLang="en-US" dirty="0"/>
              <a:t>用关系图表示二元关系 </a:t>
            </a:r>
            <a:endParaRPr lang="zh-CN" altLang="en-US" dirty="0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7488" y="1196752"/>
            <a:ext cx="10071918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i="1" dirty="0"/>
              <a:t>A=</a:t>
            </a:r>
            <a:r>
              <a:rPr lang="en-US" altLang="zh-CN" sz="2800" dirty="0"/>
              <a:t>{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……, a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cs typeface="Times New Roman" panose="02020603050405020304" pitchFamily="18" charset="0"/>
              </a:rPr>
              <a:t>}</a:t>
            </a:r>
            <a:r>
              <a:rPr lang="zh-CN" altLang="en-US" sz="2800" dirty="0"/>
              <a:t>，</a:t>
            </a:r>
            <a:r>
              <a:rPr lang="en-US" altLang="zh-CN" sz="2800" i="1" dirty="0">
                <a:cs typeface="Times New Roman" panose="02020603050405020304" pitchFamily="18" charset="0"/>
              </a:rPr>
              <a:t>R</a:t>
            </a:r>
            <a:r>
              <a:rPr lang="zh-CN" altLang="en-US" sz="2800" dirty="0"/>
              <a:t>是</a:t>
            </a:r>
            <a:r>
              <a:rPr lang="en-US" altLang="zh-CN" sz="2800" i="1" dirty="0">
                <a:cs typeface="Times New Roman" panose="02020603050405020304" pitchFamily="18" charset="0"/>
              </a:rPr>
              <a:t>A</a:t>
            </a:r>
            <a:r>
              <a:rPr lang="zh-CN" altLang="en-US" sz="2800" dirty="0"/>
              <a:t>上的二元关系。</a:t>
            </a:r>
            <a:r>
              <a:rPr lang="en-US" altLang="zh-CN" sz="2800" i="1" dirty="0">
                <a:cs typeface="Times New Roman" panose="02020603050405020304" pitchFamily="18" charset="0"/>
              </a:rPr>
              <a:t>A</a:t>
            </a:r>
            <a:r>
              <a:rPr lang="zh-CN" altLang="en-US" sz="2800" dirty="0"/>
              <a:t>中每个元素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800" dirty="0"/>
              <a:t>用一个点表示，称该点为顶点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/>
              <a:t>。</a:t>
            </a:r>
            <a:r>
              <a:rPr lang="en-US" altLang="zh-CN" sz="2800" dirty="0"/>
              <a:t>R</a:t>
            </a:r>
            <a:r>
              <a:rPr lang="zh-CN" altLang="en-US" sz="2800" dirty="0"/>
              <a:t>的关系图是一个有向图，</a:t>
            </a:r>
            <a:r>
              <a:rPr lang="en-US" altLang="zh-CN" sz="2800" dirty="0"/>
              <a:t>A</a:t>
            </a:r>
            <a:r>
              <a:rPr lang="zh-CN" altLang="en-US" sz="2800" dirty="0"/>
              <a:t>中每个元素分别用一个顶点表示，当且仅当</a:t>
            </a:r>
            <a:r>
              <a:rPr lang="en-US" altLang="zh-CN" sz="2800" dirty="0"/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,a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800" dirty="0"/>
              <a:t>)∈R</a:t>
            </a:r>
            <a:r>
              <a:rPr lang="zh-CN" altLang="en-US" sz="2800" dirty="0"/>
              <a:t>时，用弧或线段联结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800" dirty="0"/>
              <a:t>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sz="2800" dirty="0"/>
              <a:t>； 若</a:t>
            </a:r>
            <a:r>
              <a:rPr lang="en-US" altLang="zh-CN" sz="2800" dirty="0"/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,a</a:t>
            </a:r>
            <a:r>
              <a:rPr lang="en-US" altLang="zh-CN" sz="28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800" dirty="0"/>
              <a:t>) ∈R</a:t>
            </a:r>
            <a:r>
              <a:rPr lang="zh-CN" altLang="en-US" sz="2800" dirty="0"/>
              <a:t>，则在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800" dirty="0"/>
              <a:t>处画一条自封闭的弧线</a:t>
            </a:r>
            <a:r>
              <a:rPr lang="en-US" altLang="zh-CN" sz="2800" dirty="0"/>
              <a:t>,</a:t>
            </a:r>
            <a:r>
              <a:rPr lang="zh-CN" altLang="en-US" sz="2800" dirty="0"/>
              <a:t>其中</a:t>
            </a:r>
            <a:r>
              <a:rPr lang="en-US" altLang="zh-CN" sz="2800" dirty="0"/>
              <a:t>1≤</a:t>
            </a:r>
            <a:r>
              <a:rPr lang="en-US" altLang="zh-CN" sz="2800" i="1" dirty="0">
                <a:latin typeface="Times New Roman" panose="02020603050405020304" pitchFamily="18" charset="0"/>
              </a:rPr>
              <a:t>i,j</a:t>
            </a:r>
            <a:r>
              <a:rPr lang="en-US" altLang="zh-CN" sz="2800" dirty="0"/>
              <a:t>≤n</a:t>
            </a:r>
            <a:r>
              <a:rPr lang="zh-CN" altLang="en-US" sz="2800" dirty="0"/>
              <a:t>。这样表示</a:t>
            </a:r>
            <a:r>
              <a:rPr lang="en-US" altLang="zh-CN" sz="2800" dirty="0"/>
              <a:t>R</a:t>
            </a:r>
            <a:r>
              <a:rPr lang="zh-CN" altLang="en-US" sz="2800" dirty="0"/>
              <a:t>中关系的图形，称为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关系图</a:t>
            </a:r>
            <a:r>
              <a:rPr lang="zh-CN" altLang="en-US" sz="2800" dirty="0"/>
              <a:t>，用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R</a:t>
            </a:r>
            <a:r>
              <a:rPr lang="zh-CN" altLang="en-US" sz="2800" dirty="0"/>
              <a:t>表示。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53395FA-5337-4982-9107-1CC83F2F42DA}" type="slidenum">
              <a:rPr lang="en-US" altLang="zh-CN"/>
            </a:fld>
            <a:endParaRPr lang="en-US" altLang="zh-CN"/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35113" y="974725"/>
            <a:ext cx="10656887" cy="234791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2.18</a:t>
            </a:r>
            <a:endParaRPr lang="en-US" altLang="zh-CN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设集合</a:t>
            </a:r>
            <a:r>
              <a:rPr lang="en-US" altLang="zh-CN" dirty="0"/>
              <a:t>A={1,2,3,4}</a:t>
            </a:r>
            <a:r>
              <a:rPr lang="zh-CN" altLang="en-US" dirty="0"/>
              <a:t>，在集合</a:t>
            </a:r>
            <a:r>
              <a:rPr lang="en-US" altLang="zh-CN" dirty="0"/>
              <a:t>A</a:t>
            </a:r>
            <a:r>
              <a:rPr lang="zh-CN" altLang="en-US" dirty="0"/>
              <a:t>上定义关系</a:t>
            </a:r>
            <a:r>
              <a:rPr lang="en-US" altLang="zh-CN" dirty="0"/>
              <a:t>R={(1,1)</a:t>
            </a:r>
            <a:r>
              <a:rPr lang="zh-CN" altLang="en-US" dirty="0"/>
              <a:t>，</a:t>
            </a:r>
            <a:r>
              <a:rPr lang="en-US" altLang="zh-CN" dirty="0"/>
              <a:t>(1,2)</a:t>
            </a:r>
            <a:r>
              <a:rPr lang="zh-CN" altLang="en-US" dirty="0"/>
              <a:t>，</a:t>
            </a:r>
            <a:r>
              <a:rPr lang="en-US" altLang="zh-CN" dirty="0"/>
              <a:t>(2,3)</a:t>
            </a:r>
            <a:r>
              <a:rPr lang="zh-CN" altLang="en-US" dirty="0"/>
              <a:t>，</a:t>
            </a:r>
            <a:r>
              <a:rPr lang="en-US" altLang="zh-CN" dirty="0"/>
              <a:t>(2,4)</a:t>
            </a:r>
            <a:r>
              <a:rPr lang="zh-CN" altLang="en-US" dirty="0"/>
              <a:t>，</a:t>
            </a:r>
            <a:r>
              <a:rPr lang="en-US" altLang="zh-CN" dirty="0"/>
              <a:t>(4,2)}</a:t>
            </a:r>
            <a:r>
              <a:rPr lang="zh-CN" altLang="en-US" dirty="0"/>
              <a:t>，则</a:t>
            </a:r>
            <a:r>
              <a:rPr lang="en-US" altLang="zh-CN" dirty="0"/>
              <a:t>R</a:t>
            </a:r>
            <a:r>
              <a:rPr lang="zh-CN" altLang="en-US" dirty="0"/>
              <a:t>的关系图如图</a:t>
            </a:r>
            <a:r>
              <a:rPr lang="en-US" altLang="zh-CN" dirty="0"/>
              <a:t>2.1</a:t>
            </a:r>
            <a:r>
              <a:rPr lang="zh-CN" altLang="en-US" dirty="0"/>
              <a:t>所示。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258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7" y="2708920"/>
            <a:ext cx="28797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95400" y="4869160"/>
            <a:ext cx="11233509" cy="126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关系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的集合表达式、关系矩阵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en-US" altLang="zh-CN" b="1" baseline="-25000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、关系图</a:t>
            </a:r>
            <a:r>
              <a:rPr lang="en-US" altLang="zh-CN" b="1" dirty="0">
                <a:solidFill>
                  <a:srgbClr val="FF0000"/>
                </a:solidFill>
              </a:rPr>
              <a:t>G</a:t>
            </a:r>
            <a:r>
              <a:rPr lang="en-US" altLang="zh-CN" b="1" baseline="-25000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三者均可唯一相互确定。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4782EA1-D2C9-496C-BA83-09A3C750A544}" type="slidenum">
              <a:rPr lang="en-US" altLang="zh-CN"/>
            </a:fld>
            <a:endParaRPr lang="en-US" altLang="zh-CN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775520" y="1052736"/>
            <a:ext cx="9888538" cy="496887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2.11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设关系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ym typeface="Symbol" panose="05050102010706020507" pitchFamily="18" charset="2"/>
              </a:rPr>
              <a:t>是从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的两个二元关系，对于</a:t>
            </a:r>
            <a:r>
              <a:rPr lang="en-US" altLang="zh-CN" sz="2800" dirty="0" err="1">
                <a:sym typeface="Symbol" panose="05050102010706020507" pitchFamily="18" charset="2"/>
              </a:rPr>
              <a:t>aA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 err="1">
                <a:sym typeface="Symbol" panose="05050102010706020507" pitchFamily="18" charset="2"/>
              </a:rPr>
              <a:t>bB</a:t>
            </a:r>
            <a:r>
              <a:rPr lang="zh-CN" altLang="en-US" sz="2800" dirty="0">
                <a:sym typeface="Symbol" panose="05050102010706020507" pitchFamily="18" charset="2"/>
              </a:rPr>
              <a:t>，定义：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ym typeface="Symbol" panose="05050102010706020507" pitchFamily="18" charset="2"/>
              </a:rPr>
              <a:t>） </a:t>
            </a:r>
            <a:r>
              <a:rPr lang="en-US" altLang="zh-CN" sz="2800" dirty="0">
                <a:sym typeface="Symbol" panose="05050102010706020507" pitchFamily="18" charset="2"/>
              </a:rPr>
              <a:t>R∪S</a:t>
            </a:r>
            <a:r>
              <a:rPr lang="zh-CN" altLang="en-US" sz="2800" dirty="0">
                <a:sym typeface="Symbol" panose="05050102010706020507" pitchFamily="18" charset="2"/>
              </a:rPr>
              <a:t>：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)∈R∪S (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</a:t>
            </a:r>
            <a:r>
              <a:rPr lang="zh-CN" altLang="en-US" sz="2800" dirty="0">
                <a:sym typeface="Symbol" panose="05050102010706020507" pitchFamily="18" charset="2"/>
              </a:rPr>
              <a:t>或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)∈S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） </a:t>
            </a:r>
            <a:r>
              <a:rPr lang="en-US" altLang="zh-CN" sz="2800" dirty="0">
                <a:sym typeface="Symbol" panose="05050102010706020507" pitchFamily="18" charset="2"/>
              </a:rPr>
              <a:t>R∩S</a:t>
            </a:r>
            <a:r>
              <a:rPr lang="zh-CN" altLang="en-US" sz="2800" dirty="0">
                <a:sym typeface="Symbol" panose="05050102010706020507" pitchFamily="18" charset="2"/>
              </a:rPr>
              <a:t>：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)∈R∩S (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)∈S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sym typeface="Symbol" panose="05050102010706020507" pitchFamily="18" charset="2"/>
              </a:rPr>
              <a:t>） </a:t>
            </a:r>
            <a:r>
              <a:rPr lang="en-US" altLang="zh-CN" sz="2800" dirty="0">
                <a:sym typeface="Symbol" panose="05050102010706020507" pitchFamily="18" charset="2"/>
              </a:rPr>
              <a:t>R-S</a:t>
            </a:r>
            <a:r>
              <a:rPr lang="zh-CN" altLang="en-US" sz="2800" dirty="0">
                <a:sym typeface="Symbol" panose="05050102010706020507" pitchFamily="18" charset="2"/>
              </a:rPr>
              <a:t>： 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)∈R-S (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)S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4</a:t>
            </a:r>
            <a:r>
              <a:rPr lang="zh-CN" altLang="en-US" sz="2800" dirty="0">
                <a:sym typeface="Symbol" panose="05050102010706020507" pitchFamily="18" charset="2"/>
              </a:rPr>
              <a:t>） </a:t>
            </a:r>
            <a:r>
              <a:rPr lang="en-US" altLang="zh-CN" sz="2800" dirty="0">
                <a:sym typeface="Symbol" panose="05050102010706020507" pitchFamily="18" charset="2"/>
              </a:rPr>
              <a:t>R′</a:t>
            </a:r>
            <a:r>
              <a:rPr lang="zh-CN" altLang="en-US" sz="2800" dirty="0">
                <a:sym typeface="Symbol" panose="05050102010706020507" pitchFamily="18" charset="2"/>
              </a:rPr>
              <a:t>：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)∈R′ (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)∈A×B-R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5</a:t>
            </a:r>
            <a:r>
              <a:rPr lang="zh-CN" altLang="en-US" sz="2800" dirty="0">
                <a:sym typeface="Symbol" panose="05050102010706020507" pitchFamily="18" charset="2"/>
              </a:rPr>
              <a:t>）</a:t>
            </a:r>
            <a:r>
              <a:rPr lang="pt-BR" altLang="zh-CN" sz="2800" dirty="0"/>
              <a:t> R </a:t>
            </a:r>
            <a:r>
              <a:rPr lang="zh-CN" altLang="en-US" sz="2800" dirty="0">
                <a:sym typeface="Symbol" panose="05050102010706020507" pitchFamily="18" charset="2"/>
              </a:rPr>
              <a:t> </a:t>
            </a:r>
            <a:r>
              <a:rPr lang="pt-BR" altLang="zh-CN" sz="2800" dirty="0"/>
              <a:t>S=(R-S)∪(S-R)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495601" y="188913"/>
            <a:ext cx="4680520" cy="647799"/>
          </a:xfrm>
        </p:spPr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关系的运算 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6AB90AB-FE52-453D-BD05-B304DE8480CA}" type="slidenum">
              <a:rPr lang="en-US" altLang="zh-CN"/>
            </a:fld>
            <a:endParaRPr lang="en-US" altLang="zh-CN"/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3592" y="980728"/>
            <a:ext cx="8631758" cy="46831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2.20</a:t>
            </a:r>
            <a:r>
              <a:rPr lang="en-US" altLang="zh-CN" sz="2800" dirty="0"/>
              <a:t>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}</a:t>
            </a:r>
            <a:r>
              <a:rPr lang="zh-CN" altLang="en-US" sz="2800" dirty="0"/>
              <a:t>，集合</a:t>
            </a:r>
            <a:r>
              <a:rPr lang="en-US" altLang="zh-CN" sz="2800" dirty="0"/>
              <a:t>B={1,2}</a:t>
            </a:r>
            <a:r>
              <a:rPr lang="zh-CN" altLang="en-US" sz="2800" dirty="0"/>
              <a:t>，且</a:t>
            </a:r>
            <a:r>
              <a:rPr lang="en-US" altLang="zh-CN" sz="2800" dirty="0"/>
              <a:t>R</a:t>
            </a:r>
            <a:r>
              <a:rPr lang="zh-CN" altLang="en-US" sz="2800" dirty="0"/>
              <a:t>和</a:t>
            </a:r>
            <a:r>
              <a:rPr lang="en-US" altLang="zh-CN" sz="2800" dirty="0"/>
              <a:t>S</a:t>
            </a:r>
            <a:r>
              <a:rPr lang="zh-CN" altLang="en-US" sz="2800" dirty="0"/>
              <a:t>是从</a:t>
            </a:r>
            <a:r>
              <a:rPr lang="en-US" altLang="zh-CN" sz="2800" dirty="0"/>
              <a:t>A</a:t>
            </a:r>
            <a:r>
              <a:rPr lang="zh-CN" altLang="en-US" sz="2800" dirty="0"/>
              <a:t>到</a:t>
            </a:r>
            <a:r>
              <a:rPr lang="en-US" altLang="zh-CN" sz="2800" dirty="0"/>
              <a:t>B</a:t>
            </a:r>
            <a:r>
              <a:rPr lang="zh-CN" altLang="en-US" sz="2800" dirty="0"/>
              <a:t>的两个二元关系，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     </a:t>
            </a:r>
            <a:r>
              <a:rPr lang="zh-CN" altLang="en-US" sz="2800" dirty="0"/>
              <a:t> </a:t>
            </a:r>
            <a:r>
              <a:rPr lang="en-US" altLang="zh-CN" sz="2800" dirty="0"/>
              <a:t>R={(a,1),(b,2),(c,1)}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    </a:t>
            </a:r>
            <a:r>
              <a:rPr lang="en-US" altLang="zh-CN" sz="2800" dirty="0"/>
              <a:t> S={(a,1),(b,1),(c,2)}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 </a:t>
            </a:r>
            <a:r>
              <a:rPr lang="en-US" altLang="zh-CN" sz="2800" dirty="0"/>
              <a:t> </a:t>
            </a:r>
            <a:r>
              <a:rPr lang="zh-CN" altLang="en-US" sz="2800" dirty="0"/>
              <a:t>则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     </a:t>
            </a:r>
            <a:r>
              <a:rPr lang="zh-CN" altLang="en-US" sz="2800" dirty="0"/>
              <a:t> </a:t>
            </a:r>
            <a:r>
              <a:rPr lang="en-US" altLang="zh-CN" sz="2800" dirty="0"/>
              <a:t>R∪S={(a,1),(b,2),(c,1),(b,1),(c,2)}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    </a:t>
            </a:r>
            <a:r>
              <a:rPr lang="en-US" altLang="zh-CN" sz="2800" dirty="0"/>
              <a:t> R∩S={(a,1)}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    </a:t>
            </a:r>
            <a:r>
              <a:rPr lang="en-US" altLang="zh-CN" sz="2800" dirty="0"/>
              <a:t> R-S={(b,2),(c,1)}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       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=A×B</a:t>
            </a:r>
            <a:r>
              <a:rPr lang="zh-CN" altLang="en-US" sz="2800" dirty="0"/>
              <a:t>－</a:t>
            </a:r>
            <a:r>
              <a:rPr lang="en-US" altLang="zh-CN" sz="2800" dirty="0"/>
              <a:t>R={(a,2),(b,1),(c,2)}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 </a:t>
            </a:r>
            <a:r>
              <a:rPr lang="zh-CN" altLang="en-US" sz="2800" dirty="0">
                <a:sym typeface="Symbol" panose="05050102010706020507" pitchFamily="18" charset="2"/>
              </a:rPr>
              <a:t> </a:t>
            </a:r>
            <a:r>
              <a:rPr lang="en-US" altLang="zh-CN" sz="2800" dirty="0"/>
              <a:t>S={(b,2),(c,1)}∪ {(b,1),(c,2)}      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={(b,1),(b,2),(c,1),(c,2)}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978D868-5D94-4617-80C0-3DC570523ECB}" type="slidenum">
              <a:rPr lang="en-US" altLang="zh-CN"/>
            </a:fld>
            <a:endParaRPr lang="en-US" altLang="zh-CN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19536" y="888206"/>
            <a:ext cx="8952929" cy="50815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因为关系可以用矩阵的形式表示，当我们用矩阵的形式求关系的并、交、补及对称差的运算时，可以用如下形式表示：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R∪S</a:t>
            </a:r>
            <a:r>
              <a:rPr lang="en-US" altLang="zh-CN" sz="2800" dirty="0"/>
              <a:t>=M</a:t>
            </a:r>
            <a:r>
              <a:rPr lang="en-US" altLang="zh-CN" sz="2800" baseline="-250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S</a:t>
            </a:r>
            <a:r>
              <a:rPr lang="en-US" altLang="zh-CN" sz="2800" dirty="0"/>
              <a:t>   </a:t>
            </a:r>
            <a:r>
              <a:rPr lang="zh-CN" altLang="en-US" sz="2800" dirty="0"/>
              <a:t>（矩阵的对应分量做逻辑析取运算）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R∩S</a:t>
            </a:r>
            <a:r>
              <a:rPr lang="en-US" altLang="zh-CN" sz="2800" dirty="0"/>
              <a:t>=M</a:t>
            </a:r>
            <a:r>
              <a:rPr lang="en-US" altLang="zh-CN" sz="2800" baseline="-250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S</a:t>
            </a:r>
            <a:r>
              <a:rPr lang="en-US" altLang="zh-CN" sz="2800" dirty="0"/>
              <a:t>  </a:t>
            </a:r>
            <a:r>
              <a:rPr lang="zh-CN" altLang="en-US" sz="2800" dirty="0"/>
              <a:t>（矩阵的对应分量做逻辑合取运算）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R-S</a:t>
            </a:r>
            <a:r>
              <a:rPr lang="en-US" altLang="zh-CN" sz="2800" dirty="0"/>
              <a:t>=M</a:t>
            </a:r>
            <a:r>
              <a:rPr lang="en-US" altLang="zh-CN" sz="2800" baseline="-25000" dirty="0"/>
              <a:t>R∩S</a:t>
            </a:r>
            <a:r>
              <a:rPr lang="en-US" altLang="zh-CN" sz="2800" baseline="-250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=M</a:t>
            </a:r>
            <a:r>
              <a:rPr lang="en-US" altLang="zh-CN" sz="2800" baseline="-250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S</a:t>
            </a:r>
            <a:r>
              <a:rPr lang="en-US" altLang="zh-CN" sz="2800" baseline="-25000" dirty="0"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/>
              <a:t>  </a:t>
            </a:r>
            <a:r>
              <a:rPr lang="en-US" altLang="zh-CN" sz="2800" dirty="0"/>
              <a:t>       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R</a:t>
            </a:r>
            <a:r>
              <a:rPr lang="en-US" altLang="zh-CN" sz="2800" baseline="-250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=M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           </a:t>
            </a:r>
            <a:r>
              <a:rPr lang="zh-CN" altLang="en-US" sz="2800" dirty="0"/>
              <a:t>（矩阵的对应分量做逻辑非运算）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551F40E5-531B-4BAF-8B47-FB45731497F6}" type="slidenum">
              <a:rPr lang="en-US" altLang="zh-CN"/>
            </a:fld>
            <a:endParaRPr lang="en-US" altLang="zh-CN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10970" y="910713"/>
            <a:ext cx="9544497" cy="124142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2.21</a:t>
            </a:r>
            <a:r>
              <a:rPr lang="zh-CN" altLang="en-US" sz="2800" dirty="0"/>
              <a:t>对例</a:t>
            </a:r>
            <a:r>
              <a:rPr lang="en-US" altLang="zh-CN" sz="2800" dirty="0"/>
              <a:t>2.20</a:t>
            </a:r>
            <a:r>
              <a:rPr lang="zh-CN" altLang="en-US" sz="2800" dirty="0"/>
              <a:t>中的关系的运算采用矩阵的形式表示如下： 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根据题意，关系</a:t>
            </a:r>
            <a:r>
              <a:rPr lang="en-US" altLang="zh-CN" sz="2800" dirty="0"/>
              <a:t>R</a:t>
            </a:r>
            <a:r>
              <a:rPr lang="zh-CN" altLang="en-US" sz="2800" dirty="0"/>
              <a:t>与</a:t>
            </a:r>
            <a:r>
              <a:rPr lang="en-US" altLang="zh-CN" sz="2800" dirty="0"/>
              <a:t>S</a:t>
            </a:r>
            <a:r>
              <a:rPr lang="zh-CN" altLang="en-US" sz="2800" dirty="0"/>
              <a:t>的关系矩阵分别表示为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graphicFrame>
        <p:nvGraphicFramePr>
          <p:cNvPr id="259077" name="Object 5"/>
          <p:cNvGraphicFramePr>
            <a:graphicFrameLocks noChangeAspect="1"/>
          </p:cNvGraphicFramePr>
          <p:nvPr/>
        </p:nvGraphicFramePr>
        <p:xfrm>
          <a:off x="2470158" y="2108735"/>
          <a:ext cx="2469884" cy="1224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" name="公式" r:id="rId1" imgW="862965" imgH="711200" progId="Equation.3">
                  <p:embed/>
                </p:oleObj>
              </mc:Choice>
              <mc:Fallback>
                <p:oleObj name="公式" r:id="rId1" imgW="862965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8" y="2108735"/>
                        <a:ext cx="2469884" cy="12244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6096000" y="2108735"/>
          <a:ext cx="2145927" cy="122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" name="公式" r:id="rId3" imgW="862965" imgH="711200" progId="Equation.3">
                  <p:embed/>
                </p:oleObj>
              </mc:Choice>
              <mc:Fallback>
                <p:oleObj name="公式" r:id="rId3" imgW="862965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108735"/>
                        <a:ext cx="2145927" cy="12276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8" name="Rectangle 6"/>
          <p:cNvSpPr>
            <a:spLocks noChangeArrowheads="1"/>
          </p:cNvSpPr>
          <p:nvPr/>
        </p:nvSpPr>
        <p:spPr bwMode="auto">
          <a:xfrm>
            <a:off x="1524001" y="240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9080" name="Text Box 8"/>
          <p:cNvSpPr txBox="1">
            <a:spLocks noChangeArrowheads="1"/>
          </p:cNvSpPr>
          <p:nvPr/>
        </p:nvSpPr>
        <p:spPr bwMode="auto">
          <a:xfrm>
            <a:off x="1705622" y="3266121"/>
            <a:ext cx="632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则</a:t>
            </a:r>
            <a:endParaRPr lang="zh-CN" altLang="en-US" b="1" dirty="0"/>
          </a:p>
        </p:txBody>
      </p:sp>
      <p:sp>
        <p:nvSpPr>
          <p:cNvPr id="259082" name="Rectangle 10"/>
          <p:cNvSpPr>
            <a:spLocks noChangeArrowheads="1"/>
          </p:cNvSpPr>
          <p:nvPr/>
        </p:nvSpPr>
        <p:spPr bwMode="auto">
          <a:xfrm>
            <a:off x="1524001" y="2887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9081" name="Object 9"/>
          <p:cNvGraphicFramePr>
            <a:graphicFrameLocks noChangeAspect="1"/>
          </p:cNvGraphicFramePr>
          <p:nvPr/>
        </p:nvGraphicFramePr>
        <p:xfrm>
          <a:off x="2451332" y="3565131"/>
          <a:ext cx="3004879" cy="125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" name="公式" r:id="rId5" imgW="1714500" imgH="711200" progId="Equation.3">
                  <p:embed/>
                </p:oleObj>
              </mc:Choice>
              <mc:Fallback>
                <p:oleObj name="公式" r:id="rId5" imgW="1714500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332" y="3565131"/>
                        <a:ext cx="3004879" cy="12517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4" name="Rectangle 12"/>
          <p:cNvSpPr>
            <a:spLocks noChangeArrowheads="1"/>
          </p:cNvSpPr>
          <p:nvPr/>
        </p:nvSpPr>
        <p:spPr bwMode="auto">
          <a:xfrm>
            <a:off x="1524001" y="2887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9083" name="Object 11"/>
          <p:cNvGraphicFramePr>
            <a:graphicFrameLocks noChangeAspect="1"/>
          </p:cNvGraphicFramePr>
          <p:nvPr/>
        </p:nvGraphicFramePr>
        <p:xfrm>
          <a:off x="6241616" y="3473482"/>
          <a:ext cx="3004879" cy="122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" name="公式" r:id="rId7" imgW="1752600" imgH="711200" progId="Equation.3">
                  <p:embed/>
                </p:oleObj>
              </mc:Choice>
              <mc:Fallback>
                <p:oleObj name="公式" r:id="rId7" imgW="1752600" imgH="71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1616" y="3473482"/>
                        <a:ext cx="3004879" cy="1224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6" name="Rectangle 14"/>
          <p:cNvSpPr>
            <a:spLocks noChangeArrowheads="1"/>
          </p:cNvSpPr>
          <p:nvPr/>
        </p:nvSpPr>
        <p:spPr bwMode="auto">
          <a:xfrm>
            <a:off x="1524001" y="2887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9085" name="Object 13"/>
          <p:cNvGraphicFramePr>
            <a:graphicFrameLocks noChangeAspect="1"/>
          </p:cNvGraphicFramePr>
          <p:nvPr/>
        </p:nvGraphicFramePr>
        <p:xfrm>
          <a:off x="2470158" y="4813425"/>
          <a:ext cx="3006671" cy="1219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" name="公式" r:id="rId9" imgW="1765300" imgH="711200" progId="Equation.3">
                  <p:embed/>
                </p:oleObj>
              </mc:Choice>
              <mc:Fallback>
                <p:oleObj name="公式" r:id="rId9" imgW="17653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8" y="4813425"/>
                        <a:ext cx="3006671" cy="12195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8" name="Rectangle 16"/>
          <p:cNvSpPr>
            <a:spLocks noChangeArrowheads="1"/>
          </p:cNvSpPr>
          <p:nvPr/>
        </p:nvSpPr>
        <p:spPr bwMode="auto">
          <a:xfrm>
            <a:off x="1524001" y="2887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9087" name="Object 15"/>
          <p:cNvGraphicFramePr>
            <a:graphicFrameLocks noChangeAspect="1"/>
          </p:cNvGraphicFramePr>
          <p:nvPr/>
        </p:nvGraphicFramePr>
        <p:xfrm>
          <a:off x="6248704" y="4798354"/>
          <a:ext cx="3491964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9" name="公式" r:id="rId11" imgW="1879600" imgH="711200" progId="Equation.3">
                  <p:embed/>
                </p:oleObj>
              </mc:Choice>
              <mc:Fallback>
                <p:oleObj name="公式" r:id="rId11" imgW="18796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704" y="4798354"/>
                        <a:ext cx="3491964" cy="1328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ECC544A-7589-47E1-8D9A-353DD0FC5AEE}" type="slidenum">
              <a:rPr lang="en-US" altLang="zh-CN"/>
            </a:fld>
            <a:endParaRPr lang="en-US" altLang="zh-CN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980728"/>
            <a:ext cx="9135814" cy="468312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定理</a:t>
            </a:r>
            <a:r>
              <a:rPr lang="en-US" altLang="zh-CN" sz="2400" dirty="0">
                <a:solidFill>
                  <a:srgbClr val="0000FF"/>
                </a:solidFill>
              </a:rPr>
              <a:t>2.3</a:t>
            </a:r>
            <a:r>
              <a:rPr lang="en-US" altLang="zh-CN" sz="2400" dirty="0"/>
              <a:t> </a:t>
            </a:r>
            <a:r>
              <a:rPr lang="zh-CN" altLang="en-US" sz="2400" dirty="0"/>
              <a:t>设关系</a:t>
            </a:r>
            <a:r>
              <a:rPr lang="en-US" altLang="zh-CN" sz="2400" dirty="0"/>
              <a:t>R</a:t>
            </a:r>
            <a:r>
              <a:rPr lang="zh-CN" altLang="en-US" sz="2400" dirty="0"/>
              <a:t>、</a:t>
            </a:r>
            <a:r>
              <a:rPr lang="en-US" altLang="zh-CN" sz="2400" dirty="0"/>
              <a:t>S</a:t>
            </a:r>
            <a:r>
              <a:rPr lang="zh-CN" altLang="en-US" sz="2400" dirty="0"/>
              <a:t>是集合</a:t>
            </a:r>
            <a:r>
              <a:rPr lang="en-US" altLang="zh-CN" sz="2400" dirty="0"/>
              <a:t>A</a:t>
            </a:r>
            <a:r>
              <a:rPr lang="zh-CN" altLang="en-US" sz="2400" dirty="0"/>
              <a:t>到集合</a:t>
            </a:r>
            <a:r>
              <a:rPr lang="en-US" altLang="zh-CN" sz="2400" dirty="0"/>
              <a:t>B</a:t>
            </a:r>
            <a:r>
              <a:rPr lang="zh-CN" altLang="en-US" sz="2400" dirty="0"/>
              <a:t>的二元关系，则有下列性质成立：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(1)    (R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=R,             (R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en-US" altLang="zh-CN" sz="2400" dirty="0"/>
              <a:t>=R (</a:t>
            </a:r>
            <a:r>
              <a:rPr lang="zh-CN" altLang="en-US" sz="2400" dirty="0"/>
              <a:t>双重否定律</a:t>
            </a:r>
            <a:r>
              <a:rPr lang="en-US" altLang="zh-CN" sz="2400" dirty="0"/>
              <a:t>)</a:t>
            </a:r>
            <a:br>
              <a:rPr lang="en-US" altLang="zh-CN" sz="2400" dirty="0"/>
            </a:br>
            <a:r>
              <a:rPr lang="en-US" altLang="zh-CN" sz="2400" dirty="0"/>
              <a:t>(2)    (R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 (R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en-US" altLang="zh-CN" sz="2400" dirty="0"/>
              <a:t>,       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dirty="0"/>
              <a:t> (</a:t>
            </a:r>
            <a:r>
              <a:rPr lang="zh-CN" altLang="en-US" sz="2400" dirty="0"/>
              <a:t>可换性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(3)    (R∪S)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∪S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 (</a:t>
            </a:r>
            <a:r>
              <a:rPr lang="zh-CN" altLang="en-US" sz="2400" dirty="0"/>
              <a:t>分配律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(R∩S)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∩S</a:t>
            </a:r>
            <a:r>
              <a:rPr lang="en-US" altLang="zh-CN" sz="2400" baseline="30000" dirty="0"/>
              <a:t>-1</a:t>
            </a:r>
            <a:endParaRPr lang="en-US" altLang="zh-CN" sz="2400" baseline="30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(R-S)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-S</a:t>
            </a:r>
            <a:r>
              <a:rPr lang="en-US" altLang="zh-CN" sz="2400" baseline="30000" dirty="0"/>
              <a:t>-1</a:t>
            </a:r>
            <a:endParaRPr lang="en-US" altLang="zh-CN" sz="2400" baseline="30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	(4)    S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S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  (</a:t>
            </a:r>
            <a:r>
              <a:rPr lang="zh-CN" altLang="en-US" sz="2400" dirty="0"/>
              <a:t>单调性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	   S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S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</a:t>
            </a:r>
            <a:r>
              <a:rPr lang="en-US" altLang="zh-CN" sz="2400" dirty="0"/>
              <a:t> R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(5)   domR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ranR</a:t>
            </a:r>
            <a:r>
              <a:rPr lang="zh-CN" altLang="en-US" sz="2400" dirty="0"/>
              <a:t>，   </a:t>
            </a:r>
            <a:r>
              <a:rPr lang="en-US" altLang="zh-CN" sz="2400" dirty="0"/>
              <a:t>ranR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domR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(6)   (A</a:t>
            </a:r>
            <a:r>
              <a:rPr lang="en-US" altLang="zh-CN" sz="2400" dirty="0">
                <a:sym typeface="Symbol" panose="05050102010706020507" pitchFamily="18" charset="2"/>
              </a:rPr>
              <a:t></a:t>
            </a:r>
            <a:r>
              <a:rPr lang="en-US" altLang="zh-CN" sz="2400" dirty="0"/>
              <a:t>B)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= B</a:t>
            </a:r>
            <a:r>
              <a:rPr lang="en-US" altLang="zh-CN" sz="2400" dirty="0">
                <a:sym typeface="Symbol" panose="05050102010706020507" pitchFamily="18" charset="2"/>
              </a:rPr>
              <a:t></a:t>
            </a:r>
            <a:r>
              <a:rPr lang="en-US" altLang="zh-CN" sz="2400" dirty="0"/>
              <a:t>A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417CE6C-700D-48B0-BAB2-508AB3D23333}" type="slidenum">
              <a:rPr lang="en-US" altLang="zh-CN"/>
            </a:fld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71664" y="404664"/>
            <a:ext cx="7224985" cy="570071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r>
              <a:rPr lang="zh-CN" altLang="en-US" sz="2800" dirty="0"/>
              <a:t>这里只证明（</a:t>
            </a:r>
            <a:r>
              <a:rPr lang="en-US" altLang="zh-CN" sz="2800" dirty="0"/>
              <a:t>1</a:t>
            </a:r>
            <a:r>
              <a:rPr lang="zh-CN" altLang="en-US" sz="2800" dirty="0"/>
              <a:t>）和（</a:t>
            </a:r>
            <a:r>
              <a:rPr lang="en-US" altLang="zh-CN" sz="2800" dirty="0"/>
              <a:t>5</a:t>
            </a:r>
            <a:r>
              <a:rPr lang="zh-CN" altLang="en-US" sz="2800" dirty="0"/>
              <a:t>）。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(1)  </a:t>
            </a:r>
            <a:r>
              <a:rPr lang="zh-CN" altLang="en-US" sz="2800" dirty="0">
                <a:solidFill>
                  <a:srgbClr val="000000"/>
                </a:solidFill>
              </a:rPr>
              <a:t>任取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，由逆的定义有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       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)∈(R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 </a:t>
            </a:r>
            <a:endParaRPr lang="en-US" altLang="zh-CN" sz="2800" baseline="300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aseline="30000" dirty="0">
                <a:solidFill>
                  <a:srgbClr val="000000"/>
                </a:solidFill>
              </a:rPr>
              <a:t>     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000000"/>
                </a:solidFill>
              </a:rPr>
              <a:t> (</a:t>
            </a:r>
            <a:r>
              <a:rPr lang="en-US" altLang="zh-CN" sz="2800" dirty="0" err="1">
                <a:solidFill>
                  <a:srgbClr val="000000"/>
                </a:solidFill>
              </a:rPr>
              <a:t>y,x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br>
              <a:rPr lang="zh-CN" altLang="en-US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    所以有</a:t>
            </a:r>
            <a:r>
              <a:rPr lang="en-US" altLang="zh-CN" sz="2800" dirty="0">
                <a:solidFill>
                  <a:srgbClr val="000000"/>
                </a:solidFill>
              </a:rPr>
              <a:t>(R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=R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(5)  </a:t>
            </a:r>
            <a:r>
              <a:rPr lang="zh-CN" altLang="en-US" sz="2800" dirty="0">
                <a:solidFill>
                  <a:srgbClr val="000000"/>
                </a:solidFill>
              </a:rPr>
              <a:t>任取</a:t>
            </a:r>
            <a:r>
              <a:rPr lang="en-US" altLang="zh-CN" sz="2800" dirty="0">
                <a:solidFill>
                  <a:srgbClr val="000000"/>
                </a:solidFill>
              </a:rPr>
              <a:t>x,   x∈domR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endParaRPr lang="en-US" altLang="zh-CN" sz="2800" baseline="300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</a:t>
            </a:r>
            <a:r>
              <a:rPr lang="en-US" altLang="zh-CN" sz="2800" dirty="0">
                <a:solidFill>
                  <a:srgbClr val="000000"/>
                </a:solidFill>
              </a:rPr>
              <a:t> y((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baseline="300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     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rgbClr val="000000"/>
                </a:solidFill>
              </a:rPr>
              <a:t> y((</a:t>
            </a:r>
            <a:r>
              <a:rPr lang="en-US" altLang="zh-CN" sz="2800" dirty="0" err="1">
                <a:solidFill>
                  <a:srgbClr val="000000"/>
                </a:solidFill>
              </a:rPr>
              <a:t>y,x</a:t>
            </a:r>
            <a:r>
              <a:rPr lang="en-US" altLang="zh-CN" sz="2800" dirty="0">
                <a:solidFill>
                  <a:srgbClr val="000000"/>
                </a:solidFill>
              </a:rPr>
              <a:t>)∈R))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</a:rPr>
              <a:t>x∈ranR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所以有</a:t>
            </a:r>
            <a:r>
              <a:rPr lang="en-US" altLang="zh-CN" sz="2800" dirty="0">
                <a:solidFill>
                  <a:srgbClr val="000000"/>
                </a:solidFill>
              </a:rPr>
              <a:t>domR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</a:rPr>
              <a:t>ranR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br>
              <a:rPr lang="zh-CN" altLang="en-US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同理可证 </a:t>
            </a:r>
            <a:r>
              <a:rPr lang="en-US" altLang="zh-CN" sz="2800" dirty="0">
                <a:solidFill>
                  <a:srgbClr val="000000"/>
                </a:solidFill>
              </a:rPr>
              <a:t>ranR</a:t>
            </a:r>
            <a:r>
              <a:rPr lang="en-US" altLang="zh-CN" sz="2800" baseline="30000" dirty="0">
                <a:solidFill>
                  <a:srgbClr val="000000"/>
                </a:solidFill>
              </a:rPr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</a:rPr>
              <a:t>domR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F16CB7E-09A8-4308-8A74-312BEB2B1316}" type="slidenum">
              <a:rPr lang="en-US" altLang="zh-CN"/>
            </a:fld>
            <a:endParaRPr lang="en-US" altLang="zh-CN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10944225" cy="1143000"/>
          </a:xfrm>
        </p:spPr>
        <p:txBody>
          <a:bodyPr/>
          <a:lstStyle/>
          <a:p>
            <a:r>
              <a:rPr lang="zh-CN" altLang="en-US"/>
              <a:t>合成关系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512" y="836712"/>
            <a:ext cx="9423846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2.12</a:t>
            </a:r>
            <a:r>
              <a:rPr lang="zh-CN" altLang="zh-CN" sz="2800" dirty="0"/>
              <a:t>设R是从集合A到集合B的二元关系，S是从集合B到集合C的二元关系，则R与S的</a:t>
            </a:r>
            <a:r>
              <a:rPr lang="zh-CN" altLang="zh-CN" sz="2800" b="1" dirty="0">
                <a:solidFill>
                  <a:srgbClr val="0000FF"/>
                </a:solidFill>
              </a:rPr>
              <a:t>复合关系</a:t>
            </a:r>
            <a:r>
              <a:rPr lang="zh-CN" altLang="zh-CN" sz="2800" dirty="0"/>
              <a:t>（</a:t>
            </a:r>
            <a:r>
              <a:rPr lang="zh-CN" altLang="zh-CN" sz="2800" b="1" dirty="0">
                <a:solidFill>
                  <a:srgbClr val="0000FF"/>
                </a:solidFill>
              </a:rPr>
              <a:t>合成关系</a:t>
            </a:r>
            <a:r>
              <a:rPr lang="zh-CN" altLang="zh-CN" sz="2800" dirty="0"/>
              <a:t>）R</a:t>
            </a:r>
            <a:r>
              <a:rPr lang="zh-CN" altLang="zh-CN" sz="2800" dirty="0">
                <a:latin typeface="Times New Roman" panose="02020603050405020304" pitchFamily="18" charset="0"/>
              </a:rPr>
              <a:t>·</a:t>
            </a:r>
            <a:r>
              <a:rPr lang="zh-CN" altLang="zh-CN" sz="2800" dirty="0"/>
              <a:t>S是从A到C的关系，并且，</a:t>
            </a:r>
            <a:endParaRPr lang="zh-CN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/>
              <a:t>R</a:t>
            </a:r>
            <a:r>
              <a:rPr lang="zh-CN" altLang="zh-CN" sz="2800" dirty="0">
                <a:latin typeface="Times New Roman" panose="02020603050405020304" pitchFamily="18" charset="0"/>
              </a:rPr>
              <a:t>·</a:t>
            </a:r>
            <a:r>
              <a:rPr lang="zh-CN" altLang="zh-CN" sz="2800" dirty="0"/>
              <a:t>S={(x,z)|x∈A且z∈C且存在y∈B使得(x,y)∈R,(y,z)∈S}，运算</a:t>
            </a:r>
            <a:r>
              <a:rPr lang="zh-CN" altLang="zh-CN" sz="2800" dirty="0">
                <a:latin typeface="Times New Roman" panose="02020603050405020304" pitchFamily="18" charset="0"/>
              </a:rPr>
              <a:t>“·”</a:t>
            </a:r>
            <a:r>
              <a:rPr lang="zh-CN" altLang="zh-CN" sz="2800" dirty="0"/>
              <a:t>称为</a:t>
            </a:r>
            <a:r>
              <a:rPr lang="zh-CN" altLang="zh-CN" sz="2800" b="1" dirty="0">
                <a:solidFill>
                  <a:srgbClr val="0000FF"/>
                </a:solidFill>
              </a:rPr>
              <a:t>复合运算</a:t>
            </a:r>
            <a:r>
              <a:rPr lang="zh-CN" altLang="zh-CN" sz="2800" dirty="0"/>
              <a:t>或</a:t>
            </a:r>
            <a:r>
              <a:rPr lang="zh-CN" altLang="zh-CN" sz="2800" b="1" dirty="0">
                <a:solidFill>
                  <a:srgbClr val="0000FF"/>
                </a:solidFill>
              </a:rPr>
              <a:t>合成运算</a:t>
            </a:r>
            <a:r>
              <a:rPr lang="zh-CN" altLang="zh-CN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068E49B-65EB-4EA3-AC6F-B3648919729D}" type="slidenum">
              <a:rPr lang="en-US" altLang="zh-CN"/>
            </a:fld>
            <a:endParaRPr lang="en-US" altLang="zh-CN"/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2279576" y="800893"/>
            <a:ext cx="8486775" cy="5256213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2.22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上的二元关系</a:t>
            </a:r>
            <a:r>
              <a:rPr lang="en-US" altLang="zh-CN" sz="2800" dirty="0"/>
              <a:t>R</a:t>
            </a:r>
            <a:r>
              <a:rPr lang="en-US" altLang="zh-CN" sz="2800" dirty="0">
                <a:solidFill>
                  <a:srgbClr val="000000"/>
                </a:solidFill>
              </a:rPr>
              <a:t>={(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x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的父亲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/>
              <a:t>S</a:t>
            </a:r>
            <a:r>
              <a:rPr lang="en-US" altLang="zh-CN" sz="2800" dirty="0">
                <a:solidFill>
                  <a:srgbClr val="000000"/>
                </a:solidFill>
              </a:rPr>
              <a:t>={(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 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x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的母亲</a:t>
            </a:r>
            <a:r>
              <a:rPr lang="en-US" altLang="zh-CN" sz="2800" dirty="0">
                <a:solidFill>
                  <a:srgbClr val="000000"/>
                </a:solidFill>
              </a:rPr>
              <a:t>} 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  (1)</a:t>
            </a:r>
            <a:r>
              <a:rPr lang="zh-CN" altLang="en-US" sz="2800" dirty="0">
                <a:solidFill>
                  <a:srgbClr val="000000"/>
                </a:solidFill>
              </a:rPr>
              <a:t>说明</a:t>
            </a:r>
            <a:r>
              <a:rPr lang="en-US" altLang="zh-CN" sz="2800" dirty="0"/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R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–1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S</a:t>
            </a:r>
            <a:r>
              <a:rPr lang="zh-CN" altLang="en-US" sz="2800" dirty="0">
                <a:solidFill>
                  <a:srgbClr val="000000"/>
                </a:solidFill>
              </a:rPr>
              <a:t>的含义。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(2)</a:t>
            </a:r>
            <a:r>
              <a:rPr lang="zh-CN" altLang="en-US" sz="2800" dirty="0">
                <a:solidFill>
                  <a:srgbClr val="000000"/>
                </a:solidFill>
              </a:rPr>
              <a:t>表示以下关系：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	</a:t>
            </a:r>
            <a:r>
              <a:rPr lang="en-US" altLang="zh-CN" sz="2800" dirty="0">
                <a:solidFill>
                  <a:srgbClr val="000000"/>
                </a:solidFill>
              </a:rPr>
              <a:t>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y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的外祖母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000000"/>
                </a:solidFill>
              </a:rPr>
              <a:t>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x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的祖母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212CCC0-C17C-46A7-9818-5751BF0B0059}" type="slidenum">
              <a:rPr lang="en-US" altLang="zh-CN"/>
            </a:fld>
            <a:endParaRPr lang="en-US" altLang="zh-CN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27648" y="260648"/>
            <a:ext cx="7920038" cy="5629275"/>
          </a:xfrm>
          <a:noFill/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解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	</a:t>
            </a:r>
            <a:r>
              <a:rPr lang="en-US" altLang="zh-CN" sz="2800" dirty="0">
                <a:solidFill>
                  <a:srgbClr val="000000"/>
                </a:solidFill>
              </a:rPr>
              <a:t>(1) </a:t>
            </a:r>
            <a:r>
              <a:rPr lang="en-US" altLang="zh-CN" sz="2800" dirty="0"/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R</a:t>
            </a:r>
            <a:r>
              <a:rPr lang="zh-CN" altLang="en-US" sz="2800" dirty="0"/>
              <a:t>表示关系</a:t>
            </a:r>
            <a:r>
              <a:rPr lang="en-US" altLang="zh-CN" sz="2800" dirty="0">
                <a:solidFill>
                  <a:srgbClr val="000000"/>
                </a:solidFill>
              </a:rPr>
              <a:t>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x</a:t>
            </a:r>
            <a:r>
              <a:rPr lang="zh-CN" altLang="en-US" sz="2800" dirty="0">
                <a:solidFill>
                  <a:srgbClr val="000000"/>
                </a:solidFill>
              </a:rPr>
              <a:t>是 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的祖父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–1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表示关系</a:t>
            </a:r>
            <a:r>
              <a:rPr lang="en-US" altLang="zh-CN" sz="2800" dirty="0">
                <a:solidFill>
                  <a:srgbClr val="000000"/>
                </a:solidFill>
              </a:rPr>
              <a:t>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y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的祖母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	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tA</a:t>
            </a:r>
            <a:r>
              <a:rPr lang="en-US" altLang="zh-CN" sz="2800" dirty="0">
                <a:solidFill>
                  <a:srgbClr val="000000"/>
                </a:solidFill>
              </a:rPr>
              <a:t>((</a:t>
            </a:r>
            <a:r>
              <a:rPr lang="en-US" altLang="zh-CN" sz="2800" dirty="0" err="1">
                <a:solidFill>
                  <a:srgbClr val="000000"/>
                </a:solidFill>
              </a:rPr>
              <a:t>x,t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∧ (</a:t>
            </a:r>
            <a:r>
              <a:rPr lang="en-US" altLang="zh-CN" sz="2800" dirty="0" err="1">
                <a:solidFill>
                  <a:srgbClr val="000000"/>
                </a:solidFill>
              </a:rPr>
              <a:t>t,y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rgbClr val="000000"/>
                </a:solidFill>
              </a:rPr>
              <a:t>S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R</a:t>
            </a:r>
            <a:r>
              <a:rPr lang="en-US" altLang="zh-CN" sz="2800" baseline="30000" dirty="0"/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S</a:t>
            </a:r>
            <a:r>
              <a:rPr lang="zh-CN" altLang="en-US" sz="2800" dirty="0"/>
              <a:t>表示空关系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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	</a:t>
            </a:r>
            <a:r>
              <a:rPr lang="en-US" altLang="zh-CN" sz="2800" dirty="0">
                <a:solidFill>
                  <a:srgbClr val="000000"/>
                </a:solidFill>
              </a:rPr>
              <a:t>(2)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y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的外祖母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zh-CN" altLang="en-US" sz="2800" dirty="0">
                <a:solidFill>
                  <a:srgbClr val="000000"/>
                </a:solidFill>
              </a:rPr>
              <a:t>表示为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–1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{(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)|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</a:rPr>
              <a:t>, x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的祖母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zh-CN" altLang="en-US" sz="2800" dirty="0">
                <a:solidFill>
                  <a:srgbClr val="000000"/>
                </a:solidFill>
              </a:rPr>
              <a:t>表示为</a:t>
            </a:r>
            <a:r>
              <a:rPr lang="en-US" altLang="zh-CN" sz="2800" dirty="0"/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/>
              <a:t>R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D832A27-3C12-4D4E-B2F0-265B4450D6CE}" type="slidenum">
              <a:rPr lang="en-US" altLang="zh-CN"/>
            </a:fld>
            <a:endParaRPr lang="en-US" altLang="zh-CN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19536" y="1268760"/>
            <a:ext cx="4535488" cy="45370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2.23</a:t>
            </a:r>
            <a:r>
              <a:rPr lang="zh-CN" altLang="en-US" dirty="0"/>
              <a:t>设</a:t>
            </a:r>
            <a:r>
              <a:rPr lang="en-US" altLang="zh-CN" dirty="0"/>
              <a:t>Z</a:t>
            </a:r>
            <a:r>
              <a:rPr lang="zh-CN" altLang="en-US" dirty="0"/>
              <a:t>是整数集合，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是</a:t>
            </a:r>
            <a:r>
              <a:rPr lang="en-US" altLang="zh-CN" dirty="0"/>
              <a:t>Z</a:t>
            </a:r>
            <a:r>
              <a:rPr lang="zh-CN" altLang="en-US" dirty="0"/>
              <a:t>到</a:t>
            </a:r>
            <a:r>
              <a:rPr lang="en-US" altLang="zh-CN" dirty="0"/>
              <a:t>Z</a:t>
            </a:r>
            <a:r>
              <a:rPr lang="zh-CN" altLang="en-US" dirty="0"/>
              <a:t>的两个关系：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R={(x,3x)|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 </a:t>
            </a:r>
            <a:r>
              <a:rPr lang="en-US" altLang="zh-CN" dirty="0"/>
              <a:t>S={(x,5x)|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计算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</a:t>
            </a:r>
            <a:r>
              <a:rPr lang="zh-CN" altLang="en-US" dirty="0"/>
              <a:t>； </a:t>
            </a:r>
            <a:r>
              <a:rPr lang="en-US" altLang="zh-CN" dirty="0"/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zh-CN" altLang="en-US" dirty="0"/>
              <a:t>；</a:t>
            </a:r>
            <a:r>
              <a:rPr lang="en-US" altLang="zh-CN" dirty="0"/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zh-CN" altLang="en-US" dirty="0"/>
              <a:t>； </a:t>
            </a:r>
            <a:r>
              <a:rPr lang="en-US" altLang="zh-CN" dirty="0"/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</a:t>
            </a:r>
            <a:r>
              <a:rPr lang="zh-CN" altLang="en-US" dirty="0"/>
              <a:t>；</a:t>
            </a:r>
            <a:r>
              <a:rPr lang="en-US" altLang="zh-CN" dirty="0"/>
              <a:t>(R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R)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zh-CN" altLang="en-US" dirty="0"/>
              <a:t>； </a:t>
            </a:r>
            <a:r>
              <a:rPr lang="en-US" altLang="zh-CN" dirty="0"/>
              <a:t>(R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S)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16080" y="1267331"/>
            <a:ext cx="4392488" cy="45628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解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S={(x,15x)|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  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S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R={(x,15x)|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 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R={(x,9x)|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  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S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S={(x,25x)|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 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(R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R)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R={(x,27x)|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(R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S)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R={(x,45x)|</a:t>
            </a:r>
            <a:r>
              <a:rPr lang="en-US" altLang="zh-CN" dirty="0" err="1"/>
              <a:t>x∈Z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A71E55E4-899C-4CA1-B7D3-ACC2B019B12B}" type="slidenum">
              <a:rPr lang="en-US" altLang="zh-CN"/>
            </a:fld>
            <a:endParaRPr lang="en-US" altLang="zh-CN"/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7487" y="935037"/>
            <a:ext cx="9920287" cy="4987925"/>
          </a:xfrm>
          <a:noFill/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 任取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  <a:r>
              <a:rPr lang="zh-CN" altLang="en-US" sz="2400" dirty="0"/>
              <a:t>，有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dirty="0">
                <a:latin typeface="Times New Roman" panose="02020603050405020304" pitchFamily="18" charset="0"/>
              </a:rPr>
              <a:t>·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</a:t>
            </a:r>
            <a:r>
              <a:rPr lang="en-US" altLang="zh-CN" sz="2400" dirty="0"/>
              <a:t>t((</a:t>
            </a:r>
            <a:r>
              <a:rPr lang="en-US" altLang="zh-CN" sz="2400" dirty="0" err="1"/>
              <a:t>x,t</a:t>
            </a:r>
            <a:r>
              <a:rPr lang="en-US" altLang="zh-CN" sz="2400" dirty="0"/>
              <a:t>)∈R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t,y</a:t>
            </a:r>
            <a:r>
              <a:rPr lang="en-US" altLang="zh-CN" sz="2400" dirty="0"/>
              <a:t>)∈I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ym typeface="Symbol" panose="05050102010706020507" pitchFamily="18" charset="2"/>
              </a:rPr>
              <a:t></a:t>
            </a:r>
            <a:r>
              <a:rPr lang="en-US" altLang="zh-CN" sz="2400" dirty="0"/>
              <a:t>t((</a:t>
            </a:r>
            <a:r>
              <a:rPr lang="en-US" altLang="zh-CN" sz="2400" dirty="0" err="1"/>
              <a:t>x,t</a:t>
            </a:r>
            <a:r>
              <a:rPr lang="en-US" altLang="zh-CN" sz="2400" dirty="0"/>
              <a:t>)∈R</a:t>
            </a:r>
            <a:r>
              <a:rPr lang="zh-CN" altLang="en-US" sz="2400" dirty="0"/>
              <a:t>且</a:t>
            </a:r>
            <a:r>
              <a:rPr lang="en-US" altLang="zh-CN" sz="2400" dirty="0"/>
              <a:t>t=y)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又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zh-CN" altLang="en-US" sz="2400" dirty="0"/>
              <a:t>且</a:t>
            </a:r>
            <a:r>
              <a:rPr lang="en-US" altLang="zh-CN" sz="2400" dirty="0" err="1"/>
              <a:t>x,y∈A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y,y</a:t>
            </a:r>
            <a:r>
              <a:rPr lang="en-US" altLang="zh-CN" sz="2400" dirty="0"/>
              <a:t>)∈I</a:t>
            </a:r>
            <a:r>
              <a:rPr lang="en-US" altLang="zh-CN" sz="2400" baseline="-25000" dirty="0"/>
              <a:t>A</a:t>
            </a:r>
            <a:endParaRPr lang="en-US" altLang="zh-CN" sz="2400" baseline="-25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dirty="0">
                <a:latin typeface="Times New Roman" panose="02020603050405020304" pitchFamily="18" charset="0"/>
              </a:rPr>
              <a:t>·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A</a:t>
            </a:r>
            <a:endParaRPr lang="en-US" altLang="zh-CN" sz="2400" baseline="-25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所以，</a:t>
            </a:r>
            <a:r>
              <a:rPr lang="en-US" altLang="zh-CN" sz="2400" dirty="0"/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·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=R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同理可证 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·</a:t>
            </a:r>
            <a:r>
              <a:rPr lang="en-US" altLang="zh-CN" sz="2400" dirty="0"/>
              <a:t>R=R</a:t>
            </a:r>
            <a:r>
              <a:rPr lang="zh-CN" altLang="en-US" sz="2400" dirty="0"/>
              <a:t>。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983432" y="363537"/>
            <a:ext cx="9937104" cy="1143000"/>
          </a:xfrm>
          <a:noFill/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solidFill>
                  <a:srgbClr val="0000FF"/>
                </a:solidFill>
              </a:rPr>
              <a:t>定理</a:t>
            </a:r>
            <a:r>
              <a:rPr lang="en-US" altLang="zh-CN" sz="4000" dirty="0">
                <a:solidFill>
                  <a:srgbClr val="0000FF"/>
                </a:solidFill>
              </a:rPr>
              <a:t>2.4  </a:t>
            </a:r>
            <a:r>
              <a:rPr lang="en-US" altLang="zh-CN" sz="4000" dirty="0"/>
              <a:t>R</a:t>
            </a:r>
            <a:r>
              <a:rPr lang="zh-CN" altLang="en-US" sz="4000" dirty="0"/>
              <a:t>为定义在集合</a:t>
            </a:r>
            <a:r>
              <a:rPr lang="en-US" altLang="zh-CN" sz="4000" dirty="0"/>
              <a:t>A</a:t>
            </a:r>
            <a:r>
              <a:rPr lang="zh-CN" altLang="en-US" sz="4000" dirty="0"/>
              <a:t>上的关系</a:t>
            </a:r>
            <a:r>
              <a:rPr lang="en-US" altLang="zh-CN" sz="4000" dirty="0"/>
              <a:t>,</a:t>
            </a:r>
            <a:r>
              <a:rPr lang="zh-CN" altLang="en-US" sz="4000" dirty="0"/>
              <a:t>则</a:t>
            </a:r>
            <a:r>
              <a:rPr lang="en-US" altLang="zh-CN" sz="4000" dirty="0"/>
              <a:t>R</a:t>
            </a:r>
            <a:r>
              <a:rPr lang="en-US" altLang="zh-CN" sz="4000" dirty="0">
                <a:latin typeface="Times New Roman" panose="02020603050405020304" pitchFamily="18" charset="0"/>
              </a:rPr>
              <a:t>·</a:t>
            </a:r>
            <a:r>
              <a:rPr lang="en-US" altLang="zh-CN" sz="4000" dirty="0"/>
              <a:t>I</a:t>
            </a:r>
            <a:r>
              <a:rPr lang="en-US" altLang="zh-CN" sz="4000" baseline="-25000" dirty="0"/>
              <a:t>A</a:t>
            </a:r>
            <a:r>
              <a:rPr lang="en-US" altLang="zh-CN" sz="4000" dirty="0"/>
              <a:t>=I</a:t>
            </a:r>
            <a:r>
              <a:rPr lang="en-US" altLang="zh-CN" sz="4000" baseline="-25000" dirty="0"/>
              <a:t>A</a:t>
            </a:r>
            <a:r>
              <a:rPr lang="en-US" altLang="zh-CN" sz="4000" dirty="0">
                <a:latin typeface="Times New Roman" panose="02020603050405020304" pitchFamily="18" charset="0"/>
              </a:rPr>
              <a:t>·</a:t>
            </a:r>
            <a:r>
              <a:rPr lang="en-US" altLang="zh-CN" sz="4000" dirty="0"/>
              <a:t>R=R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61E1F8A-C6C1-4B51-AA04-925A28C49922}" type="slidenum">
              <a:rPr lang="en-US" altLang="zh-CN"/>
            </a:fld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5520" y="1196752"/>
            <a:ext cx="9937104" cy="43195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</a:rPr>
              <a:t>2.5</a:t>
            </a:r>
            <a:r>
              <a:rPr lang="en-US" altLang="zh-CN" sz="3200" dirty="0"/>
              <a:t>  </a:t>
            </a:r>
            <a:r>
              <a:rPr lang="zh-CN" altLang="en-US" sz="3200" dirty="0">
                <a:solidFill>
                  <a:srgbClr val="000000"/>
                </a:solidFill>
              </a:rPr>
              <a:t>设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 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solidFill>
                  <a:srgbClr val="000000"/>
                </a:solidFill>
              </a:rPr>
              <a:t> A</a:t>
            </a:r>
            <a:r>
              <a:rPr lang="en-US" altLang="zh-CN" sz="3200" baseline="-25000" dirty="0">
                <a:solidFill>
                  <a:srgbClr val="000000"/>
                </a:solidFill>
              </a:rPr>
              <a:t>1</a:t>
            </a:r>
            <a:r>
              <a:rPr lang="en-US" altLang="zh-CN" sz="3200" dirty="0">
                <a:sym typeface="Symbol" panose="05050102010706020507" pitchFamily="18" charset="2"/>
              </a:rPr>
              <a:t>A</a:t>
            </a:r>
            <a:r>
              <a:rPr lang="en-US" altLang="zh-CN" sz="3200" baseline="-25000" dirty="0"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，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solidFill>
                  <a:srgbClr val="000000"/>
                </a:solidFill>
              </a:rPr>
              <a:t> A</a:t>
            </a:r>
            <a:r>
              <a:rPr lang="en-US" altLang="zh-CN" sz="3200" baseline="-25000" dirty="0">
                <a:solidFill>
                  <a:srgbClr val="000000"/>
                </a:solidFill>
              </a:rPr>
              <a:t>2</a:t>
            </a:r>
            <a:r>
              <a:rPr lang="en-US" altLang="zh-CN" sz="3200" dirty="0">
                <a:sym typeface="Symbol" panose="05050102010706020507" pitchFamily="18" charset="2"/>
              </a:rPr>
              <a:t>A</a:t>
            </a:r>
            <a:r>
              <a:rPr lang="en-US" altLang="zh-CN" sz="3200" baseline="-25000" dirty="0">
                <a:sym typeface="Symbol" panose="05050102010706020507" pitchFamily="18" charset="2"/>
              </a:rPr>
              <a:t>3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， 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3 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solidFill>
                  <a:srgbClr val="000000"/>
                </a:solidFill>
              </a:rPr>
              <a:t> A</a:t>
            </a:r>
            <a:r>
              <a:rPr lang="en-US" altLang="zh-CN" sz="3200" baseline="-25000" dirty="0">
                <a:solidFill>
                  <a:srgbClr val="000000"/>
                </a:solidFill>
              </a:rPr>
              <a:t>3</a:t>
            </a:r>
            <a:r>
              <a:rPr lang="en-US" altLang="zh-CN" sz="3200" dirty="0">
                <a:sym typeface="Symbol" panose="05050102010706020507" pitchFamily="18" charset="2"/>
              </a:rPr>
              <a:t>A</a:t>
            </a:r>
            <a:r>
              <a:rPr lang="en-US" altLang="zh-CN" sz="3200" baseline="-25000" dirty="0">
                <a:sym typeface="Symbol" panose="05050102010706020507" pitchFamily="18" charset="2"/>
              </a:rPr>
              <a:t>4</a:t>
            </a:r>
            <a:r>
              <a:rPr lang="zh-CN" altLang="en-US" sz="3200" dirty="0">
                <a:solidFill>
                  <a:srgbClr val="000000"/>
                </a:solidFill>
              </a:rPr>
              <a:t>，则</a:t>
            </a:r>
            <a:br>
              <a:rPr lang="zh-CN" altLang="en-US" sz="3200" dirty="0">
                <a:solidFill>
                  <a:srgbClr val="000000"/>
                </a:solidFill>
              </a:rPr>
            </a:br>
            <a:r>
              <a:rPr lang="zh-CN" altLang="en-US" sz="3200" dirty="0">
                <a:solidFill>
                  <a:srgbClr val="000000"/>
                </a:solidFill>
              </a:rPr>
              <a:t>	</a:t>
            </a:r>
            <a:r>
              <a:rPr lang="en-US" altLang="zh-CN" sz="3200" dirty="0">
                <a:solidFill>
                  <a:srgbClr val="000000"/>
                </a:solidFill>
              </a:rPr>
              <a:t>(1)  (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3</a:t>
            </a:r>
            <a:r>
              <a:rPr lang="en-US" altLang="zh-CN" sz="3200" dirty="0">
                <a:solidFill>
                  <a:srgbClr val="000000"/>
                </a:solidFill>
              </a:rPr>
              <a:t> = 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>
                <a:cs typeface="Tahoma" panose="020B0604030504040204" pitchFamily="34" charset="0"/>
              </a:rPr>
              <a:t>(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3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  <a:br>
              <a:rPr lang="en-US" altLang="zh-CN" sz="3200" dirty="0">
                <a:solidFill>
                  <a:srgbClr val="000000"/>
                </a:solidFill>
              </a:rPr>
            </a:br>
            <a:r>
              <a:rPr lang="en-US" altLang="zh-CN" sz="3200" dirty="0">
                <a:solidFill>
                  <a:srgbClr val="000000"/>
                </a:solidFill>
              </a:rPr>
              <a:t> 	(2)  (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  <a:r>
              <a:rPr lang="en-US" altLang="zh-CN" sz="3200" baseline="30000" dirty="0">
                <a:solidFill>
                  <a:srgbClr val="000000"/>
                </a:solidFill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</a:rPr>
              <a:t>=R</a:t>
            </a:r>
            <a:r>
              <a:rPr lang="en-US" altLang="zh-CN" sz="3200" baseline="-25000" dirty="0">
                <a:solidFill>
                  <a:srgbClr val="000000"/>
                </a:solidFill>
              </a:rPr>
              <a:t>2</a:t>
            </a:r>
            <a:r>
              <a:rPr lang="en-US" altLang="zh-CN" sz="3200" baseline="30000" dirty="0">
                <a:solidFill>
                  <a:srgbClr val="000000"/>
                </a:solidFill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baseline="30000" dirty="0">
                <a:solidFill>
                  <a:srgbClr val="000000"/>
                </a:solidFill>
              </a:rPr>
              <a:t>-1</a:t>
            </a:r>
            <a:endParaRPr lang="en-US" altLang="zh-CN" sz="3200" baseline="30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但复合关系不满足交换律，即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ym typeface="Symbol" panose="05050102010706020507" pitchFamily="18" charset="2"/>
              </a:rPr>
              <a:t> 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zh-CN" altLang="en-US" sz="3200" baseline="-25000" dirty="0"/>
              <a:t>。</a:t>
            </a:r>
            <a:endParaRPr lang="en-US" altLang="zh-CN" sz="3200" baseline="-25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F0C03D4-8CE5-4660-8141-88AA6608F5F9}" type="slidenum">
              <a:rPr lang="en-US" altLang="zh-CN"/>
            </a:fld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51584" y="908720"/>
            <a:ext cx="9912424" cy="484822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>
                <a:solidFill>
                  <a:srgbClr val="000000"/>
                </a:solidFill>
              </a:rPr>
              <a:t>：  </a:t>
            </a:r>
            <a:r>
              <a:rPr lang="en-US" altLang="zh-CN" sz="2800" dirty="0">
                <a:solidFill>
                  <a:srgbClr val="000000"/>
                </a:solidFill>
              </a:rPr>
              <a:t>(1)</a:t>
            </a:r>
            <a:r>
              <a:rPr lang="zh-CN" altLang="en-US" sz="2800" dirty="0">
                <a:solidFill>
                  <a:srgbClr val="000000"/>
                </a:solidFill>
              </a:rPr>
              <a:t>任取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), 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)∈(R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(</a:t>
            </a:r>
            <a:r>
              <a:rPr lang="en-US" altLang="zh-CN" sz="2800" dirty="0">
                <a:solidFill>
                  <a:srgbClr val="000000"/>
                </a:solidFill>
              </a:rPr>
              <a:t>t∈A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 (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x,t</a:t>
            </a:r>
            <a:r>
              <a:rPr lang="en-US" altLang="zh-CN" sz="2800" dirty="0">
                <a:solidFill>
                  <a:srgbClr val="000000"/>
                </a:solidFill>
              </a:rPr>
              <a:t>)∈ 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t,y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(</a:t>
            </a:r>
            <a:r>
              <a:rPr lang="en-US" altLang="zh-CN" sz="2800" dirty="0">
                <a:solidFill>
                  <a:srgbClr val="000000"/>
                </a:solidFill>
              </a:rPr>
              <a:t>t∈A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)(((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rgbClr val="000000"/>
                </a:solidFill>
              </a:rPr>
              <a:t>s∈A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),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x,s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s,t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t,y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(</a:t>
            </a:r>
            <a:r>
              <a:rPr lang="en-US" altLang="zh-CN" sz="2800" dirty="0">
                <a:solidFill>
                  <a:srgbClr val="000000"/>
                </a:solidFill>
              </a:rPr>
              <a:t>t∈A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 (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rgbClr val="000000"/>
                </a:solidFill>
              </a:rPr>
              <a:t>s∈A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)(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x,s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s,t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t,y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rgbClr val="000000"/>
                </a:solidFill>
              </a:rPr>
              <a:t>s∈A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)(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x,s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(</a:t>
            </a:r>
            <a:r>
              <a:rPr lang="en-US" altLang="zh-CN" sz="2800" dirty="0">
                <a:solidFill>
                  <a:srgbClr val="000000"/>
                </a:solidFill>
              </a:rPr>
              <a:t>t∈A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 (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s,t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t,y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</a:rPr>
              <a:t> (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rgbClr val="000000"/>
                </a:solidFill>
              </a:rPr>
              <a:t>s∈A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)(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x,s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</a:rPr>
              <a:t>s,y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sz="2800" dirty="0">
                <a:solidFill>
                  <a:srgbClr val="000000"/>
                </a:solidFill>
              </a:rPr>
              <a:t> (</a:t>
            </a:r>
            <a:r>
              <a:rPr lang="en-US" altLang="zh-CN" sz="2800" dirty="0" err="1">
                <a:solidFill>
                  <a:srgbClr val="000000"/>
                </a:solidFill>
              </a:rPr>
              <a:t>x,y</a:t>
            </a:r>
            <a:r>
              <a:rPr lang="en-US" altLang="zh-CN" sz="2800" dirty="0">
                <a:solidFill>
                  <a:srgbClr val="000000"/>
                </a:solidFill>
              </a:rPr>
              <a:t>)∈R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</a:rPr>
              <a:t>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 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 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 =R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5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1158312" y="871612"/>
            <a:ext cx="9618208" cy="140526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  <a:buNone/>
            </a:pPr>
            <a:r>
              <a:rPr lang="zh-CN" altLang="en-US" dirty="0"/>
              <a:t>由归纳法，任意</a:t>
            </a:r>
            <a:r>
              <a:rPr lang="en-US" altLang="zh-CN" dirty="0"/>
              <a:t>n</a:t>
            </a:r>
            <a:r>
              <a:rPr lang="zh-CN" altLang="en-US" dirty="0"/>
              <a:t>个关系的合成也是可结合的</a:t>
            </a:r>
            <a:endParaRPr lang="zh-CN" altLang="en-US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dirty="0"/>
              <a:t>特别，当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/>
              <a:t> = 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</a:rPr>
              <a:t>n+1</a:t>
            </a:r>
            <a:r>
              <a:rPr lang="en-US" altLang="zh-CN" dirty="0"/>
              <a:t> =A</a:t>
            </a:r>
            <a:r>
              <a:rPr lang="zh-CN" altLang="en-US" dirty="0"/>
              <a:t>且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/>
              <a:t> = 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n</a:t>
            </a:r>
            <a:r>
              <a:rPr lang="en-US" altLang="zh-CN" dirty="0"/>
              <a:t> =R</a:t>
            </a:r>
            <a:r>
              <a:rPr lang="zh-CN" altLang="en-US" dirty="0"/>
              <a:t>，合成关系</a:t>
            </a:r>
            <a:r>
              <a:rPr lang="en-US" altLang="zh-CN" dirty="0"/>
              <a:t>R </a:t>
            </a:r>
            <a:r>
              <a:rPr lang="en-US" altLang="zh-CN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dirty="0">
                <a:cs typeface="Tahoma" panose="020B0604030504040204" pitchFamily="34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lang="en-US" altLang="zh-CN" dirty="0">
                <a:cs typeface="Tahoma" panose="020B0604030504040204" pitchFamily="34" charset="0"/>
              </a:rPr>
              <a:t>R=R</a:t>
            </a:r>
            <a:r>
              <a:rPr lang="en-US" altLang="zh-CN" baseline="30000" dirty="0">
                <a:cs typeface="Tahoma" panose="020B0604030504040204" pitchFamily="34" charset="0"/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是集合</a:t>
            </a:r>
            <a:r>
              <a:rPr lang="en-US" altLang="zh-CN" dirty="0"/>
              <a:t>A</a:t>
            </a:r>
            <a:r>
              <a:rPr lang="zh-CN" altLang="en-US" dirty="0"/>
              <a:t>上的一个关系。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7408" y="2181221"/>
            <a:ext cx="11064552" cy="3816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任取</a:t>
            </a:r>
            <a:r>
              <a:rPr lang="en-US" altLang="zh-CN" dirty="0"/>
              <a:t>(</a:t>
            </a:r>
            <a:r>
              <a:rPr lang="en-US" altLang="zh-CN" dirty="0" err="1"/>
              <a:t>z,x</a:t>
            </a:r>
            <a:r>
              <a:rPr lang="en-US" altLang="zh-CN" dirty="0"/>
              <a:t>)∈(R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，则（</a:t>
            </a:r>
            <a:r>
              <a:rPr lang="en-US" altLang="zh-CN" dirty="0" err="1"/>
              <a:t>x,z</a:t>
            </a:r>
            <a:r>
              <a:rPr lang="en-US" altLang="zh-CN" dirty="0"/>
              <a:t>)∈R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，由</a:t>
            </a:r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en-US" altLang="zh-CN" dirty="0">
                <a:latin typeface="Times New Roman" panose="02020603050405020304" pitchFamily="18" charset="0"/>
              </a:rPr>
              <a:t>·”</a:t>
            </a:r>
            <a:r>
              <a:rPr lang="zh-CN" altLang="en-US" dirty="0"/>
              <a:t>的定义知，至少存一个</a:t>
            </a:r>
            <a:r>
              <a:rPr lang="en-US" altLang="zh-CN" dirty="0" err="1"/>
              <a:t>y∈B</a:t>
            </a:r>
            <a:r>
              <a:rPr lang="zh-CN" altLang="en-US" dirty="0"/>
              <a:t>，使得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)∈R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y,z</a:t>
            </a:r>
            <a:r>
              <a:rPr lang="en-US" altLang="zh-CN" dirty="0"/>
              <a:t>)∈R</a:t>
            </a:r>
            <a:r>
              <a:rPr lang="en-US" altLang="zh-CN" baseline="-25000" dirty="0"/>
              <a:t>2</a:t>
            </a:r>
            <a:r>
              <a:rPr lang="zh-CN" altLang="en-US" dirty="0"/>
              <a:t>，即</a:t>
            </a:r>
            <a:r>
              <a:rPr lang="en-US" altLang="zh-CN" dirty="0"/>
              <a:t>(</a:t>
            </a:r>
            <a:r>
              <a:rPr lang="en-US" altLang="zh-CN" dirty="0" err="1"/>
              <a:t>y,x</a:t>
            </a:r>
            <a:r>
              <a:rPr lang="en-US" altLang="zh-CN" dirty="0"/>
              <a:t>)∈R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z,y</a:t>
            </a:r>
            <a:r>
              <a:rPr lang="en-US" altLang="zh-CN" dirty="0"/>
              <a:t>)∈R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zh-CN" altLang="en-US" dirty="0"/>
              <a:t>。由</a:t>
            </a:r>
            <a:r>
              <a:rPr lang="en-US" altLang="zh-CN" dirty="0"/>
              <a:t>(</a:t>
            </a:r>
            <a:r>
              <a:rPr lang="en-US" altLang="zh-CN" dirty="0" err="1"/>
              <a:t>z,y</a:t>
            </a:r>
            <a:r>
              <a:rPr lang="en-US" altLang="zh-CN" dirty="0"/>
              <a:t>)∈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(</a:t>
            </a:r>
            <a:r>
              <a:rPr lang="en-US" altLang="zh-CN" dirty="0" err="1"/>
              <a:t>y,x</a:t>
            </a:r>
            <a:r>
              <a:rPr lang="en-US" altLang="zh-CN" dirty="0"/>
              <a:t>)∈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，有</a:t>
            </a:r>
            <a:r>
              <a:rPr lang="en-US" altLang="zh-CN" dirty="0"/>
              <a:t>(</a:t>
            </a:r>
            <a:r>
              <a:rPr lang="en-US" altLang="zh-CN" dirty="0" err="1"/>
              <a:t>z,x</a:t>
            </a:r>
            <a:r>
              <a:rPr lang="en-US" altLang="zh-CN" dirty="0"/>
              <a:t>)∈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。所以，</a:t>
            </a:r>
            <a:r>
              <a:rPr lang="en-US" altLang="zh-CN" dirty="0"/>
              <a:t>(R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-1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反之，任取</a:t>
            </a:r>
            <a:r>
              <a:rPr lang="en-US" altLang="zh-CN" dirty="0"/>
              <a:t>(</a:t>
            </a:r>
            <a:r>
              <a:rPr lang="en-US" altLang="zh-CN" dirty="0" err="1"/>
              <a:t>z,x</a:t>
            </a:r>
            <a:r>
              <a:rPr lang="en-US" altLang="zh-CN" dirty="0"/>
              <a:t>)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，由</a:t>
            </a:r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en-US" altLang="zh-CN" dirty="0">
                <a:latin typeface="Times New Roman" panose="02020603050405020304" pitchFamily="18" charset="0"/>
              </a:rPr>
              <a:t>·”</a:t>
            </a:r>
            <a:r>
              <a:rPr lang="zh-CN" altLang="en-US" dirty="0"/>
              <a:t>的定义知： 则至少存在一个</a:t>
            </a:r>
            <a:r>
              <a:rPr lang="en-US" altLang="zh-CN" dirty="0" err="1"/>
              <a:t>y∈B</a:t>
            </a:r>
            <a:r>
              <a:rPr lang="zh-CN" altLang="en-US" dirty="0"/>
              <a:t>，使得</a:t>
            </a:r>
            <a:r>
              <a:rPr lang="en-US" altLang="zh-CN" dirty="0"/>
              <a:t>(</a:t>
            </a:r>
            <a:r>
              <a:rPr lang="en-US" altLang="zh-CN" dirty="0" err="1"/>
              <a:t>z,y</a:t>
            </a:r>
            <a:r>
              <a:rPr lang="en-US" altLang="zh-CN" dirty="0"/>
              <a:t>)∈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(</a:t>
            </a:r>
            <a:r>
              <a:rPr lang="en-US" altLang="zh-CN" dirty="0" err="1"/>
              <a:t>y,x</a:t>
            </a:r>
            <a:r>
              <a:rPr lang="en-US" altLang="zh-CN" dirty="0"/>
              <a:t>)∈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，所以 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)∈R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y,z</a:t>
            </a:r>
            <a:r>
              <a:rPr lang="en-US" altLang="zh-CN" dirty="0"/>
              <a:t>)∈R</a:t>
            </a:r>
            <a:r>
              <a:rPr lang="en-US" altLang="zh-CN" baseline="-25000" dirty="0"/>
              <a:t>2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由</a:t>
            </a:r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en-US" altLang="zh-CN" dirty="0">
                <a:latin typeface="Times New Roman" panose="02020603050405020304" pitchFamily="18" charset="0"/>
              </a:rPr>
              <a:t>·”</a:t>
            </a:r>
            <a:r>
              <a:rPr lang="zh-CN" altLang="en-US" dirty="0"/>
              <a:t>知</a:t>
            </a:r>
            <a:r>
              <a:rPr lang="en-US" altLang="zh-CN" dirty="0"/>
              <a:t>(</a:t>
            </a:r>
            <a:r>
              <a:rPr lang="en-US" altLang="zh-CN" dirty="0" err="1"/>
              <a:t>x,z</a:t>
            </a:r>
            <a:r>
              <a:rPr lang="en-US" altLang="zh-CN" dirty="0"/>
              <a:t>)∈R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。即有</a:t>
            </a:r>
            <a:r>
              <a:rPr lang="en-US" altLang="zh-CN" dirty="0"/>
              <a:t>(</a:t>
            </a:r>
            <a:r>
              <a:rPr lang="en-US" altLang="zh-CN" dirty="0" err="1"/>
              <a:t>z,x</a:t>
            </a:r>
            <a:r>
              <a:rPr lang="en-US" altLang="zh-CN" dirty="0"/>
              <a:t>)∈(R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所以， 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/>
              <a:t>(R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由集合的性质知：  </a:t>
            </a:r>
            <a:r>
              <a:rPr lang="en-US" altLang="zh-CN" dirty="0"/>
              <a:t>(R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)-1=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·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1559496" y="260648"/>
            <a:ext cx="9912623" cy="576262"/>
          </a:xfrm>
          <a:noFill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2.25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dirty="0"/>
              <a:t>A={</a:t>
            </a:r>
            <a:r>
              <a:rPr lang="en-US" altLang="zh-CN" dirty="0" err="1"/>
              <a:t>a,b,c,d,e,f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pt-BR" altLang="zh-CN" dirty="0"/>
              <a:t>R={(a,a),(a,b),(b,c),(c,d),(d,e),(e,f)}</a:t>
            </a:r>
            <a:r>
              <a:rPr lang="zh-CN" altLang="en-US" dirty="0"/>
              <a:t>。求</a:t>
            </a:r>
            <a:r>
              <a:rPr lang="en-US" altLang="zh-CN" dirty="0"/>
              <a:t>R</a:t>
            </a:r>
            <a:r>
              <a:rPr lang="en-US" altLang="zh-CN" baseline="30000" dirty="0"/>
              <a:t>n</a:t>
            </a:r>
            <a:r>
              <a:rPr lang="en-US" altLang="zh-CN" dirty="0"/>
              <a:t>(n=1,2,3,4,</a:t>
            </a:r>
            <a:r>
              <a:rPr lang="en-US" altLang="zh-CN" dirty="0">
                <a:latin typeface="Times New Roman" panose="02020603050405020304" pitchFamily="18" charset="0"/>
              </a:rPr>
              <a:t>……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>
          <a:xfrm>
            <a:off x="2351584" y="980728"/>
            <a:ext cx="9497194" cy="4624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解</a:t>
            </a:r>
            <a:r>
              <a:rPr lang="zh-CN" altLang="en-US" sz="2800" dirty="0"/>
              <a:t>：	</a:t>
            </a:r>
            <a:r>
              <a:rPr lang="zh-CN" altLang="pt-BR" sz="2800" dirty="0"/>
              <a:t>  </a:t>
            </a:r>
            <a:r>
              <a:rPr lang="pt-BR" altLang="zh-CN" sz="2800" dirty="0"/>
              <a:t>R</a:t>
            </a:r>
            <a:r>
              <a:rPr lang="pt-BR" altLang="zh-CN" sz="2800" baseline="30000" dirty="0"/>
              <a:t>1</a:t>
            </a:r>
            <a:r>
              <a:rPr lang="pt-BR" altLang="zh-CN" sz="2800" dirty="0"/>
              <a:t>=R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2</a:t>
            </a:r>
            <a:r>
              <a:rPr lang="pt-BR" altLang="zh-CN" sz="2800" dirty="0"/>
              <a:t>=R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R={(a,a),(a,b),(a,c),(b,d),(c,e),(d,f)}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3</a:t>
            </a:r>
            <a:r>
              <a:rPr lang="pt-BR" altLang="zh-CN" sz="2800" dirty="0"/>
              <a:t>=R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R=R</a:t>
            </a:r>
            <a:r>
              <a:rPr lang="pt-BR" altLang="zh-CN" sz="2800" baseline="30000" dirty="0"/>
              <a:t>2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R={(a,a),(a,b),(a,c),(a,d),(b,e),(c,f)}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4</a:t>
            </a:r>
            <a:r>
              <a:rPr lang="pt-BR" altLang="zh-CN" sz="2800" dirty="0"/>
              <a:t>=R</a:t>
            </a:r>
            <a:r>
              <a:rPr lang="pt-BR" altLang="zh-CN" sz="2800" baseline="30000" dirty="0"/>
              <a:t>3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R={(a,a),(a,b),(a,c),(a,d),(a,e),(b,f)}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5</a:t>
            </a:r>
            <a:r>
              <a:rPr lang="pt-BR" altLang="zh-CN" sz="2800" dirty="0"/>
              <a:t>=R</a:t>
            </a:r>
            <a:r>
              <a:rPr lang="pt-BR" altLang="zh-CN" sz="2800" baseline="30000" dirty="0"/>
              <a:t>4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R={(a,a),(a,b),(a,c),(a,d),(a,e),(a,f)}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6</a:t>
            </a:r>
            <a:r>
              <a:rPr lang="pt-BR" altLang="zh-CN" sz="2800" dirty="0"/>
              <a:t>=R</a:t>
            </a:r>
            <a:r>
              <a:rPr lang="pt-BR" altLang="zh-CN" sz="2800" baseline="30000" dirty="0"/>
              <a:t>5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R={(a,a),(a,b),(a,c),(a,d),(a,e),(a,f)}=R</a:t>
            </a:r>
            <a:r>
              <a:rPr lang="pt-BR" altLang="zh-CN" sz="2800" baseline="30000" dirty="0"/>
              <a:t>5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7</a:t>
            </a:r>
            <a:r>
              <a:rPr lang="pt-BR" altLang="zh-CN" sz="2800" dirty="0"/>
              <a:t>=R</a:t>
            </a:r>
            <a:r>
              <a:rPr lang="pt-BR" altLang="zh-CN" sz="2800" baseline="30000" dirty="0"/>
              <a:t>6</a:t>
            </a:r>
            <a:r>
              <a:rPr lang="pt-BR" altLang="zh-CN" sz="2800" dirty="0">
                <a:latin typeface="Times New Roman" panose="02020603050405020304" pitchFamily="18" charset="0"/>
              </a:rPr>
              <a:t>·</a:t>
            </a:r>
            <a:r>
              <a:rPr lang="pt-BR" altLang="zh-CN" sz="2800" dirty="0"/>
              <a:t>R=R</a:t>
            </a:r>
            <a:r>
              <a:rPr lang="pt-BR" altLang="zh-CN" sz="2800" baseline="30000" dirty="0"/>
              <a:t>5</a:t>
            </a:r>
            <a:r>
              <a:rPr lang="zh-CN" altLang="pt-BR" sz="2800" dirty="0"/>
              <a:t>； </a:t>
            </a:r>
            <a:endParaRPr lang="zh-CN" altLang="pt-BR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>
                <a:latin typeface="Times New Roman" panose="02020603050405020304" pitchFamily="18" charset="0"/>
              </a:rPr>
              <a:t>…</a:t>
            </a:r>
            <a:endParaRPr lang="pt-BR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pt-BR" altLang="zh-CN" sz="2800" dirty="0"/>
              <a:t>R</a:t>
            </a:r>
            <a:r>
              <a:rPr lang="pt-BR" altLang="zh-CN" sz="2800" baseline="30000" dirty="0"/>
              <a:t>n</a:t>
            </a:r>
            <a:r>
              <a:rPr lang="pt-BR" altLang="zh-CN" sz="2800" dirty="0"/>
              <a:t>=R</a:t>
            </a:r>
            <a:r>
              <a:rPr lang="pt-BR" altLang="zh-CN" sz="2800" baseline="30000" dirty="0"/>
              <a:t>5</a:t>
            </a:r>
            <a:r>
              <a:rPr lang="zh-CN" altLang="pt-BR" sz="2800" dirty="0"/>
              <a:t>（</a:t>
            </a:r>
            <a:r>
              <a:rPr lang="pt-BR" altLang="zh-CN" sz="2800" dirty="0"/>
              <a:t>n</a:t>
            </a:r>
            <a:r>
              <a:rPr lang="zh-CN" altLang="pt-BR" sz="2800" dirty="0"/>
              <a:t>＞</a:t>
            </a:r>
            <a:r>
              <a:rPr lang="pt-BR" altLang="zh-CN" sz="2800" dirty="0"/>
              <a:t>5</a:t>
            </a:r>
            <a:r>
              <a:rPr lang="zh-CN" altLang="pt-BR" sz="2800" dirty="0"/>
              <a:t>）。</a:t>
            </a:r>
            <a:endParaRPr lang="zh-CN" altLang="pt-BR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F166ADF-352B-4F01-BDF3-73FD60CF44DD}" type="slidenum">
              <a:rPr lang="en-US" altLang="zh-CN"/>
            </a:fld>
            <a:endParaRPr lang="en-US" altLang="zh-CN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487488" y="1052736"/>
            <a:ext cx="8667427" cy="4495800"/>
          </a:xfrm>
          <a:noFill/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幂集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3200" baseline="30000" dirty="0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的基数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|R</a:t>
            </a:r>
            <a:r>
              <a:rPr lang="en-US" altLang="zh-CN" sz="3200" baseline="30000" dirty="0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|</a:t>
            </a: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并非随着</a:t>
            </a: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的增加而增加，而是呈递减趋势，而且，当               时，有</a:t>
            </a:r>
            <a:endParaRPr lang="zh-CN" altLang="en-US" sz="32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	</a:t>
            </a:r>
            <a:endParaRPr lang="zh-CN" altLang="en-US" sz="32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6456040" y="2305603"/>
          <a:ext cx="1224136" cy="741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1" imgW="419100" imgH="254000" progId="Equation.3">
                  <p:embed/>
                </p:oleObj>
              </mc:Choice>
              <mc:Fallback>
                <p:oleObj name="Equation" r:id="rId1" imgW="4191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2305603"/>
                        <a:ext cx="1224136" cy="741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/>
          <p:cNvGraphicFramePr>
            <a:graphicFrameLocks noChangeAspect="1"/>
          </p:cNvGraphicFramePr>
          <p:nvPr/>
        </p:nvGraphicFramePr>
        <p:xfrm>
          <a:off x="9192344" y="2193953"/>
          <a:ext cx="1600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3" imgW="673100" imgH="406400" progId="Equation.3">
                  <p:embed/>
                </p:oleObj>
              </mc:Choice>
              <mc:Fallback>
                <p:oleObj name="Equation" r:id="rId3" imgW="673100" imgH="406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2344" y="2193953"/>
                        <a:ext cx="1600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E5B03EFD-9022-4FA9-848C-4D3320682859}" type="slidenum">
              <a:rPr lang="en-US" altLang="zh-CN"/>
            </a:fld>
            <a:endParaRPr lang="en-US" altLang="zh-CN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568" y="256496"/>
            <a:ext cx="6408712" cy="1143000"/>
          </a:xfrm>
        </p:spPr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关系的性质</a:t>
            </a:r>
            <a:endParaRPr lang="zh-CN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528" y="1412875"/>
            <a:ext cx="9207822" cy="30962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有了关系的定义，可以来定义关系的某些特殊性质，这些性质在以后的讨论中，将起到极其重要的作用。本节主要讨论关系的五种性质，即</a:t>
            </a:r>
            <a:r>
              <a:rPr lang="zh-CN" altLang="en-US" sz="2800" b="1" dirty="0">
                <a:solidFill>
                  <a:srgbClr val="0000FF"/>
                </a:solidFill>
              </a:rPr>
              <a:t>自反性</a:t>
            </a:r>
            <a:r>
              <a:rPr lang="zh-CN" altLang="en-US" sz="2800" dirty="0"/>
              <a:t>、</a:t>
            </a:r>
            <a:r>
              <a:rPr lang="zh-CN" altLang="en-US" sz="2800" b="1" dirty="0">
                <a:solidFill>
                  <a:srgbClr val="0000FF"/>
                </a:solidFill>
              </a:rPr>
              <a:t>反自反性</a:t>
            </a:r>
            <a:r>
              <a:rPr lang="zh-CN" altLang="en-US" sz="2800" dirty="0"/>
              <a:t>、</a:t>
            </a:r>
            <a:r>
              <a:rPr lang="zh-CN" altLang="en-US" sz="2800" b="1" dirty="0">
                <a:solidFill>
                  <a:srgbClr val="0000FF"/>
                </a:solidFill>
              </a:rPr>
              <a:t>对称性</a:t>
            </a:r>
            <a:r>
              <a:rPr lang="zh-CN" altLang="en-US" sz="2800" dirty="0"/>
              <a:t>、</a:t>
            </a:r>
            <a:r>
              <a:rPr lang="zh-CN" altLang="en-US" sz="2800" b="1" dirty="0">
                <a:solidFill>
                  <a:srgbClr val="0000FF"/>
                </a:solidFill>
              </a:rPr>
              <a:t>反对称性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0000FF"/>
                </a:solidFill>
              </a:rPr>
              <a:t>传递性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2BCDC2B-B283-4460-BBD0-E45BBB2E333A}" type="slidenum">
              <a:rPr lang="en-US" altLang="zh-CN"/>
            </a:fld>
            <a:endParaRPr lang="en-US" altLang="zh-CN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27649" y="188913"/>
            <a:ext cx="5688632" cy="1143000"/>
          </a:xfrm>
        </p:spPr>
        <p:txBody>
          <a:bodyPr/>
          <a:lstStyle/>
          <a:p>
            <a:r>
              <a:rPr lang="zh-CN" altLang="en-US" dirty="0"/>
              <a:t>自反、反自反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528" y="1124744"/>
            <a:ext cx="9351838" cy="43929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2.14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为集合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上的二元关系： 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  若对任意的</a:t>
            </a:r>
            <a:r>
              <a:rPr lang="en-US" altLang="zh-CN" sz="2800" dirty="0" err="1"/>
              <a:t>x∈A</a:t>
            </a:r>
            <a:r>
              <a:rPr lang="zh-CN" altLang="en-US" sz="2800" dirty="0"/>
              <a:t>，都有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x,x</a:t>
            </a:r>
            <a:r>
              <a:rPr lang="en-US" altLang="zh-CN" sz="2800" dirty="0"/>
              <a:t>)∈R</a:t>
            </a:r>
            <a:r>
              <a:rPr lang="zh-CN" altLang="en-US" sz="2800" dirty="0"/>
              <a:t>，则称关系</a:t>
            </a:r>
            <a:r>
              <a:rPr lang="en-US" altLang="zh-CN" sz="2800" dirty="0"/>
              <a:t>R</a:t>
            </a:r>
            <a:r>
              <a:rPr lang="zh-CN" altLang="en-US" sz="2800" dirty="0"/>
              <a:t>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上是</a:t>
            </a:r>
            <a:r>
              <a:rPr lang="zh-CN" altLang="en-US" sz="2800" dirty="0">
                <a:solidFill>
                  <a:srgbClr val="0000FF"/>
                </a:solidFill>
              </a:rPr>
              <a:t>自反</a:t>
            </a:r>
            <a:r>
              <a:rPr lang="zh-CN" altLang="en-US" sz="2800" dirty="0"/>
              <a:t>的或称关系</a:t>
            </a:r>
            <a:r>
              <a:rPr lang="en-US" altLang="zh-CN" sz="2800" dirty="0"/>
              <a:t>R</a:t>
            </a:r>
            <a:r>
              <a:rPr lang="zh-CN" altLang="en-US" sz="2800" dirty="0"/>
              <a:t>具有</a:t>
            </a:r>
            <a:r>
              <a:rPr lang="zh-CN" altLang="en-US" sz="2800" dirty="0">
                <a:solidFill>
                  <a:srgbClr val="0000FF"/>
                </a:solidFill>
              </a:rPr>
              <a:t>自反性</a:t>
            </a:r>
            <a:r>
              <a:rPr lang="zh-CN" altLang="en-US" sz="2800" dirty="0"/>
              <a:t>； 否则，称</a:t>
            </a:r>
            <a:r>
              <a:rPr lang="en-US" altLang="zh-CN" sz="2800" dirty="0"/>
              <a:t>R</a:t>
            </a:r>
            <a:r>
              <a:rPr lang="zh-CN" altLang="en-US" sz="2800" dirty="0"/>
              <a:t>是非自反的。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  若对任意的</a:t>
            </a:r>
            <a:r>
              <a:rPr lang="en-US" altLang="zh-CN" sz="2800" dirty="0" err="1"/>
              <a:t>x∈A</a:t>
            </a:r>
            <a:r>
              <a:rPr lang="zh-CN" altLang="en-US" sz="2800" dirty="0"/>
              <a:t>，都有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x,x</a:t>
            </a:r>
            <a:r>
              <a:rPr lang="en-US" altLang="zh-CN" sz="2800" dirty="0"/>
              <a:t>)∈R′</a:t>
            </a:r>
            <a:r>
              <a:rPr lang="zh-CN" altLang="en-US" sz="2800" dirty="0"/>
              <a:t>，则称关系</a:t>
            </a:r>
            <a:r>
              <a:rPr lang="en-US" altLang="zh-CN" sz="2800" dirty="0"/>
              <a:t>R</a:t>
            </a:r>
            <a:r>
              <a:rPr lang="zh-CN" altLang="en-US" sz="2800" dirty="0"/>
              <a:t>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上是</a:t>
            </a:r>
            <a:r>
              <a:rPr lang="zh-CN" altLang="en-US" sz="2800" dirty="0">
                <a:solidFill>
                  <a:srgbClr val="0000FF"/>
                </a:solidFill>
              </a:rPr>
              <a:t>反自反</a:t>
            </a:r>
            <a:r>
              <a:rPr lang="zh-CN" altLang="en-US" sz="2800" dirty="0"/>
              <a:t>的或称关系</a:t>
            </a:r>
            <a:r>
              <a:rPr lang="en-US" altLang="zh-CN" sz="2800" dirty="0"/>
              <a:t>R</a:t>
            </a:r>
            <a:r>
              <a:rPr lang="zh-CN" altLang="en-US" sz="2800" dirty="0"/>
              <a:t>具有</a:t>
            </a:r>
            <a:r>
              <a:rPr lang="zh-CN" altLang="en-US" sz="2800" dirty="0">
                <a:solidFill>
                  <a:srgbClr val="0000FF"/>
                </a:solidFill>
              </a:rPr>
              <a:t>反自反性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73C1BB6-4D33-4460-9933-46A5568C7990}" type="slidenum">
              <a:rPr lang="en-US" altLang="zh-CN"/>
            </a:fld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1424" y="980729"/>
            <a:ext cx="10215934" cy="1224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2.26</a:t>
            </a:r>
            <a:r>
              <a:rPr lang="en-US" altLang="zh-CN" sz="2800" dirty="0"/>
              <a:t>  </a:t>
            </a:r>
            <a:r>
              <a:rPr lang="zh-CN" altLang="en-US" sz="2800" dirty="0"/>
              <a:t>设</a:t>
            </a:r>
            <a:r>
              <a:rPr lang="en-US" altLang="zh-CN" sz="2800" dirty="0"/>
              <a:t>A={1,2,3}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={(1,1),(2,2)}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={(1,1),(2,2),(3,3),(1,2)}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={(1,3)}</a:t>
            </a:r>
            <a:r>
              <a:rPr lang="zh-CN" altLang="en-US" sz="2800" dirty="0"/>
              <a:t>，说明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是否为</a:t>
            </a:r>
            <a:r>
              <a:rPr lang="en-US" altLang="zh-CN" sz="2800" dirty="0"/>
              <a:t>A</a:t>
            </a:r>
            <a:r>
              <a:rPr lang="zh-CN" altLang="en-US" sz="2800" dirty="0"/>
              <a:t>上自反的关系。</a:t>
            </a:r>
            <a:endParaRPr lang="zh-CN" altLang="en-US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91183" y="2553492"/>
            <a:ext cx="10456415" cy="3323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解</a:t>
            </a:r>
            <a:r>
              <a:rPr lang="zh-CN" altLang="en-US" dirty="0"/>
              <a:t>： 只有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上自反的关系，因为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/>
              <a:t> R</a:t>
            </a:r>
            <a:r>
              <a:rPr lang="en-US" altLang="zh-CN" baseline="-25000" dirty="0"/>
              <a:t>2</a:t>
            </a:r>
            <a:r>
              <a:rPr lang="zh-CN" altLang="en-US" dirty="0"/>
              <a:t>； 而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都不是</a:t>
            </a:r>
            <a:r>
              <a:rPr lang="en-US" altLang="zh-CN" dirty="0"/>
              <a:t>A</a:t>
            </a:r>
            <a:r>
              <a:rPr lang="zh-CN" altLang="en-US" dirty="0"/>
              <a:t>上的自反关系，因为</a:t>
            </a:r>
            <a:r>
              <a:rPr lang="en-US" altLang="zh-CN" dirty="0"/>
              <a:t>(3,3)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，所以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不是自反的，而</a:t>
            </a:r>
            <a:r>
              <a:rPr lang="en-US" altLang="zh-CN" dirty="0"/>
              <a:t>(1,1),(2,2),(3,3)</a:t>
            </a:r>
            <a:r>
              <a:rPr lang="zh-CN" altLang="en-US" dirty="0"/>
              <a:t>都不属于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，因此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不是自反的。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是否为自反关系是相对集合</a:t>
            </a:r>
            <a:r>
              <a:rPr lang="en-US" altLang="zh-CN" dirty="0"/>
              <a:t>A</a:t>
            </a:r>
            <a:r>
              <a:rPr lang="zh-CN" altLang="en-US" dirty="0"/>
              <a:t>来说的。同一个关系在不同的集合上具有不同的性质。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46D7717-201A-4E27-8AED-83CAA5AFB4CD}" type="slidenum">
              <a:rPr lang="en-US" altLang="zh-CN"/>
            </a:fld>
            <a:endParaRPr lang="en-US" altLang="zh-CN"/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3592" y="764704"/>
            <a:ext cx="8039422" cy="5078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例</a:t>
            </a:r>
            <a:r>
              <a:rPr lang="en-US" altLang="zh-CN" sz="3200" b="1" dirty="0">
                <a:solidFill>
                  <a:srgbClr val="0000FF"/>
                </a:solidFill>
              </a:rPr>
              <a:t>2.27</a:t>
            </a:r>
            <a:r>
              <a:rPr lang="zh-CN" altLang="en-US" sz="3200" dirty="0"/>
              <a:t>设</a:t>
            </a:r>
            <a:r>
              <a:rPr lang="en-US" altLang="zh-CN" sz="3200" dirty="0"/>
              <a:t>A={</a:t>
            </a:r>
            <a:r>
              <a:rPr lang="en-US" altLang="zh-CN" sz="3200" dirty="0" err="1"/>
              <a:t>a,b,c,d</a:t>
            </a:r>
            <a:r>
              <a:rPr lang="en-US" altLang="zh-CN" sz="3200" dirty="0"/>
              <a:t>}</a:t>
            </a:r>
            <a:r>
              <a:rPr lang="zh-CN" altLang="en-US" sz="3200" dirty="0"/>
              <a:t>，在集合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上定义如下三个二元关系</a:t>
            </a:r>
            <a:r>
              <a:rPr lang="en-US" altLang="zh-CN" sz="3200" dirty="0"/>
              <a:t>R,S,T</a:t>
            </a:r>
            <a:r>
              <a:rPr lang="zh-CN" altLang="en-US" sz="3200" dirty="0"/>
              <a:t>分别如下： </a:t>
            </a:r>
            <a:endParaRPr lang="zh-CN" alt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R={(</a:t>
            </a:r>
            <a:r>
              <a:rPr lang="en-US" altLang="zh-CN" sz="3200" dirty="0" err="1"/>
              <a:t>a,a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a,d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b,b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b,d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c,c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d,d</a:t>
            </a:r>
            <a:r>
              <a:rPr lang="en-US" altLang="zh-CN" sz="3200" dirty="0"/>
              <a:t>)}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S={(</a:t>
            </a:r>
            <a:r>
              <a:rPr lang="en-US" altLang="zh-CN" sz="3200" dirty="0" err="1"/>
              <a:t>a,b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a,d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b,c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b,d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c,a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d,c</a:t>
            </a:r>
            <a:r>
              <a:rPr lang="en-US" altLang="zh-CN" sz="3200" dirty="0"/>
              <a:t>)}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T={(</a:t>
            </a:r>
            <a:r>
              <a:rPr lang="en-US" altLang="zh-CN" sz="3200" dirty="0" err="1"/>
              <a:t>a,a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a,b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a,c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b,d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c,a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c,c</a:t>
            </a:r>
            <a:r>
              <a:rPr lang="en-US" altLang="zh-CN" sz="3200" dirty="0"/>
              <a:t>),(</a:t>
            </a:r>
            <a:r>
              <a:rPr lang="en-US" altLang="zh-CN" sz="3200" dirty="0" err="1"/>
              <a:t>d,c</a:t>
            </a:r>
            <a:r>
              <a:rPr lang="en-US" altLang="zh-CN" sz="3200" dirty="0"/>
              <a:t>)}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说明</a:t>
            </a:r>
            <a:r>
              <a:rPr lang="en-US" altLang="zh-CN" sz="3200" dirty="0"/>
              <a:t>R,S,T</a:t>
            </a:r>
            <a:r>
              <a:rPr lang="zh-CN" altLang="en-US" sz="3200" dirty="0"/>
              <a:t>在</a:t>
            </a:r>
            <a:r>
              <a:rPr lang="en-US" altLang="zh-CN" sz="3200" dirty="0"/>
              <a:t>A</a:t>
            </a:r>
            <a:r>
              <a:rPr lang="zh-CN" altLang="en-US" sz="3200" dirty="0"/>
              <a:t>上的自反性与反自反性。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5979759-01C6-4DF8-BE90-B25A54A3AF2E}" type="slidenum">
              <a:rPr lang="en-US" altLang="zh-CN"/>
            </a:fld>
            <a:endParaRPr lang="en-US" altLang="zh-CN"/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1628406"/>
            <a:ext cx="10962510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0000FF"/>
                </a:solidFill>
              </a:rPr>
              <a:t>必要性</a:t>
            </a:r>
            <a:r>
              <a:rPr lang="zh-CN" altLang="en-US" sz="2800" dirty="0"/>
              <a:t> 设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上是自反的，则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根据恒等关系的定义，对任意的</a:t>
            </a:r>
            <a:r>
              <a:rPr lang="en-US" altLang="zh-CN" sz="2800" dirty="0" err="1"/>
              <a:t>x∈A</a:t>
            </a:r>
            <a:r>
              <a:rPr lang="zh-CN" altLang="en-US" sz="2800" dirty="0"/>
              <a:t>有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x,x</a:t>
            </a:r>
            <a:r>
              <a:rPr lang="en-US" altLang="zh-CN" sz="2800" dirty="0"/>
              <a:t>)∈I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，又因为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上是自反的，即对于任意的</a:t>
            </a:r>
            <a:r>
              <a:rPr lang="en-US" altLang="zh-CN" sz="2800" dirty="0" err="1"/>
              <a:t>x∈A</a:t>
            </a:r>
            <a:r>
              <a:rPr lang="zh-CN" altLang="en-US" sz="2800" dirty="0"/>
              <a:t>有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x,x</a:t>
            </a:r>
            <a:r>
              <a:rPr lang="en-US" altLang="zh-CN" sz="2800" dirty="0"/>
              <a:t>)∈R</a:t>
            </a:r>
            <a:r>
              <a:rPr lang="zh-CN" altLang="en-US" sz="2800" dirty="0"/>
              <a:t>，因此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 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rgbClr val="0000FF"/>
                </a:solidFill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</a:rPr>
              <a:t>2</a:t>
            </a:r>
            <a:r>
              <a:rPr lang="zh-CN" altLang="en-US" sz="2800" dirty="0">
                <a:solidFill>
                  <a:srgbClr val="0000FF"/>
                </a:solidFill>
              </a:rPr>
              <a:t>）充分性</a:t>
            </a:r>
            <a:r>
              <a:rPr lang="zh-CN" altLang="en-US" sz="2800" dirty="0"/>
              <a:t> 设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，则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上是自反的。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对任意的</a:t>
            </a:r>
            <a:r>
              <a:rPr lang="en-US" altLang="zh-CN" sz="2800" dirty="0" err="1">
                <a:sym typeface="Symbol" panose="05050102010706020507" pitchFamily="18" charset="2"/>
              </a:rPr>
              <a:t>x∈A</a:t>
            </a:r>
            <a:r>
              <a:rPr lang="zh-CN" altLang="en-US" sz="2800" dirty="0">
                <a:sym typeface="Symbol" panose="05050102010706020507" pitchFamily="18" charset="2"/>
              </a:rPr>
              <a:t>有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x,x</a:t>
            </a:r>
            <a:r>
              <a:rPr lang="en-US" altLang="zh-CN" sz="2800" dirty="0">
                <a:sym typeface="Symbol" panose="05050102010706020507" pitchFamily="18" charset="2"/>
              </a:rPr>
              <a:t>)∈I</a:t>
            </a:r>
            <a:r>
              <a:rPr lang="en-US" altLang="zh-CN" sz="2800" baseline="-250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，而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 </a:t>
            </a:r>
            <a:r>
              <a:rPr lang="zh-CN" altLang="en-US" sz="2800" dirty="0">
                <a:sym typeface="Symbol" panose="05050102010706020507" pitchFamily="18" charset="2"/>
              </a:rPr>
              <a:t>，因此对任意的</a:t>
            </a:r>
            <a:r>
              <a:rPr lang="en-US" altLang="zh-CN" sz="2800" dirty="0" err="1">
                <a:sym typeface="Symbol" panose="05050102010706020507" pitchFamily="18" charset="2"/>
              </a:rPr>
              <a:t>x∈A</a:t>
            </a:r>
            <a:r>
              <a:rPr lang="zh-CN" altLang="en-US" sz="2800" dirty="0">
                <a:sym typeface="Symbol" panose="05050102010706020507" pitchFamily="18" charset="2"/>
              </a:rPr>
              <a:t>有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ym typeface="Symbol" panose="05050102010706020507" pitchFamily="18" charset="2"/>
              </a:rPr>
              <a:t>x,x</a:t>
            </a:r>
            <a:r>
              <a:rPr lang="en-US" altLang="zh-CN" sz="2800" dirty="0">
                <a:sym typeface="Symbol" panose="05050102010706020507" pitchFamily="18" charset="2"/>
              </a:rPr>
              <a:t>)∈R</a:t>
            </a:r>
            <a:r>
              <a:rPr lang="zh-CN" altLang="en-US" sz="2800" dirty="0">
                <a:sym typeface="Symbol" panose="05050102010706020507" pitchFamily="18" charset="2"/>
              </a:rPr>
              <a:t>，即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在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上是自反的。</a:t>
            </a:r>
            <a:endParaRPr lang="zh-CN" altLang="en-US" sz="2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63552" y="191719"/>
            <a:ext cx="7946578" cy="143668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2.6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是定义在集合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上的二元关系，</a:t>
            </a:r>
            <a:r>
              <a:rPr lang="en-US" altLang="zh-CN" sz="2800" dirty="0"/>
              <a:t>R</a:t>
            </a:r>
            <a:r>
              <a:rPr lang="zh-CN" altLang="en-US" sz="2800" dirty="0"/>
              <a:t>是自反的当且仅当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0FB43C26-1AD6-47E4-8A39-0B2DB8A7CE74}" type="slidenum">
              <a:rPr lang="en-US" altLang="zh-CN"/>
            </a:fld>
            <a:endParaRPr lang="en-US" altLang="zh-CN"/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6335" y="1268760"/>
            <a:ext cx="10287942" cy="46831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0000FF"/>
                </a:solidFill>
              </a:rPr>
              <a:t>必要性</a:t>
            </a:r>
            <a:r>
              <a:rPr lang="zh-CN" altLang="en-US" sz="2800" dirty="0"/>
              <a:t> 设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上是反自反的，则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假设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</a:t>
            </a:r>
            <a:r>
              <a:rPr lang="zh-CN" altLang="en-US" sz="2800" dirty="0"/>
              <a:t>，比如存在（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zh-CN" altLang="en-US" sz="2800" baseline="-25000" dirty="0"/>
              <a:t>，</a:t>
            </a:r>
            <a:r>
              <a:rPr lang="zh-CN" altLang="en-US" sz="2800" dirty="0"/>
              <a:t>即（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zh-CN" altLang="en-US" sz="2800" dirty="0"/>
              <a:t>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zh-CN" altLang="en-US" sz="2800" dirty="0"/>
              <a:t> 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，也即</a:t>
            </a:r>
            <a:r>
              <a:rPr lang="zh-CN" altLang="en-US" sz="2800" dirty="0"/>
              <a:t>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且</a:t>
            </a:r>
            <a:r>
              <a:rPr lang="en-US" altLang="zh-CN" sz="2800" dirty="0"/>
              <a:t>x=y</a:t>
            </a:r>
            <a:r>
              <a:rPr lang="zh-CN" altLang="en-US" sz="2800" dirty="0"/>
              <a:t>，即（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x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，与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上是反自反的相矛盾。因此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充分性</a:t>
            </a:r>
            <a:r>
              <a:rPr lang="zh-CN" altLang="en-US" sz="2800" dirty="0"/>
              <a:t> 设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，则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上是反自反的。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对任意的</a:t>
            </a:r>
            <a:r>
              <a:rPr lang="en-US" altLang="zh-CN" sz="2800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A</a:t>
            </a:r>
            <a:r>
              <a:rPr lang="zh-CN" altLang="en-US" sz="2800" dirty="0"/>
              <a:t>，有 </a:t>
            </a:r>
            <a:r>
              <a:rPr lang="en-US" altLang="zh-CN" sz="2800" dirty="0"/>
              <a:t>( x, x)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，由于</a:t>
            </a:r>
            <a:r>
              <a:rPr lang="en-US" altLang="zh-CN" sz="2800" dirty="0"/>
              <a:t>R∩I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，因此</a:t>
            </a:r>
            <a:r>
              <a:rPr lang="en-US" altLang="zh-CN" sz="2800" dirty="0"/>
              <a:t>( x, x)</a:t>
            </a:r>
            <a:r>
              <a:rPr lang="en-US" altLang="zh-CN" sz="2800" dirty="0">
                <a:sym typeface="Symbol" panose="05050102010706020507" pitchFamily="18" charset="2"/>
              </a:rPr>
              <a:t></a:t>
            </a:r>
            <a:r>
              <a:rPr lang="en-US" altLang="zh-CN" sz="2800" dirty="0"/>
              <a:t>R</a:t>
            </a:r>
            <a:r>
              <a:rPr lang="zh-CN" altLang="en-US" sz="2800" dirty="0"/>
              <a:t>，即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lang="en-US" altLang="zh-CN" sz="2800" dirty="0"/>
              <a:t>A</a:t>
            </a:r>
            <a:r>
              <a:rPr lang="zh-CN" altLang="en-US" sz="2800" dirty="0"/>
              <a:t>上是反自反的。</a:t>
            </a:r>
            <a:endParaRPr lang="zh-CN" altLang="en-US" sz="2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116632"/>
            <a:ext cx="8162801" cy="1287463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2.7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是定义在集合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上的二元关系，</a:t>
            </a:r>
            <a:r>
              <a:rPr lang="en-US" altLang="zh-CN" sz="3200" dirty="0"/>
              <a:t>R</a:t>
            </a:r>
            <a:r>
              <a:rPr lang="zh-CN" altLang="en-US" sz="3200" dirty="0"/>
              <a:t>是反自反的当且仅当</a:t>
            </a:r>
            <a:r>
              <a:rPr lang="en-US" altLang="zh-CN" sz="3200" dirty="0"/>
              <a:t>R∩I</a:t>
            </a:r>
            <a:r>
              <a:rPr lang="en-US" altLang="zh-CN" sz="3200" baseline="-25000" dirty="0"/>
              <a:t>A</a:t>
            </a:r>
            <a:r>
              <a:rPr lang="en-US" altLang="zh-CN" sz="3200" dirty="0"/>
              <a:t>=</a:t>
            </a:r>
            <a:r>
              <a:rPr lang="en-US" altLang="zh-CN" sz="3200" dirty="0">
                <a:sym typeface="Symbol" panose="05050102010706020507" pitchFamily="18" charset="2"/>
              </a:rPr>
              <a:t></a:t>
            </a:r>
            <a:r>
              <a:rPr lang="zh-CN" altLang="en-US" sz="3200" dirty="0"/>
              <a:t>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CA57B59-60DD-46A3-B836-5CD204321EEE}" type="slidenum">
              <a:rPr lang="en-US" altLang="zh-CN"/>
            </a:fld>
            <a:endParaRPr lang="en-US" altLang="zh-CN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71664" y="115887"/>
            <a:ext cx="4007768" cy="1143000"/>
          </a:xfrm>
        </p:spPr>
        <p:txBody>
          <a:bodyPr/>
          <a:lstStyle/>
          <a:p>
            <a:r>
              <a:rPr lang="zh-CN" altLang="en-US" dirty="0"/>
              <a:t>对称、反对称</a:t>
            </a:r>
            <a:endParaRPr lang="zh-CN" alt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052736"/>
            <a:ext cx="8881566" cy="4114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0000FF"/>
                </a:solidFill>
              </a:rPr>
              <a:t>定义2.15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zh-CN" sz="2800" dirty="0"/>
              <a:t>设R为A上的关系。 </a:t>
            </a:r>
            <a:endParaRPr lang="zh-CN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</a:t>
            </a:r>
            <a:r>
              <a:rPr lang="zh-CN" altLang="zh-CN" sz="2800" dirty="0"/>
              <a:t>1</a:t>
            </a:r>
            <a:r>
              <a:rPr lang="en-US" altLang="zh-CN" sz="2800" dirty="0"/>
              <a:t>)</a:t>
            </a:r>
            <a:r>
              <a:rPr lang="zh-CN" altLang="zh-CN" sz="2800" dirty="0"/>
              <a:t>  若对任意的x与y，都有x,y∈A且(x,y)∈R，则有(y,x)∈R，则称R为A上</a:t>
            </a:r>
            <a:r>
              <a:rPr lang="zh-CN" altLang="zh-CN" sz="2800" dirty="0">
                <a:solidFill>
                  <a:srgbClr val="0000FF"/>
                </a:solidFill>
              </a:rPr>
              <a:t>对称</a:t>
            </a:r>
            <a:r>
              <a:rPr lang="zh-CN" altLang="zh-CN" sz="2800" dirty="0"/>
              <a:t>关系； 否则，称R是非对称的。</a:t>
            </a:r>
            <a:endParaRPr lang="zh-CN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</a:t>
            </a:r>
            <a:r>
              <a:rPr lang="zh-CN" altLang="zh-CN" sz="2800" dirty="0"/>
              <a:t>2</a:t>
            </a:r>
            <a:r>
              <a:rPr lang="en-US" altLang="zh-CN" sz="2800" dirty="0"/>
              <a:t>)</a:t>
            </a:r>
            <a:r>
              <a:rPr lang="zh-CN" altLang="zh-CN" sz="2800" dirty="0"/>
              <a:t>  若对任意的x与y，都有x,y∈A且当(x,y)∈R，(y,x)∈R时，有x=y，则称R为A上的</a:t>
            </a:r>
            <a:r>
              <a:rPr lang="zh-CN" altLang="zh-CN" sz="2800" dirty="0">
                <a:solidFill>
                  <a:srgbClr val="0000FF"/>
                </a:solidFill>
              </a:rPr>
              <a:t>反对称</a:t>
            </a:r>
            <a:r>
              <a:rPr lang="zh-CN" altLang="zh-CN" sz="2800" dirty="0"/>
              <a:t>关系。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对称：全关系、恒等关系、空关系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反对称：恒等关系、空关系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1554A8F-CDA3-4B5D-A264-79EE3E343D6B}" type="slidenum">
              <a:rPr lang="en-US" altLang="zh-CN"/>
            </a:fld>
            <a:endParaRPr lang="en-US" altLang="zh-CN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3590" y="1215157"/>
            <a:ext cx="4032250" cy="427124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2.28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dirty="0"/>
              <a:t>A={</a:t>
            </a:r>
            <a:r>
              <a:rPr lang="en-US" altLang="zh-CN" dirty="0" err="1"/>
              <a:t>a,b,c</a:t>
            </a:r>
            <a:r>
              <a:rPr lang="en-US" altLang="zh-CN" dirty="0"/>
              <a:t>}</a:t>
            </a:r>
            <a:r>
              <a:rPr lang="zh-CN" altLang="en-US" dirty="0"/>
              <a:t>，定义</a:t>
            </a:r>
            <a:r>
              <a:rPr lang="en-US" altLang="zh-CN" dirty="0"/>
              <a:t>A</a:t>
            </a:r>
            <a:r>
              <a:rPr lang="zh-CN" altLang="en-US" dirty="0"/>
              <a:t>上的二元关系如下： 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R={(</a:t>
            </a:r>
            <a:r>
              <a:rPr lang="en-US" altLang="zh-CN" dirty="0" err="1"/>
              <a:t>a,a</a:t>
            </a:r>
            <a:r>
              <a:rPr lang="en-US" altLang="zh-CN" dirty="0"/>
              <a:t>),(</a:t>
            </a:r>
            <a:r>
              <a:rPr lang="en-US" altLang="zh-CN" dirty="0" err="1"/>
              <a:t>b,b</a:t>
            </a:r>
            <a:r>
              <a:rPr lang="en-US" altLang="zh-CN" dirty="0"/>
              <a:t>)}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S={(</a:t>
            </a:r>
            <a:r>
              <a:rPr lang="en-US" altLang="zh-CN" dirty="0" err="1"/>
              <a:t>a,a</a:t>
            </a:r>
            <a:r>
              <a:rPr lang="en-US" altLang="zh-CN" dirty="0"/>
              <a:t>),(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b,a</a:t>
            </a:r>
            <a:r>
              <a:rPr lang="en-US" altLang="zh-CN" dirty="0"/>
              <a:t>)}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T={(</a:t>
            </a:r>
            <a:r>
              <a:rPr lang="en-US" altLang="zh-CN" dirty="0" err="1"/>
              <a:t>a,c</a:t>
            </a:r>
            <a:r>
              <a:rPr lang="en-US" altLang="zh-CN" dirty="0"/>
              <a:t>),(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b,a</a:t>
            </a:r>
            <a:r>
              <a:rPr lang="en-US" altLang="zh-CN" dirty="0"/>
              <a:t>)}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试说明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是否是</a:t>
            </a:r>
            <a:r>
              <a:rPr lang="en-US" altLang="zh-CN" dirty="0"/>
              <a:t>A</a:t>
            </a:r>
            <a:r>
              <a:rPr lang="zh-CN" altLang="en-US" dirty="0"/>
              <a:t>上的对称关系和反对称关系。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655840" y="1124744"/>
            <a:ext cx="7272808" cy="51537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解</a:t>
            </a:r>
            <a:r>
              <a:rPr lang="zh-CN" altLang="en-US" sz="2800" dirty="0"/>
              <a:t>： 根据定义</a:t>
            </a:r>
            <a:r>
              <a:rPr lang="en-US" altLang="zh-CN" sz="2800" dirty="0"/>
              <a:t>R</a:t>
            </a:r>
            <a:r>
              <a:rPr lang="zh-CN" altLang="en-US" sz="2800" dirty="0"/>
              <a:t>上</a:t>
            </a:r>
            <a:r>
              <a:rPr lang="en-US" altLang="zh-CN" sz="2800" dirty="0"/>
              <a:t>A</a:t>
            </a:r>
            <a:r>
              <a:rPr lang="zh-CN" altLang="en-US" sz="2800" dirty="0"/>
              <a:t>上的对称关系与反对称关系。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S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上的对称关系。</a:t>
            </a:r>
            <a:r>
              <a:rPr lang="en-US" altLang="zh-CN" sz="2800" dirty="0"/>
              <a:t>S</a:t>
            </a:r>
            <a:r>
              <a:rPr lang="zh-CN" altLang="en-US" sz="2800" dirty="0"/>
              <a:t>不是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上的反对称关系，因为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</a:t>
            </a:r>
            <a:r>
              <a:rPr lang="zh-CN" altLang="en-US" sz="2800" dirty="0"/>
              <a:t>与</a:t>
            </a:r>
            <a:r>
              <a:rPr lang="en-US" altLang="zh-CN" sz="2800" dirty="0"/>
              <a:t>(</a:t>
            </a:r>
            <a:r>
              <a:rPr lang="en-US" altLang="zh-CN" sz="2800" dirty="0" err="1"/>
              <a:t>b,a</a:t>
            </a:r>
            <a:r>
              <a:rPr lang="en-US" altLang="zh-CN" sz="2800" dirty="0"/>
              <a:t>)</a:t>
            </a:r>
            <a:r>
              <a:rPr lang="zh-CN" altLang="en-US" sz="2800" dirty="0"/>
              <a:t>都是</a:t>
            </a:r>
            <a:r>
              <a:rPr lang="en-US" altLang="zh-CN" sz="2800" dirty="0"/>
              <a:t>S</a:t>
            </a:r>
            <a:r>
              <a:rPr lang="zh-CN" altLang="en-US" sz="2800" dirty="0"/>
              <a:t>中的元素，但是</a:t>
            </a:r>
            <a:r>
              <a:rPr lang="en-US" altLang="zh-CN" sz="2800" dirty="0" err="1"/>
              <a:t>a≠b</a:t>
            </a:r>
            <a:r>
              <a:rPr lang="zh-CN" altLang="en-US" sz="2800" dirty="0"/>
              <a:t>，所以</a:t>
            </a:r>
            <a:r>
              <a:rPr lang="en-US" altLang="zh-CN" sz="2800" dirty="0"/>
              <a:t>S</a:t>
            </a:r>
            <a:r>
              <a:rPr lang="zh-CN" altLang="en-US" sz="2800" dirty="0"/>
              <a:t>不是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上的反对称关系。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zh-CN" altLang="en-US" sz="2800" dirty="0"/>
              <a:t>既不是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上的对称关系，也不是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上的反对称关系。因为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)</a:t>
            </a:r>
            <a:r>
              <a:rPr lang="zh-CN" altLang="en-US" sz="2800" dirty="0"/>
              <a:t>是</a:t>
            </a:r>
            <a:r>
              <a:rPr lang="en-US" altLang="zh-CN" sz="2800" dirty="0"/>
              <a:t>T</a:t>
            </a:r>
            <a:r>
              <a:rPr lang="zh-CN" altLang="en-US" sz="2800" dirty="0"/>
              <a:t>中的元素，但是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c,a</a:t>
            </a:r>
            <a:r>
              <a:rPr lang="en-US" altLang="zh-CN" sz="2800" dirty="0"/>
              <a:t>)</a:t>
            </a:r>
            <a:r>
              <a:rPr lang="zh-CN" altLang="en-US" sz="2800" dirty="0"/>
              <a:t>不是</a:t>
            </a:r>
            <a:r>
              <a:rPr lang="en-US" altLang="zh-CN" sz="2800" dirty="0"/>
              <a:t>T</a:t>
            </a:r>
            <a:r>
              <a:rPr lang="zh-CN" altLang="en-US" sz="2800" dirty="0"/>
              <a:t>中的元素，因此不满足对称性，又因为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</a:t>
            </a:r>
            <a:r>
              <a:rPr lang="zh-CN" altLang="en-US" sz="2800" dirty="0"/>
              <a:t>与</a:t>
            </a:r>
            <a:r>
              <a:rPr lang="en-US" altLang="zh-CN" sz="2800" dirty="0"/>
              <a:t>(</a:t>
            </a:r>
            <a:r>
              <a:rPr lang="en-US" altLang="zh-CN" sz="2800" dirty="0" err="1"/>
              <a:t>b,a</a:t>
            </a:r>
            <a:r>
              <a:rPr lang="en-US" altLang="zh-CN" sz="2800" dirty="0"/>
              <a:t>)</a:t>
            </a:r>
            <a:r>
              <a:rPr lang="zh-CN" altLang="en-US" sz="2800" dirty="0"/>
              <a:t>都是</a:t>
            </a:r>
            <a:r>
              <a:rPr lang="en-US" altLang="zh-CN" sz="2800" dirty="0"/>
              <a:t>T</a:t>
            </a:r>
            <a:r>
              <a:rPr lang="zh-CN" altLang="en-US" sz="2800" dirty="0"/>
              <a:t>中的元素，但是</a:t>
            </a:r>
            <a:r>
              <a:rPr lang="en-US" altLang="zh-CN" sz="2800" dirty="0" err="1"/>
              <a:t>a≠b</a:t>
            </a:r>
            <a:r>
              <a:rPr lang="zh-CN" altLang="en-US" sz="2800" dirty="0"/>
              <a:t>，因此也不满足反对称性。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8D69452-A94D-4690-932F-DB7FAE515B48}" type="slidenum">
              <a:rPr lang="en-US" altLang="zh-CN"/>
            </a:fld>
            <a:endParaRPr lang="en-US" altLang="zh-CN"/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8150" y="1700808"/>
            <a:ext cx="8775700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</a:t>
            </a:r>
            <a:r>
              <a:rPr lang="en-US" altLang="zh-CN" sz="2800" dirty="0"/>
              <a:t>(1)</a:t>
            </a:r>
            <a:r>
              <a:rPr lang="zh-CN" altLang="en-US" sz="2800" b="1" dirty="0">
                <a:solidFill>
                  <a:srgbClr val="0000FF"/>
                </a:solidFill>
              </a:rPr>
              <a:t>必要性</a:t>
            </a:r>
            <a:r>
              <a:rPr lang="zh-CN" altLang="en-US" sz="2800" dirty="0"/>
              <a:t> 设</a:t>
            </a:r>
            <a:r>
              <a:rPr lang="en-US" altLang="zh-CN" sz="2800" dirty="0"/>
              <a:t>R</a:t>
            </a:r>
            <a:r>
              <a:rPr lang="zh-CN" altLang="en-US" sz="2800" dirty="0"/>
              <a:t>是对称的，则</a:t>
            </a:r>
            <a:r>
              <a:rPr lang="en-US" altLang="zh-CN" sz="2800" dirty="0"/>
              <a:t>R=R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R=R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b="1" dirty="0">
                <a:solidFill>
                  <a:srgbClr val="0000FF"/>
                </a:solidFill>
              </a:rPr>
              <a:t>充分性</a:t>
            </a:r>
            <a:r>
              <a:rPr lang="zh-CN" altLang="en-US" sz="2800" dirty="0"/>
              <a:t> 设</a:t>
            </a:r>
            <a:r>
              <a:rPr lang="en-US" altLang="zh-CN" sz="2800" dirty="0"/>
              <a:t>R=R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，则</a:t>
            </a:r>
            <a:r>
              <a:rPr lang="en-US" altLang="zh-CN" sz="2800" dirty="0"/>
              <a:t>R</a:t>
            </a:r>
            <a:r>
              <a:rPr lang="zh-CN" altLang="en-US" sz="2800" dirty="0"/>
              <a:t>是对称的。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zh-CN" altLang="en-US" sz="2800" dirty="0"/>
              <a:t>是对称的。 </a:t>
            </a:r>
            <a:endParaRPr lang="zh-CN" altLang="en-US" sz="2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59496" y="38100"/>
            <a:ext cx="8594849" cy="114300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dirty="0">
                <a:solidFill>
                  <a:srgbClr val="0000FF"/>
                </a:solidFill>
                <a:cs typeface="+mn-cs"/>
              </a:rPr>
              <a:t>定理</a:t>
            </a:r>
            <a:r>
              <a:rPr lang="en-US" altLang="zh-CN" sz="3600" dirty="0">
                <a:solidFill>
                  <a:srgbClr val="0000FF"/>
                </a:solidFill>
                <a:cs typeface="+mn-cs"/>
              </a:rPr>
              <a:t>2.8 </a:t>
            </a:r>
            <a:r>
              <a:rPr lang="zh-CN" altLang="en-US" sz="4000" dirty="0"/>
              <a:t>设</a:t>
            </a:r>
            <a:r>
              <a:rPr lang="en-US" altLang="zh-CN" sz="4000" dirty="0"/>
              <a:t>R</a:t>
            </a:r>
            <a:r>
              <a:rPr lang="zh-CN" altLang="en-US" sz="4000" dirty="0"/>
              <a:t>是</a:t>
            </a:r>
            <a:r>
              <a:rPr lang="en-US" altLang="zh-CN" sz="4000" dirty="0"/>
              <a:t>A</a:t>
            </a:r>
            <a:r>
              <a:rPr lang="zh-CN" altLang="en-US" sz="4000" dirty="0"/>
              <a:t>上的二元关系，</a:t>
            </a:r>
            <a:r>
              <a:rPr lang="en-US" altLang="zh-CN" sz="4000" dirty="0"/>
              <a:t>R</a:t>
            </a:r>
            <a:r>
              <a:rPr lang="zh-CN" altLang="en-US" sz="4000" dirty="0"/>
              <a:t>是对称的当且仅当</a:t>
            </a:r>
            <a:r>
              <a:rPr lang="en-US" altLang="zh-CN" sz="4000" dirty="0"/>
              <a:t>R=R</a:t>
            </a:r>
            <a:r>
              <a:rPr lang="en-US" altLang="zh-CN" sz="4000" baseline="30000" dirty="0"/>
              <a:t>-1</a:t>
            </a:r>
            <a:r>
              <a:rPr lang="zh-CN" altLang="en-US" sz="4000" dirty="0"/>
              <a:t>。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BAC23F5-355A-428F-B4D7-8D7601492780}" type="slidenum">
              <a:rPr lang="en-US" altLang="zh-CN"/>
            </a:fld>
            <a:endParaRPr lang="en-US" altLang="zh-CN"/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1476435"/>
            <a:ext cx="10682337" cy="43926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</a:t>
            </a:r>
            <a:r>
              <a:rPr lang="en-US" altLang="zh-CN" sz="2800" dirty="0"/>
              <a:t>(1)</a:t>
            </a:r>
            <a:r>
              <a:rPr lang="zh-CN" altLang="en-US" sz="2800" dirty="0">
                <a:solidFill>
                  <a:srgbClr val="0000FF"/>
                </a:solidFill>
              </a:rPr>
              <a:t>必要性</a:t>
            </a:r>
            <a:r>
              <a:rPr lang="zh-CN" altLang="en-US" sz="2800" dirty="0"/>
              <a:t> 设</a:t>
            </a:r>
            <a:r>
              <a:rPr lang="en-US" altLang="zh-CN" sz="2800" dirty="0"/>
              <a:t>R</a:t>
            </a:r>
            <a:r>
              <a:rPr lang="zh-CN" altLang="en-US" sz="2800" dirty="0"/>
              <a:t>是反对称的，则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(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且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zh-CN" altLang="en-US" sz="2800" dirty="0"/>
              <a:t>（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/>
              <a:t>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，因为</a:t>
            </a:r>
            <a:r>
              <a:rPr lang="en-US" altLang="zh-CN" sz="2800" dirty="0"/>
              <a:t>R</a:t>
            </a:r>
            <a:r>
              <a:rPr lang="zh-CN" altLang="en-US" sz="2800" dirty="0"/>
              <a:t>是反对称的，根据反对称的定义，则</a:t>
            </a:r>
            <a:r>
              <a:rPr lang="en-US" altLang="zh-CN" sz="2800" dirty="0"/>
              <a:t>x=y</a:t>
            </a:r>
            <a:r>
              <a:rPr lang="zh-CN" altLang="en-US" sz="2800" dirty="0"/>
              <a:t>，因此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y)=(y</a:t>
            </a:r>
            <a:r>
              <a:rPr lang="zh-CN" altLang="en-US" sz="2800" dirty="0"/>
              <a:t>，</a:t>
            </a:r>
            <a:r>
              <a:rPr lang="en-US" altLang="zh-CN" sz="2800" dirty="0"/>
              <a:t>x)=(x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，所以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>
                <a:solidFill>
                  <a:srgbClr val="0000FF"/>
                </a:solidFill>
              </a:rPr>
              <a:t>充分性</a:t>
            </a:r>
            <a:r>
              <a:rPr lang="zh-CN" altLang="en-US" sz="2800" dirty="0"/>
              <a:t> 设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，则</a:t>
            </a:r>
            <a:r>
              <a:rPr lang="en-US" altLang="zh-CN" sz="2800" dirty="0"/>
              <a:t>R</a:t>
            </a:r>
            <a:r>
              <a:rPr lang="zh-CN" altLang="en-US" sz="2800" dirty="0"/>
              <a:t>是反对称的。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 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 </a:t>
            </a:r>
            <a:r>
              <a:rPr lang="zh-CN" altLang="en-US" sz="2800" dirty="0">
                <a:sym typeface="Symbol" panose="05050102010706020507" pitchFamily="18" charset="2"/>
              </a:rPr>
              <a:t>且 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因为</a:t>
            </a:r>
            <a:r>
              <a:rPr lang="en-US" altLang="zh-CN" sz="2800" dirty="0"/>
              <a:t>R∩R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，所以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，顾</a:t>
            </a:r>
            <a:r>
              <a:rPr lang="en-US" altLang="zh-CN" sz="2800" dirty="0"/>
              <a:t>x=y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zh-CN" altLang="en-US" sz="2800" dirty="0"/>
              <a:t>是反对称的。</a:t>
            </a:r>
            <a:endParaRPr lang="zh-CN" altLang="en-US" sz="2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1464" y="22845"/>
            <a:ext cx="9577064" cy="1436688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rgbClr val="0000FF"/>
                </a:solidFill>
              </a:rPr>
              <a:t>定理</a:t>
            </a:r>
            <a:r>
              <a:rPr lang="en-US" altLang="zh-CN" sz="3600" b="1" dirty="0">
                <a:solidFill>
                  <a:srgbClr val="0000FF"/>
                </a:solidFill>
              </a:rPr>
              <a:t>2.9</a:t>
            </a:r>
            <a:r>
              <a:rPr lang="en-US" altLang="zh-CN" sz="3600" dirty="0"/>
              <a:t> </a:t>
            </a:r>
            <a:r>
              <a:rPr lang="zh-CN" altLang="en-US" sz="3600" dirty="0"/>
              <a:t>设</a:t>
            </a:r>
            <a:r>
              <a:rPr lang="en-US" altLang="zh-CN" sz="3600" dirty="0"/>
              <a:t>R</a:t>
            </a:r>
            <a:r>
              <a:rPr lang="zh-CN" altLang="en-US" sz="3600" dirty="0"/>
              <a:t>是</a:t>
            </a:r>
            <a:r>
              <a:rPr lang="en-US" altLang="zh-CN" sz="3600" dirty="0"/>
              <a:t>A</a:t>
            </a:r>
            <a:r>
              <a:rPr lang="zh-CN" altLang="en-US" sz="3600" dirty="0"/>
              <a:t>上的二元关系，</a:t>
            </a:r>
            <a:r>
              <a:rPr lang="en-US" altLang="zh-CN" sz="3600" dirty="0"/>
              <a:t>R</a:t>
            </a:r>
            <a:r>
              <a:rPr lang="zh-CN" altLang="en-US" sz="3600" dirty="0"/>
              <a:t>是反对称的当且仅当</a:t>
            </a:r>
            <a:r>
              <a:rPr lang="en-US" altLang="zh-CN" sz="3600" dirty="0"/>
              <a:t>R∩R</a:t>
            </a:r>
            <a:r>
              <a:rPr lang="en-US" altLang="zh-CN" sz="3600" baseline="30000" dirty="0"/>
              <a:t>-1</a:t>
            </a:r>
            <a:r>
              <a:rPr lang="en-US" altLang="zh-CN" sz="3600" dirty="0">
                <a:sym typeface="Symbol" panose="05050102010706020507" pitchFamily="18" charset="2"/>
              </a:rPr>
              <a:t></a:t>
            </a:r>
            <a:r>
              <a:rPr lang="en-US" altLang="zh-CN" sz="3600" dirty="0"/>
              <a:t>I</a:t>
            </a:r>
            <a:r>
              <a:rPr lang="en-US" altLang="zh-CN" sz="3600" baseline="-25000" dirty="0"/>
              <a:t>A</a:t>
            </a:r>
            <a:r>
              <a:rPr lang="zh-CN" altLang="en-US" sz="3600" dirty="0"/>
              <a:t>。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FE84E00-B84B-4ACC-9B57-F890A10FF042}" type="slidenum">
              <a:rPr lang="en-US" altLang="zh-CN"/>
            </a:fld>
            <a:endParaRPr lang="en-US" altLang="zh-CN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10944225" cy="1143000"/>
          </a:xfrm>
        </p:spPr>
        <p:txBody>
          <a:bodyPr/>
          <a:lstStyle/>
          <a:p>
            <a:r>
              <a:rPr lang="zh-CN" altLang="en-US"/>
              <a:t>传递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39913" y="1700213"/>
            <a:ext cx="10352087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</a:rPr>
              <a:t>2.16</a:t>
            </a:r>
            <a:r>
              <a:rPr lang="en-US" altLang="zh-CN" sz="3200" b="1" dirty="0"/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en-US" altLang="zh-CN" sz="3200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上的关系，若对任意的</a:t>
            </a:r>
            <a:r>
              <a:rPr lang="en-US" altLang="zh-CN" sz="3200" dirty="0">
                <a:latin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y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z</a:t>
            </a:r>
            <a:r>
              <a:rPr lang="zh-CN" altLang="en-US" sz="3200" dirty="0">
                <a:latin typeface="Times New Roman" panose="02020603050405020304" pitchFamily="18" charset="0"/>
              </a:rPr>
              <a:t>有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x,y,z∈A</a:t>
            </a:r>
            <a:r>
              <a:rPr lang="zh-CN" altLang="en-US" sz="3200" dirty="0">
                <a:latin typeface="Times New Roman" panose="02020603050405020304" pitchFamily="18" charset="0"/>
              </a:rPr>
              <a:t>且当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</a:rPr>
              <a:t>)∈R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</a:rPr>
              <a:t>y,z</a:t>
            </a:r>
            <a:r>
              <a:rPr lang="en-US" altLang="zh-CN" sz="3200" dirty="0">
                <a:latin typeface="Times New Roman" panose="02020603050405020304" pitchFamily="18" charset="0"/>
              </a:rPr>
              <a:t>)∈R</a:t>
            </a:r>
            <a:r>
              <a:rPr lang="zh-CN" altLang="en-US" sz="3200" dirty="0">
                <a:latin typeface="Times New Roman" panose="02020603050405020304" pitchFamily="18" charset="0"/>
              </a:rPr>
              <a:t>时，有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x,z</a:t>
            </a:r>
            <a:r>
              <a:rPr lang="en-US" altLang="zh-CN" sz="3200" dirty="0">
                <a:latin typeface="Times New Roman" panose="02020603050405020304" pitchFamily="18" charset="0"/>
              </a:rPr>
              <a:t>)∈R,</a:t>
            </a:r>
            <a:r>
              <a:rPr lang="zh-CN" altLang="en-US" sz="3200" dirty="0">
                <a:latin typeface="Times New Roman" panose="02020603050405020304" pitchFamily="18" charset="0"/>
              </a:rPr>
              <a:t>则称</a:t>
            </a:r>
            <a:r>
              <a:rPr lang="en-US" altLang="zh-CN" sz="3200" dirty="0">
                <a:latin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上的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传递</a:t>
            </a:r>
            <a:r>
              <a:rPr lang="zh-CN" altLang="en-US" sz="3200" dirty="0">
                <a:latin typeface="Times New Roman" panose="02020603050405020304" pitchFamily="18" charset="0"/>
              </a:rPr>
              <a:t>关系，否则称</a:t>
            </a:r>
            <a:r>
              <a:rPr lang="en-US" altLang="zh-CN" sz="3200" dirty="0">
                <a:latin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</a:rPr>
              <a:t>是非传递关系。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传递关系：全关系、空关系、小于、包含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FA2C989-509D-41F7-8845-41007F78C427}" type="slidenum">
              <a:rPr lang="en-US" altLang="zh-CN"/>
            </a:fld>
            <a:endParaRPr lang="en-US" altLang="zh-CN"/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1424" y="1053156"/>
            <a:ext cx="10657184" cy="16557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2.29</a:t>
            </a:r>
            <a:r>
              <a:rPr lang="en-US" altLang="zh-CN" sz="2800" dirty="0"/>
              <a:t>  </a:t>
            </a:r>
            <a:r>
              <a:rPr lang="zh-CN" altLang="en-US" sz="2800" dirty="0"/>
              <a:t>设</a:t>
            </a:r>
            <a:r>
              <a:rPr lang="en-US" altLang="zh-CN" sz="2800" dirty="0"/>
              <a:t>A={1,2,3}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={(1,1)}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={(1,3),(2,3)}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={(1,1),(1,2),(2,3)}</a:t>
            </a:r>
            <a:r>
              <a:rPr lang="zh-CN" altLang="en-US" sz="2800" dirty="0"/>
              <a:t>，说明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是否为集合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上传递的关系。</a:t>
            </a:r>
            <a:endParaRPr lang="zh-CN" altLang="en-US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7408" y="2708919"/>
            <a:ext cx="11161240" cy="2160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  <a:r>
              <a:rPr lang="zh-CN" altLang="en-US" sz="2800" dirty="0"/>
              <a:t>： 根据定义</a:t>
            </a:r>
            <a:r>
              <a:rPr lang="en-US" altLang="zh-CN" sz="2800" dirty="0"/>
              <a:t>2.16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上传递的关系； 但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不是传递的，因为</a:t>
            </a:r>
            <a:r>
              <a:rPr lang="en-US" altLang="zh-CN" sz="2800" dirty="0"/>
              <a:t>(1,2)∈R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(2,3)∈R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，而</a:t>
            </a:r>
            <a:r>
              <a:rPr lang="en-US" altLang="zh-CN" sz="2800" dirty="0"/>
              <a:t>(1,3)</a:t>
            </a:r>
            <a:r>
              <a:rPr lang="en-US" altLang="zh-CN" sz="2800" dirty="0">
                <a:sym typeface="Symbol" panose="05050102010706020507" pitchFamily="18" charset="2"/>
              </a:rPr>
              <a:t>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，由传递关系的定义知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不是传递的关系。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0366D5DC-A7A9-4FE6-88D8-3FEBFE7CBBFC}" type="slidenum">
              <a:rPr lang="en-US" altLang="zh-CN"/>
            </a:fld>
            <a:endParaRPr lang="en-US" altLang="zh-CN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1484784"/>
            <a:ext cx="11040838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en-US" altLang="zh-CN" sz="2800" dirty="0"/>
              <a:t>(1</a:t>
            </a:r>
            <a:r>
              <a:rPr lang="zh-CN" altLang="en-US" sz="2800" dirty="0"/>
              <a:t>） </a:t>
            </a:r>
            <a:r>
              <a:rPr lang="zh-CN" altLang="en-US" sz="2800" dirty="0">
                <a:solidFill>
                  <a:srgbClr val="0000FF"/>
                </a:solidFill>
              </a:rPr>
              <a:t>必要性</a:t>
            </a:r>
            <a:r>
              <a:rPr lang="zh-CN" altLang="en-US" sz="2800" dirty="0"/>
              <a:t> 设</a:t>
            </a:r>
            <a:r>
              <a:rPr lang="en-US" altLang="zh-CN" sz="2800" dirty="0"/>
              <a:t>R</a:t>
            </a:r>
            <a:r>
              <a:rPr lang="zh-CN" altLang="en-US" sz="2800" dirty="0"/>
              <a:t>是传递的，则</a:t>
            </a:r>
            <a:r>
              <a:rPr lang="en-US" altLang="zh-CN" sz="2800" dirty="0"/>
              <a:t>R.R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R.R</a:t>
            </a:r>
            <a:r>
              <a:rPr lang="zh-CN" altLang="en-US" sz="2800" dirty="0"/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z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A</a:t>
            </a:r>
            <a:r>
              <a:rPr lang="zh-CN" altLang="en-US" sz="2800" dirty="0"/>
              <a:t>，使得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z)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/>
              <a:t>(z</a:t>
            </a:r>
            <a:r>
              <a:rPr lang="zh-CN" altLang="en-US" sz="2800" dirty="0"/>
              <a:t>，</a:t>
            </a:r>
            <a:r>
              <a:rPr lang="en-US" altLang="zh-CN" sz="2800" dirty="0"/>
              <a:t>y)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。因为</a:t>
            </a:r>
            <a:r>
              <a:rPr lang="en-US" altLang="zh-CN" sz="2800" dirty="0"/>
              <a:t>R</a:t>
            </a:r>
            <a:r>
              <a:rPr lang="zh-CN" altLang="en-US" sz="2800" dirty="0"/>
              <a:t>是传递的，所以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，即有</a:t>
            </a:r>
            <a:r>
              <a:rPr lang="en-US" altLang="zh-CN" sz="2800" dirty="0"/>
              <a:t>R.R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>
                <a:solidFill>
                  <a:srgbClr val="0000FF"/>
                </a:solidFill>
              </a:rPr>
              <a:t>充分性</a:t>
            </a:r>
            <a:r>
              <a:rPr lang="zh-CN" altLang="en-US" sz="2800" dirty="0"/>
              <a:t> 设</a:t>
            </a:r>
            <a:r>
              <a:rPr lang="en-US" altLang="zh-CN" sz="2800" dirty="0"/>
              <a:t>R.R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，则</a:t>
            </a:r>
            <a:r>
              <a:rPr lang="en-US" altLang="zh-CN" sz="2800" dirty="0"/>
              <a:t>R</a:t>
            </a:r>
            <a:r>
              <a:rPr lang="zh-CN" altLang="en-US" sz="2800" dirty="0"/>
              <a:t>是传递的。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z)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。由复合关系的定义可得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z)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R.R</a:t>
            </a:r>
            <a:r>
              <a:rPr lang="zh-CN" altLang="en-US" sz="2800" dirty="0"/>
              <a:t>，因为</a:t>
            </a:r>
            <a:r>
              <a:rPr lang="en-US" altLang="zh-CN" sz="2800" dirty="0"/>
              <a:t>R.R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，所以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z)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R</a:t>
            </a:r>
            <a:r>
              <a:rPr lang="zh-CN" altLang="en-US" sz="2800" dirty="0"/>
              <a:t>，即</a:t>
            </a:r>
            <a:r>
              <a:rPr lang="en-US" altLang="zh-CN" sz="2800" dirty="0"/>
              <a:t>R</a:t>
            </a:r>
            <a:r>
              <a:rPr lang="zh-CN" altLang="en-US" sz="2800" dirty="0"/>
              <a:t>是传递的。 </a:t>
            </a:r>
            <a:endParaRPr lang="zh-CN" altLang="en-US" sz="2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9456" y="188640"/>
            <a:ext cx="9577064" cy="114300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2.10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是集合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上的二元关系，则</a:t>
            </a:r>
            <a:r>
              <a:rPr lang="en-US" altLang="zh-CN" sz="3200" dirty="0"/>
              <a:t>R</a:t>
            </a:r>
            <a:r>
              <a:rPr lang="zh-CN" altLang="en-US" sz="3200" dirty="0"/>
              <a:t>是传递的当且仅当</a:t>
            </a:r>
            <a:r>
              <a:rPr lang="en-US" altLang="zh-CN" sz="3200" dirty="0"/>
              <a:t>R.R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R 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C716ACE-B5EA-443D-B4B8-7312AA173159}" type="slidenum">
              <a:rPr lang="en-US" altLang="zh-CN"/>
            </a:fld>
            <a:endParaRPr lang="en-US" altLang="zh-CN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27648" y="333430"/>
            <a:ext cx="7559849" cy="1143000"/>
          </a:xfrm>
        </p:spPr>
        <p:txBody>
          <a:bodyPr/>
          <a:lstStyle/>
          <a:p>
            <a:r>
              <a:rPr lang="en-US" altLang="zh-CN" dirty="0"/>
              <a:t>2.4.2</a:t>
            </a:r>
            <a:r>
              <a:rPr lang="zh-CN" altLang="en-US" dirty="0"/>
              <a:t>关系性质的证明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1371600"/>
            <a:ext cx="10657184" cy="41148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在二元关系中，除了对一个具体的关系判断它具有哪些性质外，更多的是针对一个抽象的关系，利用它的特点来证明它具有某个性质。由于关系性质的定义全部都是按</a:t>
            </a:r>
            <a:r>
              <a:rPr lang="zh-CN" altLang="en-US" sz="2400" dirty="0">
                <a:latin typeface="Times New Roman" panose="02020603050405020304" pitchFamily="18" charset="0"/>
              </a:rPr>
              <a:t>“</a:t>
            </a:r>
            <a:r>
              <a:rPr lang="zh-CN" altLang="en-US" sz="2400" dirty="0"/>
              <a:t>如果</a:t>
            </a:r>
            <a:r>
              <a:rPr lang="en-US" altLang="zh-CN" sz="2400" dirty="0">
                <a:latin typeface="Times New Roman" panose="02020603050405020304" pitchFamily="18" charset="0"/>
              </a:rPr>
              <a:t>……</a:t>
            </a:r>
            <a:r>
              <a:rPr lang="zh-CN" altLang="en-US" sz="2400" dirty="0"/>
              <a:t>那么</a:t>
            </a:r>
            <a:r>
              <a:rPr lang="en-US" altLang="zh-CN" sz="2400" dirty="0">
                <a:latin typeface="Times New Roman" panose="02020603050405020304" pitchFamily="18" charset="0"/>
              </a:rPr>
              <a:t>……”</a:t>
            </a:r>
            <a:r>
              <a:rPr lang="zh-CN" altLang="en-US" sz="2400" dirty="0"/>
              <a:t>来描述的，在证明这类问题时，一般采用按照定义证明的方法。这种证明问题的方法在于： 证明时不能仅仅利用题目所给的已知条件，还要同时结合定义中的</a:t>
            </a:r>
            <a:r>
              <a:rPr lang="zh-CN" altLang="en-US" sz="2400" dirty="0">
                <a:latin typeface="Times New Roman" panose="02020603050405020304" pitchFamily="18" charset="0"/>
              </a:rPr>
              <a:t>“</a:t>
            </a:r>
            <a:r>
              <a:rPr lang="zh-CN" altLang="en-US" sz="2400" dirty="0"/>
              <a:t>已知</a:t>
            </a:r>
            <a:r>
              <a:rPr lang="zh-CN" altLang="en-US" sz="2400" dirty="0">
                <a:latin typeface="Times New Roman" panose="02020603050405020304" pitchFamily="18" charset="0"/>
              </a:rPr>
              <a:t>”</a:t>
            </a:r>
            <a:r>
              <a:rPr lang="zh-CN" altLang="en-US" sz="2400" dirty="0"/>
              <a:t>，并且推出的并非整个定义，而是定义中的结论。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另外，由于关系是特殊的集合，当用集合的手段来描述关系的性质时，其证明的方法也是按集合中的按定义证明方法来证。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CABBCF9-2B05-4A18-84FB-57E7CC50F8DE}" type="slidenum">
              <a:rPr lang="en-US" altLang="zh-CN"/>
            </a:fld>
            <a:endParaRPr lang="en-US" altLang="zh-CN"/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51584" y="1409619"/>
            <a:ext cx="7848872" cy="468312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： 对任意</a:t>
            </a:r>
            <a:r>
              <a:rPr lang="en-US" altLang="zh-CN" sz="2400" dirty="0" err="1"/>
              <a:t>x,y∈A</a:t>
            </a:r>
            <a:r>
              <a:rPr lang="zh-CN" altLang="en-US" sz="2400" dirty="0"/>
              <a:t>，则若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 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∩R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 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∩R</a:t>
            </a:r>
            <a:r>
              <a:rPr lang="en-US" altLang="zh-CN" sz="2400" baseline="-25000" dirty="0"/>
              <a:t>2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((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)</a:t>
            </a:r>
            <a:r>
              <a:rPr lang="zh-CN" altLang="en-US" sz="2400" dirty="0"/>
              <a:t>且</a:t>
            </a:r>
            <a:r>
              <a:rPr lang="en-US" altLang="zh-CN" sz="2400" dirty="0"/>
              <a:t>((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又因为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具有传递性，因此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((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)</a:t>
            </a:r>
            <a:r>
              <a:rPr lang="zh-CN" altLang="en-US" sz="2400" dirty="0"/>
              <a:t>且</a:t>
            </a:r>
            <a:r>
              <a:rPr lang="en-US" altLang="zh-CN" sz="2400" dirty="0"/>
              <a:t>((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x,z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/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x,z</a:t>
            </a:r>
            <a:r>
              <a:rPr lang="en-US" altLang="zh-CN" sz="2400" dirty="0"/>
              <a:t>)∈R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x,z</a:t>
            </a:r>
            <a:r>
              <a:rPr lang="en-US" altLang="zh-CN" sz="2400" dirty="0"/>
              <a:t>)∈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∩R</a:t>
            </a:r>
            <a:r>
              <a:rPr lang="en-US" altLang="zh-CN" sz="2400" baseline="-25000" dirty="0"/>
              <a:t>2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根据定义， </a:t>
            </a: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∩R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具有传递性。</a:t>
            </a:r>
            <a:endParaRPr lang="zh-CN" altLang="en-US" sz="24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59496" y="260350"/>
            <a:ext cx="8152829" cy="114300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2.30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是定义在集合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上的两个关系，并且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具有传递性，则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∩R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也具有传递性。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A87DFCB9-0D01-4C43-B16C-AEF550283D9E}" type="slidenum">
              <a:rPr lang="en-US" altLang="zh-CN"/>
            </a:fld>
            <a:endParaRPr lang="en-US" altLang="zh-CN"/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91544" y="260648"/>
            <a:ext cx="5303912" cy="1143000"/>
          </a:xfrm>
        </p:spPr>
        <p:txBody>
          <a:bodyPr/>
          <a:lstStyle/>
          <a:p>
            <a:r>
              <a:rPr lang="zh-CN" altLang="en-US" dirty="0"/>
              <a:t>关系性质与集合运算</a:t>
            </a:r>
            <a:endParaRPr lang="zh-CN" altLang="en-US" dirty="0"/>
          </a:p>
        </p:txBody>
      </p:sp>
      <p:graphicFrame>
        <p:nvGraphicFramePr>
          <p:cNvPr id="122660" name="Group 804"/>
          <p:cNvGraphicFramePr>
            <a:graphicFrameLocks noGrp="1"/>
          </p:cNvGraphicFramePr>
          <p:nvPr/>
        </p:nvGraphicFramePr>
        <p:xfrm>
          <a:off x="1943100" y="1058067"/>
          <a:ext cx="8305800" cy="4741865"/>
        </p:xfrm>
        <a:graphic>
          <a:graphicData uri="http://schemas.openxmlformats.org/drawingml/2006/table">
            <a:tbl>
              <a:tblPr/>
              <a:tblGrid>
                <a:gridCol w="1600200"/>
                <a:gridCol w="1295400"/>
                <a:gridCol w="1524000"/>
                <a:gridCol w="1219200"/>
                <a:gridCol w="1447800"/>
                <a:gridCol w="1219200"/>
              </a:tblGrid>
              <a:tr h="67786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运算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性质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77863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自反性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反自反性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对称性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反对称性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传递性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∪S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R∩S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R-S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R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•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ahoma" panose="020B0604030504040204" pitchFamily="34" charset="0"/>
                        </a:rPr>
                        <a:t>√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AB36C3B-9891-4370-AF6E-03193BEC8D3D}" type="slidenum">
              <a:rPr lang="en-US" altLang="zh-CN"/>
            </a:fld>
            <a:endParaRPr lang="en-US" altLang="zh-CN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59696" y="332656"/>
            <a:ext cx="3863752" cy="1143000"/>
          </a:xfrm>
        </p:spPr>
        <p:txBody>
          <a:bodyPr/>
          <a:lstStyle/>
          <a:p>
            <a:r>
              <a:rPr lang="en-US" altLang="zh-CN" dirty="0"/>
              <a:t>2.5</a:t>
            </a:r>
            <a:r>
              <a:rPr lang="zh-CN" altLang="en-US" dirty="0"/>
              <a:t>关系的闭包</a:t>
            </a:r>
            <a:endParaRPr lang="zh-CN" alt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11624" y="1124744"/>
            <a:ext cx="7992566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0000FF"/>
                </a:solidFill>
              </a:rPr>
              <a:t>自反闭包</a:t>
            </a:r>
            <a:endParaRPr lang="en-US" altLang="zh-CN" sz="4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0000FF"/>
                </a:solidFill>
              </a:rPr>
              <a:t>对称闭包</a:t>
            </a:r>
            <a:endParaRPr lang="en-US" altLang="zh-CN" sz="4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0000FF"/>
                </a:solidFill>
              </a:rPr>
              <a:t>传递闭包</a:t>
            </a:r>
            <a:endParaRPr lang="zh-CN" altLang="en-US" sz="4000" b="1" dirty="0"/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46553CB-81EE-47D0-8B9C-95C823F74762}" type="slidenum">
              <a:rPr lang="en-US" altLang="zh-CN"/>
            </a:fld>
            <a:endParaRPr lang="en-US" altLang="zh-CN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59496" y="908721"/>
            <a:ext cx="9512994" cy="468052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2.17</a:t>
            </a:r>
            <a:r>
              <a:rPr lang="zh-CN" altLang="zh-CN" sz="2800" dirty="0"/>
              <a:t>设R是非空集合A上的关系，R的</a:t>
            </a:r>
            <a:r>
              <a:rPr lang="zh-CN" altLang="zh-CN" sz="2800" dirty="0">
                <a:solidFill>
                  <a:srgbClr val="0000FF"/>
                </a:solidFill>
              </a:rPr>
              <a:t>自反</a:t>
            </a:r>
            <a:r>
              <a:rPr lang="zh-CN" altLang="zh-CN" sz="2800" dirty="0"/>
              <a:t>（</a:t>
            </a:r>
            <a:r>
              <a:rPr lang="zh-CN" altLang="zh-CN" sz="2800" dirty="0">
                <a:solidFill>
                  <a:srgbClr val="0000FF"/>
                </a:solidFill>
              </a:rPr>
              <a:t>对称</a:t>
            </a:r>
            <a:r>
              <a:rPr lang="zh-CN" altLang="zh-CN" sz="2800" dirty="0"/>
              <a:t>或</a:t>
            </a:r>
            <a:r>
              <a:rPr lang="zh-CN" altLang="zh-CN" sz="2800" dirty="0">
                <a:solidFill>
                  <a:srgbClr val="0000FF"/>
                </a:solidFill>
              </a:rPr>
              <a:t>传递</a:t>
            </a:r>
            <a:r>
              <a:rPr lang="zh-CN" altLang="zh-CN" sz="2800" dirty="0"/>
              <a:t>）闭包是A上的关系R</a:t>
            </a:r>
            <a:r>
              <a:rPr lang="zh-CN" altLang="zh-CN" sz="2800" baseline="30000" dirty="0"/>
              <a:t>c</a:t>
            </a:r>
            <a:r>
              <a:rPr lang="zh-CN" altLang="zh-CN" sz="2800" dirty="0"/>
              <a:t>，使得R</a:t>
            </a:r>
            <a:r>
              <a:rPr lang="zh-CN" altLang="zh-CN" sz="2800" baseline="30000" dirty="0"/>
              <a:t>c</a:t>
            </a:r>
            <a:r>
              <a:rPr lang="zh-CN" altLang="zh-CN" sz="2800" dirty="0"/>
              <a:t>满足以下条件： </a:t>
            </a:r>
            <a:endParaRPr lang="zh-CN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</a:t>
            </a:r>
            <a:r>
              <a:rPr lang="zh-CN" altLang="zh-CN" sz="2800" dirty="0"/>
              <a:t>1</a:t>
            </a:r>
            <a:r>
              <a:rPr lang="en-US" altLang="zh-CN" sz="2800" dirty="0"/>
              <a:t>)</a:t>
            </a:r>
            <a:r>
              <a:rPr lang="zh-CN" altLang="zh-CN" sz="2800" dirty="0"/>
              <a:t> R</a:t>
            </a:r>
            <a:r>
              <a:rPr lang="zh-CN" altLang="zh-CN" sz="2800" baseline="30000" dirty="0"/>
              <a:t>c</a:t>
            </a:r>
            <a:r>
              <a:rPr lang="zh-CN" altLang="zh-CN" sz="2800" dirty="0"/>
              <a:t>是</a:t>
            </a:r>
            <a:r>
              <a:rPr lang="zh-CN" altLang="zh-CN" sz="2800" dirty="0">
                <a:solidFill>
                  <a:srgbClr val="0000FF"/>
                </a:solidFill>
              </a:rPr>
              <a:t>自反</a:t>
            </a:r>
            <a:r>
              <a:rPr lang="zh-CN" altLang="zh-CN" sz="2800" dirty="0"/>
              <a:t>的（</a:t>
            </a:r>
            <a:r>
              <a:rPr lang="zh-CN" altLang="zh-CN" sz="2800" dirty="0">
                <a:solidFill>
                  <a:srgbClr val="0000FF"/>
                </a:solidFill>
              </a:rPr>
              <a:t>对称</a:t>
            </a:r>
            <a:r>
              <a:rPr lang="zh-CN" altLang="zh-CN" sz="2800" dirty="0"/>
              <a:t>的或</a:t>
            </a:r>
            <a:r>
              <a:rPr lang="zh-CN" altLang="zh-CN" sz="2800" dirty="0">
                <a:solidFill>
                  <a:srgbClr val="0000FF"/>
                </a:solidFill>
              </a:rPr>
              <a:t>传递</a:t>
            </a:r>
            <a:r>
              <a:rPr lang="zh-CN" altLang="zh-CN" sz="2800" dirty="0"/>
              <a:t>的）； </a:t>
            </a:r>
            <a:endParaRPr lang="zh-CN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</a:t>
            </a:r>
            <a:r>
              <a:rPr lang="zh-CN" altLang="zh-CN" sz="2800" dirty="0"/>
              <a:t>2</a:t>
            </a:r>
            <a:r>
              <a:rPr lang="en-US" altLang="zh-CN" sz="2800" dirty="0"/>
              <a:t>)</a:t>
            </a:r>
            <a:r>
              <a:rPr lang="zh-CN" altLang="zh-CN" sz="2800" dirty="0"/>
              <a:t> R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zh-CN" altLang="zh-CN" sz="2800" dirty="0"/>
              <a:t> R</a:t>
            </a:r>
            <a:r>
              <a:rPr lang="zh-CN" altLang="zh-CN" sz="2800" baseline="30000" dirty="0"/>
              <a:t>c</a:t>
            </a:r>
            <a:r>
              <a:rPr lang="zh-CN" altLang="zh-CN" sz="2800" dirty="0"/>
              <a:t>； </a:t>
            </a:r>
            <a:endParaRPr lang="zh-CN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</a:t>
            </a:r>
            <a:r>
              <a:rPr lang="zh-CN" altLang="zh-CN" sz="2800" dirty="0"/>
              <a:t>3</a:t>
            </a:r>
            <a:r>
              <a:rPr lang="en-US" altLang="zh-CN" sz="2800" dirty="0"/>
              <a:t>)</a:t>
            </a:r>
            <a:r>
              <a:rPr lang="zh-CN" altLang="zh-CN" sz="2800" dirty="0"/>
              <a:t> 对A上任何包含R的自反（对称或传递）关系R</a:t>
            </a:r>
            <a:r>
              <a:rPr lang="zh-CN" altLang="zh-CN" sz="2800" baseline="30000" dirty="0"/>
              <a:t>p</a:t>
            </a:r>
            <a:r>
              <a:rPr lang="zh-CN" altLang="zh-CN" sz="2800" dirty="0"/>
              <a:t>有R</a:t>
            </a:r>
            <a:r>
              <a:rPr lang="zh-CN" altLang="zh-CN" sz="2800" baseline="30000" dirty="0"/>
              <a:t>c</a:t>
            </a:r>
            <a:r>
              <a:rPr lang="zh-CN" altLang="zh-CN" sz="2800" dirty="0"/>
              <a:t>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zh-CN" altLang="zh-CN" sz="2800" dirty="0"/>
              <a:t> R</a:t>
            </a:r>
            <a:r>
              <a:rPr lang="zh-CN" altLang="zh-CN" sz="2800" baseline="30000" dirty="0"/>
              <a:t>p</a:t>
            </a:r>
            <a:r>
              <a:rPr lang="zh-CN" altLang="zh-CN" sz="2800" dirty="0"/>
              <a:t>。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一般将</a:t>
            </a:r>
            <a:r>
              <a:rPr lang="en-US" altLang="zh-CN" sz="2800" dirty="0"/>
              <a:t>R</a:t>
            </a:r>
            <a:r>
              <a:rPr lang="zh-CN" altLang="en-US" sz="2800" dirty="0"/>
              <a:t>的自反闭包记作</a:t>
            </a:r>
            <a:r>
              <a:rPr lang="en-US" altLang="zh-CN" sz="2800" dirty="0"/>
              <a:t>r(R)</a:t>
            </a:r>
            <a:r>
              <a:rPr lang="zh-CN" altLang="en-US" sz="2800" dirty="0"/>
              <a:t>，对称闭包记作</a:t>
            </a:r>
            <a:r>
              <a:rPr lang="en-US" altLang="zh-CN" sz="2800" dirty="0"/>
              <a:t>s(R)</a:t>
            </a:r>
            <a:r>
              <a:rPr lang="zh-CN" altLang="en-US" sz="2800" dirty="0"/>
              <a:t>，传递闭包记作</a:t>
            </a:r>
            <a:r>
              <a:rPr lang="en-US" altLang="zh-CN" sz="2800" dirty="0"/>
              <a:t>t(R)</a:t>
            </a:r>
            <a:r>
              <a:rPr lang="zh-CN" altLang="en-US" sz="2800" dirty="0"/>
              <a:t>。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0EDF2020-9EAF-453B-AA7C-8527AE94F19B}" type="slidenum">
              <a:rPr lang="en-US" altLang="zh-CN"/>
            </a:fld>
            <a:endParaRPr lang="en-US" altLang="zh-CN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560" y="980728"/>
            <a:ext cx="8584629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</a:rPr>
              <a:t>2.11</a:t>
            </a:r>
            <a:r>
              <a:rPr lang="en-US" altLang="zh-CN" sz="3200" dirty="0"/>
              <a:t>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为定义在非空集合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上的二元关系，则有</a:t>
            </a:r>
            <a:endParaRPr lang="zh-CN" alt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</a:t>
            </a:r>
            <a:r>
              <a:rPr lang="en-US" altLang="zh-CN" sz="3200" dirty="0"/>
              <a:t>r</a:t>
            </a:r>
            <a:r>
              <a:rPr lang="zh-CN" altLang="en-US" sz="3200" dirty="0"/>
              <a:t>（</a:t>
            </a:r>
            <a:r>
              <a:rPr lang="en-US" altLang="zh-CN" sz="3200" dirty="0"/>
              <a:t>R</a:t>
            </a:r>
            <a:r>
              <a:rPr lang="zh-CN" altLang="en-US" sz="3200" dirty="0"/>
              <a:t>）</a:t>
            </a:r>
            <a:r>
              <a:rPr lang="en-US" altLang="zh-CN" sz="3200" dirty="0"/>
              <a:t>= R∪I</a:t>
            </a:r>
            <a:r>
              <a:rPr lang="en-US" altLang="zh-CN" sz="3200" baseline="-25000" dirty="0"/>
              <a:t>A</a:t>
            </a:r>
            <a:endParaRPr lang="en-US" altLang="zh-CN" sz="3200" baseline="-25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</a:t>
            </a:r>
            <a:r>
              <a:rPr lang="en-US" altLang="zh-CN" sz="3200" dirty="0"/>
              <a:t>s</a:t>
            </a:r>
            <a:r>
              <a:rPr lang="zh-CN" altLang="en-US" sz="3200" dirty="0"/>
              <a:t>（</a:t>
            </a:r>
            <a:r>
              <a:rPr lang="en-US" altLang="zh-CN" sz="3200" dirty="0"/>
              <a:t>R</a:t>
            </a:r>
            <a:r>
              <a:rPr lang="zh-CN" altLang="en-US" sz="3200" dirty="0"/>
              <a:t>）</a:t>
            </a:r>
            <a:r>
              <a:rPr lang="en-US" altLang="zh-CN" sz="3200" dirty="0"/>
              <a:t>= R∪R</a:t>
            </a:r>
            <a:r>
              <a:rPr lang="en-US" altLang="zh-CN" sz="3200" baseline="30000" dirty="0"/>
              <a:t>-1</a:t>
            </a:r>
            <a:endParaRPr lang="en-US" altLang="zh-CN" sz="3200" baseline="30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（</a:t>
            </a:r>
            <a:r>
              <a:rPr lang="en-US" altLang="zh-CN" sz="3200" dirty="0"/>
              <a:t>3</a:t>
            </a:r>
            <a:r>
              <a:rPr lang="zh-CN" altLang="en-US" sz="3200" dirty="0"/>
              <a:t>）</a:t>
            </a:r>
            <a:r>
              <a:rPr lang="en-US" altLang="zh-CN" sz="3200" dirty="0"/>
              <a:t>t</a:t>
            </a:r>
            <a:r>
              <a:rPr lang="zh-CN" altLang="en-US" sz="3200" dirty="0"/>
              <a:t>（</a:t>
            </a:r>
            <a:r>
              <a:rPr lang="en-US" altLang="zh-CN" sz="3200" dirty="0"/>
              <a:t>R</a:t>
            </a:r>
            <a:r>
              <a:rPr lang="zh-CN" altLang="en-US" sz="3200" dirty="0"/>
              <a:t>）</a:t>
            </a:r>
            <a:r>
              <a:rPr lang="en-US" altLang="zh-CN" sz="3200" dirty="0"/>
              <a:t>= R∪R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∪R</a:t>
            </a:r>
            <a:r>
              <a:rPr lang="en-US" altLang="zh-CN" sz="3200" baseline="30000" dirty="0"/>
              <a:t>3</a:t>
            </a:r>
            <a:r>
              <a:rPr lang="en-US" altLang="zh-CN" sz="3200" dirty="0"/>
              <a:t>∪</a:t>
            </a:r>
            <a:r>
              <a:rPr lang="en-US" altLang="zh-CN" sz="3200" dirty="0">
                <a:latin typeface="Times New Roman" panose="02020603050405020304" pitchFamily="18" charset="0"/>
              </a:rPr>
              <a:t>…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CA0842D-D730-4D33-831D-F55B3E9A7A63}" type="slidenum">
              <a:rPr lang="en-US" altLang="zh-CN"/>
            </a:fld>
            <a:endParaRPr lang="en-US" altLang="zh-CN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692696"/>
            <a:ext cx="10562028" cy="525621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 令</a:t>
            </a:r>
            <a:r>
              <a:rPr lang="en-US" altLang="zh-CN" sz="2800" dirty="0"/>
              <a:t>R′=R∪I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，则有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① 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R∪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，而</a:t>
            </a:r>
            <a:r>
              <a:rPr lang="en-US" altLang="zh-CN" sz="2800" dirty="0"/>
              <a:t>R∪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=R′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R′</a:t>
            </a:r>
            <a:r>
              <a:rPr lang="zh-CN" altLang="en-US" sz="2800" dirty="0"/>
              <a:t>是自反的。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②  </a:t>
            </a:r>
            <a:r>
              <a:rPr lang="en-US" altLang="zh-CN" sz="2800" dirty="0"/>
              <a:t>R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R∪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，而</a:t>
            </a:r>
            <a:r>
              <a:rPr lang="en-US" altLang="zh-CN" sz="2800" dirty="0"/>
              <a:t>R∪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=R′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R′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③  假设</a:t>
            </a:r>
            <a:r>
              <a:rPr lang="en-US" altLang="zh-CN" sz="2800" dirty="0"/>
              <a:t>R″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上的任意自反关系并且</a:t>
            </a:r>
            <a:r>
              <a:rPr lang="en-US" altLang="zh-CN" sz="2800" dirty="0"/>
              <a:t>R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R″</a:t>
            </a:r>
            <a:r>
              <a:rPr lang="zh-CN" altLang="en-US" sz="2800" dirty="0"/>
              <a:t>，因为</a:t>
            </a:r>
            <a:r>
              <a:rPr lang="en-US" altLang="zh-CN" sz="2800" dirty="0"/>
              <a:t>R″</a:t>
            </a:r>
            <a:r>
              <a:rPr lang="zh-CN" altLang="en-US" sz="2800" dirty="0"/>
              <a:t>是自反的，所以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R″</a:t>
            </a:r>
            <a:r>
              <a:rPr lang="zh-CN" altLang="en-US" sz="2800" dirty="0"/>
              <a:t>，因此有</a:t>
            </a:r>
            <a:r>
              <a:rPr lang="en-US" altLang="zh-CN" sz="2800" dirty="0"/>
              <a:t>R′=R∪I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R″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由自反闭包的定义，</a:t>
            </a:r>
            <a:r>
              <a:rPr lang="en-US" altLang="zh-CN" sz="2800" dirty="0"/>
              <a:t>R′=R∪ I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是</a:t>
            </a:r>
            <a:r>
              <a:rPr lang="en-US" altLang="zh-CN" sz="2800" dirty="0"/>
              <a:t>R</a:t>
            </a:r>
            <a:r>
              <a:rPr lang="zh-CN" altLang="en-US" sz="2800" dirty="0"/>
              <a:t>的自反闭包，即</a:t>
            </a:r>
            <a:r>
              <a:rPr lang="en-US" altLang="zh-CN" sz="2800" dirty="0"/>
              <a:t>r(R)=R′=R∪ I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。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AED68D7-5310-48C6-B7E4-86D9A62C36F0}" type="slidenum">
              <a:rPr lang="en-US" altLang="zh-CN"/>
            </a:fld>
            <a:endParaRPr lang="en-US" altLang="zh-CN"/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36650" y="1268413"/>
            <a:ext cx="11055350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）令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 R∪R</a:t>
            </a:r>
            <a:r>
              <a:rPr lang="en-US" altLang="zh-CN" sz="2800" baseline="30000" dirty="0"/>
              <a:t>-1</a:t>
            </a:r>
            <a:endParaRPr lang="en-US" altLang="zh-CN" sz="2800" baseline="30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①</a:t>
            </a:r>
            <a:r>
              <a:rPr lang="en-US" altLang="zh-CN" sz="2800" dirty="0"/>
              <a:t>(R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) 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=(R∪R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∪(R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) 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∪R= R∪R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,</a:t>
            </a:r>
            <a:r>
              <a:rPr lang="zh-CN" altLang="en-US" sz="2800" dirty="0"/>
              <a:t>因此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是对称的。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②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R∪R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，而</a:t>
            </a:r>
            <a:r>
              <a:rPr lang="en-US" altLang="zh-CN" sz="2800" dirty="0"/>
              <a:t>R∪R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③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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上的任意对称关系并且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</a:t>
            </a:r>
            <a:r>
              <a:rPr lang="zh-CN" altLang="en-US" sz="2800" dirty="0"/>
              <a:t>，又</a:t>
            </a:r>
            <a:r>
              <a:rPr lang="en-US" altLang="zh-CN" sz="2800" dirty="0"/>
              <a:t>(x</a:t>
            </a:r>
            <a:r>
              <a:rPr lang="zh-CN" altLang="en-US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(y</a:t>
            </a:r>
            <a:r>
              <a:rPr lang="zh-CN" altLang="en-US" sz="2800" dirty="0"/>
              <a:t>，</a:t>
            </a:r>
            <a:r>
              <a:rPr lang="en-US" altLang="zh-CN" sz="2800" dirty="0"/>
              <a:t>x)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</a:t>
            </a:r>
            <a:r>
              <a:rPr lang="zh-CN" altLang="en-US" sz="2800" dirty="0"/>
              <a:t>，从而有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 R∪R</a:t>
            </a:r>
            <a:r>
              <a:rPr lang="en-US" altLang="zh-CN" sz="2800" baseline="30000" dirty="0"/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R</a:t>
            </a:r>
            <a:r>
              <a:rPr lang="en-US" altLang="zh-CN" sz="2800" dirty="0">
                <a:sym typeface="Symbol" panose="05050102010706020507" pitchFamily="18" charset="2"/>
              </a:rPr>
              <a:t>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因此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是</a:t>
            </a:r>
            <a:r>
              <a:rPr lang="en-US" altLang="zh-CN" sz="2800" dirty="0"/>
              <a:t>R</a:t>
            </a:r>
            <a:r>
              <a:rPr lang="zh-CN" altLang="en-US" sz="2800" dirty="0"/>
              <a:t>的对称闭包，即</a:t>
            </a:r>
            <a:r>
              <a:rPr lang="en-US" altLang="zh-CN" sz="2800" dirty="0"/>
              <a:t>s(R)= R∪R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332656"/>
            <a:ext cx="10296525" cy="55451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）分两部分来证所要的结论。先证</a:t>
            </a:r>
            <a:r>
              <a:rPr lang="en-US" altLang="zh-CN" sz="2400" dirty="0"/>
              <a:t>R∪R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∪R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∪</a:t>
            </a:r>
            <a:r>
              <a:rPr lang="en-US" altLang="zh-CN" sz="2400" dirty="0">
                <a:latin typeface="Times New Roman" panose="02020603050405020304" pitchFamily="18" charset="0"/>
              </a:rPr>
              <a:t>…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用数学归纳法来证，对任意自然数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，有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①当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</a:t>
            </a:r>
            <a:r>
              <a:rPr lang="zh-CN" altLang="en-US" sz="2400" dirty="0"/>
              <a:t>时，由传递闭包的定义，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=R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）。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②假设当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=n</a:t>
            </a:r>
            <a:r>
              <a:rPr lang="zh-CN" altLang="en-US" sz="2400" dirty="0"/>
              <a:t>时，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）</a:t>
            </a:r>
            <a:r>
              <a:rPr lang="en-US" altLang="zh-CN" sz="2400" dirty="0"/>
              <a:t>,</a:t>
            </a:r>
            <a:r>
              <a:rPr lang="zh-CN" altLang="en-US" sz="2400" dirty="0"/>
              <a:t>下证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n+1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）。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对任意的(x,y)∈R</a:t>
            </a:r>
            <a:r>
              <a:rPr lang="zh-CN" altLang="zh-CN" sz="2400" baseline="30000" dirty="0"/>
              <a:t>n+1</a:t>
            </a:r>
            <a:r>
              <a:rPr lang="zh-CN" altLang="zh-CN" sz="2400" dirty="0"/>
              <a:t>，存在c∈A，使得(x,c)∈R</a:t>
            </a:r>
            <a:r>
              <a:rPr lang="zh-CN" altLang="zh-CN" sz="2400" baseline="30000" dirty="0"/>
              <a:t>n</a:t>
            </a:r>
            <a:r>
              <a:rPr lang="zh-CN" altLang="zh-CN" sz="2400" dirty="0"/>
              <a:t>且(c,y)∈R，即存在c∈A，使得(x,c)∈t(R)且(c,y)∈t(R)，则(x,y)∈t(R)。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即R</a:t>
            </a:r>
            <a:r>
              <a:rPr lang="zh-CN" altLang="zh-CN" sz="2400" baseline="30000" dirty="0"/>
              <a:t>n+1</a:t>
            </a:r>
            <a:r>
              <a:rPr lang="zh-CN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t(R)，因此，R∪R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t(R)。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19536" y="188641"/>
            <a:ext cx="9145016" cy="57606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再证明t(R)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 。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显然，有R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成立，下证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是传递的。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(x,y)∈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 </a:t>
            </a:r>
            <a:r>
              <a:rPr lang="zh-CN" altLang="zh-CN" sz="2400" dirty="0"/>
              <a:t>t(R)且(y,z)∈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 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>
                <a:sym typeface="Symbol" panose="05050102010706020507" pitchFamily="18" charset="2"/>
              </a:rPr>
              <a:t></a:t>
            </a:r>
            <a:r>
              <a:rPr lang="zh-CN" altLang="zh-CN" sz="2400" dirty="0"/>
              <a:t>t∈A，使得(x,y)∈R</a:t>
            </a:r>
            <a:r>
              <a:rPr lang="zh-CN" altLang="zh-CN" sz="2400" baseline="30000" dirty="0"/>
              <a:t>t</a:t>
            </a:r>
            <a:r>
              <a:rPr lang="zh-CN" altLang="zh-CN" sz="2400" dirty="0"/>
              <a:t>且</a:t>
            </a:r>
            <a:r>
              <a:rPr lang="zh-CN" altLang="zh-CN" sz="2400" dirty="0">
                <a:sym typeface="Symbol" panose="05050102010706020507" pitchFamily="18" charset="2"/>
              </a:rPr>
              <a:t></a:t>
            </a:r>
            <a:r>
              <a:rPr lang="zh-CN" altLang="zh-CN" sz="2400" dirty="0"/>
              <a:t>s∈A，使得(y,z)∈R</a:t>
            </a:r>
            <a:r>
              <a:rPr lang="zh-CN" altLang="zh-CN" sz="2400" baseline="30000" dirty="0"/>
              <a:t>s</a:t>
            </a:r>
            <a:endParaRPr lang="zh-CN" altLang="zh-CN" sz="2400" baseline="30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>
                <a:sym typeface="Symbol" panose="05050102010706020507" pitchFamily="18" charset="2"/>
              </a:rPr>
              <a:t></a:t>
            </a:r>
            <a:r>
              <a:rPr lang="zh-CN" altLang="zh-CN" sz="2400" dirty="0"/>
              <a:t>(x,z)∈R</a:t>
            </a:r>
            <a:r>
              <a:rPr lang="zh-CN" altLang="zh-CN" sz="2400" baseline="30000" dirty="0"/>
              <a:t>t</a:t>
            </a:r>
            <a:r>
              <a:rPr lang="zh-CN" altLang="zh-CN" sz="2400" dirty="0">
                <a:latin typeface="Times New Roman" panose="02020603050405020304" pitchFamily="18" charset="0"/>
              </a:rPr>
              <a:t>·</a:t>
            </a:r>
            <a:r>
              <a:rPr lang="zh-CN" altLang="zh-CN" sz="2400" dirty="0"/>
              <a:t>R</a:t>
            </a:r>
            <a:r>
              <a:rPr lang="zh-CN" altLang="zh-CN" sz="2400" baseline="30000" dirty="0"/>
              <a:t>s</a:t>
            </a:r>
            <a:r>
              <a:rPr lang="zh-CN" altLang="zh-CN" sz="2400" dirty="0"/>
              <a:t>=R</a:t>
            </a:r>
            <a:r>
              <a:rPr lang="zh-CN" altLang="zh-CN" sz="2400" baseline="30000" dirty="0"/>
              <a:t>t+s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>
                <a:sym typeface="Symbol" panose="05050102010706020507" pitchFamily="18" charset="2"/>
              </a:rPr>
              <a:t></a:t>
            </a:r>
            <a:r>
              <a:rPr lang="zh-CN" altLang="zh-CN" sz="2400" dirty="0"/>
              <a:t> (x,z)∈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由传递关系的定义，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是传递的。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综上所述，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是包含R的传递关系。而R的传递闭包是包含R的最小传递关系，因此t(R)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zh-CN" altLang="zh-CN" sz="2400" dirty="0"/>
              <a:t>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 。</a:t>
            </a:r>
            <a:endParaRPr lang="zh-CN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即t(R)= R∪R</a:t>
            </a:r>
            <a:r>
              <a:rPr lang="zh-CN" altLang="zh-CN" sz="2400" baseline="30000" dirty="0"/>
              <a:t>2</a:t>
            </a:r>
            <a:r>
              <a:rPr lang="zh-CN" altLang="zh-CN" sz="2400" dirty="0"/>
              <a:t>∪R</a:t>
            </a:r>
            <a:r>
              <a:rPr lang="zh-CN" altLang="zh-CN" sz="2400" baseline="30000" dirty="0"/>
              <a:t>3</a:t>
            </a:r>
            <a:r>
              <a:rPr lang="zh-CN" altLang="zh-CN" sz="2400" dirty="0"/>
              <a:t>∪</a:t>
            </a:r>
            <a:r>
              <a:rPr lang="zh-CN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zh-CN" sz="2400" dirty="0"/>
              <a:t>成立。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207D41B-5DA8-4012-9EC6-6531C0E9BA26}" type="slidenum">
              <a:rPr lang="en-US" altLang="zh-CN"/>
            </a:fld>
            <a:endParaRPr lang="en-US" altLang="zh-CN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39913" y="1700213"/>
            <a:ext cx="10352087" cy="38592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00FF"/>
                </a:solidFill>
              </a:rPr>
              <a:t>推论</a:t>
            </a:r>
            <a:r>
              <a:rPr lang="zh-CN" altLang="en-US" sz="3600" b="1" dirty="0"/>
              <a:t> </a:t>
            </a:r>
            <a:r>
              <a:rPr lang="zh-CN" altLang="en-US" sz="3600" dirty="0"/>
              <a:t>设</a:t>
            </a:r>
            <a:r>
              <a:rPr lang="en-US" altLang="zh-CN" sz="3600" dirty="0"/>
              <a:t>R</a:t>
            </a:r>
            <a:r>
              <a:rPr lang="zh-CN" altLang="en-US" sz="3600" dirty="0"/>
              <a:t>是有限集合</a:t>
            </a:r>
            <a:r>
              <a:rPr lang="en-US" altLang="zh-CN" sz="3600" dirty="0"/>
              <a:t>A</a:t>
            </a:r>
            <a:r>
              <a:rPr lang="zh-CN" altLang="en-US" sz="3600" dirty="0"/>
              <a:t>上的关系，</a:t>
            </a:r>
            <a:r>
              <a:rPr lang="en-US" altLang="zh-CN" sz="3600" dirty="0"/>
              <a:t>|A|=n</a:t>
            </a:r>
            <a:r>
              <a:rPr lang="zh-CN" altLang="en-US" sz="3600" dirty="0"/>
              <a:t>，此时</a:t>
            </a:r>
            <a:endParaRPr lang="en-US" altLang="zh-CN" sz="3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t</a:t>
            </a:r>
            <a:r>
              <a:rPr lang="zh-CN" altLang="en-US" sz="3600" dirty="0"/>
              <a:t>（</a:t>
            </a:r>
            <a:r>
              <a:rPr lang="en-US" altLang="zh-CN" sz="3600" dirty="0"/>
              <a:t>R</a:t>
            </a:r>
            <a:r>
              <a:rPr lang="zh-CN" altLang="en-US" sz="3600" dirty="0"/>
              <a:t>）</a:t>
            </a:r>
            <a:r>
              <a:rPr lang="en-US" altLang="zh-CN" sz="3600" dirty="0"/>
              <a:t>=R∪R</a:t>
            </a:r>
            <a:r>
              <a:rPr lang="en-US" altLang="zh-CN" sz="3600" baseline="30000" dirty="0"/>
              <a:t>2</a:t>
            </a:r>
            <a:r>
              <a:rPr lang="en-US" altLang="zh-CN" sz="3600" dirty="0"/>
              <a:t>∪R</a:t>
            </a:r>
            <a:r>
              <a:rPr lang="en-US" altLang="zh-CN" sz="3600" baseline="30000" dirty="0"/>
              <a:t>3</a:t>
            </a:r>
            <a:r>
              <a:rPr lang="en-US" altLang="zh-CN" sz="3600" dirty="0"/>
              <a:t>∪</a:t>
            </a:r>
            <a:r>
              <a:rPr lang="en-US" altLang="zh-CN" sz="3600" dirty="0">
                <a:latin typeface="Times New Roman" panose="02020603050405020304" pitchFamily="18" charset="0"/>
              </a:rPr>
              <a:t>…</a:t>
            </a:r>
            <a:r>
              <a:rPr lang="en-US" altLang="zh-CN" sz="3600" dirty="0"/>
              <a:t>R</a:t>
            </a:r>
            <a:r>
              <a:rPr lang="en-US" altLang="zh-CN" sz="3600" baseline="30000" dirty="0"/>
              <a:t>n</a:t>
            </a:r>
            <a:r>
              <a:rPr lang="zh-CN" altLang="en-US" sz="3600" dirty="0"/>
              <a:t>。 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88ABB0A-34A4-456C-82F1-65EF1B39E1E7}" type="slidenum">
              <a:rPr lang="en-US" altLang="zh-CN"/>
            </a:fld>
            <a:endParaRPr lang="en-US" altLang="zh-CN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59496" y="404664"/>
            <a:ext cx="9521502" cy="129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2.32</a:t>
            </a:r>
            <a:r>
              <a:rPr lang="zh-CN" altLang="en-US" dirty="0"/>
              <a:t>设集合</a:t>
            </a:r>
            <a:r>
              <a:rPr lang="en-US" altLang="zh-CN" dirty="0"/>
              <a:t>A={a, b, c}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上的二元关系，且</a:t>
            </a:r>
            <a:r>
              <a:rPr lang="en-US" altLang="zh-CN" dirty="0"/>
              <a:t>R={(a, b), (b, c), (c, a)}</a:t>
            </a:r>
            <a:r>
              <a:rPr lang="zh-CN" altLang="en-US" dirty="0"/>
              <a:t>，求出关系</a:t>
            </a:r>
            <a:r>
              <a:rPr lang="en-US" altLang="zh-CN" dirty="0"/>
              <a:t>R</a:t>
            </a:r>
            <a:r>
              <a:rPr lang="zh-CN" altLang="en-US" dirty="0"/>
              <a:t>的自反、对称和传递闭包。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03512" y="1556792"/>
            <a:ext cx="8559800" cy="433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pt-BR" sz="2000" b="1" dirty="0"/>
              <a:t>解</a:t>
            </a:r>
            <a:r>
              <a:rPr lang="zh-CN" altLang="pt-BR" sz="2000" dirty="0"/>
              <a:t>：</a:t>
            </a:r>
            <a:r>
              <a:rPr lang="zh-CN" altLang="en-US" sz="2000" dirty="0"/>
              <a:t> </a:t>
            </a:r>
            <a:r>
              <a:rPr lang="zh-CN" altLang="pt-BR" sz="2000" dirty="0"/>
              <a:t> </a:t>
            </a:r>
            <a:r>
              <a:rPr lang="pt-BR" altLang="zh-CN" sz="2000" dirty="0"/>
              <a:t>r(R)=R∪I</a:t>
            </a:r>
            <a:r>
              <a:rPr lang="pt-BR" altLang="zh-CN" sz="2000" baseline="-25000" dirty="0"/>
              <a:t>A</a:t>
            </a:r>
            <a:r>
              <a:rPr lang="pt-BR" altLang="zh-CN" sz="2000" dirty="0"/>
              <a:t>={(a,a),(b,b),(c,c),(a,b),(b,c),(c,a)}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 s(R)=R∪R</a:t>
            </a:r>
            <a:r>
              <a:rPr lang="pt-BR" altLang="zh-CN" sz="2000" baseline="30000" dirty="0"/>
              <a:t>-1</a:t>
            </a:r>
            <a:r>
              <a:rPr lang="pt-BR" altLang="zh-CN" sz="2000" dirty="0"/>
              <a:t>={(a,b),(b,c),(c,a),(b,a),(c,b),(a,c)}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</a:t>
            </a:r>
            <a:r>
              <a:rPr lang="pt-BR" altLang="zh-CN" sz="2000" baseline="30000" dirty="0"/>
              <a:t>2</a:t>
            </a:r>
            <a:r>
              <a:rPr lang="pt-BR" altLang="zh-CN" sz="2000" dirty="0"/>
              <a:t>={(a,c),(b,a),(c,b)}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</a:t>
            </a:r>
            <a:r>
              <a:rPr lang="pt-BR" altLang="zh-CN" sz="2000" baseline="30000" dirty="0"/>
              <a:t>3</a:t>
            </a:r>
            <a:r>
              <a:rPr lang="pt-BR" altLang="zh-CN" sz="2000" dirty="0"/>
              <a:t>={(a,a),(b,b),(c,c)}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</a:t>
            </a:r>
            <a:r>
              <a:rPr lang="pt-BR" altLang="zh-CN" sz="2000" baseline="30000" dirty="0"/>
              <a:t>4</a:t>
            </a:r>
            <a:r>
              <a:rPr lang="pt-BR" altLang="zh-CN" sz="2000" dirty="0"/>
              <a:t>={(a,b),(b,c),(c,a)}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pt-BR" sz="2000" dirty="0"/>
              <a:t>因此，有</a:t>
            </a:r>
            <a:endParaRPr lang="zh-CN" altLang="pt-BR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R=R</a:t>
            </a:r>
            <a:r>
              <a:rPr lang="pt-BR" altLang="zh-CN" sz="2000" baseline="30000" dirty="0"/>
              <a:t>4</a:t>
            </a:r>
            <a:endParaRPr lang="pt-BR" altLang="zh-CN" sz="2000" baseline="30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</a:t>
            </a:r>
            <a:r>
              <a:rPr lang="pt-BR" altLang="zh-CN" sz="2000" baseline="30000" dirty="0"/>
              <a:t>2</a:t>
            </a:r>
            <a:r>
              <a:rPr lang="pt-BR" altLang="zh-CN" sz="2000" dirty="0"/>
              <a:t>=R</a:t>
            </a:r>
            <a:r>
              <a:rPr lang="pt-BR" altLang="zh-CN" sz="2000" baseline="30000" dirty="0"/>
              <a:t>5</a:t>
            </a:r>
            <a:endParaRPr lang="pt-BR" altLang="zh-CN" sz="2000" baseline="30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R</a:t>
            </a:r>
            <a:r>
              <a:rPr lang="pt-BR" altLang="zh-CN" sz="2000" baseline="30000" dirty="0"/>
              <a:t>3</a:t>
            </a:r>
            <a:r>
              <a:rPr lang="pt-BR" altLang="zh-CN" sz="2000" dirty="0"/>
              <a:t>=R</a:t>
            </a:r>
            <a:r>
              <a:rPr lang="pt-BR" altLang="zh-CN" sz="2000" baseline="30000" dirty="0"/>
              <a:t>6</a:t>
            </a:r>
            <a:endParaRPr lang="pt-BR" altLang="zh-CN" sz="2000" baseline="30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>
                <a:latin typeface="Times New Roman" panose="02020603050405020304" pitchFamily="18" charset="0"/>
              </a:rPr>
              <a:t>        …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t(R) =R∪R</a:t>
            </a:r>
            <a:r>
              <a:rPr lang="pt-BR" altLang="zh-CN" sz="2000" baseline="30000" dirty="0"/>
              <a:t>2</a:t>
            </a:r>
            <a:r>
              <a:rPr lang="pt-BR" altLang="zh-CN" sz="2000" dirty="0"/>
              <a:t>∪R</a:t>
            </a:r>
            <a:r>
              <a:rPr lang="pt-BR" altLang="zh-CN" sz="2000" baseline="30000" dirty="0"/>
              <a:t>3</a:t>
            </a:r>
            <a:r>
              <a:rPr lang="pt-BR" altLang="zh-CN" sz="2000" dirty="0"/>
              <a:t>∪</a:t>
            </a:r>
            <a:r>
              <a:rPr lang="pt-BR" altLang="zh-CN" sz="2000" dirty="0">
                <a:latin typeface="Times New Roman" panose="02020603050405020304" pitchFamily="18" charset="0"/>
              </a:rPr>
              <a:t>…</a:t>
            </a:r>
            <a:endParaRPr lang="pt-BR" altLang="zh-CN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      =R∪R</a:t>
            </a:r>
            <a:r>
              <a:rPr lang="pt-BR" altLang="zh-CN" sz="2000" baseline="30000" dirty="0"/>
              <a:t>2</a:t>
            </a:r>
            <a:r>
              <a:rPr lang="pt-BR" altLang="zh-CN" sz="2000" dirty="0"/>
              <a:t>∪R</a:t>
            </a:r>
            <a:r>
              <a:rPr lang="pt-BR" altLang="zh-CN" sz="2000" baseline="30000" dirty="0"/>
              <a:t>3</a:t>
            </a:r>
            <a:endParaRPr lang="pt-BR" altLang="zh-CN" sz="2000" baseline="30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zh-CN" sz="2000" dirty="0"/>
              <a:t>               ={(a,a),(b,b),(c,c),(a,b),(b,c),(c,a),(a,c),(b,a),(c,b)}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652000" y="6324600"/>
            <a:ext cx="2540000" cy="457200"/>
          </a:xfrm>
        </p:spPr>
        <p:txBody>
          <a:bodyPr/>
          <a:lstStyle/>
          <a:p>
            <a:fld id="{B0CE47E2-5CAB-4F95-9125-F9C8116886B8}" type="slidenum">
              <a:rPr lang="en-US" altLang="zh-CN"/>
            </a:fld>
            <a:endParaRPr lang="en-US" altLang="zh-CN"/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75920" y="561925"/>
            <a:ext cx="3889375" cy="60483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解   关系的关系矩阵为： </a:t>
            </a:r>
            <a:endParaRPr lang="zh-CN" altLang="en-US" sz="2000" dirty="0"/>
          </a:p>
        </p:txBody>
      </p:sp>
      <p:graphicFrame>
        <p:nvGraphicFramePr>
          <p:cNvPr id="269341" name="Object 2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75920" y="3698652"/>
          <a:ext cx="6048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4" name="公式" r:id="rId1" imgW="3200400" imgH="711200" progId="Equation.3">
                  <p:embed/>
                </p:oleObj>
              </mc:Choice>
              <mc:Fallback>
                <p:oleObj name="公式" r:id="rId1" imgW="3200400" imgH="71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3698652"/>
                        <a:ext cx="60483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7" name="Object 15"/>
          <p:cNvGraphicFramePr>
            <a:graphicFrameLocks noChangeAspect="1"/>
          </p:cNvGraphicFramePr>
          <p:nvPr/>
        </p:nvGraphicFramePr>
        <p:xfrm>
          <a:off x="5879976" y="1320905"/>
          <a:ext cx="20891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5" name="公式" r:id="rId3" imgW="1066800" imgH="711200" progId="Equation.3">
                  <p:embed/>
                </p:oleObj>
              </mc:Choice>
              <mc:Fallback>
                <p:oleObj name="公式" r:id="rId3" imgW="10668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1320905"/>
                        <a:ext cx="208915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5" name="Object 13"/>
          <p:cNvGraphicFramePr>
            <a:graphicFrameLocks noChangeAspect="1"/>
          </p:cNvGraphicFramePr>
          <p:nvPr/>
        </p:nvGraphicFramePr>
        <p:xfrm>
          <a:off x="5375920" y="2529797"/>
          <a:ext cx="67310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6" name="公式" r:id="rId5" imgW="3200400" imgH="711200" progId="Equation.3">
                  <p:embed/>
                </p:oleObj>
              </mc:Choice>
              <mc:Fallback>
                <p:oleObj name="公式" r:id="rId5" imgW="32004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2529797"/>
                        <a:ext cx="6731000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5396842" y="4737100"/>
          <a:ext cx="31686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7" name="公式" r:id="rId7" imgW="2133600" imgH="711200" progId="Equation.3">
                  <p:embed/>
                </p:oleObj>
              </mc:Choice>
              <mc:Fallback>
                <p:oleObj name="公式" r:id="rId7" imgW="21336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842" y="4737100"/>
                        <a:ext cx="3168650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36" name="Rectangle 24"/>
          <p:cNvSpPr>
            <a:spLocks noChangeArrowheads="1"/>
          </p:cNvSpPr>
          <p:nvPr/>
        </p:nvSpPr>
        <p:spPr bwMode="auto">
          <a:xfrm>
            <a:off x="1524001" y="4552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9340" name="Rectangle 28"/>
          <p:cNvSpPr>
            <a:spLocks noChangeArrowheads="1"/>
          </p:cNvSpPr>
          <p:nvPr/>
        </p:nvSpPr>
        <p:spPr bwMode="auto">
          <a:xfrm>
            <a:off x="1524001" y="7289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66605" y="1334559"/>
            <a:ext cx="4089201" cy="31726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2.33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设集合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A={</a:t>
            </a:r>
            <a:r>
              <a:rPr kumimoji="0" lang="en-US" altLang="zh-CN" sz="28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a,b,c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上的二元关系，且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R={(</a:t>
            </a:r>
            <a:r>
              <a:rPr kumimoji="0" lang="en-US" altLang="zh-CN" sz="28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a,b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),(</a:t>
            </a:r>
            <a:r>
              <a:rPr kumimoji="0" lang="en-US" altLang="zh-CN" sz="28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b,c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),(</a:t>
            </a:r>
            <a:r>
              <a:rPr kumimoji="0" lang="en-US" altLang="zh-CN" sz="28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c,a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)}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，用关系矩阵求关系</a:t>
            </a:r>
            <a:r>
              <a:rPr kumimoji="0"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的自反、对称和传递闭包。</a:t>
            </a:r>
            <a:endParaRPr kumimoji="0" lang="zh-CN" altLang="en-US" sz="28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5A2024D-443D-4E66-BF55-41C8E9D303DE}" type="slidenum">
              <a:rPr lang="en-US" altLang="zh-CN"/>
            </a:fld>
            <a:endParaRPr lang="en-US" altLang="zh-CN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268760"/>
            <a:ext cx="8775700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</a:rPr>
              <a:t>2.12 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上的关系，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）若</a:t>
            </a:r>
            <a:r>
              <a:rPr lang="en-US" altLang="zh-CN" sz="2800" dirty="0"/>
              <a:t>R</a:t>
            </a:r>
            <a:r>
              <a:rPr lang="zh-CN" altLang="en-US" sz="2800" dirty="0"/>
              <a:t>是自反的，则</a:t>
            </a:r>
            <a:r>
              <a:rPr lang="en-US" altLang="zh-CN" sz="2800" dirty="0"/>
              <a:t>s(R)</a:t>
            </a:r>
            <a:r>
              <a:rPr lang="zh-CN" altLang="en-US" sz="2800" dirty="0"/>
              <a:t>与</a:t>
            </a:r>
            <a:r>
              <a:rPr lang="en-US" altLang="zh-CN" sz="2800" dirty="0"/>
              <a:t>t(R)</a:t>
            </a:r>
            <a:r>
              <a:rPr lang="zh-CN" altLang="en-US" sz="2800" dirty="0"/>
              <a:t>也是自反的。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）若</a:t>
            </a:r>
            <a:r>
              <a:rPr lang="en-US" altLang="zh-CN" sz="2800" dirty="0"/>
              <a:t>R</a:t>
            </a:r>
            <a:r>
              <a:rPr lang="zh-CN" altLang="en-US" sz="2800" dirty="0"/>
              <a:t>是对称的，则</a:t>
            </a:r>
            <a:r>
              <a:rPr lang="en-US" altLang="zh-CN" sz="2800" dirty="0"/>
              <a:t>r(R)</a:t>
            </a:r>
            <a:r>
              <a:rPr lang="zh-CN" altLang="en-US" sz="2800" dirty="0"/>
              <a:t>与</a:t>
            </a:r>
            <a:r>
              <a:rPr lang="en-US" altLang="zh-CN" sz="2800" dirty="0"/>
              <a:t>t(R)</a:t>
            </a:r>
            <a:r>
              <a:rPr lang="zh-CN" altLang="en-US" sz="2800" dirty="0"/>
              <a:t>也是对称的。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）若</a:t>
            </a:r>
            <a:r>
              <a:rPr lang="en-US" altLang="zh-CN" sz="2800" dirty="0"/>
              <a:t>R</a:t>
            </a:r>
            <a:r>
              <a:rPr lang="zh-CN" altLang="en-US" sz="2800" dirty="0"/>
              <a:t>是传递的，则</a:t>
            </a:r>
            <a:r>
              <a:rPr lang="en-US" altLang="zh-CN" sz="2800" dirty="0"/>
              <a:t>r(R)</a:t>
            </a:r>
            <a:r>
              <a:rPr lang="zh-CN" altLang="en-US" sz="2800" dirty="0"/>
              <a:t>是传递的，而</a:t>
            </a:r>
            <a:r>
              <a:rPr lang="en-US" altLang="zh-CN" sz="2800" dirty="0"/>
              <a:t>s(R)</a:t>
            </a:r>
            <a:r>
              <a:rPr lang="zh-CN" altLang="en-US" sz="2800" dirty="0"/>
              <a:t>不一定传递。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9137" y="332656"/>
            <a:ext cx="11136312" cy="571817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证明</a:t>
            </a:r>
            <a:r>
              <a:rPr lang="en-US" altLang="zh-CN" sz="2800" dirty="0"/>
              <a:t>(1)</a:t>
            </a:r>
            <a:r>
              <a:rPr lang="zh-CN" altLang="en-US" sz="2800" dirty="0"/>
              <a:t>若</a:t>
            </a:r>
            <a:r>
              <a:rPr lang="en-US" altLang="zh-CN" sz="2800" dirty="0"/>
              <a:t>R</a:t>
            </a:r>
            <a:r>
              <a:rPr lang="zh-CN" altLang="en-US" sz="2800" dirty="0"/>
              <a:t>是自反的，则有</a:t>
            </a:r>
            <a:r>
              <a:rPr lang="en-US" altLang="zh-CN" sz="2800" dirty="0"/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R</a:t>
            </a:r>
            <a:r>
              <a:rPr lang="zh-CN" altLang="en-US" sz="2800" dirty="0"/>
              <a:t>。又因为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s(R)</a:t>
            </a:r>
            <a:r>
              <a:rPr lang="zh-CN" altLang="en-US" sz="2800" dirty="0"/>
              <a:t>，且</a:t>
            </a:r>
            <a:r>
              <a:rPr lang="en-US" altLang="zh-CN" sz="2800" dirty="0" err="1"/>
              <a:t>R</a:t>
            </a:r>
            <a:r>
              <a:rPr lang="en-US" altLang="zh-CN" sz="2800" dirty="0" err="1">
                <a:sym typeface="Symbol" panose="05050102010706020507" pitchFamily="18" charset="2"/>
              </a:rPr>
              <a:t></a:t>
            </a:r>
            <a:r>
              <a:rPr lang="en-US" altLang="zh-CN" sz="2800" dirty="0" err="1"/>
              <a:t>t</a:t>
            </a:r>
            <a:r>
              <a:rPr lang="en-US" altLang="zh-CN" sz="2800" dirty="0"/>
              <a:t>(R)</a:t>
            </a:r>
            <a:r>
              <a:rPr lang="zh-CN" altLang="en-US" sz="2800" dirty="0"/>
              <a:t>，所以</a:t>
            </a:r>
            <a:r>
              <a:rPr lang="en-US" altLang="zh-CN" sz="2800" dirty="0"/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s(R)</a:t>
            </a:r>
            <a:r>
              <a:rPr lang="zh-CN" altLang="en-US" sz="2800" dirty="0"/>
              <a:t>且</a:t>
            </a:r>
            <a:r>
              <a:rPr lang="en-US" altLang="zh-CN" sz="2800" dirty="0"/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t(R)</a:t>
            </a:r>
            <a:r>
              <a:rPr lang="zh-CN" altLang="en-US" sz="2800" dirty="0"/>
              <a:t>，因此</a:t>
            </a:r>
            <a:r>
              <a:rPr lang="en-US" altLang="zh-CN" sz="2800" dirty="0"/>
              <a:t>s(R)</a:t>
            </a:r>
            <a:r>
              <a:rPr lang="zh-CN" altLang="en-US" sz="2800" dirty="0"/>
              <a:t>与</a:t>
            </a:r>
            <a:r>
              <a:rPr lang="en-US" altLang="zh-CN" sz="2800" dirty="0"/>
              <a:t>t(R)</a:t>
            </a:r>
            <a:r>
              <a:rPr lang="zh-CN" altLang="en-US" sz="2800" dirty="0"/>
              <a:t>是自反的。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因为</a:t>
            </a:r>
            <a:r>
              <a:rPr lang="en-US" altLang="zh-CN" sz="2800" dirty="0"/>
              <a:t>R</a:t>
            </a:r>
            <a:r>
              <a:rPr lang="zh-CN" altLang="en-US" sz="2800" dirty="0"/>
              <a:t>对称，有</a:t>
            </a:r>
            <a:r>
              <a:rPr lang="en-US" altLang="zh-CN" sz="2800" dirty="0"/>
              <a:t>R=R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。由于</a:t>
            </a:r>
            <a:r>
              <a:rPr lang="en-US" altLang="zh-CN" sz="2800" dirty="0"/>
              <a:t>r(R)=R∪I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，而</a:t>
            </a:r>
            <a:r>
              <a:rPr lang="en-US" altLang="zh-CN" sz="2800" dirty="0"/>
              <a:t>(r(R)) 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=(R∪ 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 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 R∪I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/>
              <a:t>= r(R),</a:t>
            </a:r>
            <a:r>
              <a:rPr lang="zh-CN" altLang="en-US" sz="2800" dirty="0"/>
              <a:t>因此</a:t>
            </a:r>
            <a:r>
              <a:rPr lang="en-US" altLang="zh-CN" sz="2800" dirty="0"/>
              <a:t>r(R)</a:t>
            </a:r>
            <a:r>
              <a:rPr lang="zh-CN" altLang="en-US" sz="2800" dirty="0"/>
              <a:t>对称。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因为</a:t>
            </a:r>
            <a:r>
              <a:rPr lang="en-US" altLang="zh-CN" sz="2800" dirty="0"/>
              <a:t>R</a:t>
            </a:r>
            <a:r>
              <a:rPr lang="zh-CN" altLang="en-US" sz="2800" dirty="0"/>
              <a:t>对称，因此</a:t>
            </a:r>
            <a:r>
              <a:rPr lang="en-US" altLang="zh-CN" sz="2800" dirty="0"/>
              <a:t>(R</a:t>
            </a:r>
            <a:r>
              <a:rPr lang="en-US" altLang="zh-CN" sz="2800" baseline="30000" dirty="0"/>
              <a:t>i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=(R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)</a:t>
            </a:r>
            <a:r>
              <a:rPr lang="en-US" altLang="zh-CN" sz="2800" baseline="30000" dirty="0" err="1"/>
              <a:t>i</a:t>
            </a:r>
            <a:r>
              <a:rPr lang="en-US" altLang="zh-CN" sz="2800" dirty="0"/>
              <a:t>= R</a:t>
            </a:r>
            <a:r>
              <a:rPr lang="en-US" altLang="zh-CN" sz="2800" baseline="30000" dirty="0"/>
              <a:t>i</a:t>
            </a:r>
            <a:r>
              <a:rPr lang="zh-CN" altLang="en-US" sz="2800" dirty="0"/>
              <a:t>。由于</a:t>
            </a:r>
            <a:r>
              <a:rPr lang="en-US" altLang="zh-CN" sz="2800" dirty="0"/>
              <a:t>t(R)= R∪R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∪R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</a:t>
            </a:r>
            <a:r>
              <a:rPr lang="zh-CN" altLang="en-US" sz="2800" dirty="0"/>
              <a:t>于是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(t(R))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=(R∪R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∪R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)-1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 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∪(R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∪(R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 R∪R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∪R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=t(R)</a:t>
            </a:r>
            <a:endParaRPr lang="en-US" altLang="zh-CN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所以</a:t>
            </a:r>
            <a:r>
              <a:rPr lang="en-US" altLang="zh-CN" sz="2800" dirty="0"/>
              <a:t>t(R)</a:t>
            </a:r>
            <a:r>
              <a:rPr lang="zh-CN" altLang="en-US" sz="2800" dirty="0"/>
              <a:t>也对称。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D0A9454-6BFB-4852-B353-C1DBA2782B0F}" type="slidenum">
              <a:rPr lang="en-US" altLang="zh-CN"/>
            </a:fld>
            <a:endParaRPr lang="en-US" altLang="zh-CN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9576" y="980728"/>
            <a:ext cx="8247038" cy="46831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因为</a:t>
            </a:r>
            <a:r>
              <a:rPr lang="en-US" altLang="zh-CN" sz="2400" dirty="0"/>
              <a:t>R</a:t>
            </a:r>
            <a:r>
              <a:rPr lang="zh-CN" altLang="en-US" sz="2400" dirty="0"/>
              <a:t>传递，所以</a:t>
            </a:r>
            <a:r>
              <a:rPr lang="en-US" altLang="zh-CN" sz="2400" dirty="0"/>
              <a:t>R.R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R</a:t>
            </a:r>
            <a:r>
              <a:rPr lang="zh-CN" altLang="en-US" sz="2400" dirty="0"/>
              <a:t>，而</a:t>
            </a:r>
            <a:r>
              <a:rPr lang="en-US" altLang="zh-CN" sz="2400" dirty="0"/>
              <a:t>r(R)=R∪I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 </a:t>
            </a:r>
            <a:r>
              <a:rPr lang="zh-CN" altLang="en-US" sz="2400" dirty="0"/>
              <a:t>，则有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r(R).r(R)=(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=R.(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)∪IA. 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= R .R∪R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 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A.</a:t>
            </a:r>
            <a:r>
              <a:rPr lang="en-US" altLang="zh-CN" sz="2400" dirty="0"/>
              <a:t> 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= R .R∪R∪(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R∪R∪(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= R∪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A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= r(R)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即</a:t>
            </a:r>
            <a:r>
              <a:rPr lang="en-US" altLang="zh-CN" sz="2400" dirty="0"/>
              <a:t>r(R)</a:t>
            </a:r>
            <a:r>
              <a:rPr lang="zh-CN" altLang="en-US" sz="2400" dirty="0"/>
              <a:t>具有传递性。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9E0E609-FF9D-4823-AB6D-B38890F88DF3}" type="slidenum">
              <a:rPr lang="en-US" altLang="zh-CN"/>
            </a:fld>
            <a:endParaRPr lang="en-US" altLang="zh-CN"/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836712"/>
            <a:ext cx="10381257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下面举一个反例来说明</a:t>
            </a:r>
            <a:r>
              <a:rPr lang="en-US" altLang="zh-CN" sz="2800" dirty="0"/>
              <a:t>s(R)</a:t>
            </a:r>
            <a:r>
              <a:rPr lang="zh-CN" altLang="en-US" sz="2800" dirty="0"/>
              <a:t>不具备传递性。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2.34 </a:t>
            </a:r>
            <a:r>
              <a:rPr lang="zh-CN" altLang="en-US" sz="2800" dirty="0"/>
              <a:t>假设集合</a:t>
            </a:r>
            <a:r>
              <a:rPr lang="en-US" altLang="zh-CN" sz="2800" dirty="0"/>
              <a:t>A={1,2,3}</a:t>
            </a:r>
            <a:r>
              <a:rPr lang="zh-CN" altLang="en-US" sz="2800" dirty="0"/>
              <a:t>，</a:t>
            </a:r>
            <a:r>
              <a:rPr lang="en-US" altLang="zh-CN" sz="2800" dirty="0"/>
              <a:t>R={(1,2)}</a:t>
            </a:r>
            <a:r>
              <a:rPr lang="zh-CN" altLang="en-US" sz="2800" dirty="0"/>
              <a:t>是定义在集合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上的且具有传递性，而</a:t>
            </a:r>
            <a:r>
              <a:rPr lang="en-US" altLang="zh-CN" sz="2800" dirty="0"/>
              <a:t>s(R)={(1,2),(2,1)}</a:t>
            </a:r>
            <a:r>
              <a:rPr lang="zh-CN" altLang="en-US" sz="2800" dirty="0"/>
              <a:t>却不具备传递性。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FE575E0-CB7C-4BE1-8E47-60212F4B1337}" type="slidenum">
              <a:rPr lang="en-US" altLang="zh-CN"/>
            </a:fld>
            <a:endParaRPr lang="en-US" altLang="zh-CN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15480" y="692696"/>
            <a:ext cx="7776864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</a:rPr>
              <a:t>2.13 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,R</a:t>
            </a:r>
            <a:r>
              <a:rPr lang="en-US" altLang="zh-CN" sz="3200" baseline="-25000" dirty="0"/>
              <a:t>2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A×A</a:t>
            </a:r>
            <a:r>
              <a:rPr lang="zh-CN" altLang="en-US" sz="3200" dirty="0"/>
              <a:t>，且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1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，则</a:t>
            </a:r>
            <a:endParaRPr lang="zh-CN" altLang="en-US" sz="32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	</a:t>
            </a:r>
            <a:r>
              <a:rPr lang="en-US" altLang="zh-CN" sz="3200" dirty="0"/>
              <a:t>r(R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)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r(R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) </a:t>
            </a:r>
            <a:endParaRPr lang="en-US" altLang="zh-CN" sz="32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	s(R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)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s(R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	t(R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)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t(R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) 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ABA7363B-77A9-46A3-B91A-4A4CFD3F7C9A}" type="slidenum">
              <a:rPr lang="en-US" altLang="zh-CN"/>
            </a:fld>
            <a:endParaRPr lang="en-US" altLang="zh-CN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4437" y="836712"/>
            <a:ext cx="10585450" cy="45037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证明：</a:t>
            </a:r>
            <a:endParaRPr lang="zh-CN" altLang="en-US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(1)</a:t>
            </a:r>
            <a:r>
              <a:rPr lang="zh-CN" altLang="en-US" sz="2400" dirty="0">
                <a:solidFill>
                  <a:srgbClr val="000000"/>
                </a:solidFill>
              </a:rPr>
              <a:t>因为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，因此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∪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A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∪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</a:rPr>
              <a:t>，所以</a:t>
            </a:r>
            <a:r>
              <a:rPr lang="en-US" altLang="zh-CN" sz="2400" dirty="0">
                <a:solidFill>
                  <a:srgbClr val="000000"/>
                </a:solidFill>
              </a:rPr>
              <a:t>r(R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00"/>
                </a:solidFill>
              </a:rPr>
              <a:t>r(R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反证法：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		假设</a:t>
            </a:r>
            <a:r>
              <a:rPr lang="en-US" altLang="zh-CN" sz="2400" dirty="0">
                <a:sym typeface="Symbol" panose="05050102010706020507" pitchFamily="18" charset="2"/>
              </a:rPr>
              <a:t>(x, y)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sym typeface="Symbol" panose="05050102010706020507" pitchFamily="18" charset="2"/>
              </a:rPr>
              <a:t>但</a:t>
            </a:r>
            <a:r>
              <a:rPr lang="en-US" altLang="zh-CN" sz="2400" dirty="0">
                <a:sym typeface="Symbol" panose="05050102010706020507" pitchFamily="18" charset="2"/>
              </a:rPr>
              <a:t>(x, y)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，则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</a:t>
            </a:r>
            <a:r>
              <a:rPr lang="en-US" altLang="zh-CN" sz="2400" dirty="0">
                <a:latin typeface="Times New Roman" panose="02020603050405020304" pitchFamily="18" charset="0"/>
              </a:rPr>
              <a:t>–</a:t>
            </a:r>
            <a:r>
              <a:rPr lang="en-US" altLang="zh-CN" sz="2400" dirty="0"/>
              <a:t> {</a:t>
            </a:r>
            <a:r>
              <a:rPr lang="en-US" altLang="zh-CN" sz="2400" dirty="0">
                <a:sym typeface="Symbol" panose="05050102010706020507" pitchFamily="18" charset="2"/>
              </a:rPr>
              <a:t>(x, y)}</a:t>
            </a:r>
            <a:r>
              <a:rPr lang="zh-CN" altLang="en-US" sz="2400" dirty="0">
                <a:sym typeface="Symbol" panose="05050102010706020507" pitchFamily="18" charset="2"/>
              </a:rPr>
              <a:t>也是自反的，即</a:t>
            </a:r>
            <a:r>
              <a:rPr lang="en-US" altLang="zh-CN" sz="2400" dirty="0" err="1">
                <a:sym typeface="Symbol" panose="05050102010706020507" pitchFamily="18" charset="2"/>
              </a:rPr>
              <a:t>xy</a:t>
            </a:r>
            <a:r>
              <a:rPr lang="en-US" altLang="zh-CN" sz="2400" dirty="0">
                <a:sym typeface="Symbol" panose="05050102010706020507" pitchFamily="18" charset="2"/>
              </a:rPr>
              <a:t>; </a:t>
            </a:r>
            <a:r>
              <a:rPr lang="zh-CN" altLang="en-US" sz="2400" dirty="0"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sym typeface="Symbol" panose="05050102010706020507" pitchFamily="18" charset="2"/>
              </a:rPr>
              <a:t>(x, y)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sym typeface="Symbol" panose="05050102010706020507" pitchFamily="18" charset="2"/>
              </a:rPr>
              <a:t>(x, y)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，那么</a:t>
            </a:r>
            <a:r>
              <a:rPr lang="en-US" altLang="zh-CN" sz="2400" dirty="0">
                <a:sym typeface="Symbol" panose="05050102010706020507" pitchFamily="18" charset="2"/>
              </a:rPr>
              <a:t>(x, y)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，导致矛盾，因此</a:t>
            </a:r>
            <a:r>
              <a:rPr lang="en-US" altLang="zh-CN" sz="2400" dirty="0">
                <a:sym typeface="Symbol" panose="05050102010706020507" pitchFamily="18" charset="2"/>
              </a:rPr>
              <a:t>(x, y) 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，所以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  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</a:t>
            </a:r>
            <a:r>
              <a:rPr lang="en-US" altLang="zh-CN" sz="2400" dirty="0">
                <a:latin typeface="Times New Roman" panose="02020603050405020304" pitchFamily="18" charset="0"/>
              </a:rPr>
              <a:t>–</a:t>
            </a:r>
            <a:r>
              <a:rPr lang="en-US" altLang="zh-CN" sz="2400" dirty="0"/>
              <a:t> {</a:t>
            </a:r>
            <a:r>
              <a:rPr lang="en-US" altLang="zh-CN" sz="2400" dirty="0">
                <a:sym typeface="Symbol" panose="05050102010706020507" pitchFamily="18" charset="2"/>
              </a:rPr>
              <a:t>(x, y)}</a:t>
            </a:r>
            <a:r>
              <a:rPr lang="zh-CN" altLang="en-US" sz="2400" dirty="0">
                <a:sym typeface="Symbol" panose="05050102010706020507" pitchFamily="18" charset="2"/>
              </a:rPr>
              <a:t>，那么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</a:t>
            </a:r>
            <a:r>
              <a:rPr lang="zh-CN" altLang="en-US" sz="2400" dirty="0"/>
              <a:t>不是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的自反</a:t>
            </a:r>
            <a:r>
              <a:rPr lang="zh-CN" altLang="en-US" sz="2400" dirty="0">
                <a:sym typeface="Symbol" panose="05050102010706020507" pitchFamily="18" charset="2"/>
              </a:rPr>
              <a:t>闭包，矛盾。因此 </a:t>
            </a:r>
            <a:r>
              <a:rPr lang="en-US" altLang="zh-CN" sz="2400" dirty="0">
                <a:sym typeface="Symbol" panose="05050102010706020507" pitchFamily="18" charset="2"/>
              </a:rPr>
              <a:t>(x, y) 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。所以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 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6DADF88-3300-4218-B172-49339667E8A2}" type="slidenum">
              <a:rPr lang="en-US" altLang="zh-CN"/>
            </a:fld>
            <a:endParaRPr lang="en-US" altLang="zh-CN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9376" y="1371600"/>
            <a:ext cx="10585450" cy="41148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(2)</a:t>
            </a:r>
            <a:r>
              <a:rPr lang="zh-CN" altLang="en-US" sz="2800" dirty="0">
                <a:solidFill>
                  <a:srgbClr val="000000"/>
                </a:solidFill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s(R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，因此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s(R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。由</a:t>
            </a:r>
            <a:r>
              <a:rPr lang="en-US" altLang="zh-CN" sz="2800" dirty="0">
                <a:solidFill>
                  <a:srgbClr val="000000"/>
                </a:solidFill>
              </a:rPr>
              <a:t>s(R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是包含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的最小对称关系，所以</a:t>
            </a:r>
            <a:r>
              <a:rPr lang="en-US" altLang="zh-CN" sz="2800" dirty="0">
                <a:solidFill>
                  <a:srgbClr val="000000"/>
                </a:solidFill>
              </a:rPr>
              <a:t>s(R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s(R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(3)</a:t>
            </a:r>
            <a:r>
              <a:rPr lang="zh-CN" altLang="en-US" sz="2800" dirty="0">
                <a:solidFill>
                  <a:srgbClr val="000000"/>
                </a:solidFill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t(R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，因此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t(R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。由</a:t>
            </a:r>
            <a:r>
              <a:rPr lang="en-US" altLang="zh-CN" sz="2800" dirty="0">
                <a:solidFill>
                  <a:srgbClr val="000000"/>
                </a:solidFill>
              </a:rPr>
              <a:t>t(R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是包含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的最小传递关系，所以</a:t>
            </a:r>
            <a:r>
              <a:rPr lang="en-US" altLang="zh-CN" sz="2800" dirty="0">
                <a:solidFill>
                  <a:srgbClr val="000000"/>
                </a:solidFill>
              </a:rPr>
              <a:t>t(R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t(R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3CC82E8-E017-4261-B6FB-8AA5DDD437BA}" type="slidenum">
              <a:rPr lang="en-US" altLang="zh-CN"/>
            </a:fld>
            <a:endParaRPr lang="en-US" altLang="zh-CN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512" y="1124744"/>
            <a:ext cx="9937750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</a:rPr>
              <a:t>2.14 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是集合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上的关系，则以下各式成立。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r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∪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r>
              <a:rPr lang="en-US" altLang="zh-CN" sz="2800" dirty="0"/>
              <a:t>=r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）∪</a:t>
            </a:r>
            <a:r>
              <a:rPr lang="en-US" altLang="zh-CN" sz="2800" dirty="0"/>
              <a:t>r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s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∪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r>
              <a:rPr lang="en-US" altLang="zh-CN" sz="2800" dirty="0"/>
              <a:t>=s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）∪</a:t>
            </a:r>
            <a:r>
              <a:rPr lang="en-US" altLang="zh-CN" sz="2800" dirty="0"/>
              <a:t>s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/>
              <a:t>t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）∪</a:t>
            </a:r>
            <a:r>
              <a:rPr lang="en-US" altLang="zh-CN" sz="2800" dirty="0"/>
              <a:t>t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t</a:t>
            </a:r>
            <a:r>
              <a:rPr lang="zh-CN" altLang="en-US" sz="2800" dirty="0"/>
              <a:t>（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∪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0E9B4C8A-CEC3-47DD-A490-0BD4494C6AF5}" type="slidenum">
              <a:rPr lang="en-US" altLang="zh-CN"/>
            </a:fld>
            <a:endParaRPr lang="en-US" altLang="zh-CN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908720"/>
            <a:ext cx="10880774" cy="46831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：  （</a:t>
            </a:r>
            <a:r>
              <a:rPr lang="en-US" altLang="zh-CN" sz="2400" dirty="0"/>
              <a:t>1</a:t>
            </a:r>
            <a:r>
              <a:rPr lang="zh-CN" altLang="en-US" sz="2400" dirty="0"/>
              <a:t>） </a:t>
            </a:r>
            <a:r>
              <a:rPr lang="en-US" altLang="zh-CN" sz="2400" dirty="0"/>
              <a:t>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)=I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∪(R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=(IA∪R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)∪(I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 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=r(R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)∪r(R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</a:t>
            </a:r>
            <a:r>
              <a:rPr lang="en-US" altLang="zh-CN" sz="2400" dirty="0"/>
              <a:t>s(R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∪R2)=(R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)∪(R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-1</a:t>
            </a:r>
            <a:endParaRPr lang="en-US" altLang="zh-CN" sz="2400" baseline="30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=(R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)∪(R</a:t>
            </a:r>
            <a:r>
              <a:rPr lang="en-US" altLang="zh-CN" sz="2400" baseline="30000" dirty="0"/>
              <a:t>-1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</a:t>
            </a:r>
            <a:r>
              <a:rPr lang="en-US" altLang="zh-CN" sz="2400" baseline="30000" dirty="0"/>
              <a:t>-1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=(R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30000" dirty="0"/>
              <a:t>-1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∪ R</a:t>
            </a:r>
            <a:r>
              <a:rPr lang="en-US" altLang="zh-CN" sz="2400" baseline="30000" dirty="0"/>
              <a:t>-1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=s(R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)∪s(R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  因为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， 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，所以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∪R2)</a:t>
            </a:r>
            <a:r>
              <a:rPr lang="zh-CN" altLang="en-US" sz="2400" dirty="0"/>
              <a:t>，得出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一般地，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)≠t(R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06B5AA4-BDA9-4E22-92DA-5D5A51DF8481}" type="slidenum">
              <a:rPr lang="en-US" altLang="zh-CN"/>
            </a:fld>
            <a:endParaRPr lang="en-US" altLang="zh-CN"/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908720"/>
            <a:ext cx="8280920" cy="47212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2.35 </a:t>
            </a:r>
            <a:r>
              <a:rPr lang="zh-CN" altLang="en-US" sz="2400" dirty="0"/>
              <a:t>设集合</a:t>
            </a:r>
            <a:r>
              <a:rPr lang="en-US" altLang="zh-CN" sz="2400" dirty="0"/>
              <a:t>A={1,2,3}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={(1,2),(2,3)}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={(3,2)}</a:t>
            </a:r>
            <a:r>
              <a:rPr lang="zh-CN" altLang="en-US" sz="2400" dirty="0"/>
              <a:t>，有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)={(1,2),(1,3),(2,3)}</a:t>
            </a:r>
            <a:r>
              <a:rPr lang="zh-CN" altLang="en-US" sz="2400" dirty="0"/>
              <a:t>，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)={(3,2)}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而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)={(1,2),(1,3),(2,2),(2,3),(3,2),(3,3)}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)={(1,2),(1,3),(2,3),(3,2)}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由此可见</a:t>
            </a:r>
            <a:r>
              <a:rPr lang="en-US" altLang="zh-CN" sz="2400" dirty="0"/>
              <a:t>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)∪t(R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)≠t(R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∪R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39F99D4-98A0-4EC2-BA22-7C1BE9BB4381}" type="slidenum">
              <a:rPr lang="en-US" altLang="zh-CN"/>
            </a:fld>
            <a:endParaRPr lang="en-US" altLang="zh-CN"/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1087437"/>
            <a:ext cx="8423080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定理</a:t>
            </a:r>
            <a:r>
              <a:rPr lang="en-US" altLang="zh-CN" sz="2800" dirty="0">
                <a:solidFill>
                  <a:srgbClr val="0000FF"/>
                </a:solidFill>
              </a:rPr>
              <a:t>2.15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是集合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上的关系，则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 err="1"/>
              <a:t>rs</a:t>
            </a:r>
            <a:r>
              <a:rPr lang="en-US" altLang="zh-CN" sz="2800" dirty="0"/>
              <a:t>(R)=</a:t>
            </a:r>
            <a:r>
              <a:rPr lang="en-US" altLang="zh-CN" sz="2800" dirty="0" err="1"/>
              <a:t>sr</a:t>
            </a:r>
            <a:r>
              <a:rPr lang="en-US" altLang="zh-CN" sz="2800" dirty="0"/>
              <a:t>(R)</a:t>
            </a:r>
            <a:r>
              <a:rPr lang="zh-CN" altLang="en-US" sz="2800" dirty="0"/>
              <a:t>；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rt(R)=tr(R)</a:t>
            </a:r>
            <a:r>
              <a:rPr lang="zh-CN" altLang="en-US" sz="2800" dirty="0"/>
              <a:t>；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 err="1"/>
              <a:t>st</a:t>
            </a:r>
            <a:r>
              <a:rPr lang="en-US" altLang="zh-CN" sz="2800" dirty="0"/>
              <a:t>(R)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 err="1"/>
              <a:t>ts</a:t>
            </a:r>
            <a:r>
              <a:rPr lang="en-US" altLang="zh-CN" sz="2800" dirty="0"/>
              <a:t>(R)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FD7A3EE-2872-492B-87A7-47BB6A4ECC65}" type="slidenum">
              <a:rPr lang="en-US" altLang="zh-CN"/>
            </a:fld>
            <a:endParaRPr lang="en-US" altLang="zh-CN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81100"/>
            <a:ext cx="7772400" cy="6191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</a:rPr>
              <a:t>证明 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75466" name="Rectangle 10"/>
          <p:cNvSpPr>
            <a:spLocks noChangeArrowheads="1"/>
          </p:cNvSpPr>
          <p:nvPr/>
        </p:nvSpPr>
        <p:spPr bwMode="auto">
          <a:xfrm>
            <a:off x="1524001" y="25823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69" name="Rectangle 13"/>
          <p:cNvSpPr>
            <a:spLocks noChangeArrowheads="1"/>
          </p:cNvSpPr>
          <p:nvPr/>
        </p:nvSpPr>
        <p:spPr bwMode="auto">
          <a:xfrm>
            <a:off x="1524001" y="3258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70" name="Rectangle 14"/>
          <p:cNvSpPr>
            <a:spLocks noChangeArrowheads="1"/>
          </p:cNvSpPr>
          <p:nvPr/>
        </p:nvSpPr>
        <p:spPr bwMode="auto">
          <a:xfrm>
            <a:off x="1524001" y="3487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71" name="Rectangle 15"/>
          <p:cNvSpPr>
            <a:spLocks noChangeArrowheads="1"/>
          </p:cNvSpPr>
          <p:nvPr/>
        </p:nvSpPr>
        <p:spPr bwMode="auto">
          <a:xfrm>
            <a:off x="1524001" y="37062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79" name="Rectangle 23"/>
          <p:cNvSpPr>
            <a:spLocks noChangeArrowheads="1"/>
          </p:cNvSpPr>
          <p:nvPr/>
        </p:nvSpPr>
        <p:spPr bwMode="auto">
          <a:xfrm>
            <a:off x="1524001" y="25823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80" name="Rectangle 24"/>
          <p:cNvSpPr>
            <a:spLocks noChangeArrowheads="1"/>
          </p:cNvSpPr>
          <p:nvPr/>
        </p:nvSpPr>
        <p:spPr bwMode="auto">
          <a:xfrm>
            <a:off x="1524001" y="2801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82" name="Rectangle 26"/>
          <p:cNvSpPr>
            <a:spLocks noChangeArrowheads="1"/>
          </p:cNvSpPr>
          <p:nvPr/>
        </p:nvSpPr>
        <p:spPr bwMode="auto">
          <a:xfrm>
            <a:off x="1524001" y="3258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483" name="Rectangle 27"/>
          <p:cNvSpPr>
            <a:spLocks noChangeArrowheads="1"/>
          </p:cNvSpPr>
          <p:nvPr/>
        </p:nvSpPr>
        <p:spPr bwMode="auto">
          <a:xfrm>
            <a:off x="1524001" y="3487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5478" name="Object 22"/>
          <p:cNvGraphicFramePr>
            <a:graphicFrameLocks noChangeAspect="1"/>
          </p:cNvGraphicFramePr>
          <p:nvPr/>
        </p:nvGraphicFramePr>
        <p:xfrm>
          <a:off x="3015136" y="980212"/>
          <a:ext cx="319946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2" name="公式" r:id="rId1" imgW="1129665" imgH="215900" progId="Equation.3">
                  <p:embed/>
                </p:oleObj>
              </mc:Choice>
              <mc:Fallback>
                <p:oleObj name="公式" r:id="rId1" imgW="1129665" imgH="215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136" y="980212"/>
                        <a:ext cx="3199465" cy="619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7" name="Object 21"/>
          <p:cNvGraphicFramePr>
            <a:graphicFrameLocks noChangeAspect="1"/>
          </p:cNvGraphicFramePr>
          <p:nvPr/>
        </p:nvGraphicFramePr>
        <p:xfrm>
          <a:off x="4018948" y="1769248"/>
          <a:ext cx="3822153" cy="60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3" name="公式" r:id="rId3" imgW="1460500" imgH="228600" progId="Equation.3">
                  <p:embed/>
                </p:oleObj>
              </mc:Choice>
              <mc:Fallback>
                <p:oleObj name="公式" r:id="rId3" imgW="146050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948" y="1769248"/>
                        <a:ext cx="3822153" cy="6001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6" name="Object 20"/>
          <p:cNvGraphicFramePr>
            <a:graphicFrameLocks noChangeAspect="1"/>
          </p:cNvGraphicFramePr>
          <p:nvPr/>
        </p:nvGraphicFramePr>
        <p:xfrm>
          <a:off x="4004089" y="2693471"/>
          <a:ext cx="4421024" cy="697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4" name="公式" r:id="rId5" imgW="1447800" imgH="228600" progId="Equation.3">
                  <p:embed/>
                </p:oleObj>
              </mc:Choice>
              <mc:Fallback>
                <p:oleObj name="公式" r:id="rId5" imgW="14478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089" y="2693471"/>
                        <a:ext cx="4421024" cy="6977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5" name="Object 19"/>
          <p:cNvGraphicFramePr>
            <a:graphicFrameLocks noChangeAspect="1"/>
          </p:cNvGraphicFramePr>
          <p:nvPr/>
        </p:nvGraphicFramePr>
        <p:xfrm>
          <a:off x="4018948" y="3627954"/>
          <a:ext cx="2875397" cy="697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" name="公式" r:id="rId7" imgW="939800" imgH="228600" progId="Equation.3">
                  <p:embed/>
                </p:oleObj>
              </mc:Choice>
              <mc:Fallback>
                <p:oleObj name="公式" r:id="rId7" imgW="9398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948" y="3627954"/>
                        <a:ext cx="2875397" cy="6977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4" name="Object 18"/>
          <p:cNvGraphicFramePr>
            <a:graphicFrameLocks noChangeAspect="1"/>
          </p:cNvGraphicFramePr>
          <p:nvPr/>
        </p:nvGraphicFramePr>
        <p:xfrm>
          <a:off x="4063182" y="4441585"/>
          <a:ext cx="20161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6" name="公式" r:id="rId9" imgW="735965" imgH="215900" progId="Equation.3">
                  <p:embed/>
                </p:oleObj>
              </mc:Choice>
              <mc:Fallback>
                <p:oleObj name="公式" r:id="rId9" imgW="735965" imgH="2159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3182" y="4441585"/>
                        <a:ext cx="2016125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3" name="Object 17"/>
          <p:cNvGraphicFramePr>
            <a:graphicFrameLocks noChangeAspect="1"/>
          </p:cNvGraphicFramePr>
          <p:nvPr/>
        </p:nvGraphicFramePr>
        <p:xfrm>
          <a:off x="4020493" y="5243829"/>
          <a:ext cx="2517100" cy="603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" name="公式" r:id="rId11" imgW="508000" imgH="203200" progId="Equation.3">
                  <p:embed/>
                </p:oleObj>
              </mc:Choice>
              <mc:Fallback>
                <p:oleObj name="公式" r:id="rId11" imgW="508000" imgH="203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0493" y="5243829"/>
                        <a:ext cx="2517100" cy="603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84" name="Rectangle 28"/>
          <p:cNvSpPr>
            <a:spLocks noChangeArrowheads="1"/>
          </p:cNvSpPr>
          <p:nvPr/>
        </p:nvSpPr>
        <p:spPr bwMode="auto">
          <a:xfrm>
            <a:off x="2855914" y="37062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A947C46A-E10B-4506-A1EB-6271F8295966}" type="slidenum">
              <a:rPr lang="en-US" altLang="zh-CN"/>
            </a:fld>
            <a:endParaRPr lang="en-US" altLang="zh-CN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08088"/>
            <a:ext cx="7772400" cy="6191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(2)</a:t>
            </a:r>
            <a:endParaRPr lang="en-US" altLang="zh-CN" dirty="0"/>
          </a:p>
        </p:txBody>
      </p:sp>
      <p:graphicFrame>
        <p:nvGraphicFramePr>
          <p:cNvPr id="276490" name="Object 10"/>
          <p:cNvGraphicFramePr>
            <a:graphicFrameLocks noChangeAspect="1"/>
          </p:cNvGraphicFramePr>
          <p:nvPr/>
        </p:nvGraphicFramePr>
        <p:xfrm>
          <a:off x="3359696" y="975980"/>
          <a:ext cx="30257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" name="公式" r:id="rId1" imgW="1091565" imgH="215900" progId="Equation.3">
                  <p:embed/>
                </p:oleObj>
              </mc:Choice>
              <mc:Fallback>
                <p:oleObj name="公式" r:id="rId1" imgW="1091565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975980"/>
                        <a:ext cx="3025775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4403724" y="1632447"/>
          <a:ext cx="1836738" cy="898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" name="公式" r:id="rId3" imgW="876300" imgH="431800" progId="Equation.3">
                  <p:embed/>
                </p:oleObj>
              </mc:Choice>
              <mc:Fallback>
                <p:oleObj name="公式" r:id="rId3" imgW="8763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4" y="1632447"/>
                        <a:ext cx="1836738" cy="8981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6410719" y="1616371"/>
          <a:ext cx="20891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" name="公式" r:id="rId5" imgW="1130300" imgH="508000" progId="Equation.3">
                  <p:embed/>
                </p:oleObj>
              </mc:Choice>
              <mc:Fallback>
                <p:oleObj name="公式" r:id="rId5" imgW="11303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719" y="1616371"/>
                        <a:ext cx="2089150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7" name="Object 7"/>
          <p:cNvGraphicFramePr>
            <a:graphicFrameLocks noChangeAspect="1"/>
          </p:cNvGraphicFramePr>
          <p:nvPr/>
        </p:nvGraphicFramePr>
        <p:xfrm>
          <a:off x="4435437" y="2631560"/>
          <a:ext cx="2772395" cy="97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" name="公式" r:id="rId7" imgW="1435100" imgH="508000" progId="Equation.3">
                  <p:embed/>
                </p:oleObj>
              </mc:Choice>
              <mc:Fallback>
                <p:oleObj name="公式" r:id="rId7" imgW="1435100" imgH="508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37" y="2631560"/>
                        <a:ext cx="2772395" cy="9733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6" name="Object 6"/>
          <p:cNvGraphicFramePr>
            <a:graphicFrameLocks noChangeAspect="1"/>
          </p:cNvGraphicFramePr>
          <p:nvPr/>
        </p:nvGraphicFramePr>
        <p:xfrm>
          <a:off x="4435437" y="3795063"/>
          <a:ext cx="15128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" name="公式" r:id="rId9" imgW="799465" imgH="431800" progId="Equation.3">
                  <p:embed/>
                </p:oleObj>
              </mc:Choice>
              <mc:Fallback>
                <p:oleObj name="公式" r:id="rId9" imgW="799465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37" y="3795063"/>
                        <a:ext cx="1512887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5" name="Object 5"/>
          <p:cNvGraphicFramePr>
            <a:graphicFrameLocks noChangeAspect="1"/>
          </p:cNvGraphicFramePr>
          <p:nvPr/>
        </p:nvGraphicFramePr>
        <p:xfrm>
          <a:off x="4452474" y="4796385"/>
          <a:ext cx="1657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" name="公式" r:id="rId11" imgW="723900" imgH="215900" progId="Equation.3">
                  <p:embed/>
                </p:oleObj>
              </mc:Choice>
              <mc:Fallback>
                <p:oleObj name="公式" r:id="rId11" imgW="7239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474" y="4796385"/>
                        <a:ext cx="16573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4" name="Object 4"/>
          <p:cNvGraphicFramePr>
            <a:graphicFrameLocks noChangeAspect="1"/>
          </p:cNvGraphicFramePr>
          <p:nvPr/>
        </p:nvGraphicFramePr>
        <p:xfrm>
          <a:off x="4452474" y="5522258"/>
          <a:ext cx="1225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7" name="公式" r:id="rId13" imgW="494665" imgH="203200" progId="Equation.3">
                  <p:embed/>
                </p:oleObj>
              </mc:Choice>
              <mc:Fallback>
                <p:oleObj name="公式" r:id="rId13" imgW="4946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474" y="5522258"/>
                        <a:ext cx="12255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1" name="Rectangle 1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492" name="Rectangle 12"/>
          <p:cNvSpPr>
            <a:spLocks noChangeArrowheads="1"/>
          </p:cNvSpPr>
          <p:nvPr/>
        </p:nvSpPr>
        <p:spPr bwMode="auto">
          <a:xfrm>
            <a:off x="1524001" y="344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493" name="Rectangle 13"/>
          <p:cNvSpPr>
            <a:spLocks noChangeArrowheads="1"/>
          </p:cNvSpPr>
          <p:nvPr/>
        </p:nvSpPr>
        <p:spPr bwMode="auto">
          <a:xfrm>
            <a:off x="1790701" y="463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494" name="Rectangle 14"/>
          <p:cNvSpPr>
            <a:spLocks noChangeArrowheads="1"/>
          </p:cNvSpPr>
          <p:nvPr/>
        </p:nvSpPr>
        <p:spPr bwMode="auto">
          <a:xfrm>
            <a:off x="1524001" y="967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495" name="Rectangle 15"/>
          <p:cNvSpPr>
            <a:spLocks noChangeArrowheads="1"/>
          </p:cNvSpPr>
          <p:nvPr/>
        </p:nvSpPr>
        <p:spPr bwMode="auto">
          <a:xfrm>
            <a:off x="1790700" y="1700540"/>
            <a:ext cx="2167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>
                <a:latin typeface="Times New Roman" panose="02020603050405020304" pitchFamily="18" charset="0"/>
              </a:rPr>
              <a:t> </a:t>
            </a:r>
            <a:endParaRPr lang="en-US" altLang="zh-CN" sz="1100">
              <a:latin typeface="Times New Roman" panose="02020603050405020304" pitchFamily="18" charset="0"/>
            </a:endParaRPr>
          </a:p>
          <a:p>
            <a:pPr eaLnBrk="0" hangingPunct="0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6496" name="Rectangle 16"/>
          <p:cNvSpPr>
            <a:spLocks noChangeArrowheads="1"/>
          </p:cNvSpPr>
          <p:nvPr/>
        </p:nvSpPr>
        <p:spPr bwMode="auto">
          <a:xfrm>
            <a:off x="1524001" y="2510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497" name="Rectangle 17"/>
          <p:cNvSpPr>
            <a:spLocks noChangeArrowheads="1"/>
          </p:cNvSpPr>
          <p:nvPr/>
        </p:nvSpPr>
        <p:spPr bwMode="auto">
          <a:xfrm>
            <a:off x="1524001" y="27299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B1D7C4C-2088-4803-BEE9-712576CC6E2D}" type="slidenum">
              <a:rPr lang="en-US" altLang="zh-CN"/>
            </a:fld>
            <a:endParaRPr lang="en-US" altLang="zh-CN"/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5520" y="836712"/>
            <a:ext cx="9408368" cy="4968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若</a:t>
            </a:r>
            <a:r>
              <a:rPr lang="en-US" altLang="zh-CN" sz="24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S</a:t>
            </a:r>
            <a:r>
              <a:rPr lang="zh-CN" altLang="en-US" sz="2400" dirty="0"/>
              <a:t>，则显然有</a:t>
            </a:r>
            <a:r>
              <a:rPr lang="en-US" altLang="zh-CN" sz="2400" dirty="0"/>
              <a:t>s(R)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s(S)</a:t>
            </a:r>
            <a:r>
              <a:rPr lang="zh-CN" altLang="en-US" sz="2400" dirty="0"/>
              <a:t>，</a:t>
            </a:r>
            <a:r>
              <a:rPr lang="en-US" altLang="zh-CN" sz="2400" dirty="0"/>
              <a:t>t(R)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t(S)</a:t>
            </a:r>
            <a:r>
              <a:rPr lang="zh-CN" altLang="en-US" sz="2400" dirty="0"/>
              <a:t>。根据对称闭包的定义，</a:t>
            </a:r>
            <a:r>
              <a:rPr lang="en-US" altLang="zh-CN" sz="24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s(R)</a:t>
            </a:r>
            <a:r>
              <a:rPr lang="zh-CN" altLang="en-US" sz="2400" dirty="0"/>
              <a:t>，于是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t(R)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(R)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/>
              <a:t>st</a:t>
            </a:r>
            <a:r>
              <a:rPr lang="en-US" altLang="zh-CN" sz="2400" dirty="0"/>
              <a:t>(R)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sts</a:t>
            </a:r>
            <a:r>
              <a:rPr lang="en-US" altLang="zh-CN" sz="2400" dirty="0"/>
              <a:t>(R)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若</a:t>
            </a:r>
            <a:r>
              <a:rPr lang="en-US" altLang="zh-CN" sz="2400" dirty="0"/>
              <a:t>s(R)</a:t>
            </a:r>
            <a:r>
              <a:rPr lang="zh-CN" altLang="en-US" sz="2400" dirty="0"/>
              <a:t>对称，则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(R)</a:t>
            </a:r>
            <a:r>
              <a:rPr lang="zh-CN" altLang="en-US" sz="2400" dirty="0"/>
              <a:t>也对称。 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所以，由</a:t>
            </a:r>
            <a:r>
              <a:rPr lang="en-US" altLang="zh-CN" sz="2400" dirty="0"/>
              <a:t>(1)</a:t>
            </a:r>
            <a:r>
              <a:rPr lang="zh-CN" altLang="en-US" sz="2400" dirty="0"/>
              <a:t>可得</a:t>
            </a:r>
            <a:r>
              <a:rPr lang="en-US" altLang="zh-CN" sz="2400" dirty="0" err="1"/>
              <a:t>sts</a:t>
            </a:r>
            <a:r>
              <a:rPr lang="en-US" altLang="zh-CN" sz="2400" dirty="0"/>
              <a:t>(R)=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(R)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即</a:t>
            </a:r>
            <a:r>
              <a:rPr lang="en-US" altLang="zh-CN" sz="2400" dirty="0" err="1"/>
              <a:t>st</a:t>
            </a:r>
            <a:r>
              <a:rPr lang="en-US" altLang="zh-CN" sz="2400" dirty="0"/>
              <a:t>(R)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(R)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D1DFEC9-2F1E-42F4-9E62-CD67E2C56BE4}" type="slidenum">
              <a:rPr lang="en-US" altLang="zh-CN"/>
            </a:fld>
            <a:endParaRPr lang="en-US" altLang="zh-CN"/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1196752"/>
            <a:ext cx="8704263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2.36</a:t>
            </a:r>
            <a:r>
              <a:rPr lang="zh-CN" altLang="en-US" sz="2800" dirty="0"/>
              <a:t>设</a:t>
            </a:r>
            <a:r>
              <a:rPr lang="en-US" altLang="zh-CN" sz="2800" dirty="0"/>
              <a:t>A={1,2}</a:t>
            </a:r>
            <a:r>
              <a:rPr lang="zh-CN" altLang="en-US" sz="2800" dirty="0"/>
              <a:t>，</a:t>
            </a:r>
            <a:r>
              <a:rPr lang="en-US" altLang="zh-CN" sz="2800" dirty="0"/>
              <a:t>R={(1,2)}</a:t>
            </a:r>
            <a:r>
              <a:rPr lang="zh-CN" altLang="en-US" sz="2800" dirty="0"/>
              <a:t>，求</a:t>
            </a:r>
            <a:r>
              <a:rPr lang="en-US" altLang="zh-CN" sz="2800" dirty="0" err="1"/>
              <a:t>st</a:t>
            </a:r>
            <a:r>
              <a:rPr lang="en-US" altLang="zh-CN" sz="2800" dirty="0"/>
              <a:t>(R)</a:t>
            </a:r>
            <a:r>
              <a:rPr lang="zh-CN" altLang="en-US" sz="2800" dirty="0"/>
              <a:t>与</a:t>
            </a:r>
            <a:r>
              <a:rPr lang="en-US" altLang="zh-CN" sz="2800" dirty="0" err="1"/>
              <a:t>ts</a:t>
            </a:r>
            <a:r>
              <a:rPr lang="en-US" altLang="zh-CN" sz="2800" dirty="0"/>
              <a:t>(R)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解</a:t>
            </a:r>
            <a:r>
              <a:rPr lang="zh-CN" altLang="en-US" sz="2800" dirty="0"/>
              <a:t>： </a:t>
            </a:r>
            <a:r>
              <a:rPr lang="en-US" altLang="zh-CN" sz="2800" dirty="0" err="1"/>
              <a:t>st</a:t>
            </a:r>
            <a:r>
              <a:rPr lang="en-US" altLang="zh-CN" sz="2800" dirty="0"/>
              <a:t>(R)=s(t(R))=s({(1,2)})={(1,2),(2,1)}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</a:t>
            </a:r>
            <a:r>
              <a:rPr lang="en-US" altLang="zh-CN" sz="2800" dirty="0" err="1"/>
              <a:t>ts</a:t>
            </a:r>
            <a:r>
              <a:rPr lang="en-US" altLang="zh-CN" sz="2800" dirty="0"/>
              <a:t>(R)=t(s(R))=t{(1,2),(2,1)}={(1,2),(2,1),(1,1),(2,2)}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3E0F318-E0EB-408D-86A8-FEDD6B54CCC6}" type="slidenum">
              <a:rPr lang="en-US" altLang="zh-CN"/>
            </a:fld>
            <a:endParaRPr lang="en-US" altLang="zh-CN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560" y="288394"/>
            <a:ext cx="5303912" cy="1143000"/>
          </a:xfrm>
        </p:spPr>
        <p:txBody>
          <a:bodyPr/>
          <a:lstStyle/>
          <a:p>
            <a:r>
              <a:rPr lang="en-US" altLang="zh-CN" dirty="0"/>
              <a:t>2.6</a:t>
            </a:r>
            <a:r>
              <a:rPr lang="zh-CN" altLang="en-US" dirty="0"/>
              <a:t>等价关系与划分</a:t>
            </a:r>
            <a:endParaRPr lang="zh-CN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55640" y="1087437"/>
            <a:ext cx="5519936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b="1" dirty="0">
                <a:sym typeface="Symbol" panose="05050102010706020507" pitchFamily="18" charset="2"/>
              </a:rPr>
              <a:t>等价关系</a:t>
            </a:r>
            <a:endParaRPr lang="en-US" altLang="zh-CN" sz="3200" b="1" dirty="0">
              <a:sym typeface="Symbol" panose="05050102010706020507" pitchFamily="18" charset="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b="1" dirty="0">
                <a:sym typeface="Symbol" panose="05050102010706020507" pitchFamily="18" charset="2"/>
              </a:rPr>
              <a:t>划分</a:t>
            </a:r>
            <a:endParaRPr lang="zh-CN" altLang="en-US" sz="32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02340CD8-D1A3-42F5-A0E8-6011468F342E}" type="slidenum">
              <a:rPr lang="en-US" altLang="zh-CN"/>
            </a:fld>
            <a:endParaRPr lang="en-US" altLang="zh-CN"/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99903" y="188913"/>
            <a:ext cx="4007768" cy="1143000"/>
          </a:xfrm>
        </p:spPr>
        <p:txBody>
          <a:bodyPr/>
          <a:lstStyle/>
          <a:p>
            <a:r>
              <a:rPr lang="en-US" altLang="zh-CN" dirty="0"/>
              <a:t>2.6.1</a:t>
            </a:r>
            <a:r>
              <a:rPr lang="zh-CN" altLang="en-US" dirty="0"/>
              <a:t>等价关系</a:t>
            </a:r>
            <a:endParaRPr lang="zh-CN" altLang="en-US" dirty="0"/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7488" y="1087437"/>
            <a:ext cx="9807575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定义</a:t>
            </a:r>
            <a:r>
              <a:rPr lang="en-US" altLang="zh-CN" sz="3600" b="1" dirty="0">
                <a:solidFill>
                  <a:srgbClr val="0000FF"/>
                </a:solidFill>
                <a:sym typeface="Symbol" panose="05050102010706020507" pitchFamily="18" charset="2"/>
              </a:rPr>
              <a:t>2.18</a:t>
            </a:r>
            <a:r>
              <a:rPr lang="zh-CN" altLang="en-US" sz="3600" dirty="0">
                <a:sym typeface="Symbol" panose="05050102010706020507" pitchFamily="18" charset="2"/>
              </a:rPr>
              <a:t>设</a:t>
            </a:r>
            <a:r>
              <a:rPr lang="en-US" altLang="zh-CN" sz="3600" dirty="0">
                <a:sym typeface="Symbol" panose="05050102010706020507" pitchFamily="18" charset="2"/>
              </a:rPr>
              <a:t>R</a:t>
            </a:r>
            <a:r>
              <a:rPr lang="zh-CN" altLang="en-US" sz="3600" dirty="0">
                <a:sym typeface="Symbol" panose="05050102010706020507" pitchFamily="18" charset="2"/>
              </a:rPr>
              <a:t>为非空集合</a:t>
            </a:r>
            <a:r>
              <a:rPr lang="en-US" altLang="zh-CN" sz="3600" dirty="0">
                <a:sym typeface="Symbol" panose="05050102010706020507" pitchFamily="18" charset="2"/>
              </a:rPr>
              <a:t>A</a:t>
            </a:r>
            <a:r>
              <a:rPr lang="zh-CN" altLang="en-US" sz="3600" dirty="0">
                <a:sym typeface="Symbol" panose="05050102010706020507" pitchFamily="18" charset="2"/>
              </a:rPr>
              <a:t>上的关系。如果</a:t>
            </a:r>
            <a:r>
              <a:rPr lang="en-US" altLang="zh-CN" sz="3600" dirty="0">
                <a:sym typeface="Symbol" panose="05050102010706020507" pitchFamily="18" charset="2"/>
              </a:rPr>
              <a:t>R</a:t>
            </a:r>
            <a:r>
              <a:rPr lang="zh-CN" altLang="en-US" sz="3600" dirty="0">
                <a:sym typeface="Symbol" panose="05050102010706020507" pitchFamily="18" charset="2"/>
              </a:rPr>
              <a:t>是自反的、对称的和传递的，则称</a:t>
            </a:r>
            <a:r>
              <a:rPr lang="en-US" altLang="zh-CN" sz="3600" dirty="0">
                <a:sym typeface="Symbol" panose="05050102010706020507" pitchFamily="18" charset="2"/>
              </a:rPr>
              <a:t>R</a:t>
            </a:r>
            <a:r>
              <a:rPr lang="zh-CN" altLang="en-US" sz="3600" dirty="0">
                <a:sym typeface="Symbol" panose="05050102010706020507" pitchFamily="18" charset="2"/>
              </a:rPr>
              <a:t>为</a:t>
            </a:r>
            <a:r>
              <a:rPr lang="en-US" altLang="zh-CN" sz="3600" dirty="0">
                <a:sym typeface="Symbol" panose="05050102010706020507" pitchFamily="18" charset="2"/>
              </a:rPr>
              <a:t>A</a:t>
            </a:r>
            <a:r>
              <a:rPr lang="zh-CN" altLang="en-US" sz="3600" dirty="0">
                <a:sym typeface="Symbol" panose="05050102010706020507" pitchFamily="18" charset="2"/>
              </a:rPr>
              <a:t>上的</a:t>
            </a:r>
            <a:r>
              <a:rPr lang="zh-C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等价</a:t>
            </a:r>
            <a:r>
              <a:rPr lang="zh-CN" altLang="en-US" sz="3600" b="1" dirty="0">
                <a:sym typeface="Symbol" panose="05050102010706020507" pitchFamily="18" charset="2"/>
              </a:rPr>
              <a:t>关系</a:t>
            </a:r>
            <a:r>
              <a:rPr lang="zh-CN" altLang="en-US" sz="3600" dirty="0">
                <a:sym typeface="Symbol" panose="05050102010706020507" pitchFamily="18" charset="2"/>
              </a:rPr>
              <a:t>。设</a:t>
            </a:r>
            <a:r>
              <a:rPr lang="en-US" altLang="zh-CN" sz="3600" dirty="0">
                <a:sym typeface="Symbol" panose="05050102010706020507" pitchFamily="18" charset="2"/>
              </a:rPr>
              <a:t>R</a:t>
            </a:r>
            <a:r>
              <a:rPr lang="zh-CN" altLang="en-US" sz="3600" dirty="0">
                <a:sym typeface="Symbol" panose="05050102010706020507" pitchFamily="18" charset="2"/>
              </a:rPr>
              <a:t>是一个等价关系，若</a:t>
            </a:r>
            <a:r>
              <a:rPr lang="en-US" altLang="zh-CN" sz="3600" dirty="0">
                <a:sym typeface="Symbol" panose="05050102010706020507" pitchFamily="18" charset="2"/>
              </a:rPr>
              <a:t>(x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ym typeface="Symbol" panose="05050102010706020507" pitchFamily="18" charset="2"/>
              </a:rPr>
              <a:t>y)∈R</a:t>
            </a:r>
            <a:r>
              <a:rPr lang="zh-CN" altLang="en-US" sz="3600" dirty="0">
                <a:sym typeface="Symbol" panose="05050102010706020507" pitchFamily="18" charset="2"/>
              </a:rPr>
              <a:t>，称</a:t>
            </a:r>
            <a:r>
              <a:rPr lang="en-US" altLang="zh-CN" sz="3600" dirty="0">
                <a:sym typeface="Symbol" panose="05050102010706020507" pitchFamily="18" charset="2"/>
              </a:rPr>
              <a:t>x</a:t>
            </a:r>
            <a:r>
              <a:rPr lang="zh-CN" altLang="en-US" sz="3600" b="1" dirty="0">
                <a:sym typeface="Symbol" panose="05050102010706020507" pitchFamily="18" charset="2"/>
              </a:rPr>
              <a:t>等价于</a:t>
            </a:r>
            <a:r>
              <a:rPr lang="en-US" altLang="zh-CN" sz="3600" dirty="0">
                <a:sym typeface="Symbol" panose="05050102010706020507" pitchFamily="18" charset="2"/>
              </a:rPr>
              <a:t>y</a:t>
            </a:r>
            <a:r>
              <a:rPr lang="zh-CN" altLang="en-US" sz="3600" dirty="0">
                <a:sym typeface="Symbol" panose="05050102010706020507" pitchFamily="18" charset="2"/>
              </a:rPr>
              <a:t>，记做</a:t>
            </a:r>
            <a:r>
              <a:rPr lang="en-US" altLang="zh-CN" sz="3600" dirty="0">
                <a:sym typeface="Symbol" panose="05050102010706020507" pitchFamily="18" charset="2"/>
              </a:rPr>
              <a:t>x</a:t>
            </a:r>
            <a:r>
              <a:rPr lang="zh-CN" altLang="en-US" sz="3600" dirty="0">
                <a:sym typeface="Symbol" panose="05050102010706020507" pitchFamily="18" charset="2"/>
              </a:rPr>
              <a:t>～</a:t>
            </a:r>
            <a:r>
              <a:rPr lang="en-US" altLang="zh-CN" sz="3600" dirty="0">
                <a:sym typeface="Symbol" panose="05050102010706020507" pitchFamily="18" charset="2"/>
              </a:rPr>
              <a:t>y</a:t>
            </a:r>
            <a:r>
              <a:rPr lang="zh-CN" altLang="en-US" sz="3600" dirty="0">
                <a:sym typeface="Symbol" panose="05050102010706020507" pitchFamily="18" charset="2"/>
              </a:rPr>
              <a:t>。 </a:t>
            </a:r>
            <a:endParaRPr lang="zh-CN" altLang="en-US" sz="36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90F9A86-E1F4-4A9A-942E-5ABDD345BF69}" type="slidenum">
              <a:rPr lang="en-US" altLang="zh-CN"/>
            </a:fld>
            <a:endParaRPr lang="en-US" altLang="zh-CN"/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36650" y="1196975"/>
            <a:ext cx="11055350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</a:rPr>
              <a:t>2.37</a:t>
            </a:r>
            <a:r>
              <a:rPr lang="zh-CN" altLang="en-US" sz="3200" dirty="0"/>
              <a:t>以下关系是等价关系： </a:t>
            </a:r>
            <a:endParaRPr lang="zh-CN" alt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(1) </a:t>
            </a:r>
            <a:r>
              <a:rPr lang="zh-CN" altLang="en-US" sz="3200" dirty="0"/>
              <a:t>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上的恒等关系、全域关系是等价关系。</a:t>
            </a:r>
            <a:endParaRPr lang="zh-CN" alt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(2) </a:t>
            </a:r>
            <a:r>
              <a:rPr lang="zh-CN" altLang="en-US" sz="3200" dirty="0"/>
              <a:t>三角形的全等关系、三角形的相似关系是等价关系。</a:t>
            </a:r>
            <a:endParaRPr lang="zh-CN" alt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(3) </a:t>
            </a:r>
            <a:r>
              <a:rPr lang="zh-CN" altLang="en-US" sz="3200" dirty="0"/>
              <a:t>在一个班级里</a:t>
            </a:r>
            <a:r>
              <a:rPr lang="zh-CN" altLang="en-US" sz="3200" dirty="0">
                <a:latin typeface="Times New Roman" panose="02020603050405020304" pitchFamily="18" charset="0"/>
              </a:rPr>
              <a:t>“</a:t>
            </a:r>
            <a:r>
              <a:rPr lang="zh-CN" altLang="en-US" sz="3200" dirty="0"/>
              <a:t>年龄相等</a:t>
            </a:r>
            <a:r>
              <a:rPr lang="zh-CN" altLang="en-US" sz="3200" dirty="0">
                <a:latin typeface="Times New Roman" panose="02020603050405020304" pitchFamily="18" charset="0"/>
              </a:rPr>
              <a:t>”</a:t>
            </a:r>
            <a:r>
              <a:rPr lang="zh-CN" altLang="en-US" sz="3200" dirty="0"/>
              <a:t>的关系是等价关系。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4A713FB-94B9-4F07-8F2E-EC7B309FF340}" type="slidenum">
              <a:rPr lang="en-US" altLang="zh-CN"/>
            </a:fld>
            <a:endParaRPr lang="en-US" altLang="zh-CN"/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44624"/>
            <a:ext cx="8916988" cy="1439862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2.38</a:t>
            </a:r>
            <a:r>
              <a:rPr lang="zh-CN" altLang="en-US" sz="2800" dirty="0">
                <a:cs typeface="+mn-cs"/>
              </a:rPr>
              <a:t>设关系</a:t>
            </a:r>
            <a:r>
              <a:rPr lang="en-US" altLang="zh-CN" sz="2800" dirty="0">
                <a:cs typeface="+mn-cs"/>
              </a:rPr>
              <a:t>R</a:t>
            </a:r>
            <a:r>
              <a:rPr lang="zh-CN" altLang="en-US" sz="2800" dirty="0">
                <a:cs typeface="+mn-cs"/>
              </a:rPr>
              <a:t>是定义在有理数集</a:t>
            </a:r>
            <a:r>
              <a:rPr lang="en-US" altLang="zh-CN" sz="2800" dirty="0">
                <a:cs typeface="+mn-cs"/>
              </a:rPr>
              <a:t>Q</a:t>
            </a:r>
            <a:r>
              <a:rPr lang="zh-CN" altLang="en-US" sz="2800" dirty="0">
                <a:cs typeface="+mn-cs"/>
              </a:rPr>
              <a:t>上的关系，并且</a:t>
            </a:r>
            <a:r>
              <a:rPr lang="en-US" altLang="zh-CN" sz="2800" dirty="0">
                <a:cs typeface="+mn-cs"/>
              </a:rPr>
              <a:t>(</a:t>
            </a:r>
            <a:r>
              <a:rPr lang="en-US" altLang="zh-CN" sz="2800" dirty="0" err="1">
                <a:cs typeface="+mn-cs"/>
              </a:rPr>
              <a:t>x,y</a:t>
            </a:r>
            <a:r>
              <a:rPr lang="en-US" altLang="zh-CN" sz="2800" dirty="0">
                <a:cs typeface="+mn-cs"/>
              </a:rPr>
              <a:t>)∈R</a:t>
            </a:r>
            <a:r>
              <a:rPr lang="zh-CN" altLang="en-US" sz="2800" dirty="0">
                <a:cs typeface="+mn-cs"/>
              </a:rPr>
              <a:t>，当且仅当</a:t>
            </a:r>
            <a:r>
              <a:rPr lang="en-US" altLang="zh-CN" sz="2800" dirty="0">
                <a:cs typeface="+mn-cs"/>
              </a:rPr>
              <a:t>x-y</a:t>
            </a:r>
            <a:r>
              <a:rPr lang="zh-CN" altLang="en-US" sz="2800" dirty="0">
                <a:cs typeface="+mn-cs"/>
              </a:rPr>
              <a:t>是整数，试证</a:t>
            </a:r>
            <a:r>
              <a:rPr lang="en-US" altLang="zh-CN" sz="2800" dirty="0">
                <a:cs typeface="+mn-cs"/>
              </a:rPr>
              <a:t>R</a:t>
            </a:r>
            <a:r>
              <a:rPr lang="zh-CN" altLang="en-US" sz="2800" dirty="0">
                <a:cs typeface="+mn-cs"/>
              </a:rPr>
              <a:t>是等价关系。</a:t>
            </a:r>
            <a:endParaRPr lang="zh-CN" altLang="en-US" sz="2800" dirty="0">
              <a:cs typeface="+mn-cs"/>
            </a:endParaRP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1363" y="1700808"/>
            <a:ext cx="11450637" cy="4114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： </a:t>
            </a:r>
            <a:r>
              <a:rPr lang="en-US" altLang="zh-CN" sz="2800" dirty="0"/>
              <a:t>(1) </a:t>
            </a:r>
            <a:r>
              <a:rPr lang="zh-CN" altLang="en-US" sz="2800" dirty="0">
                <a:solidFill>
                  <a:srgbClr val="0000FF"/>
                </a:solidFill>
              </a:rPr>
              <a:t>自反性</a:t>
            </a:r>
            <a:r>
              <a:rPr lang="zh-CN" altLang="en-US" sz="2800" dirty="0"/>
              <a:t>： 对任意一个有理数</a:t>
            </a:r>
            <a:r>
              <a:rPr lang="en-US" altLang="zh-CN" sz="2800" dirty="0" err="1"/>
              <a:t>x∈Q</a:t>
            </a:r>
            <a:r>
              <a:rPr lang="zh-CN" altLang="en-US" sz="2800" dirty="0"/>
              <a:t>，有</a:t>
            </a:r>
            <a:r>
              <a:rPr lang="en-US" altLang="zh-CN" sz="2800" dirty="0"/>
              <a:t>x-x=0</a:t>
            </a:r>
            <a:r>
              <a:rPr lang="zh-CN" altLang="en-US" sz="2800" dirty="0"/>
              <a:t>是整数，即对所有的有理数有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x,x</a:t>
            </a:r>
            <a:r>
              <a:rPr lang="en-US" altLang="zh-CN" sz="2800" dirty="0"/>
              <a:t>)∈R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zh-CN" altLang="en-US" sz="2800" dirty="0"/>
              <a:t>满足自反性。 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 </a:t>
            </a:r>
            <a:r>
              <a:rPr lang="zh-CN" altLang="en-US" sz="2800" dirty="0">
                <a:solidFill>
                  <a:srgbClr val="0000FF"/>
                </a:solidFill>
              </a:rPr>
              <a:t>对称性</a:t>
            </a:r>
            <a:r>
              <a:rPr lang="zh-CN" altLang="en-US" sz="2800" dirty="0"/>
              <a:t>： 假设</a:t>
            </a:r>
            <a:r>
              <a:rPr lang="en-US" altLang="zh-CN" sz="2800" dirty="0" err="1"/>
              <a:t>x,y∈Q</a:t>
            </a:r>
            <a:r>
              <a:rPr lang="zh-CN" altLang="en-US" sz="2800" dirty="0"/>
              <a:t>， 并且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)∈R</a:t>
            </a:r>
            <a:r>
              <a:rPr lang="zh-CN" altLang="en-US" sz="2800" dirty="0"/>
              <a:t>，即</a:t>
            </a:r>
            <a:r>
              <a:rPr lang="en-US" altLang="zh-CN" sz="2800" dirty="0"/>
              <a:t>x-y</a:t>
            </a:r>
            <a:r>
              <a:rPr lang="zh-CN" altLang="en-US" sz="2800" dirty="0"/>
              <a:t>是整数，则</a:t>
            </a:r>
            <a:r>
              <a:rPr lang="en-US" altLang="zh-CN" sz="2800" dirty="0"/>
              <a:t>y-x=-(x-y)</a:t>
            </a:r>
            <a:r>
              <a:rPr lang="zh-CN" altLang="en-US" sz="2800" dirty="0"/>
              <a:t>也是整数，即</a:t>
            </a:r>
            <a:r>
              <a:rPr lang="en-US" altLang="zh-CN" sz="2800" dirty="0"/>
              <a:t>(</a:t>
            </a:r>
            <a:r>
              <a:rPr lang="en-US" altLang="zh-CN" sz="2800" dirty="0" err="1"/>
              <a:t>y,x</a:t>
            </a:r>
            <a:r>
              <a:rPr lang="en-US" altLang="zh-CN" sz="2800" dirty="0"/>
              <a:t>)∈R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zh-CN" altLang="en-US" sz="2800" dirty="0"/>
              <a:t>满足对称性。 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(3) </a:t>
            </a:r>
            <a:r>
              <a:rPr lang="zh-CN" altLang="en-US" sz="2800" dirty="0">
                <a:solidFill>
                  <a:srgbClr val="0000FF"/>
                </a:solidFill>
              </a:rPr>
              <a:t>传递性</a:t>
            </a:r>
            <a:r>
              <a:rPr lang="zh-CN" altLang="en-US" sz="2800" dirty="0"/>
              <a:t>：  假设</a:t>
            </a:r>
            <a:r>
              <a:rPr lang="en-US" altLang="zh-CN" sz="2800" dirty="0" err="1"/>
              <a:t>x,y,z∈Q</a:t>
            </a:r>
            <a:r>
              <a:rPr lang="zh-CN" altLang="en-US" sz="2800" dirty="0"/>
              <a:t>，并且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)∈R</a:t>
            </a:r>
            <a:r>
              <a:rPr lang="zh-CN" altLang="en-US" sz="2800" dirty="0"/>
              <a:t>，</a:t>
            </a:r>
            <a:r>
              <a:rPr lang="en-US" altLang="zh-CN" sz="2800" dirty="0"/>
              <a:t>(</a:t>
            </a:r>
            <a:r>
              <a:rPr lang="en-US" altLang="zh-CN" sz="2800" dirty="0" err="1"/>
              <a:t>y,z</a:t>
            </a:r>
            <a:r>
              <a:rPr lang="en-US" altLang="zh-CN" sz="2800" dirty="0"/>
              <a:t>)∈R</a:t>
            </a:r>
            <a:r>
              <a:rPr lang="zh-CN" altLang="en-US" sz="2800" dirty="0"/>
              <a:t>，即</a:t>
            </a:r>
            <a:r>
              <a:rPr lang="en-US" altLang="zh-CN" sz="2800" dirty="0"/>
              <a:t>x-y</a:t>
            </a:r>
            <a:r>
              <a:rPr lang="zh-CN" altLang="en-US" sz="2800" dirty="0"/>
              <a:t>与</a:t>
            </a:r>
            <a:r>
              <a:rPr lang="en-US" altLang="zh-CN" sz="2800" dirty="0"/>
              <a:t>y-z</a:t>
            </a:r>
            <a:r>
              <a:rPr lang="zh-CN" altLang="en-US" sz="2800" dirty="0"/>
              <a:t>都是整数，则</a:t>
            </a:r>
            <a:r>
              <a:rPr lang="en-US" altLang="zh-CN" sz="2800" dirty="0"/>
              <a:t>x-z=</a:t>
            </a:r>
            <a:r>
              <a:rPr lang="en-US" altLang="zh-CN" sz="2800" dirty="0" err="1"/>
              <a:t>x-y+y-z</a:t>
            </a:r>
            <a:r>
              <a:rPr lang="en-US" altLang="zh-CN" sz="2800" dirty="0"/>
              <a:t>=(x-y)+(y-z)</a:t>
            </a:r>
            <a:r>
              <a:rPr lang="zh-CN" altLang="en-US" sz="2800" dirty="0"/>
              <a:t>也是整数，即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x,z</a:t>
            </a:r>
            <a:r>
              <a:rPr lang="en-US" altLang="zh-CN" sz="2800" dirty="0"/>
              <a:t>)∈R</a:t>
            </a:r>
            <a:r>
              <a:rPr lang="zh-CN" altLang="en-US" sz="2800" dirty="0"/>
              <a:t>，因此</a:t>
            </a:r>
            <a:r>
              <a:rPr lang="en-US" altLang="zh-CN" sz="2800" dirty="0"/>
              <a:t>R</a:t>
            </a:r>
            <a:r>
              <a:rPr lang="zh-CN" altLang="en-US" sz="2800" dirty="0"/>
              <a:t>满足传递性。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所以，</a:t>
            </a:r>
            <a:r>
              <a:rPr lang="en-US" altLang="zh-CN" sz="2800" dirty="0"/>
              <a:t>R</a:t>
            </a:r>
            <a:r>
              <a:rPr lang="zh-CN" altLang="en-US" sz="2800" dirty="0"/>
              <a:t>是等价关系。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E86D1508-B333-4E28-A724-E6FE8CF3DA87}" type="slidenum">
              <a:rPr lang="en-US" altLang="zh-CN"/>
            </a:fld>
            <a:endParaRPr lang="en-US" altLang="zh-CN"/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72671" y="282457"/>
            <a:ext cx="6200775" cy="561975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证明： 写出关系</a:t>
            </a:r>
            <a:r>
              <a:rPr lang="en-US" altLang="zh-CN" sz="2800" dirty="0"/>
              <a:t>R</a:t>
            </a:r>
            <a:r>
              <a:rPr lang="zh-CN" altLang="en-US" sz="2800" dirty="0"/>
              <a:t>关系矩阵如下：</a:t>
            </a:r>
            <a:endParaRPr lang="zh-CN" altLang="en-US" sz="2800" dirty="0"/>
          </a:p>
        </p:txBody>
      </p:sp>
      <p:sp>
        <p:nvSpPr>
          <p:cNvPr id="282629" name="Rectangle 5"/>
          <p:cNvSpPr>
            <a:spLocks noChangeArrowheads="1"/>
          </p:cNvSpPr>
          <p:nvPr/>
        </p:nvSpPr>
        <p:spPr bwMode="auto">
          <a:xfrm>
            <a:off x="1524001" y="278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2628" name="Object 4"/>
          <p:cNvGraphicFramePr>
            <a:graphicFrameLocks noChangeAspect="1"/>
          </p:cNvGraphicFramePr>
          <p:nvPr/>
        </p:nvGraphicFramePr>
        <p:xfrm>
          <a:off x="5303912" y="1028415"/>
          <a:ext cx="2087563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公式" r:id="rId1" imgW="1295400" imgH="914400" progId="Equation.3">
                  <p:embed/>
                </p:oleObj>
              </mc:Choice>
              <mc:Fallback>
                <p:oleObj name="公式" r:id="rId1" imgW="12954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1028415"/>
                        <a:ext cx="2087563" cy="147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4669512" y="2501615"/>
            <a:ext cx="6445959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由关系矩阵可以看出，关系</a:t>
            </a:r>
            <a:r>
              <a:rPr lang="en-US" altLang="zh-CN" sz="2000" dirty="0"/>
              <a:t>R</a:t>
            </a:r>
            <a:r>
              <a:rPr lang="zh-CN" altLang="en-US" sz="2000" dirty="0"/>
              <a:t>满足自反性。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该关系矩阵是对称的，即</a:t>
            </a:r>
            <a:r>
              <a:rPr lang="en-US" altLang="zh-CN" sz="2000" dirty="0"/>
              <a:t>R</a:t>
            </a:r>
            <a:r>
              <a:rPr lang="zh-CN" altLang="en-US" sz="2000" dirty="0"/>
              <a:t>满足对称性。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求出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2</a:t>
            </a:r>
            <a:r>
              <a:rPr lang="zh-CN" altLang="en-US" sz="2000" dirty="0"/>
              <a:t>的关系矩阵为：</a:t>
            </a:r>
            <a:endParaRPr lang="zh-CN" altLang="en-US" sz="2000" dirty="0"/>
          </a:p>
        </p:txBody>
      </p:sp>
      <p:sp>
        <p:nvSpPr>
          <p:cNvPr id="282632" name="Rectangle 8"/>
          <p:cNvSpPr>
            <a:spLocks noChangeArrowheads="1"/>
          </p:cNvSpPr>
          <p:nvPr/>
        </p:nvSpPr>
        <p:spPr bwMode="auto">
          <a:xfrm>
            <a:off x="1524001" y="278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2631" name="Object 7"/>
          <p:cNvGraphicFramePr>
            <a:graphicFrameLocks noChangeAspect="1"/>
          </p:cNvGraphicFramePr>
          <p:nvPr/>
        </p:nvGraphicFramePr>
        <p:xfrm>
          <a:off x="6456040" y="3429000"/>
          <a:ext cx="259238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公式" r:id="rId3" imgW="1295400" imgH="914400" progId="Equation.3">
                  <p:embed/>
                </p:oleObj>
              </mc:Choice>
              <mc:Fallback>
                <p:oleObj name="公式" r:id="rId3" imgW="129540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3429000"/>
                        <a:ext cx="2592388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3" name="Rectangle 9"/>
          <p:cNvSpPr>
            <a:spLocks noChangeArrowheads="1"/>
          </p:cNvSpPr>
          <p:nvPr/>
        </p:nvSpPr>
        <p:spPr bwMode="auto">
          <a:xfrm>
            <a:off x="2207568" y="4883871"/>
            <a:ext cx="9679732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即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2</a:t>
            </a:r>
            <a:r>
              <a:rPr lang="zh-CN" altLang="en-US" sz="2000" dirty="0"/>
              <a:t>的关系矩阵与</a:t>
            </a:r>
            <a:r>
              <a:rPr lang="en-US" altLang="zh-CN" sz="2000" dirty="0"/>
              <a:t>R</a:t>
            </a:r>
            <a:r>
              <a:rPr lang="zh-CN" altLang="en-US" sz="2000" dirty="0"/>
              <a:t>的关系矩阵相同，并且有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3</a:t>
            </a:r>
            <a:r>
              <a:rPr lang="zh-CN" altLang="en-US" sz="2000" dirty="0"/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…</a:t>
            </a:r>
            <a:r>
              <a:rPr lang="zh-CN" altLang="en-US" sz="2000" dirty="0"/>
              <a:t>，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n</a:t>
            </a:r>
            <a:r>
              <a:rPr lang="zh-CN" altLang="en-US" sz="2000" dirty="0"/>
              <a:t>都与</a:t>
            </a:r>
            <a:r>
              <a:rPr lang="en-US" altLang="zh-CN" sz="2000" dirty="0"/>
              <a:t>R</a:t>
            </a:r>
            <a:r>
              <a:rPr lang="zh-CN" altLang="en-US" sz="2000" dirty="0"/>
              <a:t>的关系矩阵相同，因此，</a:t>
            </a:r>
            <a:r>
              <a:rPr lang="en-US" altLang="zh-CN" sz="2000" dirty="0"/>
              <a:t>t(R)=R∪R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∪R</a:t>
            </a:r>
            <a:r>
              <a:rPr lang="en-US" altLang="zh-CN" sz="2000" baseline="30000" dirty="0"/>
              <a:t>3</a:t>
            </a:r>
            <a:r>
              <a:rPr lang="en-US" altLang="zh-CN" sz="2000" dirty="0"/>
              <a:t>∪</a:t>
            </a:r>
            <a:r>
              <a:rPr lang="en-US" altLang="zh-CN" sz="2000" dirty="0">
                <a:latin typeface="Times New Roman" panose="02020603050405020304" pitchFamily="18" charset="0"/>
              </a:rPr>
              <a:t>…</a:t>
            </a:r>
            <a:r>
              <a:rPr lang="en-US" altLang="zh-CN" sz="2000" dirty="0"/>
              <a:t>∪R</a:t>
            </a:r>
            <a:r>
              <a:rPr lang="en-US" altLang="zh-CN" sz="2000" baseline="30000" dirty="0"/>
              <a:t>n</a:t>
            </a:r>
            <a:r>
              <a:rPr lang="zh-CN" altLang="en-US" sz="2000" dirty="0"/>
              <a:t>的关系矩阵也与</a:t>
            </a:r>
            <a:r>
              <a:rPr lang="en-US" altLang="zh-CN" sz="2000" dirty="0"/>
              <a:t>R</a:t>
            </a:r>
            <a:r>
              <a:rPr lang="zh-CN" altLang="en-US" sz="2000" dirty="0"/>
              <a:t>的关系矩阵相同，所以</a:t>
            </a:r>
            <a:r>
              <a:rPr lang="en-US" altLang="zh-CN" sz="2000" dirty="0"/>
              <a:t>R</a:t>
            </a:r>
            <a:r>
              <a:rPr lang="zh-CN" altLang="en-US" sz="2000" dirty="0"/>
              <a:t>是传递的。</a:t>
            </a:r>
            <a:endParaRPr lang="zh-CN" altLang="en-US" sz="20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综上所述，</a:t>
            </a:r>
            <a:r>
              <a:rPr lang="en-US" altLang="zh-CN" sz="2000" dirty="0"/>
              <a:t>R</a:t>
            </a:r>
            <a:r>
              <a:rPr lang="zh-CN" altLang="en-US" sz="2000" dirty="0"/>
              <a:t>是</a:t>
            </a:r>
            <a:r>
              <a:rPr lang="en-US" altLang="zh-CN" sz="2000" dirty="0"/>
              <a:t>A </a:t>
            </a:r>
            <a:r>
              <a:rPr lang="zh-CN" altLang="en-US" sz="2000" dirty="0"/>
              <a:t>上的等价关系。</a:t>
            </a:r>
            <a:endParaRPr lang="zh-CN" altLang="en-US" sz="20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076529" y="1126064"/>
            <a:ext cx="2915866" cy="31679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例</a:t>
            </a:r>
            <a:r>
              <a:rPr lang="en-US" altLang="zh-CN">
                <a:solidFill>
                  <a:srgbClr val="0000FF"/>
                </a:solidFill>
              </a:rPr>
              <a:t>2.39 </a:t>
            </a:r>
            <a:r>
              <a:rPr lang="zh-CN" altLang="en-US"/>
              <a:t>设集合 </a:t>
            </a:r>
            <a:r>
              <a:rPr lang="en-US" altLang="zh-CN"/>
              <a:t>A={a,b,c,d,}</a:t>
            </a:r>
            <a:r>
              <a:rPr lang="zh-CN" altLang="en-US"/>
              <a:t>，</a:t>
            </a:r>
            <a:r>
              <a:rPr lang="en-US" altLang="zh-CN"/>
              <a:t>R={(a,a)</a:t>
            </a:r>
            <a:r>
              <a:rPr lang="zh-CN" altLang="en-US"/>
              <a:t>，</a:t>
            </a:r>
            <a:r>
              <a:rPr lang="en-US" altLang="zh-CN"/>
              <a:t>(a,d)</a:t>
            </a:r>
            <a:r>
              <a:rPr lang="zh-CN" altLang="en-US"/>
              <a:t>，</a:t>
            </a:r>
            <a:r>
              <a:rPr lang="en-US" altLang="zh-CN"/>
              <a:t>(b,b)</a:t>
            </a:r>
            <a:r>
              <a:rPr lang="zh-CN" altLang="en-US"/>
              <a:t>，</a:t>
            </a:r>
            <a:r>
              <a:rPr lang="en-US" altLang="zh-CN"/>
              <a:t>(b,c)</a:t>
            </a:r>
            <a:r>
              <a:rPr lang="zh-CN" altLang="en-US"/>
              <a:t>，</a:t>
            </a:r>
            <a:r>
              <a:rPr lang="en-US" altLang="zh-CN"/>
              <a:t>(c,b)</a:t>
            </a:r>
            <a:r>
              <a:rPr lang="zh-CN" altLang="en-US"/>
              <a:t>，</a:t>
            </a:r>
            <a:r>
              <a:rPr lang="en-US" altLang="zh-CN"/>
              <a:t>(c,c) </a:t>
            </a:r>
            <a:r>
              <a:rPr lang="zh-CN" altLang="en-US"/>
              <a:t>，</a:t>
            </a:r>
            <a:r>
              <a:rPr lang="en-US" altLang="zh-CN"/>
              <a:t>(d,a)</a:t>
            </a:r>
            <a:r>
              <a:rPr lang="zh-CN" altLang="en-US"/>
              <a:t>，</a:t>
            </a:r>
            <a:r>
              <a:rPr lang="en-US" altLang="zh-CN"/>
              <a:t>(d,d)}</a:t>
            </a:r>
            <a:r>
              <a:rPr lang="zh-CN" altLang="en-US"/>
              <a:t>。试证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上的等价关系。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6C8FB95-72B8-4920-9CD0-0632214B42C8}" type="slidenum">
              <a:rPr lang="en-US" altLang="zh-CN"/>
            </a:fld>
            <a:endParaRPr lang="en-US" altLang="zh-CN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75886" y="2420888"/>
            <a:ext cx="10287942" cy="37465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： 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R={(1,4),(4,1),(1,7),(7,1),(2,5),(5,2),(2,8),(8,2),(3,6),(6,3)}∪I</a:t>
            </a:r>
            <a:r>
              <a:rPr lang="en-US" altLang="zh-CN" sz="2400" baseline="-25000" dirty="0"/>
              <a:t>A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因为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R</a:t>
            </a:r>
            <a:r>
              <a:rPr lang="zh-CN" altLang="en-US" sz="2400" dirty="0"/>
              <a:t>，因此</a:t>
            </a:r>
            <a:r>
              <a:rPr lang="en-US" altLang="zh-CN" sz="2400" dirty="0"/>
              <a:t>R</a:t>
            </a:r>
            <a:r>
              <a:rPr lang="zh-CN" altLang="en-US" sz="2400" dirty="0"/>
              <a:t>满足自反性。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对</a:t>
            </a:r>
            <a:r>
              <a:rPr lang="en-US" altLang="zh-CN" sz="2400" dirty="0" err="1"/>
              <a:t>x,y∈A</a:t>
            </a:r>
            <a:r>
              <a:rPr lang="zh-CN" altLang="en-US" sz="2400" dirty="0"/>
              <a:t>，若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zh-CN" altLang="en-US" sz="2400" dirty="0"/>
              <a:t>，即</a:t>
            </a:r>
            <a:r>
              <a:rPr lang="en-US" altLang="zh-CN" sz="2400" dirty="0" err="1"/>
              <a:t>x≡y</a:t>
            </a:r>
            <a:r>
              <a:rPr lang="en-US" altLang="zh-CN" sz="2400" dirty="0"/>
              <a:t> mod 3</a:t>
            </a:r>
            <a:r>
              <a:rPr lang="zh-CN" altLang="en-US" sz="2400" dirty="0"/>
              <a:t>，则有</a:t>
            </a:r>
            <a:r>
              <a:rPr lang="en-US" altLang="zh-CN" sz="2400" dirty="0" err="1"/>
              <a:t>y≡x</a:t>
            </a:r>
            <a:r>
              <a:rPr lang="en-US" altLang="zh-CN" sz="2400" dirty="0"/>
              <a:t> mod 3</a:t>
            </a:r>
            <a:r>
              <a:rPr lang="zh-CN" altLang="en-US" sz="2400" dirty="0"/>
              <a:t>，即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y,x</a:t>
            </a:r>
            <a:r>
              <a:rPr lang="en-US" altLang="zh-CN" sz="2400" dirty="0"/>
              <a:t>)∈R</a:t>
            </a:r>
            <a:r>
              <a:rPr lang="zh-CN" altLang="en-US" sz="2400" dirty="0"/>
              <a:t>，因此</a:t>
            </a:r>
            <a:r>
              <a:rPr lang="en-US" altLang="zh-CN" sz="2400" dirty="0"/>
              <a:t>R</a:t>
            </a:r>
            <a:r>
              <a:rPr lang="zh-CN" altLang="en-US" sz="2400" dirty="0"/>
              <a:t>满足对称性。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对</a:t>
            </a:r>
            <a:r>
              <a:rPr lang="en-US" altLang="zh-CN" sz="2400" dirty="0" err="1"/>
              <a:t>x,y,z∈A</a:t>
            </a:r>
            <a:r>
              <a:rPr lang="zh-CN" altLang="en-US" sz="2400" dirty="0"/>
              <a:t>，若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)∈R</a:t>
            </a:r>
            <a:r>
              <a:rPr lang="zh-CN" altLang="en-US" sz="2400" dirty="0"/>
              <a:t>，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</a:t>
            </a:r>
            <a:r>
              <a:rPr lang="en-US" altLang="zh-CN" sz="2400" dirty="0"/>
              <a:t>)∈R</a:t>
            </a:r>
            <a:r>
              <a:rPr lang="zh-CN" altLang="en-US" sz="2400" dirty="0"/>
              <a:t>，即</a:t>
            </a:r>
            <a:r>
              <a:rPr lang="en-US" altLang="zh-CN" sz="2400" dirty="0" err="1"/>
              <a:t>x≡y</a:t>
            </a:r>
            <a:r>
              <a:rPr lang="en-US" altLang="zh-CN" sz="2400" dirty="0"/>
              <a:t> mod 3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y≡z</a:t>
            </a:r>
            <a:r>
              <a:rPr lang="en-US" altLang="zh-CN" sz="2400" dirty="0"/>
              <a:t> mod 3</a:t>
            </a:r>
            <a:r>
              <a:rPr lang="zh-CN" altLang="en-US" sz="2400" dirty="0"/>
              <a:t>，则有</a:t>
            </a:r>
            <a:r>
              <a:rPr lang="en-US" altLang="zh-CN" sz="2400" dirty="0" err="1"/>
              <a:t>x≡z</a:t>
            </a:r>
            <a:r>
              <a:rPr lang="en-US" altLang="zh-CN" sz="2400" dirty="0"/>
              <a:t> mod 3</a:t>
            </a:r>
            <a:r>
              <a:rPr lang="zh-CN" altLang="en-US" sz="2400" dirty="0"/>
              <a:t>，即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x,z</a:t>
            </a:r>
            <a:r>
              <a:rPr lang="en-US" altLang="zh-CN" sz="2400" dirty="0"/>
              <a:t>)∈R</a:t>
            </a:r>
            <a:r>
              <a:rPr lang="zh-CN" altLang="en-US" sz="2400" dirty="0"/>
              <a:t>，因此</a:t>
            </a:r>
            <a:r>
              <a:rPr lang="en-US" altLang="zh-CN" sz="2400" dirty="0"/>
              <a:t>R</a:t>
            </a:r>
            <a:r>
              <a:rPr lang="zh-CN" altLang="en-US" sz="2400" dirty="0"/>
              <a:t>满足传递性。</a:t>
            </a:r>
            <a:endParaRPr lang="zh-CN" alt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综上所述，</a:t>
            </a:r>
            <a:r>
              <a:rPr lang="en-US" altLang="zh-CN" sz="2400" dirty="0"/>
              <a:t>R</a:t>
            </a:r>
            <a:r>
              <a:rPr lang="zh-CN" altLang="en-US" sz="2400" dirty="0"/>
              <a:t>是等价关系。</a:t>
            </a:r>
            <a:endParaRPr lang="zh-CN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1424" y="1053158"/>
            <a:ext cx="993710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2.40</a:t>
            </a:r>
            <a:r>
              <a:rPr lang="zh-CN" altLang="en-US" dirty="0"/>
              <a:t>设</a:t>
            </a:r>
            <a:r>
              <a:rPr lang="en-US" altLang="zh-CN" dirty="0"/>
              <a:t>A={1,2,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,8}, </a:t>
            </a:r>
            <a:r>
              <a:rPr lang="zh-CN" altLang="en-US" dirty="0"/>
              <a:t>定义</a:t>
            </a:r>
            <a:r>
              <a:rPr lang="en-US" altLang="zh-CN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R={(x</a:t>
            </a:r>
            <a:r>
              <a:rPr lang="zh-CN" altLang="en-US" dirty="0"/>
              <a:t>，</a:t>
            </a:r>
            <a:r>
              <a:rPr lang="en-US" altLang="zh-CN" dirty="0"/>
              <a:t>y)|x</a:t>
            </a:r>
            <a:r>
              <a:rPr lang="zh-CN" altLang="en-US" dirty="0"/>
              <a:t>，</a:t>
            </a:r>
            <a:r>
              <a:rPr lang="en-US" altLang="zh-CN" dirty="0" err="1"/>
              <a:t>y∈A</a:t>
            </a:r>
            <a:r>
              <a:rPr lang="zh-CN" altLang="en-US" dirty="0"/>
              <a:t>且</a:t>
            </a:r>
            <a:r>
              <a:rPr lang="en-US" altLang="zh-CN" dirty="0" err="1"/>
              <a:t>x≡y</a:t>
            </a:r>
            <a:r>
              <a:rPr lang="en-US" altLang="zh-CN" dirty="0"/>
              <a:t>(mod 3)}</a:t>
            </a:r>
            <a:r>
              <a:rPr lang="zh-CN" altLang="en-US" dirty="0"/>
              <a:t>，其中</a:t>
            </a:r>
            <a:r>
              <a:rPr lang="en-US" altLang="zh-CN" dirty="0" err="1"/>
              <a:t>x≡y</a:t>
            </a:r>
            <a:r>
              <a:rPr lang="en-US" altLang="zh-CN" dirty="0"/>
              <a:t>(mod 3)</a:t>
            </a:r>
            <a:r>
              <a:rPr lang="zh-CN" altLang="en-US" dirty="0"/>
              <a:t>叫做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模</a:t>
            </a:r>
            <a:r>
              <a:rPr lang="en-US" altLang="zh-CN" dirty="0"/>
              <a:t>3</a:t>
            </a:r>
            <a:r>
              <a:rPr lang="zh-CN" altLang="en-US" dirty="0"/>
              <a:t>相等，即</a:t>
            </a:r>
            <a:r>
              <a:rPr lang="en-US" altLang="zh-CN" dirty="0"/>
              <a:t>x</a:t>
            </a:r>
            <a:r>
              <a:rPr lang="zh-CN" altLang="en-US" dirty="0"/>
              <a:t>除以</a:t>
            </a:r>
            <a:r>
              <a:rPr lang="en-US" altLang="zh-CN" dirty="0"/>
              <a:t>3</a:t>
            </a:r>
            <a:r>
              <a:rPr lang="zh-CN" altLang="en-US" dirty="0"/>
              <a:t>的余数与</a:t>
            </a:r>
            <a:r>
              <a:rPr lang="en-US" altLang="zh-CN" dirty="0"/>
              <a:t>y</a:t>
            </a:r>
            <a:r>
              <a:rPr lang="zh-CN" altLang="en-US" dirty="0"/>
              <a:t>除以</a:t>
            </a:r>
            <a:r>
              <a:rPr lang="en-US" altLang="zh-CN" dirty="0"/>
              <a:t>3</a:t>
            </a:r>
            <a:r>
              <a:rPr lang="zh-CN" altLang="en-US" dirty="0"/>
              <a:t>的余数相等。试证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上的等价关系。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1AD64FB-EA65-4306-A2D7-EBD386E5CF9D}" type="slidenum">
              <a:rPr lang="en-US" altLang="zh-CN"/>
            </a:fld>
            <a:endParaRPr lang="en-US" altLang="zh-CN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66875" y="116632"/>
            <a:ext cx="8858250" cy="1439862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  <a:cs typeface="+mn-cs"/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  <a:cs typeface="+mn-cs"/>
              </a:rPr>
              <a:t>2.16 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是定义在集合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上的关系，则</a:t>
            </a:r>
            <a:r>
              <a:rPr lang="en-US" altLang="zh-CN" sz="3200" dirty="0"/>
              <a:t>R</a:t>
            </a:r>
            <a:r>
              <a:rPr lang="zh-CN" altLang="en-US" sz="3200" dirty="0"/>
              <a:t>为等价关系</a:t>
            </a:r>
            <a:r>
              <a:rPr lang="zh-CN" altLang="en-US" sz="3200" dirty="0">
                <a:sym typeface="Symbol" panose="05050102010706020507" pitchFamily="18" charset="2"/>
              </a:rPr>
              <a:t></a:t>
            </a:r>
            <a:r>
              <a:rPr lang="en-US" altLang="zh-CN" sz="3200" dirty="0"/>
              <a:t>R * R</a:t>
            </a:r>
            <a:r>
              <a:rPr lang="en-US" altLang="zh-CN" sz="3200" baseline="30000" dirty="0"/>
              <a:t>-1</a:t>
            </a:r>
            <a:r>
              <a:rPr lang="en-US" altLang="zh-CN" sz="3200" dirty="0"/>
              <a:t>=R</a:t>
            </a:r>
            <a:r>
              <a:rPr lang="zh-CN" altLang="en-US" sz="3200" dirty="0"/>
              <a:t>。 </a:t>
            </a:r>
            <a:endParaRPr lang="zh-CN" altLang="en-US" sz="3200" dirty="0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1484784"/>
            <a:ext cx="10704512" cy="450691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证明</a:t>
            </a:r>
            <a:r>
              <a:rPr lang="zh-CN" altLang="en-US" sz="2000" dirty="0"/>
              <a:t> </a:t>
            </a:r>
            <a:r>
              <a:rPr lang="en-US" altLang="zh-CN" sz="2000" dirty="0"/>
              <a:t>(1)</a:t>
            </a:r>
            <a:r>
              <a:rPr lang="zh-CN" altLang="en-US" sz="2000" dirty="0">
                <a:solidFill>
                  <a:srgbClr val="0000FF"/>
                </a:solidFill>
              </a:rPr>
              <a:t>必要性</a:t>
            </a:r>
            <a:r>
              <a:rPr lang="en-US" altLang="zh-CN" sz="2000" dirty="0"/>
              <a:t>: R</a:t>
            </a:r>
            <a:r>
              <a:rPr lang="zh-CN" altLang="en-US" sz="2000" dirty="0"/>
              <a:t>为等价关系</a:t>
            </a:r>
            <a:r>
              <a:rPr lang="zh-CN" altLang="en-US" sz="2000" dirty="0">
                <a:sym typeface="Symbol" panose="05050102010706020507" pitchFamily="18" charset="2"/>
              </a:rPr>
              <a:t></a:t>
            </a:r>
            <a:r>
              <a:rPr lang="zh-CN" altLang="en-US" sz="2000" dirty="0"/>
              <a:t> </a:t>
            </a:r>
            <a:r>
              <a:rPr lang="en-US" altLang="zh-CN" sz="2000" dirty="0"/>
              <a:t>R * 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=R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令</a:t>
            </a:r>
            <a:r>
              <a:rPr lang="en-US" altLang="zh-CN" sz="2000" dirty="0"/>
              <a:t>x, y</a:t>
            </a:r>
            <a:r>
              <a:rPr lang="zh-CN" altLang="en-US" sz="2000" dirty="0"/>
              <a:t>是集合</a:t>
            </a:r>
            <a:r>
              <a:rPr lang="en-US" altLang="zh-CN" sz="2000" dirty="0"/>
              <a:t>A</a:t>
            </a:r>
            <a:r>
              <a:rPr lang="zh-CN" altLang="en-US" sz="2000" dirty="0"/>
              <a:t>中的任意元素，且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)∈R, </a:t>
            </a:r>
            <a:r>
              <a:rPr lang="zh-CN" altLang="en-US" sz="2000" dirty="0"/>
              <a:t>则</a:t>
            </a:r>
            <a:endParaRPr lang="zh-CN" altLang="en-US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 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 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y,x</a:t>
            </a:r>
            <a:r>
              <a:rPr lang="en-US" altLang="zh-CN" sz="2000" dirty="0"/>
              <a:t>)∈R 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y,x</a:t>
            </a:r>
            <a:r>
              <a:rPr lang="en-US" altLang="zh-CN" sz="2000" dirty="0"/>
              <a:t>)∈R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 (</a:t>
            </a:r>
            <a:r>
              <a:rPr lang="en-US" altLang="zh-CN" sz="2000" dirty="0">
                <a:sym typeface="Symbol" panose="05050102010706020507" pitchFamily="18" charset="2"/>
              </a:rPr>
              <a:t></a:t>
            </a:r>
            <a:r>
              <a:rPr lang="en-US" altLang="zh-CN" sz="2000" dirty="0"/>
              <a:t>z)</a:t>
            </a:r>
            <a:r>
              <a:rPr lang="zh-CN" altLang="en-US" sz="2000" dirty="0"/>
              <a:t>使得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 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z,y</a:t>
            </a:r>
            <a:r>
              <a:rPr lang="en-US" altLang="zh-CN" sz="2000" dirty="0"/>
              <a:t>)∈R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-1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于是</a:t>
            </a:r>
            <a:r>
              <a:rPr lang="en-US" altLang="zh-CN" sz="2000" dirty="0"/>
              <a:t>, R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R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 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另一方面，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)∈R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</a:t>
            </a:r>
            <a:r>
              <a:rPr lang="en-US" altLang="zh-CN" sz="2000" dirty="0"/>
              <a:t>z</a:t>
            </a:r>
            <a:r>
              <a:rPr lang="zh-CN" altLang="en-US" sz="2000" dirty="0"/>
              <a:t>使得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x,z</a:t>
            </a:r>
            <a:r>
              <a:rPr lang="en-US" altLang="zh-CN" sz="2000" dirty="0"/>
              <a:t>)∈ 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z,y</a:t>
            </a:r>
            <a:r>
              <a:rPr lang="en-US" altLang="zh-CN" sz="2000" dirty="0"/>
              <a:t>)∈R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x,z</a:t>
            </a:r>
            <a:r>
              <a:rPr lang="en-US" altLang="zh-CN" sz="2000" dirty="0"/>
              <a:t>)∈ 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y,z</a:t>
            </a:r>
            <a:r>
              <a:rPr lang="en-US" altLang="zh-CN" sz="2000" dirty="0"/>
              <a:t>)∈R   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x,z</a:t>
            </a:r>
            <a:r>
              <a:rPr lang="en-US" altLang="zh-CN" sz="2000" dirty="0"/>
              <a:t>)∈ 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z,y</a:t>
            </a:r>
            <a:r>
              <a:rPr lang="en-US" altLang="zh-CN" sz="2000" dirty="0"/>
              <a:t>)∈R   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 R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因此</a:t>
            </a:r>
            <a:r>
              <a:rPr lang="en-US" altLang="zh-CN" sz="2000" dirty="0"/>
              <a:t>, R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 R</a:t>
            </a:r>
            <a:r>
              <a:rPr lang="en-US" altLang="zh-CN" sz="2000" baseline="30000" dirty="0"/>
              <a:t>-1 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R. </a:t>
            </a:r>
            <a:r>
              <a:rPr lang="zh-CN" altLang="en-US" sz="2000" dirty="0"/>
              <a:t>综上可知</a:t>
            </a:r>
            <a:r>
              <a:rPr lang="en-US" altLang="zh-CN" sz="2000" dirty="0"/>
              <a:t>, </a:t>
            </a:r>
            <a:r>
              <a:rPr lang="zh-CN" altLang="en-US" sz="2000" dirty="0"/>
              <a:t>必要性得证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(2)</a:t>
            </a:r>
            <a:r>
              <a:rPr lang="zh-CN" altLang="en-US" sz="2000" dirty="0">
                <a:solidFill>
                  <a:srgbClr val="0000FF"/>
                </a:solidFill>
              </a:rPr>
              <a:t>充分性</a:t>
            </a:r>
            <a:r>
              <a:rPr lang="en-US" altLang="zh-CN" sz="2000" dirty="0"/>
              <a:t>: </a:t>
            </a:r>
            <a:r>
              <a:rPr lang="zh-CN" altLang="en-US" sz="2000" dirty="0"/>
              <a:t>由假设</a:t>
            </a:r>
            <a:r>
              <a:rPr lang="en-US" altLang="zh-CN" sz="2000" dirty="0"/>
              <a:t>R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 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=R</a:t>
            </a:r>
            <a:r>
              <a:rPr lang="zh-CN" altLang="en-US" sz="2000" dirty="0"/>
              <a:t>可知</a:t>
            </a:r>
            <a:r>
              <a:rPr lang="en-US" altLang="zh-CN" sz="2000" dirty="0"/>
              <a:t>, 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 R </a:t>
            </a:r>
            <a:r>
              <a:rPr lang="en-US" altLang="zh-CN" sz="2000" dirty="0">
                <a:sym typeface="Symbol" panose="05050102010706020507" pitchFamily="18" charset="2"/>
              </a:rPr>
              <a:t>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)∈ R </a:t>
            </a:r>
            <a:r>
              <a:rPr lang="en-US" altLang="zh-CN" sz="2000" dirty="0">
                <a:latin typeface="Times New Roman" panose="02020603050405020304" pitchFamily="18" charset="0"/>
              </a:rPr>
              <a:t>·</a:t>
            </a:r>
            <a:r>
              <a:rPr lang="en-US" altLang="zh-CN" sz="2000" dirty="0"/>
              <a:t> R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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</a:t>
            </a:r>
            <a:r>
              <a:rPr lang="en-US" altLang="zh-CN" sz="2000" dirty="0"/>
              <a:t>z</a:t>
            </a:r>
            <a:r>
              <a:rPr lang="zh-CN" altLang="en-US" sz="2000" dirty="0"/>
              <a:t>使得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x,z</a:t>
            </a:r>
            <a:r>
              <a:rPr lang="en-US" altLang="zh-CN" sz="2000" dirty="0"/>
              <a:t>)∈ 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z,y</a:t>
            </a:r>
            <a:r>
              <a:rPr lang="en-US" altLang="zh-CN" sz="2000" dirty="0"/>
              <a:t>)∈R</a:t>
            </a:r>
            <a:r>
              <a:rPr lang="en-US" altLang="zh-CN" sz="2000" baseline="30000" dirty="0"/>
              <a:t>-1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        </a:t>
            </a:r>
            <a:r>
              <a:rPr lang="en-US" altLang="zh-CN" sz="2000" dirty="0">
                <a:sym typeface="Symbol" panose="05050102010706020507" pitchFamily="18" charset="2"/>
              </a:rPr>
              <a:t>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</a:t>
            </a:r>
            <a:r>
              <a:rPr lang="en-US" altLang="zh-CN" sz="2000" dirty="0"/>
              <a:t>z</a:t>
            </a:r>
            <a:r>
              <a:rPr lang="zh-CN" altLang="en-US" sz="2000" dirty="0"/>
              <a:t>使得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x,z</a:t>
            </a:r>
            <a:r>
              <a:rPr lang="en-US" altLang="zh-CN" sz="2000" dirty="0"/>
              <a:t>)∈ R</a:t>
            </a:r>
            <a:r>
              <a:rPr lang="zh-CN" altLang="en-US" sz="2000" dirty="0"/>
              <a:t>且</a:t>
            </a:r>
            <a:r>
              <a:rPr lang="en-US" altLang="zh-CN" sz="2000" dirty="0"/>
              <a:t>(</a:t>
            </a:r>
            <a:r>
              <a:rPr lang="en-US" altLang="zh-CN" sz="2000" dirty="0" err="1"/>
              <a:t>z,y</a:t>
            </a:r>
            <a:r>
              <a:rPr lang="en-US" altLang="zh-CN" sz="2000" dirty="0"/>
              <a:t>)∈R</a:t>
            </a:r>
            <a:endParaRPr lang="en-US" altLang="zh-CN" sz="2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由此可推知</a:t>
            </a:r>
            <a:r>
              <a:rPr lang="en-US" altLang="zh-CN" sz="2000" dirty="0"/>
              <a:t>R</a:t>
            </a:r>
            <a:r>
              <a:rPr lang="zh-CN" altLang="en-US" sz="2000" dirty="0"/>
              <a:t>为对称和传递时方使上式成立</a:t>
            </a:r>
            <a:r>
              <a:rPr lang="en-US" altLang="zh-CN" sz="2000" dirty="0"/>
              <a:t>, </a:t>
            </a:r>
            <a:r>
              <a:rPr lang="zh-CN" altLang="en-US" sz="2000" dirty="0"/>
              <a:t>从而</a:t>
            </a:r>
            <a:r>
              <a:rPr lang="en-US" altLang="zh-CN" sz="2000" dirty="0"/>
              <a:t>R</a:t>
            </a:r>
            <a:r>
              <a:rPr lang="zh-CN" altLang="en-US" sz="2000" dirty="0"/>
              <a:t>也必为自反</a:t>
            </a:r>
            <a:r>
              <a:rPr lang="en-US" altLang="zh-CN" sz="2000" dirty="0"/>
              <a:t>, </a:t>
            </a:r>
            <a:r>
              <a:rPr lang="zh-CN" altLang="en-US" sz="2000" dirty="0"/>
              <a:t>充分性得证。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C7048E9-81EE-4322-BCD5-A5EE4525B909}" type="slidenum">
              <a:rPr lang="en-US" altLang="zh-CN"/>
            </a:fld>
            <a:endParaRPr lang="en-US" altLang="zh-CN"/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32329" y="980728"/>
            <a:ext cx="10287942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</a:rPr>
              <a:t>2.19</a:t>
            </a:r>
            <a:r>
              <a:rPr lang="zh-CN" altLang="zh-CN" sz="3200" b="1" dirty="0"/>
              <a:t>设</a:t>
            </a:r>
            <a:r>
              <a:rPr lang="zh-CN" altLang="zh-CN" sz="3200" dirty="0"/>
              <a:t>R为集合A上的等价关系，对集合A中的任意元素a,称A中与a等价的全体元素所组成的集合为由a生成的等价类，记作</a:t>
            </a:r>
            <a:r>
              <a:rPr lang="en-US" altLang="zh-CN" sz="3200" dirty="0"/>
              <a:t>[</a:t>
            </a:r>
            <a:r>
              <a:rPr lang="zh-CN" altLang="zh-CN" sz="3200" dirty="0"/>
              <a:t>a</a:t>
            </a:r>
            <a:r>
              <a:rPr lang="en-US" altLang="zh-CN" sz="3200" dirty="0"/>
              <a:t>]</a:t>
            </a:r>
            <a:r>
              <a:rPr lang="zh-CN" altLang="zh-CN" sz="3200" baseline="-25000" dirty="0"/>
              <a:t>R</a:t>
            </a:r>
            <a:r>
              <a:rPr lang="zh-CN" altLang="zh-CN" sz="3200" dirty="0"/>
              <a:t>。即</a:t>
            </a:r>
            <a:r>
              <a:rPr lang="en-US" altLang="zh-CN" sz="3200" dirty="0"/>
              <a:t>[</a:t>
            </a:r>
            <a:r>
              <a:rPr lang="zh-CN" altLang="zh-CN" sz="3200" dirty="0"/>
              <a:t>a</a:t>
            </a:r>
            <a:r>
              <a:rPr lang="en-US" altLang="zh-CN" sz="3200" dirty="0"/>
              <a:t>]</a:t>
            </a:r>
            <a:r>
              <a:rPr lang="zh-CN" altLang="zh-CN" sz="3200" baseline="-25000" dirty="0"/>
              <a:t>R</a:t>
            </a:r>
            <a:r>
              <a:rPr lang="zh-CN" altLang="zh-CN" sz="3200" dirty="0"/>
              <a:t>={b|b∈A且(a,b)∈R},a称为这一等价类的</a:t>
            </a:r>
            <a:r>
              <a:rPr lang="zh-CN" altLang="zh-CN" sz="3200" b="1" dirty="0">
                <a:solidFill>
                  <a:srgbClr val="0000FF"/>
                </a:solidFill>
              </a:rPr>
              <a:t>代表元</a:t>
            </a:r>
            <a:r>
              <a:rPr lang="zh-CN" altLang="zh-CN" sz="3200" dirty="0"/>
              <a:t>或</a:t>
            </a:r>
            <a:r>
              <a:rPr lang="zh-CN" altLang="zh-CN" sz="3200" b="1" dirty="0">
                <a:solidFill>
                  <a:srgbClr val="0000FF"/>
                </a:solidFill>
              </a:rPr>
              <a:t>生成元</a:t>
            </a:r>
            <a:r>
              <a:rPr lang="zh-CN" altLang="zh-CN" sz="3200" dirty="0"/>
              <a:t>。</a:t>
            </a:r>
            <a:endParaRPr lang="zh-CN" altLang="zh-CN" sz="3200" b="1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1A145E5-F949-4A35-B3C1-B2EA0226D4DB}" type="slidenum">
              <a:rPr lang="en-US" altLang="zh-CN"/>
            </a:fld>
            <a:endParaRPr lang="en-US" altLang="zh-CN"/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9416" y="1556793"/>
            <a:ext cx="9609132" cy="41044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解</a:t>
            </a:r>
            <a:r>
              <a:rPr lang="zh-CN" altLang="en-US" sz="2000" dirty="0"/>
              <a:t>         </a:t>
            </a:r>
            <a:r>
              <a:rPr lang="en-US" altLang="zh-CN" sz="2000" dirty="0"/>
              <a:t>[1]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={1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7}</a:t>
            </a:r>
            <a:r>
              <a:rPr lang="zh-CN" altLang="en-US" sz="2000" dirty="0"/>
              <a:t>，</a:t>
            </a:r>
            <a:r>
              <a:rPr lang="en-US" altLang="zh-CN" sz="2000" dirty="0"/>
              <a:t>[2]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={2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，</a:t>
            </a:r>
            <a:r>
              <a:rPr lang="en-US" altLang="zh-CN" sz="2000" dirty="0"/>
              <a:t>8}</a:t>
            </a:r>
            <a:r>
              <a:rPr lang="zh-CN" altLang="en-US" sz="2000" dirty="0"/>
              <a:t>，</a:t>
            </a:r>
            <a:r>
              <a:rPr lang="en-US" altLang="zh-CN" sz="2000" dirty="0"/>
              <a:t> [3]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={3</a:t>
            </a:r>
            <a:r>
              <a:rPr lang="zh-CN" altLang="en-US" sz="2000" dirty="0"/>
              <a:t>，</a:t>
            </a:r>
            <a:r>
              <a:rPr lang="en-US" altLang="zh-CN" sz="2000" dirty="0"/>
              <a:t>6}</a:t>
            </a:r>
            <a:r>
              <a:rPr lang="zh-CN" altLang="en-US" sz="2000" dirty="0"/>
              <a:t>，</a:t>
            </a:r>
            <a:r>
              <a:rPr lang="en-US" altLang="zh-CN" sz="2000" dirty="0"/>
              <a:t> [4]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={1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7}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 [5]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={2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，</a:t>
            </a:r>
            <a:r>
              <a:rPr lang="en-US" altLang="zh-CN" sz="2000" dirty="0"/>
              <a:t>8}</a:t>
            </a:r>
            <a:r>
              <a:rPr lang="zh-CN" altLang="en-US" sz="2000" dirty="0"/>
              <a:t>，</a:t>
            </a:r>
            <a:r>
              <a:rPr lang="en-US" altLang="zh-CN" sz="2000" dirty="0"/>
              <a:t> [6]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={3</a:t>
            </a:r>
            <a:r>
              <a:rPr lang="zh-CN" altLang="en-US" sz="2000" dirty="0"/>
              <a:t>，</a:t>
            </a:r>
            <a:r>
              <a:rPr lang="en-US" altLang="zh-CN" sz="2000" dirty="0"/>
              <a:t>6}</a:t>
            </a:r>
            <a:r>
              <a:rPr lang="zh-CN" altLang="en-US" sz="2000" dirty="0"/>
              <a:t>，</a:t>
            </a:r>
            <a:r>
              <a:rPr lang="en-US" altLang="zh-CN" sz="2000" dirty="0"/>
              <a:t> [7]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={1</a:t>
            </a:r>
            <a:r>
              <a:rPr lang="zh-CN" altLang="en-US" sz="2000" dirty="0"/>
              <a:t>，</a:t>
            </a:r>
            <a:r>
              <a:rPr lang="en-US" altLang="zh-CN" sz="2000" dirty="0"/>
              <a:t>4</a:t>
            </a:r>
            <a:r>
              <a:rPr lang="zh-CN" altLang="en-US" sz="2000" dirty="0"/>
              <a:t>，</a:t>
            </a:r>
            <a:r>
              <a:rPr lang="en-US" altLang="zh-CN" sz="2000" dirty="0"/>
              <a:t>7}</a:t>
            </a:r>
            <a:r>
              <a:rPr lang="zh-CN" altLang="en-US" sz="2000" dirty="0"/>
              <a:t>，</a:t>
            </a:r>
            <a:r>
              <a:rPr lang="en-US" altLang="zh-CN" sz="2000" dirty="0"/>
              <a:t>	 [8]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={2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，</a:t>
            </a:r>
            <a:r>
              <a:rPr lang="en-US" altLang="zh-CN" sz="2000" dirty="0"/>
              <a:t>8}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即   </a:t>
            </a:r>
            <a:r>
              <a:rPr lang="en-US" altLang="zh-CN" sz="2000" dirty="0"/>
              <a:t>[1]=[4]=[7]={1,4,7}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    [2]=[5]=[8]={2,5,8}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    [3]=[6]={3,6}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所以不同的等价类只有</a:t>
            </a:r>
            <a:r>
              <a:rPr lang="en-US" altLang="zh-CN" sz="2000" dirty="0"/>
              <a:t>3</a:t>
            </a:r>
            <a:r>
              <a:rPr lang="zh-CN" altLang="en-US" sz="2000" dirty="0"/>
              <a:t>个</a:t>
            </a:r>
            <a:r>
              <a:rPr lang="en-US" altLang="zh-CN" sz="2000" dirty="0"/>
              <a:t>[1]</a:t>
            </a:r>
            <a:r>
              <a:rPr lang="en-US" altLang="zh-CN" sz="2000" baseline="-25000" dirty="0"/>
              <a:t>R</a:t>
            </a:r>
            <a:r>
              <a:rPr lang="zh-CN" altLang="en-US" sz="2000" dirty="0"/>
              <a:t>、</a:t>
            </a:r>
            <a:r>
              <a:rPr lang="en-US" altLang="zh-CN" sz="2000" dirty="0"/>
              <a:t>[2]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 </a:t>
            </a:r>
            <a:r>
              <a:rPr lang="zh-CN" altLang="en-US" sz="2000" dirty="0"/>
              <a:t>、</a:t>
            </a:r>
            <a:r>
              <a:rPr lang="en-US" altLang="zh-CN" sz="2000" dirty="0"/>
              <a:t>[3]</a:t>
            </a:r>
            <a:r>
              <a:rPr lang="en-US" altLang="zh-CN" sz="2000" baseline="-25000" dirty="0"/>
              <a:t>R</a:t>
            </a:r>
            <a:r>
              <a:rPr lang="zh-CN" altLang="en-US" sz="2000" dirty="0"/>
              <a:t>。 </a:t>
            </a:r>
            <a:endParaRPr lang="zh-CN" altLang="en-US" sz="20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69347" y="260648"/>
            <a:ext cx="9609132" cy="1439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2.41</a:t>
            </a:r>
            <a:r>
              <a:rPr lang="zh-CN" altLang="en-US" dirty="0"/>
              <a:t>设</a:t>
            </a:r>
            <a:r>
              <a:rPr lang="en-US" altLang="zh-CN" dirty="0"/>
              <a:t>A={1,2,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,8},</a:t>
            </a:r>
            <a:r>
              <a:rPr lang="zh-CN" altLang="en-US" dirty="0"/>
              <a:t>如下定义</a:t>
            </a:r>
            <a:r>
              <a:rPr lang="en-US" altLang="zh-CN" dirty="0"/>
              <a:t>A</a:t>
            </a:r>
            <a:r>
              <a:rPr lang="zh-CN" altLang="en-US" dirty="0"/>
              <a:t>上的二元关系</a:t>
            </a:r>
            <a:r>
              <a:rPr lang="en-US" altLang="zh-CN" dirty="0"/>
              <a:t>R={(x</a:t>
            </a:r>
            <a:r>
              <a:rPr lang="zh-CN" altLang="en-US" dirty="0"/>
              <a:t>，</a:t>
            </a:r>
            <a:r>
              <a:rPr lang="en-US" altLang="zh-CN" dirty="0"/>
              <a:t>y)|x</a:t>
            </a:r>
            <a:r>
              <a:rPr lang="zh-CN" altLang="en-US" dirty="0"/>
              <a:t>，</a:t>
            </a:r>
            <a:r>
              <a:rPr lang="en-US" altLang="zh-CN" dirty="0" err="1"/>
              <a:t>y∈A</a:t>
            </a:r>
            <a:r>
              <a:rPr lang="zh-CN" altLang="en-US" dirty="0"/>
              <a:t>且</a:t>
            </a:r>
            <a:r>
              <a:rPr lang="en-US" altLang="zh-CN" dirty="0" err="1"/>
              <a:t>x≡y</a:t>
            </a:r>
            <a:r>
              <a:rPr lang="en-US" altLang="zh-CN" dirty="0"/>
              <a:t>(mod 3)}</a:t>
            </a:r>
            <a:r>
              <a:rPr lang="zh-CN" altLang="en-US" dirty="0"/>
              <a:t>，其中</a:t>
            </a:r>
            <a:r>
              <a:rPr lang="en-US" altLang="zh-CN" dirty="0" err="1"/>
              <a:t>x≡y</a:t>
            </a:r>
            <a:r>
              <a:rPr lang="en-US" altLang="zh-CN" dirty="0"/>
              <a:t>(mod 3)</a:t>
            </a:r>
            <a:r>
              <a:rPr lang="zh-CN" altLang="en-US" dirty="0"/>
              <a:t>叫做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模</a:t>
            </a:r>
            <a:r>
              <a:rPr lang="en-US" altLang="zh-CN" dirty="0"/>
              <a:t>3</a:t>
            </a:r>
            <a:r>
              <a:rPr lang="zh-CN" altLang="en-US" dirty="0"/>
              <a:t>相等，求</a:t>
            </a:r>
            <a:r>
              <a:rPr lang="en-US" altLang="zh-CN" dirty="0"/>
              <a:t>R</a:t>
            </a:r>
            <a:r>
              <a:rPr lang="zh-CN" altLang="en-US" dirty="0"/>
              <a:t>的等价类。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BE42785-1EE0-4C4D-92E5-42AC6BDDE0AC}" type="slidenum">
              <a:rPr lang="en-US" altLang="zh-CN"/>
            </a:fld>
            <a:endParaRPr lang="en-US" altLang="zh-CN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764704"/>
            <a:ext cx="9927902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</a:rPr>
              <a:t>2.20</a:t>
            </a:r>
            <a:r>
              <a:rPr lang="zh-CN" altLang="en-US" sz="3200" dirty="0"/>
              <a:t>设</a:t>
            </a:r>
            <a:r>
              <a:rPr lang="en-US" altLang="zh-CN" sz="3200" dirty="0"/>
              <a:t>R</a:t>
            </a:r>
            <a:r>
              <a:rPr lang="zh-CN" altLang="en-US" sz="3200" dirty="0"/>
              <a:t>为非空集合</a:t>
            </a:r>
            <a:r>
              <a:rPr lang="en-US" altLang="zh-CN" sz="3200" dirty="0"/>
              <a:t>A</a:t>
            </a:r>
            <a:r>
              <a:rPr lang="zh-CN" altLang="en-US" sz="3200" dirty="0"/>
              <a:t>上的等价关系，以</a:t>
            </a:r>
            <a:r>
              <a:rPr lang="en-US" altLang="zh-CN" sz="3200" dirty="0"/>
              <a:t>R</a:t>
            </a:r>
            <a:r>
              <a:rPr lang="zh-CN" altLang="en-US" sz="3200" dirty="0"/>
              <a:t>的所有等价类作为元素的集合称为</a:t>
            </a:r>
            <a:r>
              <a:rPr lang="en-US" altLang="zh-CN" sz="3200" dirty="0"/>
              <a:t>A</a:t>
            </a:r>
            <a:r>
              <a:rPr lang="zh-CN" altLang="en-US" sz="3200" dirty="0"/>
              <a:t>关于</a:t>
            </a:r>
            <a:r>
              <a:rPr lang="en-US" altLang="zh-CN" sz="3200" dirty="0"/>
              <a:t>R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0000FF"/>
                </a:solidFill>
              </a:rPr>
              <a:t>商集</a:t>
            </a:r>
            <a:r>
              <a:rPr lang="zh-CN" altLang="en-US" sz="3200" dirty="0"/>
              <a:t>，记做</a:t>
            </a:r>
            <a:r>
              <a:rPr lang="en-US" altLang="zh-CN" sz="3200" dirty="0"/>
              <a:t>A/R</a:t>
            </a:r>
            <a:r>
              <a:rPr lang="zh-CN" altLang="en-US" sz="3200" dirty="0"/>
              <a:t>，即</a:t>
            </a:r>
            <a:endParaRPr lang="zh-CN" altLang="en-US" sz="32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      </a:t>
            </a:r>
            <a:r>
              <a:rPr lang="en-US" altLang="zh-CN" sz="3200" dirty="0"/>
              <a:t>A/R={[a]</a:t>
            </a:r>
            <a:r>
              <a:rPr lang="en-US" altLang="zh-CN" sz="3200" baseline="-25000" dirty="0" err="1"/>
              <a:t>R</a:t>
            </a:r>
            <a:r>
              <a:rPr lang="en-US" altLang="zh-CN" sz="3200" dirty="0" err="1"/>
              <a:t>|a∈A</a:t>
            </a:r>
            <a:r>
              <a:rPr lang="en-US" altLang="zh-CN" sz="3200" dirty="0"/>
              <a:t>}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A/R</a:t>
            </a:r>
            <a:r>
              <a:rPr lang="zh-CN" altLang="en-US" sz="3200" dirty="0"/>
              <a:t>的基数（即不同类的个数）称为</a:t>
            </a:r>
            <a:r>
              <a:rPr lang="en-US" altLang="zh-CN" sz="3200" dirty="0"/>
              <a:t>R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0000FF"/>
                </a:solidFill>
              </a:rPr>
              <a:t>秩</a:t>
            </a:r>
            <a:r>
              <a:rPr lang="zh-CN" altLang="en-US" sz="3200" dirty="0"/>
              <a:t>。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EBE9AAE-3765-4EB5-B39E-F1F559176C27}" type="slidenum">
              <a:rPr lang="en-US" altLang="zh-CN"/>
            </a:fld>
            <a:endParaRPr lang="en-US" altLang="zh-CN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5520" y="1124744"/>
            <a:ext cx="9073008" cy="4114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2.43   </a:t>
            </a:r>
            <a:r>
              <a:rPr lang="zh-CN" altLang="en-US" dirty="0"/>
              <a:t>整数集</a:t>
            </a:r>
            <a:r>
              <a:rPr lang="en-US" altLang="zh-CN" dirty="0"/>
              <a:t>Z</a:t>
            </a:r>
            <a:r>
              <a:rPr lang="zh-CN" altLang="en-US" dirty="0"/>
              <a:t>上模</a:t>
            </a:r>
            <a:r>
              <a:rPr lang="en-US" altLang="zh-CN" dirty="0"/>
              <a:t>m</a:t>
            </a:r>
            <a:r>
              <a:rPr lang="zh-CN" altLang="en-US" dirty="0"/>
              <a:t>的等价关系</a:t>
            </a:r>
            <a:r>
              <a:rPr lang="en-US" altLang="zh-CN" dirty="0"/>
              <a:t>R={(</a:t>
            </a:r>
            <a:r>
              <a:rPr lang="en-US" altLang="zh-CN" dirty="0" err="1"/>
              <a:t>x,y</a:t>
            </a:r>
            <a:r>
              <a:rPr lang="en-US" altLang="zh-CN" dirty="0"/>
              <a:t>)|</a:t>
            </a:r>
            <a:r>
              <a:rPr lang="en-US" altLang="zh-CN" dirty="0" err="1"/>
              <a:t>x,y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Z</a:t>
            </a:r>
            <a:r>
              <a:rPr lang="zh-CN" altLang="en-US" dirty="0">
                <a:sym typeface="Symbol" panose="05050102010706020507" pitchFamily="18" charset="2"/>
              </a:rPr>
              <a:t>且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</a:t>
            </a:r>
            <a:r>
              <a:rPr lang="en-US" altLang="zh-CN" dirty="0" err="1"/>
              <a:t>y</a:t>
            </a:r>
            <a:r>
              <a:rPr lang="en-US" altLang="zh-CN" dirty="0"/>
              <a:t>(mod) m}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　其等价类是： </a:t>
            </a:r>
            <a:endParaRPr lang="zh-CN" alt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[0]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km|k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dirty="0" err="1"/>
              <a:t>Z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[1]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={km+1|k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Z}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…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[m-1]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={km+(m-1)|</a:t>
            </a:r>
            <a:r>
              <a:rPr lang="en-US" altLang="zh-CN" sz="2400" dirty="0" err="1"/>
              <a:t>k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dirty="0" err="1"/>
              <a:t>Z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因此商集为</a:t>
            </a:r>
            <a:r>
              <a:rPr lang="en-US" altLang="zh-CN" dirty="0"/>
              <a:t>Z/R={[0]</a:t>
            </a:r>
            <a:r>
              <a:rPr lang="en-US" altLang="zh-CN" baseline="-25000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[1]</a:t>
            </a:r>
            <a:r>
              <a:rPr lang="en-US" altLang="zh-CN" baseline="-25000" dirty="0"/>
              <a:t>R</a:t>
            </a:r>
            <a:r>
              <a:rPr lang="zh-CN" altLang="en-US" dirty="0"/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zh-CN" altLang="en-US" dirty="0"/>
              <a:t>，</a:t>
            </a:r>
            <a:r>
              <a:rPr lang="en-US" altLang="zh-CN" dirty="0"/>
              <a:t>[m-1]</a:t>
            </a:r>
            <a:r>
              <a:rPr lang="en-US" altLang="zh-CN" baseline="-25000" dirty="0"/>
              <a:t>R</a:t>
            </a:r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87489" y="260648"/>
            <a:ext cx="9783886" cy="64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2.42   </a:t>
            </a:r>
            <a:r>
              <a:rPr lang="zh-CN" altLang="en-US" dirty="0"/>
              <a:t>在例</a:t>
            </a:r>
            <a:r>
              <a:rPr lang="en-US" altLang="zh-CN" dirty="0"/>
              <a:t>2.41</a:t>
            </a:r>
            <a:r>
              <a:rPr lang="zh-CN" altLang="en-US" dirty="0"/>
              <a:t>中的商集为</a:t>
            </a:r>
            <a:r>
              <a:rPr lang="en-US" altLang="zh-CN" dirty="0"/>
              <a:t>A/R={{1,4,7},{2,5,8},{3,6}},</a:t>
            </a: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的秩为</a:t>
            </a:r>
            <a:r>
              <a:rPr lang="en-US" altLang="zh-CN" dirty="0"/>
              <a:t>3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AD34C3E-8C19-4E62-9C8D-7D0F09C52BEF}" type="slidenum">
              <a:rPr lang="en-US" altLang="zh-CN"/>
            </a:fld>
            <a:endParaRPr lang="en-US" altLang="zh-CN"/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9576" y="980728"/>
            <a:ext cx="7968208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2.17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zh-CN" altLang="en-US" sz="2800" dirty="0"/>
              <a:t>为非空集合</a:t>
            </a:r>
            <a:r>
              <a:rPr lang="en-US" altLang="zh-CN" sz="2800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</a:t>
            </a:r>
            <a:r>
              <a:rPr lang="zh-CN" altLang="en-US" sz="2800" dirty="0"/>
              <a:t>则：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 </a:t>
            </a:r>
            <a:r>
              <a:rPr lang="en-US" altLang="zh-CN" sz="2800" dirty="0" err="1"/>
              <a:t>a∈A</a:t>
            </a:r>
            <a:r>
              <a:rPr lang="zh-CN" altLang="en-US" sz="2800" dirty="0"/>
              <a:t>，</a:t>
            </a:r>
            <a:r>
              <a:rPr lang="en-US" altLang="zh-CN" sz="2800" dirty="0"/>
              <a:t>[a]</a:t>
            </a:r>
            <a:r>
              <a:rPr lang="en-US" altLang="zh-CN" sz="2800" baseline="-25000" dirty="0"/>
              <a:t>R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的非空子集。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 </a:t>
            </a:r>
            <a:r>
              <a:rPr lang="en-US" altLang="zh-CN" sz="2800" dirty="0" err="1"/>
              <a:t>a,b∈A</a:t>
            </a:r>
            <a:r>
              <a:rPr lang="zh-CN" altLang="en-US" sz="2800" dirty="0"/>
              <a:t>，如果</a:t>
            </a:r>
            <a:r>
              <a:rPr lang="en-US" altLang="zh-CN" sz="2800" dirty="0"/>
              <a:t>(</a:t>
            </a:r>
            <a:r>
              <a:rPr lang="en-US" altLang="en-US" sz="2800" dirty="0" err="1"/>
              <a:t>a,b</a:t>
            </a:r>
            <a:r>
              <a:rPr lang="en-US" altLang="zh-CN" sz="2800" dirty="0"/>
              <a:t>)</a:t>
            </a:r>
            <a:r>
              <a:rPr lang="en-US" altLang="en-US" sz="2800" dirty="0"/>
              <a:t>∈R</a:t>
            </a:r>
            <a:r>
              <a:rPr lang="zh-CN" altLang="en-US" sz="2800" dirty="0"/>
              <a:t>，则</a:t>
            </a:r>
            <a:r>
              <a:rPr lang="en-US" altLang="zh-CN" sz="2800" dirty="0"/>
              <a:t>[a]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=[b]</a:t>
            </a:r>
            <a:r>
              <a:rPr lang="en-US" altLang="zh-CN" sz="2800" baseline="-25000" dirty="0"/>
              <a:t>R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 </a:t>
            </a:r>
            <a:r>
              <a:rPr lang="en-US" altLang="zh-CN" sz="2800" dirty="0" err="1"/>
              <a:t>a,b∈A</a:t>
            </a:r>
            <a:r>
              <a:rPr lang="zh-CN" altLang="en-US" sz="2800" dirty="0"/>
              <a:t>，如果</a:t>
            </a:r>
            <a:r>
              <a:rPr lang="en-US" altLang="zh-CN" sz="2800" dirty="0"/>
              <a:t>(</a:t>
            </a:r>
            <a:r>
              <a:rPr lang="en-US" altLang="en-US" sz="2800" dirty="0" err="1"/>
              <a:t>a,b</a:t>
            </a:r>
            <a:r>
              <a:rPr lang="en-US" altLang="zh-CN" sz="2800" dirty="0"/>
              <a:t>)</a:t>
            </a:r>
            <a:r>
              <a:rPr lang="en-US" altLang="en-US" sz="2800" dirty="0">
                <a:sym typeface="Symbol" panose="05050102010706020507" pitchFamily="18" charset="2"/>
              </a:rPr>
              <a:t></a:t>
            </a:r>
            <a:r>
              <a:rPr lang="en-US" altLang="en-US" sz="2800" dirty="0"/>
              <a:t>R</a:t>
            </a:r>
            <a:r>
              <a:rPr lang="zh-CN" altLang="en-US" sz="2800" dirty="0"/>
              <a:t>，则  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[a]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∩[b]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）∪</a:t>
            </a:r>
            <a:r>
              <a:rPr lang="en-US" altLang="zh-CN" sz="2800" dirty="0"/>
              <a:t>{[a]</a:t>
            </a:r>
            <a:r>
              <a:rPr lang="en-US" altLang="zh-CN" sz="2800" baseline="-25000" dirty="0" err="1"/>
              <a:t>R</a:t>
            </a:r>
            <a:r>
              <a:rPr lang="en-US" altLang="zh-CN" sz="2800" dirty="0" err="1"/>
              <a:t>|a∈A</a:t>
            </a:r>
            <a:r>
              <a:rPr lang="en-US" altLang="zh-CN" sz="2800" dirty="0"/>
              <a:t>}=A 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448B49B3-9AEE-455B-8E92-21E080B403CC}" type="slidenum">
              <a:rPr lang="en-US" altLang="zh-CN"/>
            </a:fld>
            <a:endParaRPr lang="en-US" altLang="zh-CN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35311" y="980728"/>
            <a:ext cx="10272464" cy="46831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 err="1"/>
              <a:t>a∈A</a:t>
            </a:r>
            <a:r>
              <a:rPr lang="zh-CN" altLang="en-US" sz="2400" dirty="0"/>
              <a:t>，由</a:t>
            </a:r>
            <a:r>
              <a:rPr lang="en-US" altLang="zh-CN" sz="2400" dirty="0"/>
              <a:t>R</a:t>
            </a:r>
            <a:r>
              <a:rPr lang="zh-CN" altLang="en-US" sz="2400" dirty="0"/>
              <a:t>的自反性，有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a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zh-CN" altLang="en-US" sz="2400" dirty="0"/>
              <a:t>，所以</a:t>
            </a:r>
            <a:r>
              <a:rPr lang="en-US" altLang="zh-CN" sz="2400" dirty="0"/>
              <a:t>a∈[a]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，因此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非空；再由等价类定义，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A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）对于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x∈[a]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，则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x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/>
              <a:t>，又因为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b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/>
              <a:t>，由</a:t>
            </a:r>
            <a:r>
              <a:rPr lang="en-US" altLang="zh-CN" sz="2400" dirty="0"/>
              <a:t>R</a:t>
            </a:r>
            <a:r>
              <a:rPr lang="zh-CN" altLang="en-US" sz="2400" dirty="0"/>
              <a:t>的对称性与传递性，可得</a:t>
            </a:r>
            <a:r>
              <a:rPr lang="en-US" altLang="zh-CN" sz="2400" dirty="0"/>
              <a:t>(</a:t>
            </a:r>
            <a:r>
              <a:rPr lang="en-US" altLang="zh-CN" sz="2400" dirty="0" err="1"/>
              <a:t>b</a:t>
            </a:r>
            <a:r>
              <a:rPr lang="en-US" altLang="en-US" sz="2400" dirty="0" err="1"/>
              <a:t>,</a:t>
            </a:r>
            <a:r>
              <a:rPr lang="en-US" altLang="zh-CN" sz="2400" dirty="0" err="1"/>
              <a:t>x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/>
              <a:t>，于是</a:t>
            </a:r>
            <a:r>
              <a:rPr lang="en-US" altLang="zh-CN" sz="2400" dirty="0"/>
              <a:t>x∈[b]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，因此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[b]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	同样可证</a:t>
            </a:r>
            <a:r>
              <a:rPr lang="en-US" altLang="zh-CN" sz="2400" dirty="0"/>
              <a:t>[b]</a:t>
            </a:r>
            <a:r>
              <a:rPr lang="en-US" altLang="zh-CN" sz="2400" baseline="-25000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所以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=[b]</a:t>
            </a:r>
            <a:r>
              <a:rPr lang="en-US" altLang="zh-CN" sz="2400" baseline="-25000" dirty="0"/>
              <a:t>R</a:t>
            </a:r>
            <a:endParaRPr lang="en-US" altLang="zh-CN" sz="2400" baseline="-25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）反证法：如果有元素</a:t>
            </a:r>
            <a:r>
              <a:rPr lang="en-US" altLang="zh-CN" sz="2400" dirty="0">
                <a:solidFill>
                  <a:srgbClr val="000000"/>
                </a:solidFill>
              </a:rPr>
              <a:t>x∈[a]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∩</a:t>
            </a:r>
            <a:r>
              <a:rPr lang="en-US" altLang="zh-CN" sz="2400" dirty="0">
                <a:solidFill>
                  <a:srgbClr val="000000"/>
                </a:solidFill>
              </a:rPr>
              <a:t>[b]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，则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x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zh-CN" altLang="en-US" sz="2400" dirty="0">
                <a:solidFill>
                  <a:srgbClr val="000000"/>
                </a:solidFill>
              </a:rPr>
              <a:t>且</a:t>
            </a:r>
            <a:r>
              <a:rPr lang="en-US" altLang="zh-CN" sz="2400" dirty="0"/>
              <a:t>(</a:t>
            </a:r>
            <a:r>
              <a:rPr lang="en-US" altLang="zh-CN" sz="2400" dirty="0" err="1"/>
              <a:t>b</a:t>
            </a:r>
            <a:r>
              <a:rPr lang="en-US" altLang="en-US" sz="2400" dirty="0" err="1"/>
              <a:t>,</a:t>
            </a:r>
            <a:r>
              <a:rPr lang="en-US" altLang="zh-CN" sz="2400" dirty="0" err="1"/>
              <a:t>x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，由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的对称性和传递性，可得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b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，与</a:t>
            </a:r>
            <a:r>
              <a:rPr lang="en-US" altLang="zh-CN" sz="2400" dirty="0"/>
              <a:t>(</a:t>
            </a:r>
            <a:r>
              <a:rPr lang="en-US" altLang="en-US" sz="2400" dirty="0" err="1"/>
              <a:t>a,b</a:t>
            </a:r>
            <a:r>
              <a:rPr lang="en-US" altLang="zh-CN" sz="2400" dirty="0"/>
              <a:t>)</a:t>
            </a:r>
            <a:r>
              <a:rPr lang="en-US" altLang="en-US" sz="2400" dirty="0">
                <a:sym typeface="Symbol" panose="05050102010706020507" pitchFamily="18" charset="2"/>
              </a:rPr>
              <a:t></a:t>
            </a:r>
            <a:r>
              <a:rPr lang="en-US" altLang="en-US" sz="2400" dirty="0"/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矛盾，所以</a:t>
            </a:r>
            <a:r>
              <a:rPr lang="en-US" altLang="zh-CN" sz="2400" dirty="0">
                <a:solidFill>
                  <a:srgbClr val="000000"/>
                </a:solidFill>
              </a:rPr>
              <a:t>[a]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</a:rPr>
              <a:t>[b]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不交。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4FD8F67-666E-421B-A6B1-2BE5A2EAB7F1}" type="slidenum">
              <a:rPr lang="en-US" altLang="zh-CN"/>
            </a:fld>
            <a:endParaRPr lang="en-US" altLang="zh-CN"/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47728" y="1087437"/>
            <a:ext cx="5015880" cy="468312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sym typeface="Wingdings" panose="05000000000000000000" pitchFamily="2" charset="2"/>
              </a:rPr>
              <a:t> (4)</a:t>
            </a:r>
            <a:r>
              <a:rPr lang="zh-CN" altLang="en-US" sz="2800" dirty="0">
                <a:solidFill>
                  <a:srgbClr val="000000"/>
                </a:solidFill>
              </a:rPr>
              <a:t>先证∪</a:t>
            </a:r>
            <a:r>
              <a:rPr lang="en-US" altLang="zh-CN" sz="2800" dirty="0">
                <a:solidFill>
                  <a:srgbClr val="000000"/>
                </a:solidFill>
              </a:rPr>
              <a:t>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 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任取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b∈∪{[a]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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使得</a:t>
            </a:r>
            <a:r>
              <a:rPr lang="en-US" altLang="zh-CN" sz="2800" dirty="0" err="1">
                <a:solidFill>
                  <a:srgbClr val="000000"/>
                </a:solidFill>
              </a:rPr>
              <a:t>a∈A</a:t>
            </a:r>
            <a:r>
              <a:rPr lang="zh-CN" altLang="en-US" sz="2800" dirty="0">
                <a:solidFill>
                  <a:srgbClr val="000000"/>
                </a:solidFill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</a:rPr>
              <a:t>b∈[a]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R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</a:rPr>
              <a:t>∈A</a:t>
            </a:r>
            <a:r>
              <a:rPr lang="en-US" altLang="zh-CN" sz="2800" dirty="0">
                <a:solidFill>
                  <a:srgbClr val="000000"/>
                </a:solidFill>
              </a:rPr>
              <a:t>   (</a:t>
            </a:r>
            <a:r>
              <a:rPr lang="zh-CN" altLang="en-US" sz="2800" dirty="0">
                <a:solidFill>
                  <a:srgbClr val="000000"/>
                </a:solidFill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</a:rPr>
              <a:t>[a]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R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 A)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∴∪{[a]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 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再证    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∪{[a]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 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任取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， </a:t>
            </a:r>
            <a:r>
              <a:rPr lang="en-US" altLang="zh-CN" sz="2800" dirty="0" err="1">
                <a:solidFill>
                  <a:srgbClr val="000000"/>
                </a:solidFill>
              </a:rPr>
              <a:t>b∈A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000000"/>
                </a:solidFill>
              </a:rPr>
              <a:t>b∈[b]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R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      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000000"/>
                </a:solidFill>
              </a:rPr>
              <a:t> b∈∪{[a]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R</a:t>
            </a:r>
            <a:r>
              <a:rPr lang="en-US" altLang="zh-CN" sz="2800" dirty="0">
                <a:solidFill>
                  <a:srgbClr val="000000"/>
                </a:solidFill>
              </a:rPr>
              <a:t> |</a:t>
            </a:r>
            <a:r>
              <a:rPr lang="en-US" altLang="zh-CN" sz="2800" dirty="0" err="1">
                <a:solidFill>
                  <a:srgbClr val="000000"/>
                </a:solidFill>
              </a:rPr>
              <a:t>a∈A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br>
              <a:rPr lang="en-US" altLang="zh-CN" sz="2800" dirty="0">
                <a:solidFill>
                  <a:srgbClr val="000000"/>
                </a:solidFill>
              </a:rPr>
            </a:br>
            <a:r>
              <a:rPr lang="en-US" altLang="zh-CN" sz="2800" dirty="0">
                <a:solidFill>
                  <a:srgbClr val="000000"/>
                </a:solidFill>
              </a:rPr>
              <a:t>∴ A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∪{[a]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r>
              <a:rPr lang="zh-CN" altLang="en-US" sz="2800" dirty="0">
                <a:solidFill>
                  <a:srgbClr val="000000"/>
                </a:solidFill>
              </a:rPr>
              <a:t>成立。</a:t>
            </a:r>
            <a:br>
              <a:rPr lang="zh-CN" altLang="en-US" sz="2800" dirty="0">
                <a:solidFill>
                  <a:srgbClr val="000000"/>
                </a:solidFill>
              </a:rPr>
            </a:br>
            <a:r>
              <a:rPr lang="zh-CN" altLang="en-US" sz="2800" dirty="0">
                <a:solidFill>
                  <a:srgbClr val="000000"/>
                </a:solidFill>
              </a:rPr>
              <a:t> 综上所述得∪</a:t>
            </a:r>
            <a:r>
              <a:rPr lang="en-US" altLang="zh-CN" sz="2800" dirty="0">
                <a:solidFill>
                  <a:srgbClr val="000000"/>
                </a:solidFill>
              </a:rPr>
              <a:t>{[a]</a:t>
            </a:r>
            <a:r>
              <a:rPr lang="en-US" altLang="zh-CN" sz="2800" baseline="-25000" dirty="0" err="1">
                <a:solidFill>
                  <a:srgbClr val="000000"/>
                </a:solidFill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</a:rPr>
              <a:t>|a∈A</a:t>
            </a:r>
            <a:r>
              <a:rPr lang="en-US" altLang="zh-CN" sz="2800" dirty="0">
                <a:solidFill>
                  <a:srgbClr val="000000"/>
                </a:solidFill>
              </a:rPr>
              <a:t>}=A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2C65E63-D1DC-4D39-8D4E-C4352A3844D5}" type="slidenum">
              <a:rPr lang="en-US" altLang="zh-CN"/>
            </a:fld>
            <a:endParaRPr lang="en-US" altLang="zh-CN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95600" y="188912"/>
            <a:ext cx="4583832" cy="1143000"/>
          </a:xfrm>
        </p:spPr>
        <p:txBody>
          <a:bodyPr/>
          <a:lstStyle/>
          <a:p>
            <a:r>
              <a:rPr lang="en-US" altLang="zh-CN" dirty="0"/>
              <a:t>2.6.2 </a:t>
            </a:r>
            <a:r>
              <a:rPr lang="zh-CN" altLang="en-US" dirty="0"/>
              <a:t>集合的划分</a:t>
            </a:r>
            <a:endParaRPr lang="zh-CN" altLang="en-US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2599" y="873125"/>
            <a:ext cx="10585176" cy="51117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2.21</a:t>
            </a:r>
            <a:r>
              <a:rPr lang="en-US" altLang="zh-CN" sz="2800" dirty="0"/>
              <a:t> </a:t>
            </a:r>
            <a:r>
              <a:rPr lang="zh-CN" altLang="en-US" sz="2800" dirty="0"/>
              <a:t>：设</a:t>
            </a:r>
            <a:r>
              <a:rPr lang="en-US" altLang="zh-CN" sz="2800" dirty="0"/>
              <a:t>A</a:t>
            </a:r>
            <a:r>
              <a:rPr lang="zh-CN" altLang="en-US" sz="2800" dirty="0"/>
              <a:t>是任意非空集合， 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m</a:t>
            </a:r>
            <a:r>
              <a:rPr lang="zh-CN" altLang="en-US" sz="2800" dirty="0"/>
              <a:t>是集合</a:t>
            </a:r>
            <a:r>
              <a:rPr lang="en-US" altLang="zh-CN" sz="2800" dirty="0"/>
              <a:t>A</a:t>
            </a:r>
            <a:r>
              <a:rPr lang="zh-CN" altLang="en-US" sz="2800" dirty="0"/>
              <a:t>的子集</a:t>
            </a:r>
            <a:r>
              <a:rPr lang="en-US" altLang="zh-CN" sz="2800" dirty="0"/>
              <a:t>,</a:t>
            </a:r>
            <a:r>
              <a:rPr lang="zh-CN" altLang="en-US" sz="2800" dirty="0"/>
              <a:t>满足：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 ≠</a:t>
            </a:r>
            <a:r>
              <a:rPr lang="en-US" altLang="zh-CN" sz="2800" dirty="0">
                <a:sym typeface="Symbol" panose="05050102010706020507" pitchFamily="18" charset="2"/>
              </a:rPr>
              <a:t>   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=1,2,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,m)</a:t>
            </a:r>
            <a:r>
              <a:rPr lang="zh-CN" altLang="en-US" sz="2800" dirty="0"/>
              <a:t>；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 </a:t>
            </a:r>
            <a:r>
              <a:rPr lang="en-US" altLang="zh-CN" sz="2800" dirty="0" err="1">
                <a:sym typeface="Symbol" panose="05050102010706020507" pitchFamily="18" charset="2"/>
              </a:rPr>
              <a:t>A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dirty="0" err="1">
                <a:sym typeface="Symbol" panose="05050102010706020507" pitchFamily="18" charset="2"/>
              </a:rPr>
              <a:t>∩A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zh-CN" sz="2800" dirty="0">
                <a:sym typeface="Symbol" panose="05050102010706020507" pitchFamily="18" charset="2"/>
              </a:rPr>
              <a:t>=   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i≠j</a:t>
            </a:r>
            <a:r>
              <a:rPr lang="en-US" altLang="zh-CN" sz="2800" dirty="0"/>
              <a:t>)</a:t>
            </a:r>
            <a:r>
              <a:rPr lang="zh-CN" altLang="en-US" sz="2800" dirty="0"/>
              <a:t>； 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∪A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∪ A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=A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则集合族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dirty="0"/>
              <a:t>={A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}</a:t>
            </a:r>
            <a:r>
              <a:rPr lang="zh-CN" altLang="en-US" sz="2800" dirty="0"/>
              <a:t>为</a:t>
            </a:r>
            <a:r>
              <a:rPr lang="en-US" altLang="zh-CN" sz="2800" dirty="0"/>
              <a:t>A</a:t>
            </a:r>
            <a:r>
              <a:rPr lang="zh-CN" altLang="en-US" sz="2800" dirty="0"/>
              <a:t>的一个</a:t>
            </a:r>
            <a:r>
              <a:rPr lang="zh-CN" altLang="en-US" sz="2800" b="1" dirty="0">
                <a:solidFill>
                  <a:srgbClr val="0000FF"/>
                </a:solidFill>
              </a:rPr>
              <a:t>划分</a:t>
            </a:r>
            <a:r>
              <a:rPr lang="zh-CN" altLang="en-US" sz="2800" dirty="0"/>
              <a:t>，而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m</a:t>
            </a:r>
            <a:r>
              <a:rPr lang="zh-CN" altLang="en-US" sz="2800" dirty="0"/>
              <a:t>为这个划分的</a:t>
            </a:r>
            <a:r>
              <a:rPr lang="zh-CN" altLang="en-US" sz="2800" b="1" dirty="0">
                <a:solidFill>
                  <a:srgbClr val="0000FF"/>
                </a:solidFill>
              </a:rPr>
              <a:t>划分块</a:t>
            </a:r>
            <a:r>
              <a:rPr lang="zh-CN" altLang="en-US" sz="2800" dirty="0"/>
              <a:t>。</a:t>
            </a:r>
            <a:endParaRPr lang="zh-CN" altLang="en-US" sz="2800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AD3B97E-726C-404C-9DBF-BD74D3F26B26}" type="slidenum">
              <a:rPr lang="en-US" altLang="zh-CN"/>
            </a:fld>
            <a:endParaRPr lang="en-US" altLang="zh-CN"/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125" y="476672"/>
            <a:ext cx="10280650" cy="5472112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2.44</a:t>
            </a:r>
            <a:r>
              <a:rPr lang="zh-CN" altLang="en-US" sz="2400" dirty="0"/>
              <a:t>设集合</a:t>
            </a:r>
            <a:r>
              <a:rPr lang="en-US" altLang="zh-CN" sz="2400" dirty="0"/>
              <a:t>A={1,2,3,4},</a:t>
            </a:r>
            <a:r>
              <a:rPr lang="zh-CN" altLang="en-US" sz="2400" dirty="0"/>
              <a:t>则</a:t>
            </a: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={{1},{2},{3},{4}},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/>
              <a:t>={{1},{2,3,4}},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/>
              <a:t>={{1,2},{3,4}},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/>
              <a:t>={{1,2,3,4}}</a:t>
            </a:r>
            <a:r>
              <a:rPr lang="zh-CN" altLang="en-US" sz="2400" dirty="0"/>
              <a:t>均为对集合</a:t>
            </a:r>
            <a:r>
              <a:rPr lang="en-US" altLang="zh-CN" sz="2400" dirty="0"/>
              <a:t>A</a:t>
            </a:r>
            <a:r>
              <a:rPr lang="zh-CN" altLang="en-US" sz="2400" dirty="0"/>
              <a:t>的划分。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2.45</a:t>
            </a:r>
            <a:r>
              <a:rPr lang="zh-CN" altLang="en-US" sz="2400" dirty="0"/>
              <a:t>设集合</a:t>
            </a:r>
            <a:r>
              <a:rPr lang="en-US" altLang="zh-CN" sz="2400" dirty="0"/>
              <a:t>A={</a:t>
            </a:r>
            <a:r>
              <a:rPr lang="en-US" altLang="zh-CN" sz="2400" dirty="0" err="1"/>
              <a:t>a,b,c,d</a:t>
            </a:r>
            <a:r>
              <a:rPr lang="en-US" altLang="zh-CN" sz="2400" dirty="0"/>
              <a:t>}</a:t>
            </a:r>
            <a:r>
              <a:rPr lang="zh-CN" altLang="en-US" sz="2400" dirty="0"/>
              <a:t>，判断下列子集是否是</a:t>
            </a:r>
            <a:r>
              <a:rPr lang="en-US" altLang="zh-CN" sz="2400" dirty="0"/>
              <a:t>A</a:t>
            </a:r>
            <a:r>
              <a:rPr lang="zh-CN" altLang="en-US" sz="2400" dirty="0"/>
              <a:t>的划分。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(1) {{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},{</a:t>
            </a:r>
            <a:r>
              <a:rPr lang="en-US" altLang="zh-CN" sz="2400" dirty="0" err="1"/>
              <a:t>c,d</a:t>
            </a:r>
            <a:r>
              <a:rPr lang="en-US" altLang="zh-CN" sz="2400" dirty="0"/>
              <a:t>},{</a:t>
            </a:r>
            <a:r>
              <a:rPr lang="en-US" altLang="zh-CN" sz="2400" dirty="0" err="1"/>
              <a:t>b,d</a:t>
            </a:r>
            <a:r>
              <a:rPr lang="en-US" altLang="zh-CN" sz="2400" dirty="0"/>
              <a:t>}}</a:t>
            </a:r>
            <a:endParaRPr lang="en-US" altLang="zh-C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(2) {{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},{</a:t>
            </a:r>
            <a:r>
              <a:rPr lang="en-US" altLang="zh-CN" sz="2400" dirty="0" err="1"/>
              <a:t>c,d</a:t>
            </a:r>
            <a:r>
              <a:rPr lang="en-US" altLang="zh-CN" sz="2400" dirty="0"/>
              <a:t>}}</a:t>
            </a:r>
            <a:endParaRPr lang="en-US" altLang="zh-C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(3) {{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},{c},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(4) {{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},{c},{d}}</a:t>
            </a:r>
            <a:endParaRPr lang="en-US" altLang="zh-C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(5) {{</a:t>
            </a:r>
            <a:r>
              <a:rPr lang="en-US" altLang="zh-CN" sz="2400" dirty="0" err="1"/>
              <a:t>a,b,c,d</a:t>
            </a:r>
            <a:r>
              <a:rPr lang="en-US" altLang="zh-CN" sz="2400" dirty="0"/>
              <a:t>}}</a:t>
            </a:r>
            <a:endParaRPr lang="en-US" altLang="zh-C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解： 根据划分的定义有（</a:t>
            </a:r>
            <a:r>
              <a:rPr lang="en-US" altLang="zh-CN" sz="2400" dirty="0"/>
              <a:t>1</a:t>
            </a:r>
            <a:r>
              <a:rPr lang="zh-CN" altLang="en-US" sz="2400" dirty="0"/>
              <a:t>），（</a:t>
            </a:r>
            <a:r>
              <a:rPr lang="en-US" altLang="zh-CN" sz="2400" dirty="0"/>
              <a:t>3</a:t>
            </a:r>
            <a:r>
              <a:rPr lang="zh-CN" altLang="en-US" sz="2400" dirty="0"/>
              <a:t>）不是</a:t>
            </a:r>
            <a:r>
              <a:rPr lang="en-US" altLang="zh-CN" sz="2400" dirty="0"/>
              <a:t>A</a:t>
            </a:r>
            <a:r>
              <a:rPr lang="zh-CN" altLang="en-US" sz="2400" dirty="0"/>
              <a:t>的划分，（</a:t>
            </a:r>
            <a:r>
              <a:rPr lang="en-US" altLang="zh-CN" sz="2400" dirty="0"/>
              <a:t>2</a:t>
            </a:r>
            <a:r>
              <a:rPr lang="zh-CN" altLang="en-US" sz="2400" dirty="0"/>
              <a:t>），（</a:t>
            </a:r>
            <a:r>
              <a:rPr lang="en-US" altLang="zh-CN" sz="2400" dirty="0"/>
              <a:t>4</a:t>
            </a:r>
            <a:r>
              <a:rPr lang="zh-CN" altLang="en-US" sz="2400" dirty="0"/>
              <a:t>），（</a:t>
            </a:r>
            <a:r>
              <a:rPr lang="en-US" altLang="zh-CN" sz="2400" dirty="0"/>
              <a:t>5</a:t>
            </a:r>
            <a:r>
              <a:rPr lang="zh-CN" altLang="en-US" sz="2400" dirty="0"/>
              <a:t>）是</a:t>
            </a:r>
            <a:r>
              <a:rPr lang="en-US" altLang="zh-CN" sz="2400" dirty="0"/>
              <a:t>A</a:t>
            </a:r>
            <a:r>
              <a:rPr lang="zh-CN" altLang="en-US" sz="2400" dirty="0"/>
              <a:t>的划分。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5A1AD445-7C0C-4746-A24B-4443FAD02A76}" type="slidenum">
              <a:rPr lang="en-US" altLang="zh-CN"/>
            </a:fld>
            <a:endParaRPr lang="en-US" altLang="zh-CN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855640" y="341313"/>
            <a:ext cx="3935760" cy="1143000"/>
          </a:xfrm>
        </p:spPr>
        <p:txBody>
          <a:bodyPr/>
          <a:lstStyle/>
          <a:p>
            <a:r>
              <a:rPr lang="zh-CN" altLang="en-US" dirty="0"/>
              <a:t>细分、真细分</a:t>
            </a:r>
            <a:endParaRPr lang="zh-CN" altLang="en-US" dirty="0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772009" y="1087437"/>
            <a:ext cx="10647982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00FF"/>
                </a:solidFill>
              </a:rPr>
              <a:t>定义</a:t>
            </a:r>
            <a:r>
              <a:rPr lang="en-US" altLang="zh-CN" sz="3600" b="1" dirty="0">
                <a:solidFill>
                  <a:srgbClr val="0000FF"/>
                </a:solidFill>
              </a:rPr>
              <a:t>2.22</a:t>
            </a:r>
            <a:r>
              <a:rPr lang="zh-CN" altLang="en-US" sz="3600" dirty="0"/>
              <a:t>设</a:t>
            </a:r>
            <a:r>
              <a:rPr lang="zh-CN" altLang="en-US" sz="3600" dirty="0">
                <a:sym typeface="Symbol" panose="05050102010706020507" pitchFamily="18" charset="2"/>
              </a:rPr>
              <a:t>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en-US" altLang="zh-CN" sz="3600" dirty="0">
                <a:sym typeface="Symbol" panose="05050102010706020507" pitchFamily="18" charset="2"/>
              </a:rPr>
              <a:t>={A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en-US" altLang="zh-CN" sz="3600" dirty="0">
                <a:sym typeface="Symbol" panose="05050102010706020507" pitchFamily="18" charset="2"/>
              </a:rPr>
              <a:t>,A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sym typeface="Symbol" panose="05050102010706020507" pitchFamily="18" charset="2"/>
              </a:rPr>
              <a:t>,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3600" dirty="0">
                <a:sym typeface="Symbol" panose="05050102010706020507" pitchFamily="18" charset="2"/>
              </a:rPr>
              <a:t>,A</a:t>
            </a:r>
            <a:r>
              <a:rPr lang="en-US" altLang="zh-CN" sz="3600" baseline="-25000" dirty="0">
                <a:sym typeface="Symbol" panose="05050102010706020507" pitchFamily="18" charset="2"/>
              </a:rPr>
              <a:t>n</a:t>
            </a:r>
            <a:r>
              <a:rPr lang="en-US" altLang="zh-CN" sz="3600" dirty="0">
                <a:sym typeface="Symbol" panose="05050102010706020507" pitchFamily="18" charset="2"/>
              </a:rPr>
              <a:t>}</a:t>
            </a:r>
            <a:r>
              <a:rPr lang="zh-CN" altLang="en-US" sz="3600" dirty="0">
                <a:sym typeface="Symbol" panose="05050102010706020507" pitchFamily="18" charset="2"/>
              </a:rPr>
              <a:t>和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sym typeface="Symbol" panose="05050102010706020507" pitchFamily="18" charset="2"/>
              </a:rPr>
              <a:t>={B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en-US" altLang="zh-CN" sz="3600" dirty="0">
                <a:sym typeface="Symbol" panose="05050102010706020507" pitchFamily="18" charset="2"/>
              </a:rPr>
              <a:t>,B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sym typeface="Symbol" panose="05050102010706020507" pitchFamily="18" charset="2"/>
              </a:rPr>
              <a:t>,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3600" dirty="0">
                <a:sym typeface="Symbol" panose="05050102010706020507" pitchFamily="18" charset="2"/>
              </a:rPr>
              <a:t>,</a:t>
            </a:r>
            <a:r>
              <a:rPr lang="en-US" altLang="zh-CN" sz="3600" dirty="0" err="1">
                <a:sym typeface="Symbol" panose="05050102010706020507" pitchFamily="18" charset="2"/>
              </a:rPr>
              <a:t>B</a:t>
            </a:r>
            <a:r>
              <a:rPr lang="en-US" altLang="zh-CN" sz="3600" baseline="-25000" dirty="0" err="1">
                <a:sym typeface="Symbol" panose="05050102010706020507" pitchFamily="18" charset="2"/>
              </a:rPr>
              <a:t>m</a:t>
            </a:r>
            <a:r>
              <a:rPr lang="en-US" altLang="zh-CN" sz="3600" dirty="0">
                <a:sym typeface="Symbol" panose="05050102010706020507" pitchFamily="18" charset="2"/>
              </a:rPr>
              <a:t>}</a:t>
            </a:r>
            <a:r>
              <a:rPr lang="zh-CN" altLang="en-US" sz="3600" dirty="0">
                <a:sym typeface="Symbol" panose="05050102010706020507" pitchFamily="18" charset="2"/>
              </a:rPr>
              <a:t>是集合</a:t>
            </a:r>
            <a:r>
              <a:rPr lang="en-US" altLang="zh-CN" sz="3600" dirty="0">
                <a:sym typeface="Symbol" panose="05050102010706020507" pitchFamily="18" charset="2"/>
              </a:rPr>
              <a:t>S</a:t>
            </a:r>
            <a:r>
              <a:rPr lang="zh-CN" altLang="en-US" sz="3600" dirty="0">
                <a:sym typeface="Symbol" panose="05050102010706020507" pitchFamily="18" charset="2"/>
              </a:rPr>
              <a:t>的两种划分</a:t>
            </a:r>
            <a:r>
              <a:rPr lang="en-US" altLang="zh-CN" sz="3600" dirty="0">
                <a:sym typeface="Symbol" panose="05050102010706020507" pitchFamily="18" charset="2"/>
              </a:rPr>
              <a:t>,</a:t>
            </a:r>
            <a:r>
              <a:rPr lang="zh-CN" altLang="en-US" sz="3600" dirty="0">
                <a:sym typeface="Symbol" panose="05050102010706020507" pitchFamily="18" charset="2"/>
              </a:rPr>
              <a:t>如果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ym typeface="Symbol" panose="05050102010706020507" pitchFamily="18" charset="2"/>
              </a:rPr>
              <a:t>中的每个</a:t>
            </a:r>
            <a:r>
              <a:rPr lang="en-US" altLang="zh-CN" sz="3600" dirty="0">
                <a:sym typeface="Symbol" panose="05050102010706020507" pitchFamily="18" charset="2"/>
              </a:rPr>
              <a:t>A</a:t>
            </a:r>
            <a:r>
              <a:rPr lang="en-US" altLang="zh-CN" sz="3600" baseline="-25000" dirty="0">
                <a:sym typeface="Symbol" panose="05050102010706020507" pitchFamily="18" charset="2"/>
              </a:rPr>
              <a:t>i</a:t>
            </a:r>
            <a:r>
              <a:rPr lang="zh-CN" altLang="en-US" sz="3600" dirty="0">
                <a:sym typeface="Symbol" panose="05050102010706020507" pitchFamily="18" charset="2"/>
              </a:rPr>
              <a:t>都是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ym typeface="Symbol" panose="05050102010706020507" pitchFamily="18" charset="2"/>
              </a:rPr>
              <a:t>中某个 </a:t>
            </a:r>
            <a:r>
              <a:rPr lang="en-US" altLang="zh-CN" sz="3600" dirty="0" err="1">
                <a:sym typeface="Symbol" panose="05050102010706020507" pitchFamily="18" charset="2"/>
              </a:rPr>
              <a:t>B</a:t>
            </a:r>
            <a:r>
              <a:rPr lang="en-US" altLang="zh-CN" sz="3600" baseline="-25000" dirty="0" err="1">
                <a:sym typeface="Symbol" panose="05050102010706020507" pitchFamily="18" charset="2"/>
              </a:rPr>
              <a:t>j</a:t>
            </a:r>
            <a:r>
              <a:rPr lang="zh-CN" altLang="en-US" sz="3600" dirty="0">
                <a:sym typeface="Symbol" panose="05050102010706020507" pitchFamily="18" charset="2"/>
              </a:rPr>
              <a:t>的子集</a:t>
            </a:r>
            <a:r>
              <a:rPr lang="en-US" altLang="zh-CN" sz="3600" dirty="0">
                <a:sym typeface="Symbol" panose="05050102010706020507" pitchFamily="18" charset="2"/>
              </a:rPr>
              <a:t>,</a:t>
            </a:r>
            <a:r>
              <a:rPr lang="zh-CN" altLang="en-US" sz="3600" dirty="0">
                <a:sym typeface="Symbol" panose="05050102010706020507" pitchFamily="18" charset="2"/>
              </a:rPr>
              <a:t>则称划分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ym typeface="Symbol" panose="05050102010706020507" pitchFamily="18" charset="2"/>
              </a:rPr>
              <a:t>是划分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ym typeface="Symbol" panose="05050102010706020507" pitchFamily="18" charset="2"/>
              </a:rPr>
              <a:t>的一个</a:t>
            </a:r>
            <a:r>
              <a:rPr lang="zh-C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细分</a:t>
            </a:r>
            <a:r>
              <a:rPr lang="zh-CN" altLang="en-US" sz="3600" dirty="0">
                <a:sym typeface="Symbol" panose="05050102010706020507" pitchFamily="18" charset="2"/>
              </a:rPr>
              <a:t>。如果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ym typeface="Symbol" panose="05050102010706020507" pitchFamily="18" charset="2"/>
              </a:rPr>
              <a:t>是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ym typeface="Symbol" panose="05050102010706020507" pitchFamily="18" charset="2"/>
              </a:rPr>
              <a:t>的细分，且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ym typeface="Symbol" panose="05050102010706020507" pitchFamily="18" charset="2"/>
              </a:rPr>
              <a:t>中至少有一个</a:t>
            </a:r>
            <a:r>
              <a:rPr lang="en-US" altLang="zh-CN" sz="3600" dirty="0">
                <a:sym typeface="Symbol" panose="05050102010706020507" pitchFamily="18" charset="2"/>
              </a:rPr>
              <a:t>A</a:t>
            </a:r>
            <a:r>
              <a:rPr lang="en-US" altLang="zh-CN" sz="3600" baseline="-25000" dirty="0">
                <a:sym typeface="Symbol" panose="05050102010706020507" pitchFamily="18" charset="2"/>
              </a:rPr>
              <a:t>i</a:t>
            </a:r>
            <a:r>
              <a:rPr lang="zh-CN" altLang="en-US" sz="3600" dirty="0">
                <a:sym typeface="Symbol" panose="05050102010706020507" pitchFamily="18" charset="2"/>
              </a:rPr>
              <a:t>是某个</a:t>
            </a:r>
            <a:r>
              <a:rPr lang="en-US" altLang="zh-CN" sz="3600" dirty="0" err="1">
                <a:sym typeface="Symbol" panose="05050102010706020507" pitchFamily="18" charset="2"/>
              </a:rPr>
              <a:t>B</a:t>
            </a:r>
            <a:r>
              <a:rPr lang="en-US" altLang="zh-CN" sz="3600" baseline="-25000" dirty="0" err="1">
                <a:sym typeface="Symbol" panose="05050102010706020507" pitchFamily="18" charset="2"/>
              </a:rPr>
              <a:t>j</a:t>
            </a:r>
            <a:r>
              <a:rPr lang="zh-CN" altLang="en-US" sz="3600" dirty="0">
                <a:sym typeface="Symbol" panose="05050102010706020507" pitchFamily="18" charset="2"/>
              </a:rPr>
              <a:t>的真子集，则称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ym typeface="Symbol" panose="05050102010706020507" pitchFamily="18" charset="2"/>
              </a:rPr>
              <a:t>是</a:t>
            </a:r>
            <a:r>
              <a:rPr lang="en-US" altLang="zh-CN" sz="3600" baseline="-25000" dirty="0"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ym typeface="Symbol" panose="05050102010706020507" pitchFamily="18" charset="2"/>
              </a:rPr>
              <a:t>的</a:t>
            </a:r>
            <a:r>
              <a:rPr lang="zh-C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真细分</a:t>
            </a:r>
            <a:r>
              <a:rPr lang="zh-CN" altLang="en-US" sz="3600" dirty="0">
                <a:sym typeface="Symbol" panose="05050102010706020507" pitchFamily="18" charset="2"/>
              </a:rPr>
              <a:t>。</a:t>
            </a:r>
            <a:endParaRPr lang="zh-CN" altLang="en-US" sz="36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389D1B0-8CC3-4EF8-9826-5B7242BE9EE2}" type="slidenum">
              <a:rPr lang="en-US" altLang="zh-CN"/>
            </a:fld>
            <a:endParaRPr lang="en-US" altLang="zh-CN"/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3786" y="980728"/>
            <a:ext cx="10431958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2.46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A={1,2,3,4}</a:t>
            </a:r>
            <a:r>
              <a:rPr lang="zh-CN" altLang="en-US" sz="2800" dirty="0"/>
              <a:t>，则在例</a:t>
            </a:r>
            <a:r>
              <a:rPr lang="en-US" altLang="zh-CN" sz="2800" dirty="0"/>
              <a:t>2.44</a:t>
            </a:r>
            <a:r>
              <a:rPr lang="zh-CN" altLang="en-US" sz="2800" dirty="0"/>
              <a:t>中： 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(1) </a:t>
            </a:r>
            <a:r>
              <a:rPr lang="zh-CN" altLang="en-US" sz="2800" dirty="0"/>
              <a:t>划分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={{1},{2},{3},{4}}</a:t>
            </a:r>
            <a:r>
              <a:rPr lang="zh-CN" altLang="en-US" sz="2800" dirty="0"/>
              <a:t>是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={{1}</a:t>
            </a:r>
            <a:r>
              <a:rPr lang="zh-CN" altLang="en-US" sz="2800" dirty="0"/>
              <a:t>，</a:t>
            </a:r>
            <a:r>
              <a:rPr lang="en-US" altLang="zh-CN" sz="2800" dirty="0"/>
              <a:t>{2,3,4}}</a:t>
            </a:r>
            <a:r>
              <a:rPr lang="zh-CN" altLang="en-US" sz="2800" dirty="0"/>
              <a:t>的细分，也是真细分。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 划分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={{1,2},{3,4}}</a:t>
            </a:r>
            <a:r>
              <a:rPr lang="zh-CN" altLang="en-US" sz="2800" dirty="0"/>
              <a:t>是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={{1,2,3,4}}</a:t>
            </a:r>
            <a:r>
              <a:rPr lang="zh-CN" altLang="en-US" sz="2800" dirty="0"/>
              <a:t>的细分，也是真细分。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对集合</a:t>
            </a:r>
            <a:r>
              <a:rPr lang="en-US" altLang="zh-CN" sz="2800" dirty="0"/>
              <a:t>A={1,2,3,4}</a:t>
            </a:r>
            <a:r>
              <a:rPr lang="zh-CN" altLang="en-US" sz="2800" dirty="0"/>
              <a:t>，有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={{1},{2},{3},{4}}</a:t>
            </a:r>
            <a:r>
              <a:rPr lang="zh-CN" altLang="en-US" sz="2800" dirty="0"/>
              <a:t>是对集合</a:t>
            </a:r>
            <a:r>
              <a:rPr lang="en-US" altLang="zh-CN" sz="2800" dirty="0"/>
              <a:t>A</a:t>
            </a:r>
            <a:r>
              <a:rPr lang="zh-CN" altLang="en-US" sz="2800" dirty="0"/>
              <a:t>的任意一个划分的细分，而对集合</a:t>
            </a:r>
            <a:r>
              <a:rPr lang="en-US" altLang="zh-CN" sz="2800" dirty="0"/>
              <a:t>A</a:t>
            </a:r>
            <a:r>
              <a:rPr lang="zh-CN" altLang="en-US" sz="2800" dirty="0"/>
              <a:t>的任意一个划分都是划分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={{1,2,3,4}}</a:t>
            </a:r>
            <a:r>
              <a:rPr lang="zh-CN" altLang="en-US" sz="2800" dirty="0"/>
              <a:t>的细分。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0D200A4-4CF5-4F13-A8B6-3F3CB3D07A2C}" type="slidenum">
              <a:rPr lang="en-US" altLang="zh-CN"/>
            </a:fld>
            <a:endParaRPr lang="en-US" altLang="zh-CN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7587" y="260648"/>
            <a:ext cx="7680176" cy="1143000"/>
          </a:xfrm>
        </p:spPr>
        <p:txBody>
          <a:bodyPr/>
          <a:lstStyle/>
          <a:p>
            <a:r>
              <a:rPr lang="zh-CN" altLang="en-US" sz="4000" dirty="0"/>
              <a:t>最大划分、最小划分、交叉划分</a:t>
            </a:r>
            <a:endParaRPr lang="zh-CN" altLang="en-US" sz="40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1" y="1087437"/>
            <a:ext cx="10280203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2.23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是非空集合，</a:t>
            </a:r>
            <a:r>
              <a:rPr lang="en-US" altLang="zh-CN" sz="2800" dirty="0"/>
              <a:t>G={{a}|</a:t>
            </a:r>
            <a:r>
              <a:rPr lang="en-US" altLang="zh-CN" sz="2800" dirty="0" err="1"/>
              <a:t>a∈A</a:t>
            </a:r>
            <a:r>
              <a:rPr lang="en-US" altLang="zh-CN" sz="2800" dirty="0"/>
              <a:t>}</a:t>
            </a:r>
            <a:r>
              <a:rPr lang="zh-CN" altLang="en-US" sz="2800" dirty="0"/>
              <a:t>称为</a:t>
            </a:r>
            <a:r>
              <a:rPr lang="en-US" altLang="zh-CN" sz="2800" dirty="0"/>
              <a:t>A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最大划分</a:t>
            </a:r>
            <a:r>
              <a:rPr lang="zh-CN" altLang="en-US" sz="2800" dirty="0"/>
              <a:t>，</a:t>
            </a:r>
            <a:r>
              <a:rPr lang="en-US" altLang="zh-CN" sz="2800" dirty="0"/>
              <a:t>S={A}</a:t>
            </a:r>
            <a:r>
              <a:rPr lang="zh-CN" altLang="en-US" sz="2800" dirty="0"/>
              <a:t>称为</a:t>
            </a:r>
            <a:r>
              <a:rPr lang="en-US" altLang="zh-CN" sz="2800" dirty="0"/>
              <a:t>A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最小划分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2.47</a:t>
            </a:r>
            <a:r>
              <a:rPr lang="en-US" altLang="zh-CN" sz="2800" dirty="0"/>
              <a:t> </a:t>
            </a:r>
            <a:r>
              <a:rPr lang="zh-CN" altLang="en-US" sz="2800" dirty="0"/>
              <a:t>在例</a:t>
            </a:r>
            <a:r>
              <a:rPr lang="en-US" altLang="zh-CN" sz="2800" dirty="0"/>
              <a:t>2.44</a:t>
            </a:r>
            <a:r>
              <a:rPr lang="zh-CN" altLang="en-US" sz="2800" dirty="0"/>
              <a:t>中的划分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={{1},{2},{3},{4}}</a:t>
            </a:r>
            <a:r>
              <a:rPr lang="zh-CN" altLang="en-US" sz="2800" dirty="0"/>
              <a:t>是对集合</a:t>
            </a:r>
            <a:r>
              <a:rPr lang="en-US" altLang="zh-CN" sz="2800" dirty="0"/>
              <a:t>A</a:t>
            </a:r>
            <a:r>
              <a:rPr lang="zh-CN" altLang="en-US" sz="2800" dirty="0"/>
              <a:t>的最大划分，划分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={{1,2,3,4}}</a:t>
            </a:r>
            <a:r>
              <a:rPr lang="zh-CN" altLang="en-US" sz="2800" dirty="0"/>
              <a:t>是对集合</a:t>
            </a:r>
            <a:r>
              <a:rPr lang="en-US" altLang="zh-CN" sz="2800" dirty="0"/>
              <a:t>A</a:t>
            </a:r>
            <a:r>
              <a:rPr lang="zh-CN" altLang="en-US" sz="2800" dirty="0"/>
              <a:t>的最小划分。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4F5452D-D67C-46AE-A104-FB1A9CD62FBD}" type="slidenum">
              <a:rPr lang="en-US" altLang="zh-CN"/>
            </a:fld>
            <a:endParaRPr lang="en-US" altLang="zh-CN"/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23592" y="260648"/>
            <a:ext cx="8256240" cy="1143000"/>
          </a:xfrm>
        </p:spPr>
        <p:txBody>
          <a:bodyPr/>
          <a:lstStyle/>
          <a:p>
            <a:r>
              <a:rPr lang="zh-CN" altLang="en-US" sz="4000" dirty="0"/>
              <a:t>最大划分、最小划分、交叉划分</a:t>
            </a:r>
            <a:endParaRPr lang="zh-CN" altLang="en-US" sz="4000" dirty="0"/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1064" y="1087437"/>
            <a:ext cx="10287942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2.24</a:t>
            </a:r>
            <a:r>
              <a:rPr lang="zh-CN" altLang="en-US" sz="2800" dirty="0"/>
              <a:t>设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={A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,A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sym typeface="Symbol" panose="05050102010706020507" pitchFamily="18" charset="2"/>
              </a:rPr>
              <a:t>,A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ym typeface="Symbol" panose="05050102010706020507" pitchFamily="18" charset="2"/>
              </a:rPr>
              <a:t>和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={B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,B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en-US" altLang="zh-CN" sz="2800" dirty="0" err="1">
                <a:sym typeface="Symbol" panose="05050102010706020507" pitchFamily="18" charset="2"/>
              </a:rPr>
              <a:t>B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m</a:t>
            </a:r>
            <a:r>
              <a:rPr lang="en-US" altLang="zh-CN" sz="2800" dirty="0"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ym typeface="Symbol" panose="05050102010706020507" pitchFamily="18" charset="2"/>
              </a:rPr>
              <a:t>是集合</a:t>
            </a:r>
            <a:r>
              <a:rPr lang="en-US" altLang="zh-CN" sz="2800" dirty="0"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ym typeface="Symbol" panose="05050102010706020507" pitchFamily="18" charset="2"/>
              </a:rPr>
              <a:t>的两种划分，称</a:t>
            </a:r>
            <a:r>
              <a:rPr lang="en-US" altLang="zh-CN" sz="2800" dirty="0">
                <a:sym typeface="Symbol" panose="05050102010706020507" pitchFamily="18" charset="2"/>
              </a:rPr>
              <a:t>{</a:t>
            </a:r>
            <a:r>
              <a:rPr lang="en-US" altLang="zh-CN" sz="2800" dirty="0" err="1">
                <a:sym typeface="Symbol" panose="05050102010706020507" pitchFamily="18" charset="2"/>
              </a:rPr>
              <a:t>A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dirty="0" err="1">
                <a:sym typeface="Symbol" panose="05050102010706020507" pitchFamily="18" charset="2"/>
              </a:rPr>
              <a:t>∩B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zh-CN" sz="2800" dirty="0" err="1">
                <a:sym typeface="Symbol" panose="05050102010706020507" pitchFamily="18" charset="2"/>
              </a:rPr>
              <a:t>|A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dirty="0" err="1">
                <a:sym typeface="Symbol" panose="05050102010706020507" pitchFamily="18" charset="2"/>
              </a:rPr>
              <a:t>∩B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j</a:t>
            </a:r>
            <a:r>
              <a:rPr lang="en-US" altLang="zh-CN" sz="2800" dirty="0">
                <a:sym typeface="Symbol" panose="05050102010706020507" pitchFamily="18" charset="2"/>
              </a:rPr>
              <a:t> ≠,1≤i ≤n,1≤j ≤m}</a:t>
            </a:r>
            <a:r>
              <a:rPr lang="zh-CN" altLang="en-US" sz="2800" dirty="0">
                <a:sym typeface="Symbol" panose="05050102010706020507" pitchFamily="18" charset="2"/>
              </a:rPr>
              <a:t>为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ym typeface="Symbol" panose="05050102010706020507" pitchFamily="18" charset="2"/>
              </a:rPr>
              <a:t>和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交叉划分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2.48</a:t>
            </a:r>
            <a:r>
              <a:rPr lang="zh-CN" altLang="en-US" sz="2800" dirty="0">
                <a:sym typeface="Symbol" panose="05050102010706020507" pitchFamily="18" charset="2"/>
              </a:rPr>
              <a:t>设集合</a:t>
            </a:r>
            <a:r>
              <a:rPr lang="en-US" altLang="zh-CN" sz="2800" dirty="0">
                <a:sym typeface="Symbol" panose="05050102010706020507" pitchFamily="18" charset="2"/>
              </a:rPr>
              <a:t>A={1,2,3,4},</a:t>
            </a:r>
            <a:r>
              <a:rPr lang="zh-CN" altLang="en-US" sz="2800" dirty="0">
                <a:sym typeface="Symbol" panose="05050102010706020507" pitchFamily="18" charset="2"/>
              </a:rPr>
              <a:t>则在例</a:t>
            </a:r>
            <a:r>
              <a:rPr lang="en-US" altLang="zh-CN" sz="2800" dirty="0">
                <a:sym typeface="Symbol" panose="05050102010706020507" pitchFamily="18" charset="2"/>
              </a:rPr>
              <a:t>2.44</a:t>
            </a:r>
            <a:r>
              <a:rPr lang="zh-CN" altLang="en-US" sz="2800" dirty="0">
                <a:sym typeface="Symbol" panose="05050102010706020507" pitchFamily="18" charset="2"/>
              </a:rPr>
              <a:t>中的划分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={{1},{2,3,4}}</a:t>
            </a:r>
            <a:r>
              <a:rPr lang="zh-CN" altLang="en-US" sz="2800" dirty="0">
                <a:sym typeface="Symbol" panose="05050102010706020507" pitchFamily="18" charset="2"/>
              </a:rPr>
              <a:t>与划分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ym typeface="Symbol" panose="05050102010706020507" pitchFamily="18" charset="2"/>
              </a:rPr>
              <a:t>={{1,2},{3,4}}</a:t>
            </a:r>
            <a:r>
              <a:rPr lang="zh-CN" altLang="en-US" sz="2800" dirty="0">
                <a:sym typeface="Symbol" panose="05050102010706020507" pitchFamily="18" charset="2"/>
              </a:rPr>
              <a:t>的交叉划分为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∩</a:t>
            </a:r>
            <a:r>
              <a:rPr lang="en-US" altLang="zh-CN" sz="2800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ym typeface="Symbol" panose="05050102010706020507" pitchFamily="18" charset="2"/>
              </a:rPr>
              <a:t>={{1},{2},{3,4}}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A184FF9-407F-492F-B3D9-A3C1508331CD}" type="slidenum">
              <a:rPr lang="en-US" altLang="zh-CN"/>
            </a:fld>
            <a:endParaRPr lang="en-US" altLang="zh-CN"/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1484784"/>
            <a:ext cx="11315724" cy="41529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证明</a:t>
            </a:r>
            <a:r>
              <a:rPr lang="zh-CN" altLang="en-US" sz="2400" dirty="0"/>
              <a:t> 交叉划分</a:t>
            </a: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dirty="0"/>
              <a:t>={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|A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≠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dirty="0"/>
              <a:t>,1≤i≤n,1≤j≤m }</a:t>
            </a:r>
            <a:r>
              <a:rPr lang="zh-CN" altLang="en-US" sz="2400" dirty="0"/>
              <a:t>。在</a:t>
            </a: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zh-CN" altLang="en-US" sz="2400" dirty="0"/>
              <a:t>中任取两个元素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h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zh-CN" altLang="en-US" sz="2400" dirty="0"/>
              <a:t>，考察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h</a:t>
            </a:r>
            <a:r>
              <a:rPr lang="en-US" altLang="zh-CN" sz="2400" dirty="0"/>
              <a:t>)∩(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)</a:t>
            </a:r>
            <a:r>
              <a:rPr lang="zh-CN" altLang="en-US" sz="2400" dirty="0"/>
              <a:t>是否满足集合划分定义中的三个条件：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）若</a:t>
            </a:r>
            <a:r>
              <a:rPr lang="en-US" altLang="zh-CN" sz="2400" dirty="0" err="1"/>
              <a:t>i</a:t>
            </a:r>
            <a:r>
              <a:rPr lang="en-US" altLang="zh-CN" sz="2400" dirty="0" err="1">
                <a:sym typeface="Symbol" panose="05050102010706020507" pitchFamily="18" charset="2"/>
              </a:rPr>
              <a:t></a:t>
            </a:r>
            <a:r>
              <a:rPr lang="en-US" altLang="zh-CN" sz="2400" dirty="0" err="1"/>
              <a:t>j</a:t>
            </a:r>
            <a:r>
              <a:rPr lang="zh-CN" altLang="en-US" sz="2400" dirty="0"/>
              <a:t>且</a:t>
            </a:r>
            <a:r>
              <a:rPr lang="en-US" altLang="zh-CN" sz="2400" dirty="0"/>
              <a:t>h=k</a:t>
            </a:r>
            <a:r>
              <a:rPr lang="zh-CN" altLang="en-US" sz="2400" dirty="0"/>
              <a:t>，由于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∩A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，则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h</a:t>
            </a:r>
            <a:r>
              <a:rPr lang="en-US" altLang="zh-CN" sz="2400" dirty="0" err="1"/>
              <a:t>∩A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）若</a:t>
            </a:r>
            <a:r>
              <a:rPr lang="en-US" altLang="zh-CN" sz="2400" dirty="0" err="1"/>
              <a:t>i</a:t>
            </a:r>
            <a:r>
              <a:rPr lang="en-US" altLang="zh-CN" sz="2400" dirty="0" err="1">
                <a:sym typeface="Symbol" panose="05050102010706020507" pitchFamily="18" charset="2"/>
              </a:rPr>
              <a:t></a:t>
            </a:r>
            <a:r>
              <a:rPr lang="en-US" altLang="zh-CN" sz="2400" dirty="0" err="1"/>
              <a:t>j</a:t>
            </a:r>
            <a:r>
              <a:rPr lang="zh-CN" altLang="en-US" sz="2400" dirty="0"/>
              <a:t>且</a:t>
            </a:r>
            <a:r>
              <a:rPr lang="en-US" altLang="zh-CN" sz="2400" dirty="0" err="1"/>
              <a:t>h</a:t>
            </a:r>
            <a:r>
              <a:rPr lang="en-US" altLang="zh-CN" sz="2400" dirty="0" err="1">
                <a:sym typeface="Symbol" panose="05050102010706020507" pitchFamily="18" charset="2"/>
              </a:rPr>
              <a:t></a:t>
            </a:r>
            <a:r>
              <a:rPr lang="en-US" altLang="zh-CN" sz="2400" dirty="0" err="1"/>
              <a:t>k</a:t>
            </a:r>
            <a:r>
              <a:rPr lang="zh-CN" altLang="en-US" sz="2400" dirty="0"/>
              <a:t>，由于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∩A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B</a:t>
            </a:r>
            <a:r>
              <a:rPr lang="en-US" altLang="zh-CN" sz="2400" baseline="-25000" dirty="0" err="1"/>
              <a:t>h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，则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h</a:t>
            </a:r>
            <a:r>
              <a:rPr lang="en-US" altLang="zh-CN" sz="2400" dirty="0" err="1"/>
              <a:t>∩A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）若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=j</a:t>
            </a:r>
            <a:r>
              <a:rPr lang="zh-CN" altLang="en-US" sz="2400" dirty="0"/>
              <a:t>且</a:t>
            </a:r>
            <a:r>
              <a:rPr lang="en-US" altLang="zh-CN" sz="2400" dirty="0" err="1"/>
              <a:t>h</a:t>
            </a:r>
            <a:r>
              <a:rPr lang="en-US" altLang="zh-CN" sz="2400" dirty="0" err="1">
                <a:sym typeface="Symbol" panose="05050102010706020507" pitchFamily="18" charset="2"/>
              </a:rPr>
              <a:t></a:t>
            </a:r>
            <a:r>
              <a:rPr lang="en-US" altLang="zh-CN" sz="2400" dirty="0" err="1"/>
              <a:t>k</a:t>
            </a:r>
            <a:r>
              <a:rPr lang="zh-CN" altLang="en-US" sz="2400" dirty="0"/>
              <a:t>，由于</a:t>
            </a:r>
            <a:r>
              <a:rPr lang="en-US" altLang="zh-CN" sz="2400" dirty="0" err="1"/>
              <a:t>B</a:t>
            </a:r>
            <a:r>
              <a:rPr lang="en-US" altLang="zh-CN" sz="2400" baseline="-25000" dirty="0" err="1"/>
              <a:t>h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，则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h</a:t>
            </a:r>
            <a:r>
              <a:rPr lang="en-US" altLang="zh-CN" sz="2400" dirty="0" err="1"/>
              <a:t>∩A</a:t>
            </a:r>
            <a:r>
              <a:rPr lang="en-US" altLang="zh-CN" sz="2400" baseline="-25000" dirty="0" err="1"/>
              <a:t>j</a:t>
            </a:r>
            <a:r>
              <a:rPr lang="en-US" altLang="zh-CN" sz="2400" dirty="0" err="1"/>
              <a:t>∩B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由此可见，在交叉划分中，任意两个元素的交集均为</a:t>
            </a:r>
            <a:r>
              <a:rPr lang="zh-CN" altLang="en-US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，且有交叉划分中所有元素的并集为：</a:t>
            </a:r>
            <a:endParaRPr lang="zh-CN" altLang="en-US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345272" y="548680"/>
            <a:ext cx="9501456" cy="1223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定理</a:t>
            </a:r>
            <a:r>
              <a:rPr lang="en-US" altLang="zh-CN" b="1" dirty="0">
                <a:solidFill>
                  <a:srgbClr val="0000FF"/>
                </a:solidFill>
              </a:rPr>
              <a:t>2.18</a:t>
            </a:r>
            <a:r>
              <a:rPr lang="en-US" altLang="zh-CN" dirty="0"/>
              <a:t> </a:t>
            </a:r>
            <a:r>
              <a:rPr lang="zh-CN" altLang="en-US" dirty="0"/>
              <a:t>：设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={A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,A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dirty="0">
                <a:sym typeface="Symbol" panose="05050102010706020507" pitchFamily="18" charset="2"/>
              </a:rPr>
              <a:t>,A</a:t>
            </a:r>
            <a:r>
              <a:rPr lang="en-US" altLang="zh-CN" baseline="-25000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和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={B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,B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 err="1">
                <a:sym typeface="Symbol" panose="05050102010706020507" pitchFamily="18" charset="2"/>
              </a:rPr>
              <a:t>B</a:t>
            </a:r>
            <a:r>
              <a:rPr lang="en-US" altLang="zh-CN" baseline="-25000" dirty="0" err="1"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是集合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的两种划分，则其交叉划分</a:t>
            </a:r>
            <a:r>
              <a:rPr lang="en-US" altLang="zh-CN" dirty="0">
                <a:sym typeface="Symbol" panose="05050102010706020507" pitchFamily="18" charset="2"/>
              </a:rPr>
              <a:t>= 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∩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也是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的一个划分。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9D50C29B-03EA-4E5B-B51B-F3EA7BC5B818}" type="slidenum">
              <a:rPr lang="en-US" altLang="zh-CN"/>
            </a:fld>
            <a:endParaRPr lang="en-US" altLang="zh-CN"/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51584" y="980728"/>
            <a:ext cx="7032104" cy="46831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(A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)∪(A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∪(A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m</a:t>
            </a:r>
            <a:r>
              <a:rPr lang="en-US" altLang="zh-CN" sz="2600" dirty="0"/>
              <a:t>) 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∪(A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)∪(A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∩B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∪(A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∩</a:t>
            </a:r>
            <a:r>
              <a:rPr lang="en-US" altLang="zh-CN" sz="2600" dirty="0" err="1"/>
              <a:t>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∪(A</a:t>
            </a:r>
            <a:r>
              <a:rPr lang="en-US" altLang="zh-CN" sz="2600" baseline="-25000" dirty="0"/>
              <a:t>n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)∪(A</a:t>
            </a:r>
            <a:r>
              <a:rPr lang="en-US" altLang="zh-CN" sz="2600" baseline="-25000" dirty="0"/>
              <a:t>n</a:t>
            </a:r>
            <a:r>
              <a:rPr lang="en-US" altLang="zh-CN" sz="2600" dirty="0"/>
              <a:t>∩B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∪(</a:t>
            </a:r>
            <a:r>
              <a:rPr lang="en-US" altLang="zh-CN" sz="2600" dirty="0" err="1"/>
              <a:t>A</a:t>
            </a:r>
            <a:r>
              <a:rPr lang="en-US" altLang="zh-CN" sz="2600" baseline="-25000" dirty="0" err="1"/>
              <a:t>n</a:t>
            </a:r>
            <a:r>
              <a:rPr lang="en-US" altLang="zh-CN" sz="2600" dirty="0" err="1"/>
              <a:t>∩B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= (A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∩(B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∪B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</a:t>
            </a:r>
            <a:r>
              <a:rPr lang="en-US" altLang="zh-CN" sz="2600" dirty="0" err="1"/>
              <a:t>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)) ∪(A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∩(B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∪B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</a:t>
            </a:r>
            <a:r>
              <a:rPr lang="en-US" altLang="zh-CN" sz="2600" dirty="0" err="1"/>
              <a:t>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)) 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∪ (A</a:t>
            </a:r>
            <a:r>
              <a:rPr lang="en-US" altLang="zh-CN" sz="2600" baseline="-25000" dirty="0"/>
              <a:t>n</a:t>
            </a:r>
            <a:r>
              <a:rPr lang="en-US" altLang="zh-CN" sz="2600" dirty="0"/>
              <a:t>∩(B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∪B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</a:t>
            </a:r>
            <a:r>
              <a:rPr lang="en-US" altLang="zh-CN" sz="2600" dirty="0" err="1"/>
              <a:t>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))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= (A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∪A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∪A</a:t>
            </a:r>
            <a:r>
              <a:rPr lang="en-US" altLang="zh-CN" sz="2600" baseline="-25000" dirty="0"/>
              <a:t>n</a:t>
            </a:r>
            <a:r>
              <a:rPr lang="en-US" altLang="zh-CN" sz="2600" dirty="0"/>
              <a:t>)∩ (B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∪B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∪</a:t>
            </a:r>
            <a:r>
              <a:rPr lang="en-US" altLang="zh-CN" sz="2600" dirty="0">
                <a:latin typeface="Times New Roman" panose="02020603050405020304" pitchFamily="18" charset="0"/>
              </a:rPr>
              <a:t>…</a:t>
            </a:r>
            <a:r>
              <a:rPr lang="en-US" altLang="zh-CN" sz="2600" dirty="0"/>
              <a:t>∪</a:t>
            </a:r>
            <a:r>
              <a:rPr lang="en-US" altLang="zh-CN" sz="2600" dirty="0" err="1"/>
              <a:t>B</a:t>
            </a:r>
            <a:r>
              <a:rPr lang="en-US" altLang="zh-CN" sz="2600" baseline="-25000" dirty="0" err="1"/>
              <a:t>m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= S∩S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= S</a:t>
            </a:r>
            <a:endParaRPr lang="en-US" altLang="zh-CN" sz="26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因此交叉划分</a:t>
            </a:r>
            <a:r>
              <a:rPr lang="zh-CN" altLang="en-US" sz="2600" dirty="0">
                <a:sym typeface="Symbol" panose="05050102010706020507" pitchFamily="18" charset="2"/>
              </a:rPr>
              <a:t></a:t>
            </a:r>
            <a:r>
              <a:rPr lang="en-US" altLang="zh-CN" sz="2600" dirty="0"/>
              <a:t>= </a:t>
            </a:r>
            <a:r>
              <a:rPr lang="en-US" altLang="zh-CN" sz="2600" dirty="0">
                <a:sym typeface="Symbol" panose="05050102010706020507" pitchFamily="18" charset="2"/>
              </a:rPr>
              <a:t>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∩</a:t>
            </a:r>
            <a:r>
              <a:rPr lang="en-US" altLang="zh-CN" sz="2600" dirty="0">
                <a:sym typeface="Symbol" panose="05050102010706020507" pitchFamily="18" charset="2"/>
              </a:rPr>
              <a:t>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也是</a:t>
            </a:r>
            <a:r>
              <a:rPr lang="en-US" altLang="zh-CN" sz="2600" dirty="0"/>
              <a:t>S</a:t>
            </a:r>
            <a:r>
              <a:rPr lang="zh-CN" altLang="en-US" sz="2600" dirty="0"/>
              <a:t>的一个划分。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5246F5D2-85C9-46B7-966E-4E9A7667106C}" type="slidenum">
              <a:rPr lang="en-US" altLang="zh-CN"/>
            </a:fld>
            <a:endParaRPr lang="en-US" altLang="zh-CN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63849" y="908720"/>
            <a:ext cx="10143926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2.19</a:t>
            </a:r>
            <a:r>
              <a:rPr lang="en-US" altLang="zh-CN" sz="2800" dirty="0">
                <a:sym typeface="Symbol" panose="05050102010706020507" pitchFamily="18" charset="2"/>
              </a:rPr>
              <a:t> :</a:t>
            </a:r>
            <a:r>
              <a:rPr lang="zh-CN" altLang="en-US" sz="2800" dirty="0">
                <a:sym typeface="Symbol" panose="05050102010706020507" pitchFamily="18" charset="2"/>
              </a:rPr>
              <a:t>任何两种划分的交叉划分，都是原来各自划分的一个细分。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 设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dirty="0"/>
              <a:t>={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∩B</a:t>
            </a:r>
            <a:r>
              <a:rPr lang="en-US" altLang="zh-CN" sz="2800" baseline="-25000" dirty="0" err="1"/>
              <a:t>j</a:t>
            </a:r>
            <a:r>
              <a:rPr lang="en-US" altLang="zh-CN" sz="2800" dirty="0" err="1"/>
              <a:t>|A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∩B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 ≠</a:t>
            </a:r>
            <a:r>
              <a:rPr lang="en-US" altLang="zh-CN" sz="2800" dirty="0">
                <a:sym typeface="Symbol" panose="05050102010706020507" pitchFamily="18" charset="2"/>
              </a:rPr>
              <a:t></a:t>
            </a:r>
            <a:r>
              <a:rPr lang="en-US" altLang="zh-CN" sz="2800" dirty="0"/>
              <a:t>,1≤i≤n,1≤j≤m}</a:t>
            </a:r>
            <a:r>
              <a:rPr lang="zh-CN" altLang="en-US" sz="2800" dirty="0"/>
              <a:t>为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dirty="0"/>
              <a:t>1={A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}</a:t>
            </a:r>
            <a:r>
              <a:rPr lang="zh-CN" altLang="en-US" sz="2800" dirty="0"/>
              <a:t>和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en-US" altLang="zh-CN" sz="2800" dirty="0"/>
              <a:t>2={B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/>
              <a:t>,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}</a:t>
            </a:r>
            <a:r>
              <a:rPr lang="zh-CN" altLang="en-US" sz="2800" dirty="0"/>
              <a:t>的交叉划分，对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zh-CN" altLang="en-US" sz="2800" dirty="0"/>
              <a:t>中的任意元素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∩B</a:t>
            </a:r>
            <a:r>
              <a:rPr lang="en-US" altLang="zh-CN" sz="2800" baseline="-25000" dirty="0" err="1"/>
              <a:t>j</a:t>
            </a:r>
            <a:r>
              <a:rPr lang="zh-CN" altLang="en-US" sz="2800" dirty="0"/>
              <a:t>，都有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∩B</a:t>
            </a:r>
            <a:r>
              <a:rPr lang="en-US" altLang="zh-CN" sz="2800" baseline="-25000" dirty="0" err="1"/>
              <a:t>j</a:t>
            </a:r>
            <a:r>
              <a:rPr lang="en-US" altLang="zh-CN" sz="2800" baseline="-250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与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∩B</a:t>
            </a:r>
            <a:r>
              <a:rPr lang="en-US" altLang="zh-CN" sz="2800" baseline="-25000" dirty="0" err="1"/>
              <a:t>j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j</a:t>
            </a:r>
            <a:r>
              <a:rPr lang="zh-CN" altLang="en-US" sz="2800" dirty="0"/>
              <a:t>成立，因此</a:t>
            </a:r>
            <a:r>
              <a:rPr lang="zh-CN" altLang="en-US" sz="2800" dirty="0">
                <a:sym typeface="Symbol" panose="05050102010706020507" pitchFamily="18" charset="2"/>
              </a:rPr>
              <a:t></a:t>
            </a:r>
            <a:r>
              <a:rPr lang="zh-CN" altLang="en-US" sz="2800" dirty="0"/>
              <a:t>是原来各自划分的一个细分。 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A279A16-7AC3-4755-8DD6-E3A475DD3E18}" type="slidenum">
              <a:rPr lang="en-US" altLang="zh-CN"/>
            </a:fld>
            <a:endParaRPr lang="en-US" altLang="zh-CN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51584" y="327934"/>
            <a:ext cx="4943872" cy="1143000"/>
          </a:xfrm>
        </p:spPr>
        <p:txBody>
          <a:bodyPr/>
          <a:lstStyle/>
          <a:p>
            <a:r>
              <a:rPr lang="en-US" altLang="zh-CN" dirty="0"/>
              <a:t>2.6.3 </a:t>
            </a:r>
            <a:r>
              <a:rPr lang="zh-CN" altLang="en-US" dirty="0"/>
              <a:t>划分与等价关系</a:t>
            </a:r>
            <a:endParaRPr lang="zh-CN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528" y="1087437"/>
            <a:ext cx="9279830" cy="4683125"/>
          </a:xfrm>
        </p:spPr>
        <p:txBody>
          <a:bodyPr>
            <a:normAutofit/>
          </a:bodyPr>
          <a:lstStyle/>
          <a:p>
            <a:pPr marL="609600" indent="-609600">
              <a:lnSpc>
                <a:spcPct val="15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  <a:sym typeface="Symbol" panose="05050102010706020507" pitchFamily="18" charset="2"/>
              </a:rPr>
              <a:t>比较某集合</a:t>
            </a:r>
            <a:r>
              <a:rPr lang="en-US" altLang="zh-CN" sz="36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600" b="1" dirty="0">
                <a:solidFill>
                  <a:srgbClr val="FF0000"/>
                </a:solidFill>
                <a:sym typeface="Symbol" panose="05050102010706020507" pitchFamily="18" charset="2"/>
              </a:rPr>
              <a:t>的划分与</a:t>
            </a:r>
            <a:r>
              <a:rPr lang="en-US" altLang="zh-CN" sz="36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600" b="1" dirty="0">
                <a:solidFill>
                  <a:srgbClr val="FF0000"/>
                </a:solidFill>
                <a:sym typeface="Symbol" panose="05050102010706020507" pitchFamily="18" charset="2"/>
              </a:rPr>
              <a:t>的等价关系的商集的定义，可以发现，一个划分就是一个等价关系。</a:t>
            </a:r>
            <a:endParaRPr lang="zh-CN" altLang="en-US" sz="3600" b="1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E264C8B-A91F-472A-9C2C-6F7ECB8AE3FC}" type="slidenum">
              <a:rPr lang="en-US" altLang="zh-CN"/>
            </a:fld>
            <a:endParaRPr lang="en-US" altLang="zh-CN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9456" y="253059"/>
            <a:ext cx="9912424" cy="11430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3600" b="1" dirty="0">
                <a:solidFill>
                  <a:srgbClr val="0000FF"/>
                </a:solidFill>
                <a:sym typeface="Symbol" panose="05050102010706020507" pitchFamily="18" charset="2"/>
              </a:rPr>
              <a:t>2.49</a:t>
            </a:r>
            <a:r>
              <a:rPr lang="zh-CN" altLang="en-US" sz="3600" dirty="0">
                <a:sym typeface="Symbol" panose="05050102010706020507" pitchFamily="18" charset="2"/>
              </a:rPr>
              <a:t>设集合</a:t>
            </a:r>
            <a:r>
              <a:rPr lang="en-US" altLang="zh-CN" sz="3600" dirty="0">
                <a:sym typeface="Symbol" panose="05050102010706020507" pitchFamily="18" charset="2"/>
              </a:rPr>
              <a:t>A={1,2,3},</a:t>
            </a:r>
            <a:r>
              <a:rPr lang="zh-CN" altLang="en-US" sz="3600" dirty="0">
                <a:sym typeface="Symbol" panose="05050102010706020507" pitchFamily="18" charset="2"/>
              </a:rPr>
              <a:t>求出</a:t>
            </a:r>
            <a:r>
              <a:rPr lang="en-US" altLang="zh-CN" sz="3600" dirty="0">
                <a:sym typeface="Symbol" panose="05050102010706020507" pitchFamily="18" charset="2"/>
              </a:rPr>
              <a:t>A</a:t>
            </a:r>
            <a:r>
              <a:rPr lang="zh-CN" altLang="en-US" sz="3600" dirty="0">
                <a:sym typeface="Symbol" panose="05050102010706020507" pitchFamily="18" charset="2"/>
              </a:rPr>
              <a:t>上所有的等价关系。</a:t>
            </a:r>
            <a:endParaRPr lang="zh-CN" altLang="en-US" sz="3600" dirty="0">
              <a:sym typeface="Symbol" panose="05050102010706020507" pitchFamily="18" charset="2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78513" y="1274443"/>
            <a:ext cx="10392469" cy="10810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ym typeface="Symbol" panose="05050102010706020507" pitchFamily="18" charset="2"/>
              </a:rPr>
              <a:t>解</a:t>
            </a:r>
            <a:r>
              <a:rPr lang="zh-CN" altLang="en-US" sz="3200" dirty="0">
                <a:sym typeface="Symbol" panose="05050102010706020507" pitchFamily="18" charset="2"/>
              </a:rPr>
              <a:t>： 写出</a:t>
            </a:r>
            <a:r>
              <a:rPr lang="en-US" altLang="zh-CN" sz="3200" dirty="0"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sym typeface="Symbol" panose="05050102010706020507" pitchFamily="18" charset="2"/>
              </a:rPr>
              <a:t>上所有的划分如图</a:t>
            </a:r>
            <a:r>
              <a:rPr lang="en-US" altLang="zh-CN" sz="3200" dirty="0">
                <a:sym typeface="Symbol" panose="05050102010706020507" pitchFamily="18" charset="2"/>
              </a:rPr>
              <a:t>2.3</a:t>
            </a:r>
            <a:r>
              <a:rPr lang="zh-CN" altLang="en-US" sz="3200" dirty="0">
                <a:sym typeface="Symbol" panose="05050102010706020507" pitchFamily="18" charset="2"/>
              </a:rPr>
              <a:t>所示，即可找出它们所对应的等价关系。</a:t>
            </a:r>
            <a:endParaRPr lang="zh-CN" altLang="en-US" sz="3200" dirty="0">
              <a:sym typeface="Symbol" panose="05050102010706020507" pitchFamily="18" charset="2"/>
            </a:endParaRPr>
          </a:p>
          <a:p>
            <a:endParaRPr lang="en-US" altLang="zh-CN" sz="3200" dirty="0"/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1524000" y="2660007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714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pic>
        <p:nvPicPr>
          <p:cNvPr id="322565" name="Picture 5"/>
          <p:cNvPicPr>
            <a:picLocks noChangeAspect="1" noChangeArrowheads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49" y="2924944"/>
            <a:ext cx="6653175" cy="162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2566" name="Rectangle 6"/>
          <p:cNvSpPr>
            <a:spLocks noChangeArrowheads="1"/>
          </p:cNvSpPr>
          <p:nvPr/>
        </p:nvSpPr>
        <p:spPr bwMode="auto">
          <a:xfrm>
            <a:off x="4583832" y="5157141"/>
            <a:ext cx="2232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</a:rPr>
              <a:t>图</a:t>
            </a:r>
            <a:r>
              <a:rPr lang="en-US" altLang="zh-CN" sz="1400" dirty="0">
                <a:latin typeface="Times New Roman" panose="02020603050405020304" pitchFamily="18" charset="0"/>
              </a:rPr>
              <a:t>2.3 </a:t>
            </a:r>
            <a:r>
              <a:rPr lang="zh-CN" altLang="en-US" sz="1400" dirty="0">
                <a:latin typeface="Times New Roman" panose="02020603050405020304" pitchFamily="18" charset="0"/>
              </a:rPr>
              <a:t>集合</a:t>
            </a:r>
            <a:r>
              <a:rPr lang="en-US" altLang="zh-CN" sz="1400" dirty="0">
                <a:latin typeface="Times New Roman" panose="02020603050405020304" pitchFamily="18" charset="0"/>
              </a:rPr>
              <a:t>A</a:t>
            </a:r>
            <a:r>
              <a:rPr lang="zh-CN" altLang="en-US" sz="1400" dirty="0">
                <a:latin typeface="Times New Roman" panose="02020603050405020304" pitchFamily="18" charset="0"/>
              </a:rPr>
              <a:t>的五种划分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ED250B00-0FF9-4C25-B338-AB68309F929D}" type="slidenum">
              <a:rPr lang="en-US" altLang="zh-CN"/>
            </a:fld>
            <a:endParaRPr lang="en-US" altLang="zh-CN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560" y="1052736"/>
            <a:ext cx="8775700" cy="4114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A</a:t>
            </a:r>
            <a:r>
              <a:rPr lang="zh-CN" altLang="en-US" dirty="0"/>
              <a:t>的不同划分只有图</a:t>
            </a:r>
            <a:r>
              <a:rPr lang="en-US" altLang="zh-CN" dirty="0"/>
              <a:t>2.2</a:t>
            </a:r>
            <a:r>
              <a:rPr lang="zh-CN" altLang="en-US" dirty="0"/>
              <a:t>所示的五种，设对应于划分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 err="1"/>
              <a:t>i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=1,2,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/>
              <a:t>,5)</a:t>
            </a:r>
            <a:r>
              <a:rPr lang="zh-CN" altLang="en-US" dirty="0"/>
              <a:t>的等价关系为</a:t>
            </a:r>
            <a:r>
              <a:rPr lang="en-US" altLang="zh-CN" dirty="0"/>
              <a:t>R</a:t>
            </a:r>
            <a:r>
              <a:rPr lang="en-US" altLang="zh-CN" baseline="-25000" dirty="0"/>
              <a:t>i</a:t>
            </a:r>
            <a:r>
              <a:rPr lang="zh-CN" altLang="en-US" dirty="0"/>
              <a:t>，则有</a:t>
            </a:r>
            <a:endParaRPr lang="zh-CN" altLang="en-US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={(1,1),(2,2),(3,3),(1,2),(2,1),(1,3),(3,1),(2,3),(3,2)}</a:t>
            </a:r>
            <a:endParaRPr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={(1,1),(2,2),(3,3),(2,3),(3,2)}</a:t>
            </a:r>
            <a:endParaRPr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={(1,1),(2,2),(3,3),(1,3),(3,1)}</a:t>
            </a:r>
            <a:endParaRPr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={(1,1),(2,2),(3,3),(1,2),(2,1)}</a:t>
            </a:r>
            <a:endParaRPr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-25000" dirty="0"/>
              <a:t>5</a:t>
            </a:r>
            <a:r>
              <a:rPr lang="en-US" altLang="zh-CN" dirty="0"/>
              <a:t>={(1,1),(2,2),(3,3)}</a:t>
            </a:r>
            <a:endParaRPr lang="en-US" altLang="zh-CN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CD35D69-F815-4C7D-B4BE-DD4FDF39102D}" type="slidenum">
              <a:rPr lang="en-US" altLang="zh-CN"/>
            </a:fld>
            <a:endParaRPr lang="en-US" altLang="zh-CN"/>
          </a:p>
        </p:txBody>
      </p:sp>
      <p:sp>
        <p:nvSpPr>
          <p:cNvPr id="29286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188640"/>
            <a:ext cx="9721850" cy="5937250"/>
          </a:xfrm>
          <a:noFill/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4000" dirty="0">
                <a:solidFill>
                  <a:srgbClr val="0000FF"/>
                </a:solidFill>
              </a:rPr>
              <a:t>例</a:t>
            </a:r>
            <a:r>
              <a:rPr lang="en-US" altLang="zh-CN" sz="4000" dirty="0">
                <a:solidFill>
                  <a:srgbClr val="0000FF"/>
                </a:solidFill>
              </a:rPr>
              <a:t>2.50   </a:t>
            </a:r>
            <a:r>
              <a:rPr lang="zh-CN" altLang="en-US" sz="4000" dirty="0"/>
              <a:t>设</a:t>
            </a:r>
            <a:r>
              <a:rPr lang="en-US" altLang="zh-CN" sz="4000" dirty="0"/>
              <a:t>A={1, 2, 3, 4, 5}</a:t>
            </a:r>
            <a:r>
              <a:rPr lang="zh-CN" altLang="en-US" sz="4000" dirty="0"/>
              <a:t>，</a:t>
            </a:r>
            <a:r>
              <a:rPr lang="en-US" altLang="zh-CN" sz="4000" dirty="0"/>
              <a:t>A</a:t>
            </a:r>
            <a:r>
              <a:rPr lang="zh-CN" altLang="en-US" sz="4000" dirty="0"/>
              <a:t>上的二元关系</a:t>
            </a:r>
            <a:r>
              <a:rPr lang="en-US" altLang="zh-CN" sz="4000" dirty="0"/>
              <a:t>R</a:t>
            </a:r>
            <a:r>
              <a:rPr lang="zh-CN" altLang="en-US" sz="4000" dirty="0"/>
              <a:t>中，有多少个是等价关系？</a:t>
            </a:r>
            <a:endParaRPr lang="en-US" altLang="zh-CN" sz="4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endParaRPr lang="en-US" altLang="zh-C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解：对于</a:t>
            </a:r>
            <a:r>
              <a:rPr lang="en-US" altLang="zh-CN" i="1" dirty="0"/>
              <a:t>A</a:t>
            </a:r>
            <a:r>
              <a:rPr lang="zh-CN" altLang="en-US" dirty="0"/>
              <a:t>的划分可分为如下几种情况：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划分成</a:t>
            </a:r>
            <a:r>
              <a:rPr lang="en-US" altLang="zh-CN" dirty="0"/>
              <a:t>5</a:t>
            </a:r>
            <a:r>
              <a:rPr lang="zh-CN" altLang="en-US" dirty="0"/>
              <a:t>个都只含</a:t>
            </a:r>
            <a:r>
              <a:rPr lang="en-US" altLang="zh-CN" dirty="0"/>
              <a:t>1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1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(2)</a:t>
            </a:r>
            <a:r>
              <a:rPr lang="zh-CN" altLang="en-US" dirty="0"/>
              <a:t>划分成</a:t>
            </a:r>
            <a:r>
              <a:rPr lang="en-US" altLang="zh-CN" dirty="0"/>
              <a:t>1</a:t>
            </a:r>
            <a:r>
              <a:rPr lang="zh-CN" altLang="en-US" dirty="0"/>
              <a:t>个都只含</a:t>
            </a:r>
            <a:r>
              <a:rPr lang="en-US" altLang="zh-CN" dirty="0"/>
              <a:t>2</a:t>
            </a:r>
            <a:r>
              <a:rPr lang="zh-CN" altLang="en-US" dirty="0"/>
              <a:t>个元素</a:t>
            </a:r>
            <a:r>
              <a:rPr lang="en-US" altLang="zh-CN" dirty="0"/>
              <a:t>,3</a:t>
            </a:r>
            <a:r>
              <a:rPr lang="zh-CN" altLang="en-US" dirty="0"/>
              <a:t>个都只含</a:t>
            </a:r>
            <a:r>
              <a:rPr lang="en-US" altLang="zh-CN" dirty="0"/>
              <a:t>1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10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(3)</a:t>
            </a:r>
            <a:r>
              <a:rPr lang="zh-CN" altLang="en-US" dirty="0"/>
              <a:t>划分成</a:t>
            </a:r>
            <a:r>
              <a:rPr lang="en-US" altLang="zh-CN" dirty="0"/>
              <a:t>2</a:t>
            </a:r>
            <a:r>
              <a:rPr lang="zh-CN" altLang="en-US" dirty="0"/>
              <a:t>个都只含</a:t>
            </a:r>
            <a:r>
              <a:rPr lang="en-US" altLang="zh-CN" dirty="0"/>
              <a:t>2</a:t>
            </a:r>
            <a:r>
              <a:rPr lang="zh-CN" altLang="en-US" dirty="0"/>
              <a:t>个元素</a:t>
            </a:r>
            <a:r>
              <a:rPr lang="en-US" altLang="zh-CN" dirty="0"/>
              <a:t>,1</a:t>
            </a:r>
            <a:r>
              <a:rPr lang="zh-CN" altLang="en-US" dirty="0"/>
              <a:t>个都只含</a:t>
            </a:r>
            <a:r>
              <a:rPr lang="en-US" altLang="zh-CN" dirty="0"/>
              <a:t>1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15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(4)</a:t>
            </a:r>
            <a:r>
              <a:rPr lang="zh-CN" altLang="en-US" dirty="0"/>
              <a:t>划分成</a:t>
            </a:r>
            <a:r>
              <a:rPr lang="en-US" altLang="zh-CN" dirty="0"/>
              <a:t>1</a:t>
            </a:r>
            <a:r>
              <a:rPr lang="zh-CN" altLang="en-US" dirty="0"/>
              <a:t>个都只含</a:t>
            </a:r>
            <a:r>
              <a:rPr lang="en-US" altLang="zh-CN" dirty="0"/>
              <a:t>3</a:t>
            </a:r>
            <a:r>
              <a:rPr lang="zh-CN" altLang="en-US" dirty="0"/>
              <a:t>个元素</a:t>
            </a:r>
            <a:r>
              <a:rPr lang="en-US" altLang="zh-CN" dirty="0"/>
              <a:t>,2</a:t>
            </a:r>
            <a:r>
              <a:rPr lang="zh-CN" altLang="en-US" dirty="0"/>
              <a:t>个都只含</a:t>
            </a:r>
            <a:r>
              <a:rPr lang="en-US" altLang="zh-CN" dirty="0"/>
              <a:t>1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10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(5)</a:t>
            </a:r>
            <a:r>
              <a:rPr lang="zh-CN" altLang="en-US" dirty="0"/>
              <a:t>划分成</a:t>
            </a:r>
            <a:r>
              <a:rPr lang="en-US" altLang="zh-CN" dirty="0"/>
              <a:t>1</a:t>
            </a:r>
            <a:r>
              <a:rPr lang="zh-CN" altLang="en-US" dirty="0"/>
              <a:t>个都只含</a:t>
            </a:r>
            <a:r>
              <a:rPr lang="en-US" altLang="zh-CN" dirty="0"/>
              <a:t>3</a:t>
            </a:r>
            <a:r>
              <a:rPr lang="zh-CN" altLang="en-US" dirty="0"/>
              <a:t>个元素</a:t>
            </a:r>
            <a:r>
              <a:rPr lang="en-US" altLang="zh-CN" dirty="0"/>
              <a:t>,1</a:t>
            </a:r>
            <a:r>
              <a:rPr lang="zh-CN" altLang="en-US" dirty="0"/>
              <a:t>个都只含</a:t>
            </a:r>
            <a:r>
              <a:rPr lang="en-US" altLang="zh-CN" dirty="0"/>
              <a:t>2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10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(6)</a:t>
            </a:r>
            <a:r>
              <a:rPr lang="zh-CN" altLang="en-US" dirty="0"/>
              <a:t>划分成</a:t>
            </a:r>
            <a:r>
              <a:rPr lang="en-US" altLang="zh-CN" dirty="0"/>
              <a:t>1</a:t>
            </a:r>
            <a:r>
              <a:rPr lang="zh-CN" altLang="en-US" dirty="0"/>
              <a:t>个都只含</a:t>
            </a:r>
            <a:r>
              <a:rPr lang="en-US" altLang="zh-CN" dirty="0"/>
              <a:t>4</a:t>
            </a:r>
            <a:r>
              <a:rPr lang="zh-CN" altLang="en-US" dirty="0"/>
              <a:t>个元素</a:t>
            </a:r>
            <a:r>
              <a:rPr lang="en-US" altLang="zh-CN" dirty="0"/>
              <a:t>,1</a:t>
            </a:r>
            <a:r>
              <a:rPr lang="zh-CN" altLang="en-US" dirty="0"/>
              <a:t>个都只含</a:t>
            </a:r>
            <a:r>
              <a:rPr lang="en-US" altLang="zh-CN" dirty="0"/>
              <a:t>1</a:t>
            </a:r>
            <a:r>
              <a:rPr lang="zh-CN" altLang="en-US" dirty="0"/>
              <a:t>个元素的块</a:t>
            </a:r>
            <a:r>
              <a:rPr lang="en-US" altLang="zh-CN" dirty="0"/>
              <a:t>,</a:t>
            </a:r>
            <a:r>
              <a:rPr lang="zh-CN" altLang="en-US" dirty="0"/>
              <a:t>共有</a:t>
            </a:r>
            <a:r>
              <a:rPr lang="en-US" altLang="zh-CN" dirty="0"/>
              <a:t>5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(7)</a:t>
            </a:r>
            <a:r>
              <a:rPr lang="zh-CN" altLang="en-US" dirty="0"/>
              <a:t>划分成</a:t>
            </a:r>
            <a:r>
              <a:rPr lang="en-US" altLang="zh-CN" dirty="0"/>
              <a:t>1</a:t>
            </a:r>
            <a:r>
              <a:rPr lang="zh-CN" altLang="en-US" dirty="0"/>
              <a:t>个都只含</a:t>
            </a:r>
            <a:r>
              <a:rPr lang="en-US" altLang="zh-CN" dirty="0"/>
              <a:t>5</a:t>
            </a:r>
            <a:r>
              <a:rPr lang="zh-CN" altLang="en-US" dirty="0"/>
              <a:t>个元素的块，共有</a:t>
            </a:r>
            <a:r>
              <a:rPr lang="en-US" altLang="zh-CN" dirty="0"/>
              <a:t>1</a:t>
            </a:r>
            <a:r>
              <a:rPr lang="zh-CN" altLang="en-US" dirty="0"/>
              <a:t>种；</a:t>
            </a:r>
            <a:endParaRPr lang="zh-CN" alt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综上所述，</a:t>
            </a:r>
            <a:r>
              <a:rPr lang="en-US" altLang="zh-CN" i="1" dirty="0"/>
              <a:t>A</a:t>
            </a:r>
            <a:r>
              <a:rPr lang="zh-CN" altLang="en-US" dirty="0"/>
              <a:t>上的等价关系共有</a:t>
            </a:r>
            <a:r>
              <a:rPr lang="en-US" altLang="zh-CN" dirty="0"/>
              <a:t>1+10+15+10+10+5+1=52 </a:t>
            </a:r>
            <a:endParaRPr lang="en-US" altLang="zh-CN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2063552" y="188640"/>
                <a:ext cx="7320136" cy="11430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600" dirty="0">
                    <a:solidFill>
                      <a:srgbClr val="0000FF"/>
                    </a:solidFill>
                    <a:cs typeface="+mn-cs"/>
                  </a:rPr>
                  <a:t>定理</a:t>
                </a:r>
                <a:r>
                  <a:rPr lang="en-US" altLang="zh-CN" sz="3600" dirty="0">
                    <a:solidFill>
                      <a:srgbClr val="0000FF"/>
                    </a:solidFill>
                    <a:cs typeface="+mn-cs"/>
                  </a:rPr>
                  <a:t>2.20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划分个数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r>
                      <a:rPr lang="en-US" altLang="zh-CN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𝒌𝑺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2063552" y="188640"/>
                <a:ext cx="7320136" cy="1143000"/>
              </a:xfrm>
              <a:blipFill rotWithShape="1">
                <a:blip r:embed="rId1"/>
                <a:stretch>
                  <a:fillRect l="-6" t="-4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073993" y="1087437"/>
                <a:ext cx="10704512" cy="468312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证明</a:t>
                </a:r>
                <a:r>
                  <a:rPr lang="en-US" altLang="zh-CN" sz="2400" dirty="0"/>
                  <a:t>:</a:t>
                </a:r>
                <a:r>
                  <a:rPr lang="zh-CN" altLang="en-US" sz="2400" dirty="0"/>
                  <a:t>设集合</a:t>
                </a:r>
                <a:r>
                  <a:rPr lang="en-US" altLang="zh-CN" sz="2400" dirty="0"/>
                  <a:t>A={a</a:t>
                </a:r>
                <a:r>
                  <a:rPr lang="en-US" altLang="zh-CN" sz="2400" baseline="-25000" dirty="0"/>
                  <a:t>1</a:t>
                </a:r>
                <a:r>
                  <a:rPr lang="en-US" altLang="zh-CN" sz="2400" dirty="0"/>
                  <a:t>,a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,…,a</a:t>
                </a:r>
                <a:r>
                  <a:rPr lang="en-US" altLang="zh-CN" sz="2400" baseline="-25000" dirty="0"/>
                  <a:t>n</a:t>
                </a:r>
                <a:r>
                  <a:rPr lang="en-US" altLang="zh-CN" sz="2400" dirty="0"/>
                  <a:t>,a</a:t>
                </a:r>
                <a:r>
                  <a:rPr lang="en-US" altLang="zh-CN" sz="2400" baseline="-25000" dirty="0"/>
                  <a:t>n+1</a:t>
                </a:r>
                <a:r>
                  <a:rPr lang="en-US" altLang="zh-CN" sz="2400" dirty="0"/>
                  <a:t>},</a:t>
                </a:r>
                <a:r>
                  <a:rPr lang="zh-CN" altLang="en-US" sz="2400" dirty="0"/>
                  <a:t>将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zh-CN" altLang="en-US" sz="2400" dirty="0"/>
                  <a:t>个</a:t>
                </a:r>
                <a:r>
                  <a:rPr lang="en-US" altLang="zh-CN" sz="2400" dirty="0"/>
                  <a:t>k </a:t>
                </a:r>
                <a:r>
                  <a:rPr lang="zh-CN" altLang="en-US" sz="2400" dirty="0"/>
                  <a:t>类划分为以下两大类型。 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A </a:t>
                </a:r>
                <a:r>
                  <a:rPr lang="zh-CN" altLang="en-US" sz="2400" dirty="0"/>
                  <a:t>型</a:t>
                </a:r>
                <a:r>
                  <a:rPr lang="en-US" altLang="zh-CN" sz="2400" dirty="0"/>
                  <a:t>:</a:t>
                </a:r>
                <a:r>
                  <a:rPr lang="zh-CN" altLang="en-US" sz="2400" dirty="0"/>
                  <a:t>在 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型的每个划分中</a:t>
                </a:r>
                <a:r>
                  <a:rPr lang="en-US" altLang="zh-CN" sz="2400" dirty="0"/>
                  <a:t>,{a</a:t>
                </a:r>
                <a:r>
                  <a:rPr lang="en-US" altLang="zh-CN" sz="2400" baseline="-25000" dirty="0"/>
                  <a:t>n+1</a:t>
                </a:r>
                <a:r>
                  <a:rPr lang="en-US" altLang="zh-CN" sz="2400" dirty="0"/>
                  <a:t>}</a:t>
                </a:r>
                <a:r>
                  <a:rPr lang="zh-CN" altLang="en-US" sz="2400" dirty="0"/>
                  <a:t>是每个划分中的一类。于是</a:t>
                </a:r>
                <a:r>
                  <a:rPr lang="en-US" altLang="zh-CN" sz="2400" dirty="0"/>
                  <a:t>,{a</a:t>
                </a:r>
                <a:r>
                  <a:rPr lang="en-US" altLang="zh-CN" sz="2400" baseline="-25000" dirty="0"/>
                  <a:t>1</a:t>
                </a:r>
                <a:r>
                  <a:rPr lang="en-US" altLang="zh-CN" sz="2400" dirty="0"/>
                  <a:t>,a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,…,a</a:t>
                </a:r>
                <a:r>
                  <a:rPr lang="en-US" altLang="zh-CN" sz="2400" baseline="-25000" dirty="0"/>
                  <a:t>n</a:t>
                </a:r>
                <a:r>
                  <a:rPr lang="en-US" altLang="zh-CN" sz="2400" dirty="0"/>
                  <a:t>}</a:t>
                </a:r>
                <a:r>
                  <a:rPr lang="zh-CN" altLang="en-US" sz="2400" dirty="0"/>
                  <a:t>就被 划分成</a:t>
                </a:r>
                <a:r>
                  <a:rPr lang="en-US" altLang="zh-CN" sz="2400" dirty="0"/>
                  <a:t>k-1</a:t>
                </a:r>
                <a:r>
                  <a:rPr lang="zh-CN" altLang="en-US" sz="2400" dirty="0"/>
                  <a:t>类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即 </a:t>
                </a:r>
                <a:r>
                  <a:rPr lang="en-US" altLang="zh-CN" sz="2400" dirty="0"/>
                  <a:t>A </a:t>
                </a:r>
                <a:r>
                  <a:rPr lang="zh-CN" altLang="en-US" sz="2400" dirty="0"/>
                  <a:t>型划分共有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zh-CN" altLang="en-US" sz="2400" dirty="0"/>
                  <a:t>个。 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B</a:t>
                </a:r>
                <a:r>
                  <a:rPr lang="zh-CN" altLang="en-US" sz="2400" dirty="0"/>
                  <a:t>型</a:t>
                </a:r>
                <a:r>
                  <a:rPr lang="en-US" altLang="zh-CN" sz="2400" dirty="0"/>
                  <a:t>:</a:t>
                </a:r>
                <a:r>
                  <a:rPr lang="zh-CN" altLang="en-US" sz="2400" dirty="0"/>
                  <a:t>在 </a:t>
                </a:r>
                <a:r>
                  <a:rPr lang="en-US" altLang="zh-CN" sz="2400" dirty="0"/>
                  <a:t>B</a:t>
                </a:r>
                <a:r>
                  <a:rPr lang="zh-CN" altLang="en-US" sz="2400" dirty="0"/>
                  <a:t>型的每个划分中</a:t>
                </a:r>
                <a:r>
                  <a:rPr lang="en-US" altLang="zh-CN" sz="2400" dirty="0"/>
                  <a:t>,{a</a:t>
                </a:r>
                <a:r>
                  <a:rPr lang="en-US" altLang="zh-CN" sz="2400" baseline="-25000" dirty="0"/>
                  <a:t>n+1</a:t>
                </a:r>
                <a:r>
                  <a:rPr lang="en-US" altLang="zh-CN" sz="2400" dirty="0"/>
                  <a:t>}</a:t>
                </a:r>
                <a:r>
                  <a:rPr lang="zh-CN" altLang="en-US" sz="2400" dirty="0"/>
                  <a:t>不是一个类。在这种类型的每个划分中</a:t>
                </a:r>
                <a:r>
                  <a:rPr lang="en-US" altLang="zh-CN" sz="2400" dirty="0"/>
                  <a:t>, a</a:t>
                </a:r>
                <a:r>
                  <a:rPr lang="en-US" altLang="zh-CN" sz="2400" baseline="-25000" dirty="0"/>
                  <a:t>n+1</a:t>
                </a:r>
                <a:r>
                  <a:rPr lang="zh-CN" altLang="en-US" sz="2400" dirty="0"/>
                  <a:t>所在的类中有两个以上的元素。于是</a:t>
                </a:r>
                <a:r>
                  <a:rPr lang="en-US" altLang="zh-CN" sz="2400" dirty="0"/>
                  <a:t>,B</a:t>
                </a:r>
                <a:r>
                  <a:rPr lang="zh-CN" altLang="en-US" sz="2400" dirty="0"/>
                  <a:t>型划分可以从</a:t>
                </a:r>
                <a:r>
                  <a:rPr lang="en-US" altLang="zh-CN" sz="2400" dirty="0"/>
                  <a:t>{a</a:t>
                </a:r>
                <a:r>
                  <a:rPr lang="en-US" altLang="zh-CN" sz="2400" baseline="-25000" dirty="0"/>
                  <a:t>1</a:t>
                </a:r>
                <a:r>
                  <a:rPr lang="en-US" altLang="zh-CN" sz="2400" dirty="0"/>
                  <a:t>,a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,…,a</a:t>
                </a:r>
                <a:r>
                  <a:rPr lang="en-US" altLang="zh-CN" sz="2400" baseline="-25000" dirty="0"/>
                  <a:t>n</a:t>
                </a:r>
                <a:r>
                  <a:rPr lang="en-US" altLang="zh-CN" sz="2400" dirty="0"/>
                  <a:t>}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zh-CN" altLang="en-US" sz="2400" dirty="0"/>
                  <a:t>个划分中的每一个划分的一类中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加入元素</a:t>
                </a:r>
                <a:r>
                  <a:rPr lang="en-US" altLang="zh-CN" sz="2400" dirty="0"/>
                  <a:t>a</a:t>
                </a:r>
                <a:r>
                  <a:rPr lang="en-US" altLang="zh-CN" sz="2400" baseline="-25000" dirty="0"/>
                  <a:t>n+1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从而得到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𝒌𝑺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zh-CN" altLang="en-US" sz="2400" dirty="0"/>
                  <a:t>个</a:t>
                </a:r>
                <a:r>
                  <a:rPr lang="en-US" altLang="zh-CN" sz="2400" dirty="0"/>
                  <a:t>B</a:t>
                </a:r>
                <a:r>
                  <a:rPr lang="zh-CN" altLang="en-US" sz="2400" dirty="0"/>
                  <a:t>型划分。 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因此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73993" y="1087437"/>
                <a:ext cx="10704512" cy="4683125"/>
              </a:xfrm>
              <a:blipFill rotWithShape="1">
                <a:blip r:embed="rId2"/>
                <a:stretch>
                  <a:fillRect l="-2" t="-7" r="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F9B48F12-22B2-46D0-8687-95B5A65FE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58F4988B-A427-425C-AE6C-76E6E7DE65D2}" type="slidenum">
              <a:rPr lang="en-US" altLang="zh-CN"/>
            </a:fld>
            <a:endParaRPr lang="en-US" altLang="zh-CN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43472" y="188640"/>
            <a:ext cx="9745663" cy="11430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2.21</a:t>
            </a:r>
            <a:r>
              <a:rPr lang="en-US" altLang="zh-CN" sz="2800" dirty="0"/>
              <a:t> :</a:t>
            </a:r>
            <a:r>
              <a:rPr lang="zh-CN" altLang="en-US" sz="2800" dirty="0"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sym typeface="Symbol" panose="05050102010706020507" pitchFamily="18" charset="2"/>
              </a:rPr>
              <a:t>π</a:t>
            </a:r>
            <a:r>
              <a:rPr lang="zh-CN" altLang="en-US" sz="2800" dirty="0">
                <a:sym typeface="Symbol" panose="05050102010706020507" pitchFamily="18" charset="2"/>
              </a:rPr>
              <a:t>是集合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的划分，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上等价关系，那么，对应</a:t>
            </a:r>
            <a:r>
              <a:rPr lang="en-US" altLang="zh-CN" sz="2800" dirty="0">
                <a:sym typeface="Symbol" panose="05050102010706020507" pitchFamily="18" charset="2"/>
              </a:rPr>
              <a:t>π</a:t>
            </a:r>
            <a:r>
              <a:rPr lang="zh-CN" altLang="en-US" sz="2800" dirty="0">
                <a:sym typeface="Symbol" panose="05050102010706020507" pitchFamily="18" charset="2"/>
              </a:rPr>
              <a:t>的等价关系为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，当且仅当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ym typeface="Symbol" panose="05050102010706020507" pitchFamily="18" charset="2"/>
              </a:rPr>
              <a:t>对应的划分为</a:t>
            </a:r>
            <a:r>
              <a:rPr lang="en-US" altLang="zh-CN" sz="2800" dirty="0">
                <a:sym typeface="Symbol" panose="05050102010706020507" pitchFamily="18" charset="2"/>
              </a:rPr>
              <a:t>π</a:t>
            </a:r>
            <a:r>
              <a:rPr lang="zh-CN" altLang="en-US" sz="2800" dirty="0">
                <a:sym typeface="Symbol" panose="05050102010706020507" pitchFamily="18" charset="2"/>
              </a:rPr>
              <a:t>。 </a:t>
            </a:r>
            <a:endParaRPr lang="zh-CN" altLang="zh-CN" sz="2800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3212" y="1556792"/>
            <a:ext cx="10826675" cy="4227512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证明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/>
              <a:t>证  </a:t>
            </a:r>
            <a:r>
              <a:rPr lang="en-US" altLang="zh-CN" sz="2400" dirty="0"/>
              <a:t>A = 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时，只有</a:t>
            </a:r>
            <a:r>
              <a:rPr lang="zh-CN" altLang="en-US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划分和等价关系</a:t>
            </a:r>
            <a:r>
              <a:rPr lang="zh-CN" altLang="en-US" sz="2400" dirty="0">
                <a:sym typeface="Symbol" panose="05050102010706020507" pitchFamily="18" charset="2"/>
              </a:rPr>
              <a:t></a:t>
            </a:r>
            <a:r>
              <a:rPr lang="zh-CN" altLang="en-US" sz="2400" dirty="0"/>
              <a:t>，结论显然成立。下设</a:t>
            </a:r>
            <a:r>
              <a:rPr lang="en-US" altLang="zh-CN" sz="2400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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(1)</a:t>
            </a:r>
            <a:r>
              <a:rPr lang="zh-CN" altLang="en-US" sz="2400" dirty="0">
                <a:solidFill>
                  <a:srgbClr val="0000FF"/>
                </a:solidFill>
              </a:rPr>
              <a:t>必要性</a:t>
            </a:r>
            <a:r>
              <a:rPr lang="zh-CN" altLang="en-US" sz="2400" dirty="0"/>
              <a:t>  设对应</a:t>
            </a:r>
            <a:r>
              <a:rPr lang="en-US" altLang="zh-CN" sz="2400" dirty="0"/>
              <a:t>π</a:t>
            </a:r>
            <a:r>
              <a:rPr lang="zh-CN" altLang="en-US" sz="2400" dirty="0"/>
              <a:t>的等价关系为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zh-CN" altLang="en-US" sz="2400" dirty="0"/>
              <a:t>对应的划分为</a:t>
            </a:r>
            <a:r>
              <a:rPr lang="en-US" altLang="zh-CN" sz="2400" dirty="0"/>
              <a:t>π′</a:t>
            </a:r>
            <a:r>
              <a:rPr lang="zh-CN" altLang="en-US" sz="2400" dirty="0"/>
              <a:t>，欲证</a:t>
            </a:r>
            <a:r>
              <a:rPr lang="en-US" altLang="zh-CN" sz="2400" dirty="0"/>
              <a:t>π=π′</a:t>
            </a:r>
            <a:r>
              <a:rPr lang="zh-CN" altLang="en-US" sz="2400" dirty="0"/>
              <a:t>。为此对任一元素</a:t>
            </a:r>
            <a:r>
              <a:rPr lang="en-US" altLang="zh-CN" sz="2400" dirty="0" err="1"/>
              <a:t>a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dirty="0" err="1"/>
              <a:t>A</a:t>
            </a:r>
            <a:r>
              <a:rPr lang="zh-CN" altLang="en-US" sz="2400" dirty="0"/>
              <a:t>，设</a:t>
            </a:r>
            <a:r>
              <a:rPr lang="en-US" altLang="zh-CN" sz="2400" dirty="0"/>
              <a:t>B</a:t>
            </a:r>
            <a:r>
              <a:rPr lang="zh-CN" altLang="en-US" sz="2400" dirty="0"/>
              <a:t>，</a:t>
            </a:r>
            <a:r>
              <a:rPr lang="en-US" altLang="zh-CN" sz="2400" dirty="0"/>
              <a:t>B′</a:t>
            </a:r>
            <a:r>
              <a:rPr lang="zh-CN" altLang="en-US" sz="2400" dirty="0"/>
              <a:t>分别是</a:t>
            </a:r>
            <a:r>
              <a:rPr lang="en-US" altLang="zh-CN" sz="2400" dirty="0"/>
              <a:t>π</a:t>
            </a:r>
            <a:r>
              <a:rPr lang="zh-CN" altLang="en-US" sz="2400" dirty="0"/>
              <a:t>，</a:t>
            </a:r>
            <a:r>
              <a:rPr lang="en-US" altLang="zh-CN" sz="2400" dirty="0"/>
              <a:t>π′</a:t>
            </a:r>
            <a:r>
              <a:rPr lang="zh-CN" altLang="en-US" sz="2400" dirty="0"/>
              <a:t>中含</a:t>
            </a:r>
            <a:r>
              <a:rPr lang="en-US" altLang="zh-CN" sz="2400" dirty="0"/>
              <a:t>a</a:t>
            </a:r>
            <a:r>
              <a:rPr lang="zh-CN" altLang="en-US" sz="2400" dirty="0"/>
              <a:t>的单元。那么，对</a:t>
            </a:r>
            <a:r>
              <a:rPr lang="en-US" altLang="zh-CN" sz="2400" dirty="0"/>
              <a:t>A</a:t>
            </a:r>
            <a:r>
              <a:rPr lang="zh-CN" altLang="en-US" sz="2400" dirty="0"/>
              <a:t>中任一元素</a:t>
            </a:r>
            <a:r>
              <a:rPr lang="en-US" altLang="zh-CN" sz="2400" dirty="0"/>
              <a:t>b</a:t>
            </a:r>
            <a:r>
              <a:rPr lang="zh-CN" altLang="en-US" sz="2400" dirty="0"/>
              <a:t>，有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 err="1"/>
              <a:t>b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dirty="0" err="1"/>
              <a:t>B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(</a:t>
            </a:r>
            <a:r>
              <a:rPr lang="en-US" altLang="en-US" sz="2400" dirty="0" err="1"/>
              <a:t>a,</a:t>
            </a:r>
            <a:r>
              <a:rPr lang="en-US" altLang="zh-CN" sz="2400" dirty="0" err="1"/>
              <a:t>b</a:t>
            </a:r>
            <a:r>
              <a:rPr lang="en-US" altLang="zh-CN" sz="2400" dirty="0"/>
              <a:t>)</a:t>
            </a:r>
            <a:r>
              <a:rPr lang="en-US" altLang="en-US" sz="2400" dirty="0"/>
              <a:t>∈R</a:t>
            </a:r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R</a:t>
            </a:r>
            <a:r>
              <a:rPr lang="zh-CN" altLang="en-US" sz="2400" dirty="0"/>
              <a:t>是对应的等价关系）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  <a:r>
              <a:rPr lang="zh-CN" altLang="en-US" sz="2400" dirty="0"/>
              <a:t> </a:t>
            </a:r>
            <a:r>
              <a:rPr lang="en-US" altLang="zh-CN" sz="2400" dirty="0"/>
              <a:t>b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[a]</a:t>
            </a:r>
            <a:r>
              <a:rPr lang="en-US" altLang="zh-CN" sz="2400" baseline="-25000" dirty="0"/>
              <a:t>R</a:t>
            </a:r>
            <a:endParaRPr lang="en-US" altLang="zh-CN" sz="2400" baseline="-250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dirty="0" err="1"/>
              <a:t>B</a:t>
            </a:r>
            <a:r>
              <a:rPr lang="en-US" altLang="zh-CN" sz="2400" dirty="0"/>
              <a:t>′ </a:t>
            </a:r>
            <a:r>
              <a:rPr lang="zh-CN" altLang="en-US" sz="2400" dirty="0"/>
              <a:t>（</a:t>
            </a:r>
            <a:r>
              <a:rPr lang="en-US" altLang="zh-CN" sz="2400" dirty="0"/>
              <a:t>π′</a:t>
            </a:r>
            <a:r>
              <a:rPr lang="zh-CN" altLang="en-US" sz="2400" dirty="0"/>
              <a:t>是</a:t>
            </a:r>
            <a:r>
              <a:rPr lang="en-US" altLang="zh-CN" sz="2400" dirty="0"/>
              <a:t>R</a:t>
            </a:r>
            <a:r>
              <a:rPr lang="zh-CN" altLang="en-US" sz="2400" dirty="0"/>
              <a:t>对应的划分）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这就是说</a:t>
            </a:r>
            <a:r>
              <a:rPr lang="en-US" altLang="zh-CN" sz="2400" dirty="0"/>
              <a:t>B = B′</a:t>
            </a:r>
            <a:r>
              <a:rPr lang="zh-CN" altLang="en-US" sz="2400" dirty="0"/>
              <a:t>。由于</a:t>
            </a:r>
            <a:r>
              <a:rPr lang="en-US" altLang="zh-CN" sz="2400" dirty="0"/>
              <a:t>a</a:t>
            </a:r>
            <a:r>
              <a:rPr lang="zh-CN" altLang="en-US" sz="2400" dirty="0"/>
              <a:t>是</a:t>
            </a:r>
            <a:r>
              <a:rPr lang="en-US" altLang="zh-CN" sz="2400" dirty="0"/>
              <a:t>A</a:t>
            </a:r>
            <a:r>
              <a:rPr lang="zh-CN" altLang="en-US" sz="2400" dirty="0"/>
              <a:t>中任意元素，故可断定</a:t>
            </a:r>
            <a:r>
              <a:rPr lang="en-US" altLang="zh-CN" sz="2400" dirty="0"/>
              <a:t>π=π′</a:t>
            </a:r>
            <a:r>
              <a:rPr lang="zh-CN" altLang="en-US" sz="2400" dirty="0"/>
              <a:t>。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809CF6F-6691-4928-B136-D8582620B699}" type="slidenum">
              <a:rPr lang="en-US" altLang="zh-CN"/>
            </a:fld>
            <a:endParaRPr lang="en-US" altLang="zh-CN"/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980728"/>
            <a:ext cx="9793088" cy="4683125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充分性  设</a:t>
            </a:r>
            <a:r>
              <a:rPr lang="en-US" altLang="zh-CN" sz="2800" dirty="0"/>
              <a:t>R</a:t>
            </a:r>
            <a:r>
              <a:rPr lang="zh-CN" altLang="en-US" sz="2800" dirty="0"/>
              <a:t>对应的划分为</a:t>
            </a:r>
            <a:r>
              <a:rPr lang="en-US" altLang="zh-CN" sz="2800" dirty="0"/>
              <a:t>π</a:t>
            </a:r>
            <a:r>
              <a:rPr lang="zh-CN" altLang="en-US" sz="2800" dirty="0"/>
              <a:t>，</a:t>
            </a:r>
            <a:r>
              <a:rPr lang="en-US" altLang="zh-CN" sz="2800" dirty="0"/>
              <a:t>π</a:t>
            </a:r>
            <a:r>
              <a:rPr lang="zh-CN" altLang="en-US" sz="2800" dirty="0"/>
              <a:t>对应的等价关系为</a:t>
            </a:r>
            <a:r>
              <a:rPr lang="en-US" altLang="zh-CN" sz="2800" dirty="0"/>
              <a:t>R′</a:t>
            </a:r>
            <a:r>
              <a:rPr lang="zh-CN" altLang="en-US" sz="2800" dirty="0"/>
              <a:t>，欲证</a:t>
            </a:r>
            <a:r>
              <a:rPr lang="en-US" altLang="zh-CN" sz="2800" dirty="0"/>
              <a:t>R = R′</a:t>
            </a:r>
            <a:r>
              <a:rPr lang="zh-CN" altLang="en-US" sz="2800" dirty="0"/>
              <a:t>。为此考虑</a:t>
            </a:r>
            <a:r>
              <a:rPr lang="en-US" altLang="zh-CN" sz="2800" dirty="0"/>
              <a:t>A</a:t>
            </a:r>
            <a:r>
              <a:rPr lang="zh-CN" altLang="en-US" sz="2800" dirty="0"/>
              <a:t>中任意元素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en-US" altLang="zh-CN" sz="2800" dirty="0"/>
              <a:t>(</a:t>
            </a:r>
            <a:r>
              <a:rPr lang="en-US" altLang="en-US" sz="2800" dirty="0" err="1"/>
              <a:t>a,</a:t>
            </a:r>
            <a:r>
              <a:rPr lang="en-US" altLang="zh-CN" sz="2800" dirty="0" err="1"/>
              <a:t>b</a:t>
            </a:r>
            <a:r>
              <a:rPr lang="en-US" altLang="zh-CN" sz="2800" dirty="0"/>
              <a:t>)</a:t>
            </a:r>
            <a:r>
              <a:rPr lang="en-US" altLang="en-US" sz="2800" dirty="0"/>
              <a:t>∈R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b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R</a:t>
            </a:r>
            <a:endParaRPr lang="en-US" altLang="zh-CN" sz="2800" baseline="-250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/>
              <a:t>B,</a:t>
            </a:r>
            <a:r>
              <a:rPr lang="zh-CN" altLang="en-US" sz="2800" dirty="0"/>
              <a:t>使得</a:t>
            </a:r>
            <a:r>
              <a:rPr lang="en-US" altLang="zh-CN" sz="2800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π</a:t>
            </a:r>
            <a:r>
              <a:rPr lang="zh-CN" altLang="en-US" sz="2800" dirty="0"/>
              <a:t>且</a:t>
            </a:r>
            <a:r>
              <a:rPr lang="en-US" altLang="zh-CN" sz="2800" dirty="0"/>
              <a:t>[a]</a:t>
            </a:r>
            <a:r>
              <a:rPr lang="en-US" altLang="zh-CN" sz="2800" baseline="-25000" dirty="0"/>
              <a:t>R</a:t>
            </a:r>
            <a:r>
              <a:rPr lang="en-US" altLang="zh-CN" sz="2800" dirty="0"/>
              <a:t> = B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b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B</a:t>
            </a:r>
            <a:r>
              <a:rPr lang="en-US" altLang="zh-CN" sz="2800" dirty="0"/>
              <a:t>)  (π</a:t>
            </a:r>
            <a:r>
              <a:rPr lang="zh-CN" altLang="en-US" sz="2800" dirty="0"/>
              <a:t>为</a:t>
            </a:r>
            <a:r>
              <a:rPr lang="en-US" altLang="zh-CN" sz="2800" dirty="0"/>
              <a:t>R</a:t>
            </a:r>
            <a:r>
              <a:rPr lang="zh-CN" altLang="en-US" sz="2800" dirty="0"/>
              <a:t>对应的划分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/>
              <a:t>B</a:t>
            </a:r>
            <a:r>
              <a:rPr lang="zh-CN" altLang="en-US" sz="2800" dirty="0"/>
              <a:t>，使得</a:t>
            </a:r>
            <a:r>
              <a:rPr lang="en-US" altLang="zh-CN" sz="2800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π</a:t>
            </a:r>
            <a:r>
              <a:rPr lang="zh-CN" altLang="en-US" sz="2800" dirty="0"/>
              <a:t>且</a:t>
            </a:r>
            <a:r>
              <a:rPr lang="en-US" altLang="zh-CN" sz="2800" dirty="0"/>
              <a:t>a 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B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b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B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(</a:t>
            </a:r>
            <a:r>
              <a:rPr lang="en-US" altLang="en-US" sz="2800" dirty="0" err="1"/>
              <a:t>a,</a:t>
            </a:r>
            <a:r>
              <a:rPr lang="en-US" altLang="zh-CN" sz="2800" dirty="0" err="1"/>
              <a:t>b</a:t>
            </a:r>
            <a:r>
              <a:rPr lang="en-US" altLang="zh-CN" sz="2800" dirty="0"/>
              <a:t>)</a:t>
            </a:r>
            <a:r>
              <a:rPr lang="en-US" altLang="en-US" sz="2800" dirty="0"/>
              <a:t>∈R</a:t>
            </a:r>
            <a:r>
              <a:rPr lang="en-US" altLang="zh-CN" sz="2800" dirty="0"/>
              <a:t>′(R′</a:t>
            </a:r>
            <a:r>
              <a:rPr lang="zh-CN" altLang="en-US" sz="2800" dirty="0"/>
              <a:t>为</a:t>
            </a:r>
            <a:r>
              <a:rPr lang="en-US" altLang="zh-CN" sz="2800" dirty="0"/>
              <a:t>π</a:t>
            </a:r>
            <a:r>
              <a:rPr lang="zh-CN" altLang="en-US" sz="2800" dirty="0"/>
              <a:t>对应的等价关系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故</a:t>
            </a:r>
            <a:r>
              <a:rPr lang="en-US" altLang="zh-CN" sz="2800" dirty="0"/>
              <a:t>R = R′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A2B66A33-77D8-499F-9383-720D812B1323}" type="slidenum">
              <a:rPr lang="en-US" altLang="zh-CN"/>
            </a:fld>
            <a:endParaRPr lang="en-US" altLang="zh-CN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51584" y="188640"/>
            <a:ext cx="4511824" cy="1143000"/>
          </a:xfrm>
        </p:spPr>
        <p:txBody>
          <a:bodyPr/>
          <a:lstStyle/>
          <a:p>
            <a:r>
              <a:rPr lang="en-US" altLang="zh-CN" dirty="0"/>
              <a:t>2.7 </a:t>
            </a:r>
            <a:r>
              <a:rPr lang="zh-CN" altLang="en-US" dirty="0"/>
              <a:t>偏序关系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96045" y="1196752"/>
            <a:ext cx="9999910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偏序关系是另一种特殊的关系，它是一个集合上的传递关系，提供了一种对集合的元素进行比较的方法（虽然有的次序关系不一定能对任意二元素进行比较）。因此，在关系理论中，最早研究的对象就是属于次序关系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58E4DE7-3EAA-44DC-A4C5-1A1FD37DCB5F}" type="slidenum">
              <a:rPr lang="en-US" altLang="zh-CN"/>
            </a:fld>
            <a:endParaRPr lang="en-US" altLang="zh-CN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264467"/>
            <a:ext cx="7104112" cy="1143000"/>
          </a:xfrm>
        </p:spPr>
        <p:txBody>
          <a:bodyPr/>
          <a:lstStyle/>
          <a:p>
            <a:r>
              <a:rPr lang="en-US" altLang="zh-CN" dirty="0"/>
              <a:t>2.7.1 </a:t>
            </a:r>
            <a:r>
              <a:rPr lang="zh-CN" altLang="en-US" dirty="0"/>
              <a:t>偏序的定义及表示</a:t>
            </a:r>
            <a:endParaRPr lang="zh-CN" altLang="en-US" dirty="0"/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63036" y="1196752"/>
            <a:ext cx="10575974" cy="19437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</a:rPr>
              <a:t>2.25</a:t>
            </a:r>
            <a:r>
              <a:rPr lang="en-US" altLang="zh-CN" sz="2400" dirty="0">
                <a:solidFill>
                  <a:srgbClr val="000000"/>
                </a:solidFill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为非空集合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</a:rPr>
              <a:t>上的关系。如果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是</a:t>
            </a:r>
            <a:r>
              <a:rPr lang="zh-CN" altLang="en-US" sz="2400" dirty="0">
                <a:solidFill>
                  <a:schemeClr val="hlink"/>
                </a:solidFill>
              </a:rPr>
              <a:t>自反的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chemeClr val="hlink"/>
                </a:solidFill>
              </a:rPr>
              <a:t>反对称的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zh-CN" altLang="en-US" sz="2400" dirty="0">
                <a:solidFill>
                  <a:schemeClr val="hlink"/>
                </a:solidFill>
              </a:rPr>
              <a:t>传递的</a:t>
            </a:r>
            <a:r>
              <a:rPr lang="zh-CN" altLang="en-US" sz="2400" dirty="0">
                <a:solidFill>
                  <a:srgbClr val="000000"/>
                </a:solidFill>
              </a:rPr>
              <a:t>，则称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</a:rPr>
              <a:t>上的</a:t>
            </a:r>
            <a:r>
              <a:rPr lang="zh-CN" altLang="en-US" sz="2400" b="1" dirty="0">
                <a:solidFill>
                  <a:srgbClr val="0000FF"/>
                </a:solidFill>
              </a:rPr>
              <a:t>偏序关系</a:t>
            </a:r>
            <a:r>
              <a:rPr lang="zh-CN" altLang="en-US" sz="2400" dirty="0">
                <a:solidFill>
                  <a:srgbClr val="000000"/>
                </a:solidFill>
              </a:rPr>
              <a:t>，记作≤，</a:t>
            </a:r>
            <a:r>
              <a:rPr lang="zh-CN" altLang="en-US" sz="2400" dirty="0"/>
              <a:t>集合</a:t>
            </a:r>
            <a:r>
              <a:rPr lang="en-US" altLang="zh-CN" sz="2400" dirty="0"/>
              <a:t>A</a:t>
            </a:r>
            <a:r>
              <a:rPr lang="zh-CN" altLang="en-US" sz="2400" dirty="0"/>
              <a:t>与集合</a:t>
            </a:r>
            <a:r>
              <a:rPr lang="en-US" altLang="zh-CN" sz="2400" dirty="0"/>
              <a:t>A</a:t>
            </a:r>
            <a:r>
              <a:rPr lang="zh-CN" altLang="en-US" sz="2400" dirty="0"/>
              <a:t>上的偏序关系一起称为</a:t>
            </a:r>
            <a:r>
              <a:rPr lang="zh-CN" altLang="en-US" sz="2400" b="1" dirty="0">
                <a:solidFill>
                  <a:srgbClr val="0000FF"/>
                </a:solidFill>
              </a:rPr>
              <a:t>偏序集</a:t>
            </a:r>
            <a:r>
              <a:rPr lang="zh-CN" altLang="en-US" sz="2400" dirty="0"/>
              <a:t>，即</a:t>
            </a:r>
            <a:r>
              <a:rPr lang="zh-CN" altLang="en-US" sz="2400" dirty="0">
                <a:solidFill>
                  <a:srgbClr val="000000"/>
                </a:solidFill>
              </a:rPr>
              <a:t>序偶（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</a:rPr>
              <a:t>，≤）为偏序集。序偶的逆也是一个偏序，记作≥。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91400" y="3420750"/>
            <a:ext cx="10119246" cy="1871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2.53 </a:t>
            </a:r>
            <a:r>
              <a:rPr lang="zh-CN" altLang="en-US" dirty="0"/>
              <a:t>非空集合</a:t>
            </a:r>
            <a:r>
              <a:rPr lang="en-US" altLang="zh-CN" dirty="0"/>
              <a:t>A</a:t>
            </a:r>
            <a:r>
              <a:rPr lang="zh-CN" altLang="en-US" dirty="0"/>
              <a:t>上的恒等关系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zh-CN" altLang="en-US" dirty="0"/>
              <a:t>、空关系、小于等于关系、整除关系和包含关系都是集合</a:t>
            </a:r>
            <a:r>
              <a:rPr lang="en-US" altLang="zh-CN" dirty="0"/>
              <a:t>A</a:t>
            </a:r>
            <a:r>
              <a:rPr lang="zh-CN" altLang="en-US" dirty="0"/>
              <a:t>上的偏序关系。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6A84BBE-6928-41BA-9DF6-2F9308099945}" type="slidenum">
              <a:rPr lang="en-US" altLang="zh-CN"/>
            </a:fld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9476" y="1015429"/>
            <a:ext cx="9433048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</a:rPr>
              <a:t>2.26 </a:t>
            </a:r>
            <a:r>
              <a:rPr lang="zh-CN" altLang="en-US" sz="2400" dirty="0"/>
              <a:t>设</a:t>
            </a:r>
            <a:r>
              <a:rPr lang="en-US" altLang="zh-CN" sz="2400" dirty="0"/>
              <a:t>R</a:t>
            </a:r>
            <a:r>
              <a:rPr lang="zh-CN" altLang="en-US" sz="2400" dirty="0"/>
              <a:t>是非空集</a:t>
            </a:r>
            <a:r>
              <a:rPr lang="en-US" altLang="zh-CN" sz="2400" dirty="0"/>
              <a:t>A</a:t>
            </a:r>
            <a:r>
              <a:rPr lang="zh-CN" altLang="en-US" sz="2400" dirty="0"/>
              <a:t>上的关系</a:t>
            </a:r>
            <a:r>
              <a:rPr lang="en-US" altLang="zh-CN" sz="2400" dirty="0"/>
              <a:t>,</a:t>
            </a:r>
            <a:r>
              <a:rPr lang="zh-CN" altLang="en-US" sz="2400" dirty="0"/>
              <a:t>如</a:t>
            </a:r>
            <a:r>
              <a:rPr lang="en-US" altLang="zh-CN" sz="2400" dirty="0"/>
              <a:t>R</a:t>
            </a:r>
            <a:r>
              <a:rPr lang="zh-CN" altLang="en-US" sz="2400" dirty="0"/>
              <a:t>具有反自反性、传递性，则称</a:t>
            </a:r>
            <a:r>
              <a:rPr lang="en-US" altLang="zh-CN" sz="2400" dirty="0"/>
              <a:t>R</a:t>
            </a:r>
            <a:r>
              <a:rPr lang="zh-CN" altLang="en-US" sz="2400" dirty="0"/>
              <a:t>是</a:t>
            </a:r>
            <a:r>
              <a:rPr lang="en-US" altLang="zh-CN" sz="2400" dirty="0"/>
              <a:t>A</a:t>
            </a:r>
            <a:r>
              <a:rPr lang="zh-CN" altLang="en-US" sz="2400" dirty="0"/>
              <a:t>上的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拟序关系</a:t>
            </a:r>
            <a:r>
              <a:rPr lang="en-US" altLang="zh-CN" sz="2400" dirty="0"/>
              <a:t>,</a:t>
            </a:r>
            <a:r>
              <a:rPr lang="zh-CN" altLang="en-US" sz="2400" dirty="0"/>
              <a:t>记该关系</a:t>
            </a:r>
            <a:r>
              <a:rPr lang="en-US" altLang="zh-CN" sz="2400" dirty="0"/>
              <a:t>R</a:t>
            </a:r>
            <a:r>
              <a:rPr lang="zh-CN" altLang="en-US" sz="2400" dirty="0"/>
              <a:t>为</a:t>
            </a:r>
            <a:r>
              <a:rPr lang="en-US" altLang="zh-CN" sz="2400" dirty="0"/>
              <a:t>&lt;</a:t>
            </a:r>
            <a:r>
              <a:rPr lang="zh-CN" altLang="en-US" sz="2400" dirty="0"/>
              <a:t>，如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)∈R</a:t>
            </a:r>
            <a:r>
              <a:rPr lang="zh-CN" altLang="en-US" sz="2400" dirty="0"/>
              <a:t>，可记作</a:t>
            </a:r>
            <a:r>
              <a:rPr lang="en-US" altLang="zh-CN" sz="2400" dirty="0"/>
              <a:t>a&lt;b</a:t>
            </a:r>
            <a:r>
              <a:rPr lang="zh-CN" altLang="en-US" sz="2400" dirty="0"/>
              <a:t>，读作</a:t>
            </a:r>
            <a:r>
              <a:rPr lang="zh-CN" altLang="en-US" sz="2400" dirty="0">
                <a:latin typeface="Times New Roman" panose="02020603050405020304" pitchFamily="18" charset="0"/>
              </a:rPr>
              <a:t>“</a:t>
            </a:r>
            <a:r>
              <a:rPr lang="en-US" altLang="zh-CN" sz="2400" dirty="0"/>
              <a:t>a</a:t>
            </a:r>
            <a:r>
              <a:rPr lang="zh-CN" altLang="en-US" sz="2400" dirty="0"/>
              <a:t>小于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”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03512" y="3356991"/>
            <a:ext cx="8263979" cy="1981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2.54</a:t>
            </a:r>
            <a:r>
              <a:rPr lang="en-US" altLang="zh-CN" dirty="0"/>
              <a:t>  A={1,2,3,4},R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上的大于关系。</a:t>
            </a: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R={(</a:t>
            </a:r>
            <a:r>
              <a:rPr lang="en-US" altLang="zh-CN" dirty="0" err="1"/>
              <a:t>a,b</a:t>
            </a:r>
            <a:r>
              <a:rPr lang="en-US" altLang="zh-CN" dirty="0"/>
              <a:t>)|a&gt;</a:t>
            </a:r>
            <a:r>
              <a:rPr lang="en-US" altLang="zh-CN" dirty="0" err="1"/>
              <a:t>b,a,b∈A</a:t>
            </a:r>
            <a:r>
              <a:rPr lang="en-US" altLang="zh-CN" dirty="0"/>
              <a:t>}</a:t>
            </a:r>
            <a:r>
              <a:rPr lang="zh-CN" altLang="en-US" dirty="0"/>
              <a:t>，则</a:t>
            </a:r>
            <a:r>
              <a:rPr lang="en-US" altLang="zh-CN" dirty="0"/>
              <a:t>R={(2,1),(3,1),(3,2),(4,1),(4,2),(4,3)}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5A73938-8EDC-4C53-BC23-3E965AC2930B}" type="slidenum">
              <a:rPr lang="en-US" altLang="zh-CN"/>
            </a:fld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980728"/>
            <a:ext cx="9746233" cy="34559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2.27</a:t>
            </a:r>
            <a:r>
              <a:rPr lang="en-US" altLang="zh-CN" sz="2800" dirty="0"/>
              <a:t>   </a:t>
            </a:r>
            <a:r>
              <a:rPr lang="zh-CN" altLang="en-US" sz="2800" dirty="0"/>
              <a:t>在偏序集中，对</a:t>
            </a:r>
            <a:r>
              <a:rPr lang="en-US" altLang="zh-CN" sz="2800" dirty="0" err="1"/>
              <a:t>a,b∈A,a≤b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a≠b</a:t>
            </a:r>
            <a:r>
              <a:rPr lang="zh-CN" altLang="en-US" sz="2800" dirty="0"/>
              <a:t>，且</a:t>
            </a:r>
            <a:r>
              <a:rPr lang="en-US" altLang="zh-CN" sz="2800" dirty="0"/>
              <a:t>A</a:t>
            </a:r>
            <a:r>
              <a:rPr lang="zh-CN" altLang="en-US" sz="2800" dirty="0"/>
              <a:t>中无任何其他元素</a:t>
            </a:r>
            <a:r>
              <a:rPr lang="en-US" altLang="zh-CN" sz="2800" dirty="0"/>
              <a:t>c</a:t>
            </a:r>
            <a:r>
              <a:rPr lang="zh-CN" altLang="en-US" sz="2800" dirty="0"/>
              <a:t>满足</a:t>
            </a:r>
            <a:r>
              <a:rPr lang="en-US" altLang="zh-CN" sz="2800" dirty="0" err="1"/>
              <a:t>a≤c</a:t>
            </a:r>
            <a:r>
              <a:rPr lang="zh-CN" altLang="en-US" sz="2800" dirty="0"/>
              <a:t>且</a:t>
            </a:r>
            <a:r>
              <a:rPr lang="en-US" altLang="zh-CN" sz="2800" dirty="0" err="1"/>
              <a:t>c≤b</a:t>
            </a:r>
            <a:r>
              <a:rPr lang="en-US" altLang="zh-CN" sz="2800" dirty="0"/>
              <a:t>,</a:t>
            </a:r>
            <a:r>
              <a:rPr lang="zh-CN" altLang="en-US" sz="2800" dirty="0"/>
              <a:t>称</a:t>
            </a:r>
            <a:r>
              <a:rPr lang="en-US" altLang="zh-CN" sz="2800" dirty="0"/>
              <a:t>b</a:t>
            </a:r>
            <a:r>
              <a:rPr lang="zh-CN" altLang="en-US" sz="2800" b="1" dirty="0">
                <a:solidFill>
                  <a:srgbClr val="0000FF"/>
                </a:solidFill>
              </a:rPr>
              <a:t>盖住</a:t>
            </a:r>
            <a:r>
              <a:rPr lang="en-US" altLang="zh-CN" sz="2800" dirty="0"/>
              <a:t>a,</a:t>
            </a:r>
            <a:r>
              <a:rPr lang="zh-CN" altLang="en-US" sz="2800" dirty="0"/>
              <a:t>或称</a:t>
            </a:r>
            <a:r>
              <a:rPr lang="en-US" altLang="zh-CN" sz="2800" dirty="0"/>
              <a:t>a</a:t>
            </a:r>
            <a:r>
              <a:rPr lang="zh-CN" altLang="en-US" sz="2800" dirty="0"/>
              <a:t>是</a:t>
            </a:r>
            <a:r>
              <a:rPr lang="en-US" altLang="zh-CN" sz="2800" dirty="0"/>
              <a:t>b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直接前趋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是</a:t>
            </a:r>
            <a:r>
              <a:rPr lang="en-US" altLang="zh-CN" sz="2800" dirty="0"/>
              <a:t>a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直接后继</a:t>
            </a:r>
            <a:r>
              <a:rPr lang="zh-CN" altLang="en-US" sz="2800" dirty="0"/>
              <a:t>。盖住关系记为</a:t>
            </a:r>
            <a:r>
              <a:rPr lang="en-US" altLang="zh-CN" sz="2800" dirty="0" err="1"/>
              <a:t>cov</a:t>
            </a:r>
            <a:r>
              <a:rPr lang="en-US" altLang="zh-CN" sz="2800" dirty="0"/>
              <a:t>(A)={(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)|</a:t>
            </a:r>
            <a:r>
              <a:rPr lang="en-US" altLang="zh-CN" sz="2800" dirty="0" err="1"/>
              <a:t>a,b∈A</a:t>
            </a:r>
            <a:r>
              <a:rPr lang="zh-CN" altLang="en-US" sz="2800" dirty="0"/>
              <a:t>且</a:t>
            </a:r>
            <a:r>
              <a:rPr lang="en-US" altLang="zh-CN" sz="2800" dirty="0"/>
              <a:t>b</a:t>
            </a:r>
            <a:r>
              <a:rPr lang="zh-CN" altLang="en-US" sz="2800" dirty="0"/>
              <a:t>盖住</a:t>
            </a:r>
            <a:r>
              <a:rPr lang="en-US" altLang="zh-CN" sz="2800" dirty="0"/>
              <a:t>a}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C942AD34-7B0F-4C9C-B529-8319CF5CEAE3}" type="slidenum">
              <a:rPr lang="en-US" altLang="zh-CN"/>
            </a:fld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836712"/>
            <a:ext cx="10359950" cy="4683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2.55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A={1,2,3,4}</a:t>
            </a:r>
            <a:r>
              <a:rPr lang="zh-CN" altLang="en-US" sz="2800" dirty="0"/>
              <a:t>，≤为整除关系，</a:t>
            </a:r>
            <a:r>
              <a:rPr lang="en-US" altLang="zh-CN" sz="2800" dirty="0"/>
              <a:t>(A, ≤)</a:t>
            </a:r>
            <a:r>
              <a:rPr lang="zh-CN" altLang="en-US" sz="2800" dirty="0"/>
              <a:t>为偏序集。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对任意的</a:t>
            </a:r>
            <a:r>
              <a:rPr lang="en-US" altLang="zh-CN" sz="2800" dirty="0" err="1"/>
              <a:t>a∈A</a:t>
            </a:r>
            <a:r>
              <a:rPr lang="zh-CN" altLang="en-US" sz="2800" dirty="0"/>
              <a:t>，</a:t>
            </a:r>
            <a:r>
              <a:rPr lang="en-US" altLang="zh-CN" sz="2800" dirty="0"/>
              <a:t>1≤a</a:t>
            </a:r>
            <a:r>
              <a:rPr lang="zh-CN" altLang="en-US" sz="2800" dirty="0"/>
              <a:t>，因此</a:t>
            </a:r>
            <a:r>
              <a:rPr lang="en-US" altLang="zh-CN" sz="2800" dirty="0"/>
              <a:t>1</a:t>
            </a:r>
            <a:r>
              <a:rPr lang="zh-CN" altLang="en-US" sz="2800" dirty="0"/>
              <a:t>与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4</a:t>
            </a:r>
            <a:r>
              <a:rPr lang="zh-CN" altLang="en-US" sz="2800" dirty="0"/>
              <a:t>都是可比的。但是因为</a:t>
            </a:r>
            <a:r>
              <a:rPr lang="en-US" altLang="zh-CN" sz="2800" dirty="0"/>
              <a:t>2</a:t>
            </a:r>
            <a:r>
              <a:rPr lang="zh-CN" altLang="en-US" sz="2800" dirty="0"/>
              <a:t>不整除</a:t>
            </a:r>
            <a:r>
              <a:rPr lang="en-US" altLang="zh-CN" sz="2800" dirty="0"/>
              <a:t>3</a:t>
            </a:r>
            <a:r>
              <a:rPr lang="zh-CN" altLang="en-US" sz="2800" dirty="0"/>
              <a:t>，所以</a:t>
            </a:r>
            <a:r>
              <a:rPr lang="en-US" altLang="zh-CN" sz="2800" dirty="0"/>
              <a:t>2</a:t>
            </a:r>
            <a:r>
              <a:rPr lang="zh-CN" altLang="en-US" sz="2800" dirty="0"/>
              <a:t>和</a:t>
            </a:r>
            <a:r>
              <a:rPr lang="en-US" altLang="zh-CN" sz="2800" dirty="0"/>
              <a:t>3</a:t>
            </a:r>
            <a:r>
              <a:rPr lang="zh-CN" altLang="en-US" sz="2800" dirty="0"/>
              <a:t>不可比。对于元素</a:t>
            </a:r>
            <a:r>
              <a:rPr lang="en-US" altLang="zh-CN" sz="2800" dirty="0"/>
              <a:t>1</a:t>
            </a:r>
            <a:r>
              <a:rPr lang="zh-CN" altLang="en-US" sz="2800" dirty="0"/>
              <a:t>与</a:t>
            </a:r>
            <a:r>
              <a:rPr lang="en-US" altLang="zh-CN" sz="2800" dirty="0"/>
              <a:t>2</a:t>
            </a:r>
            <a:r>
              <a:rPr lang="zh-CN" altLang="en-US" sz="2800" dirty="0"/>
              <a:t>，有</a:t>
            </a:r>
            <a:r>
              <a:rPr lang="en-US" altLang="zh-CN" sz="2800" dirty="0"/>
              <a:t>1≤2</a:t>
            </a:r>
            <a:r>
              <a:rPr lang="zh-CN" altLang="en-US" sz="2800" dirty="0"/>
              <a:t>，</a:t>
            </a:r>
            <a:r>
              <a:rPr lang="en-US" altLang="zh-CN" sz="2800" dirty="0"/>
              <a:t>1≠2</a:t>
            </a:r>
            <a:r>
              <a:rPr lang="zh-CN" altLang="en-US" sz="2800" dirty="0"/>
              <a:t>，而且在</a:t>
            </a:r>
            <a:r>
              <a:rPr lang="en-US" altLang="zh-CN" sz="2800" dirty="0"/>
              <a:t>1</a:t>
            </a:r>
            <a:r>
              <a:rPr lang="zh-CN" altLang="en-US" sz="2800" dirty="0"/>
              <a:t>与</a:t>
            </a:r>
            <a:r>
              <a:rPr lang="en-US" altLang="zh-CN" sz="2800" dirty="0"/>
              <a:t>2</a:t>
            </a:r>
            <a:r>
              <a:rPr lang="zh-CN" altLang="en-US" sz="2800" dirty="0"/>
              <a:t>之间没有元素</a:t>
            </a:r>
            <a:r>
              <a:rPr lang="en-US" altLang="zh-CN" sz="2800" dirty="0"/>
              <a:t>c</a:t>
            </a:r>
            <a:r>
              <a:rPr lang="zh-CN" altLang="en-US" sz="2800" dirty="0"/>
              <a:t>满足</a:t>
            </a:r>
            <a:r>
              <a:rPr lang="en-US" altLang="zh-CN" sz="2800" dirty="0"/>
              <a:t>1≤c≤2</a:t>
            </a:r>
            <a:r>
              <a:rPr lang="zh-CN" altLang="en-US" sz="2800" dirty="0"/>
              <a:t>，因此</a:t>
            </a:r>
            <a:r>
              <a:rPr lang="en-US" altLang="zh-CN" sz="2800" dirty="0"/>
              <a:t>2</a:t>
            </a:r>
            <a:r>
              <a:rPr lang="zh-CN" altLang="en-US" sz="2800" dirty="0"/>
              <a:t>盖住</a:t>
            </a:r>
            <a:r>
              <a:rPr lang="en-US" altLang="zh-CN" sz="2800" dirty="0"/>
              <a:t>1</a:t>
            </a:r>
            <a:r>
              <a:rPr lang="zh-CN" altLang="en-US" sz="2800" dirty="0"/>
              <a:t>，即</a:t>
            </a:r>
            <a:r>
              <a:rPr lang="en-US" altLang="zh-CN" sz="2800" dirty="0"/>
              <a:t>1</a:t>
            </a:r>
            <a:r>
              <a:rPr lang="zh-CN" altLang="en-US" sz="2800" dirty="0"/>
              <a:t>是</a:t>
            </a:r>
            <a:r>
              <a:rPr lang="en-US" altLang="zh-CN" sz="2800" dirty="0"/>
              <a:t>2</a:t>
            </a:r>
            <a:r>
              <a:rPr lang="zh-CN" altLang="en-US" sz="2800" dirty="0"/>
              <a:t>的直接前趋，</a:t>
            </a:r>
            <a:r>
              <a:rPr lang="en-US" altLang="zh-CN" sz="2800" dirty="0"/>
              <a:t>2</a:t>
            </a:r>
            <a:r>
              <a:rPr lang="zh-CN" altLang="en-US" sz="2800" dirty="0"/>
              <a:t>是</a:t>
            </a:r>
            <a:r>
              <a:rPr lang="en-US" altLang="zh-CN" sz="2800" dirty="0"/>
              <a:t>1</a:t>
            </a:r>
            <a:r>
              <a:rPr lang="zh-CN" altLang="en-US" sz="2800" dirty="0"/>
              <a:t>的直接后继。同理</a:t>
            </a:r>
            <a:r>
              <a:rPr lang="en-US" altLang="zh-CN" sz="2800" dirty="0"/>
              <a:t>1</a:t>
            </a:r>
            <a:r>
              <a:rPr lang="zh-CN" altLang="en-US" sz="2800" dirty="0"/>
              <a:t>也是</a:t>
            </a:r>
            <a:r>
              <a:rPr lang="en-US" altLang="zh-CN" sz="2800" dirty="0"/>
              <a:t>3</a:t>
            </a:r>
            <a:r>
              <a:rPr lang="zh-CN" altLang="en-US" sz="2800" dirty="0"/>
              <a:t>的直接前趋，</a:t>
            </a:r>
            <a:r>
              <a:rPr lang="en-US" altLang="zh-CN" sz="2800" dirty="0"/>
              <a:t>3</a:t>
            </a:r>
            <a:r>
              <a:rPr lang="zh-CN" altLang="en-US" sz="2800" dirty="0"/>
              <a:t>是</a:t>
            </a:r>
            <a:r>
              <a:rPr lang="en-US" altLang="zh-CN" sz="2800" dirty="0"/>
              <a:t>1</a:t>
            </a:r>
            <a:r>
              <a:rPr lang="zh-CN" altLang="en-US" sz="2800" dirty="0"/>
              <a:t>的直接后继。对于元素</a:t>
            </a:r>
            <a:r>
              <a:rPr lang="en-US" altLang="zh-CN" sz="2800" dirty="0"/>
              <a:t>1</a:t>
            </a:r>
            <a:r>
              <a:rPr lang="zh-CN" altLang="en-US" sz="2800" dirty="0"/>
              <a:t>与</a:t>
            </a:r>
            <a:r>
              <a:rPr lang="en-US" altLang="zh-CN" sz="2800" dirty="0"/>
              <a:t>4</a:t>
            </a:r>
            <a:r>
              <a:rPr lang="zh-CN" altLang="en-US" sz="2800" dirty="0"/>
              <a:t>，有</a:t>
            </a:r>
            <a:r>
              <a:rPr lang="en-US" altLang="zh-CN" sz="2800" dirty="0"/>
              <a:t>1≤4</a:t>
            </a:r>
            <a:r>
              <a:rPr lang="zh-CN" altLang="en-US" sz="2800" dirty="0"/>
              <a:t>，且</a:t>
            </a:r>
            <a:r>
              <a:rPr lang="en-US" altLang="zh-CN" sz="2800" dirty="0"/>
              <a:t>1</a:t>
            </a:r>
            <a:r>
              <a:rPr lang="zh-CN" altLang="en-US" sz="2800" dirty="0"/>
              <a:t>整除</a:t>
            </a:r>
            <a:r>
              <a:rPr lang="en-US" altLang="zh-CN" sz="2800" dirty="0"/>
              <a:t>4</a:t>
            </a:r>
            <a:r>
              <a:rPr lang="zh-CN" altLang="en-US" sz="2800" dirty="0"/>
              <a:t>，但是因为</a:t>
            </a:r>
            <a:r>
              <a:rPr lang="en-US" altLang="zh-CN" sz="2800" dirty="0"/>
              <a:t>1≤2≤4</a:t>
            </a:r>
            <a:r>
              <a:rPr lang="zh-CN" altLang="en-US" sz="2800" dirty="0"/>
              <a:t>，因此有</a:t>
            </a:r>
            <a:r>
              <a:rPr lang="en-US" altLang="zh-CN" sz="2800" dirty="0"/>
              <a:t>4</a:t>
            </a:r>
            <a:r>
              <a:rPr lang="zh-CN" altLang="en-US" sz="2800" dirty="0"/>
              <a:t>不盖住</a:t>
            </a:r>
            <a:r>
              <a:rPr lang="en-US" altLang="zh-CN" sz="2800" dirty="0"/>
              <a:t>1</a:t>
            </a:r>
            <a:r>
              <a:rPr lang="zh-CN" altLang="en-US" sz="2800" dirty="0"/>
              <a:t>，但是</a:t>
            </a:r>
            <a:r>
              <a:rPr lang="en-US" altLang="zh-CN" sz="2800" dirty="0"/>
              <a:t>4</a:t>
            </a:r>
            <a:r>
              <a:rPr lang="zh-CN" altLang="en-US" sz="2800" dirty="0"/>
              <a:t>盖住</a:t>
            </a:r>
            <a:r>
              <a:rPr lang="en-US" altLang="zh-CN" sz="2800" dirty="0"/>
              <a:t>2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633A7CA9-F113-47A7-89DF-AA9AEDF33B46}" type="slidenum">
              <a:rPr lang="en-US" altLang="zh-CN"/>
            </a:fld>
            <a:endParaRPr lang="en-US" altLang="zh-CN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92674" y="260648"/>
            <a:ext cx="2855640" cy="720080"/>
          </a:xfrm>
        </p:spPr>
        <p:txBody>
          <a:bodyPr/>
          <a:lstStyle/>
          <a:p>
            <a:r>
              <a:rPr lang="zh-CN" altLang="en-US" dirty="0"/>
              <a:t>哈斯图</a:t>
            </a:r>
            <a:endParaRPr lang="zh-CN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53028" y="1031875"/>
            <a:ext cx="10440988" cy="479425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偏序作为一种关系，也可以用关系图或关系矩阵来表示，这里主要介绍关系图的表示方法，因为偏序关系的特殊性，在作关系图的时候，作如下几点规定，可以简化关系图的画法，对偏序关系的关系图，称为哈斯图，此图的作图方法如下： </a:t>
            </a:r>
            <a:endParaRPr lang="zh-CN" altLang="en-US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对偏序集</a:t>
            </a:r>
            <a:r>
              <a:rPr lang="en-US" altLang="zh-CN" sz="2400" dirty="0"/>
              <a:t>(A,≤)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zh-CN" altLang="en-US" sz="2400" dirty="0"/>
              <a:t>中的每个元素用结点表示，结点的位置按它们在偏序中的次序由下向上排列，即小的元素放在下面，大的元素放在上面，箭头省去； </a:t>
            </a:r>
            <a:endParaRPr lang="zh-CN" altLang="en-US" sz="2400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自身处的环省去；</a:t>
            </a:r>
            <a:endParaRPr lang="zh-CN" altLang="en-US" sz="2400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只有当</a:t>
            </a:r>
            <a:r>
              <a:rPr lang="en-US" altLang="zh-CN" sz="2400" dirty="0" err="1"/>
              <a:t>a≤b</a:t>
            </a:r>
            <a:r>
              <a:rPr lang="en-US" altLang="zh-CN" sz="2400" dirty="0"/>
              <a:t>,</a:t>
            </a:r>
            <a:r>
              <a:rPr lang="zh-CN" altLang="en-US" sz="2400" dirty="0"/>
              <a:t>且不存在</a:t>
            </a:r>
            <a:r>
              <a:rPr lang="en-US" altLang="zh-CN" sz="2400" dirty="0"/>
              <a:t>c,</a:t>
            </a:r>
            <a:r>
              <a:rPr lang="zh-CN" altLang="en-US" sz="2400" dirty="0"/>
              <a:t>使得</a:t>
            </a:r>
            <a:r>
              <a:rPr lang="en-US" altLang="zh-CN" sz="2400" dirty="0" err="1"/>
              <a:t>a≤c≤b</a:t>
            </a:r>
            <a:r>
              <a:rPr lang="zh-CN" altLang="en-US" sz="2400" dirty="0"/>
              <a:t>时，才在</a:t>
            </a:r>
            <a:r>
              <a:rPr lang="en-US" altLang="zh-CN" sz="2400" dirty="0"/>
              <a:t>a</a:t>
            </a:r>
            <a:r>
              <a:rPr lang="zh-CN" altLang="en-US" sz="2400" dirty="0"/>
              <a:t>与</a:t>
            </a:r>
            <a:r>
              <a:rPr lang="en-US" altLang="zh-CN" sz="2400" dirty="0"/>
              <a:t>b</a:t>
            </a:r>
            <a:r>
              <a:rPr lang="zh-CN" altLang="en-US" sz="2400" dirty="0"/>
              <a:t>之间连一条线。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2E9DBD63-CDCE-498E-BAC2-085328767856}" type="slidenum">
              <a:rPr lang="en-US" altLang="zh-CN"/>
            </a:fld>
            <a:endParaRPr lang="en-US" altLang="zh-CN"/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4888" y="139393"/>
            <a:ext cx="8496300" cy="167481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2.56  </a:t>
            </a:r>
            <a:r>
              <a:rPr lang="en-US" altLang="zh-CN" sz="3200" dirty="0"/>
              <a:t>A={1,2,3,4,5,6,7,8,9},</a:t>
            </a:r>
            <a:r>
              <a:rPr lang="zh-CN" altLang="en-US" sz="3200" dirty="0"/>
              <a:t>偏序关系是</a:t>
            </a:r>
            <a:r>
              <a:rPr lang="en-US" altLang="zh-CN" sz="3200" dirty="0"/>
              <a:t>A</a:t>
            </a:r>
            <a:r>
              <a:rPr lang="zh-CN" altLang="en-US" sz="3200" dirty="0"/>
              <a:t>的整除</a:t>
            </a:r>
            <a:r>
              <a:rPr lang="zh-CN" altLang="en-US" sz="3200" dirty="0">
                <a:latin typeface="Times New Roman" panose="02020603050405020304" pitchFamily="18" charset="0"/>
              </a:rPr>
              <a:t>“</a:t>
            </a:r>
            <a:r>
              <a:rPr lang="en-US" altLang="zh-CN" sz="3200" dirty="0"/>
              <a:t>|</a:t>
            </a:r>
            <a:r>
              <a:rPr lang="en-US" altLang="zh-CN" sz="3200" dirty="0">
                <a:latin typeface="Times New Roman" panose="02020603050405020304" pitchFamily="18" charset="0"/>
              </a:rPr>
              <a:t>”</a:t>
            </a:r>
            <a:r>
              <a:rPr lang="zh-CN" altLang="en-US" sz="3200" dirty="0"/>
              <a:t>，画出偏序集</a:t>
            </a:r>
            <a:r>
              <a:rPr lang="en-US" altLang="zh-CN" sz="3200" dirty="0"/>
              <a:t>(A,|)</a:t>
            </a:r>
            <a:r>
              <a:rPr lang="zh-CN" altLang="en-US" sz="3200" dirty="0"/>
              <a:t>的哈斯图。</a:t>
            </a:r>
            <a:endParaRPr lang="zh-CN" altLang="en-US" sz="3200" dirty="0"/>
          </a:p>
        </p:txBody>
      </p:sp>
      <p:sp>
        <p:nvSpPr>
          <p:cNvPr id="323587" name="Rectangle 3"/>
          <p:cNvSpPr>
            <a:spLocks noChangeArrowheads="1"/>
          </p:cNvSpPr>
          <p:nvPr/>
        </p:nvSpPr>
        <p:spPr bwMode="auto">
          <a:xfrm>
            <a:off x="-431800" y="2257425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23588" name="Group 4"/>
          <p:cNvGrpSpPr/>
          <p:nvPr/>
        </p:nvGrpSpPr>
        <p:grpSpPr bwMode="auto">
          <a:xfrm>
            <a:off x="4367213" y="3068639"/>
            <a:ext cx="3960812" cy="2160587"/>
            <a:chOff x="3105" y="4047"/>
            <a:chExt cx="3260" cy="2608"/>
          </a:xfrm>
        </p:grpSpPr>
        <p:sp>
          <p:nvSpPr>
            <p:cNvPr id="323589" name="Text Box 5"/>
            <p:cNvSpPr txBox="1">
              <a:spLocks noChangeArrowheads="1"/>
            </p:cNvSpPr>
            <p:nvPr/>
          </p:nvSpPr>
          <p:spPr bwMode="auto">
            <a:xfrm>
              <a:off x="3105" y="5306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5</a:t>
              </a:r>
              <a:endParaRPr lang="en-US" altLang="zh-CN"/>
            </a:p>
          </p:txBody>
        </p:sp>
        <p:sp>
          <p:nvSpPr>
            <p:cNvPr id="323590" name="Text Box 6"/>
            <p:cNvSpPr txBox="1">
              <a:spLocks noChangeArrowheads="1"/>
            </p:cNvSpPr>
            <p:nvPr/>
          </p:nvSpPr>
          <p:spPr bwMode="auto">
            <a:xfrm>
              <a:off x="3450" y="4047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9</a:t>
              </a:r>
              <a:endParaRPr lang="en-US" altLang="zh-CN"/>
            </a:p>
          </p:txBody>
        </p:sp>
        <p:sp>
          <p:nvSpPr>
            <p:cNvPr id="323591" name="Text Box 7"/>
            <p:cNvSpPr txBox="1">
              <a:spLocks noChangeArrowheads="1"/>
            </p:cNvSpPr>
            <p:nvPr/>
          </p:nvSpPr>
          <p:spPr bwMode="auto">
            <a:xfrm>
              <a:off x="4243" y="4508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6</a:t>
              </a:r>
              <a:endParaRPr lang="en-US" altLang="zh-CN"/>
            </a:p>
          </p:txBody>
        </p:sp>
        <p:sp>
          <p:nvSpPr>
            <p:cNvPr id="323592" name="Text Box 8"/>
            <p:cNvSpPr txBox="1">
              <a:spLocks noChangeArrowheads="1"/>
            </p:cNvSpPr>
            <p:nvPr/>
          </p:nvSpPr>
          <p:spPr bwMode="auto">
            <a:xfrm>
              <a:off x="4128" y="5446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323593" name="Text Box 9"/>
            <p:cNvSpPr txBox="1">
              <a:spLocks noChangeArrowheads="1"/>
            </p:cNvSpPr>
            <p:nvPr/>
          </p:nvSpPr>
          <p:spPr bwMode="auto">
            <a:xfrm>
              <a:off x="6058" y="4735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323594" name="Text Box 10"/>
            <p:cNvSpPr txBox="1">
              <a:spLocks noChangeArrowheads="1"/>
            </p:cNvSpPr>
            <p:nvPr/>
          </p:nvSpPr>
          <p:spPr bwMode="auto">
            <a:xfrm>
              <a:off x="4997" y="4275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8</a:t>
              </a:r>
              <a:endParaRPr lang="en-US" altLang="zh-CN"/>
            </a:p>
          </p:txBody>
        </p:sp>
        <p:sp>
          <p:nvSpPr>
            <p:cNvPr id="323595" name="Text Box 11"/>
            <p:cNvSpPr txBox="1">
              <a:spLocks noChangeArrowheads="1"/>
            </p:cNvSpPr>
            <p:nvPr/>
          </p:nvSpPr>
          <p:spPr bwMode="auto">
            <a:xfrm>
              <a:off x="4997" y="4991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323596" name="Text Box 12"/>
            <p:cNvSpPr txBox="1">
              <a:spLocks noChangeArrowheads="1"/>
            </p:cNvSpPr>
            <p:nvPr/>
          </p:nvSpPr>
          <p:spPr bwMode="auto">
            <a:xfrm>
              <a:off x="4984" y="5631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23597" name="Text Box 13"/>
            <p:cNvSpPr txBox="1">
              <a:spLocks noChangeArrowheads="1"/>
            </p:cNvSpPr>
            <p:nvPr/>
          </p:nvSpPr>
          <p:spPr bwMode="auto">
            <a:xfrm>
              <a:off x="4997" y="6271"/>
              <a:ext cx="307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900"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23598" name="Oval 14"/>
            <p:cNvSpPr>
              <a:spLocks noChangeArrowheads="1"/>
            </p:cNvSpPr>
            <p:nvPr/>
          </p:nvSpPr>
          <p:spPr bwMode="auto">
            <a:xfrm>
              <a:off x="5010" y="6392"/>
              <a:ext cx="72" cy="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599" name="Oval 15"/>
            <p:cNvSpPr>
              <a:spLocks noChangeArrowheads="1"/>
            </p:cNvSpPr>
            <p:nvPr/>
          </p:nvSpPr>
          <p:spPr bwMode="auto">
            <a:xfrm>
              <a:off x="3348" y="5375"/>
              <a:ext cx="73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0" name="Oval 16"/>
            <p:cNvSpPr>
              <a:spLocks noChangeArrowheads="1"/>
            </p:cNvSpPr>
            <p:nvPr/>
          </p:nvSpPr>
          <p:spPr bwMode="auto">
            <a:xfrm>
              <a:off x="6045" y="4865"/>
              <a:ext cx="73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1" name="Oval 17"/>
            <p:cNvSpPr>
              <a:spLocks noChangeArrowheads="1"/>
            </p:cNvSpPr>
            <p:nvPr/>
          </p:nvSpPr>
          <p:spPr bwMode="auto">
            <a:xfrm>
              <a:off x="4358" y="4838"/>
              <a:ext cx="72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2" name="Oval 18"/>
            <p:cNvSpPr>
              <a:spLocks noChangeArrowheads="1"/>
            </p:cNvSpPr>
            <p:nvPr/>
          </p:nvSpPr>
          <p:spPr bwMode="auto">
            <a:xfrm>
              <a:off x="4345" y="5493"/>
              <a:ext cx="73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3" name="Oval 19"/>
            <p:cNvSpPr>
              <a:spLocks noChangeArrowheads="1"/>
            </p:cNvSpPr>
            <p:nvPr/>
          </p:nvSpPr>
          <p:spPr bwMode="auto">
            <a:xfrm>
              <a:off x="4997" y="5131"/>
              <a:ext cx="73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4" name="Oval 20"/>
            <p:cNvSpPr>
              <a:spLocks noChangeArrowheads="1"/>
            </p:cNvSpPr>
            <p:nvPr/>
          </p:nvSpPr>
          <p:spPr bwMode="auto">
            <a:xfrm>
              <a:off x="4997" y="4457"/>
              <a:ext cx="73" cy="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5" name="Oval 21"/>
            <p:cNvSpPr>
              <a:spLocks noChangeArrowheads="1"/>
            </p:cNvSpPr>
            <p:nvPr/>
          </p:nvSpPr>
          <p:spPr bwMode="auto">
            <a:xfrm>
              <a:off x="4997" y="5759"/>
              <a:ext cx="73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6" name="Oval 22"/>
            <p:cNvSpPr>
              <a:spLocks noChangeArrowheads="1"/>
            </p:cNvSpPr>
            <p:nvPr/>
          </p:nvSpPr>
          <p:spPr bwMode="auto">
            <a:xfrm>
              <a:off x="3463" y="4314"/>
              <a:ext cx="72" cy="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7" name="Line 23"/>
            <p:cNvSpPr>
              <a:spLocks noChangeShapeType="1"/>
            </p:cNvSpPr>
            <p:nvPr/>
          </p:nvSpPr>
          <p:spPr bwMode="auto">
            <a:xfrm>
              <a:off x="5035" y="4479"/>
              <a:ext cx="1" cy="19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8" name="Line 24"/>
            <p:cNvSpPr>
              <a:spLocks noChangeShapeType="1"/>
            </p:cNvSpPr>
            <p:nvPr/>
          </p:nvSpPr>
          <p:spPr bwMode="auto">
            <a:xfrm flipH="1">
              <a:off x="5035" y="4875"/>
              <a:ext cx="1074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09" name="Line 25"/>
            <p:cNvSpPr>
              <a:spLocks noChangeShapeType="1"/>
            </p:cNvSpPr>
            <p:nvPr/>
          </p:nvSpPr>
          <p:spPr bwMode="auto">
            <a:xfrm>
              <a:off x="3501" y="4351"/>
              <a:ext cx="1534" cy="20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10" name="Line 26"/>
            <p:cNvSpPr>
              <a:spLocks noChangeShapeType="1"/>
            </p:cNvSpPr>
            <p:nvPr/>
          </p:nvSpPr>
          <p:spPr bwMode="auto">
            <a:xfrm>
              <a:off x="4396" y="4863"/>
              <a:ext cx="614" cy="8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11" name="Line 27"/>
            <p:cNvSpPr>
              <a:spLocks noChangeShapeType="1"/>
            </p:cNvSpPr>
            <p:nvPr/>
          </p:nvSpPr>
          <p:spPr bwMode="auto">
            <a:xfrm>
              <a:off x="4383" y="486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12" name="Line 28"/>
            <p:cNvSpPr>
              <a:spLocks noChangeShapeType="1"/>
            </p:cNvSpPr>
            <p:nvPr/>
          </p:nvSpPr>
          <p:spPr bwMode="auto">
            <a:xfrm>
              <a:off x="3373" y="5400"/>
              <a:ext cx="1688" cy="10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3613" name="Text Box 29"/>
          <p:cNvSpPr txBox="1">
            <a:spLocks noChangeArrowheads="1"/>
          </p:cNvSpPr>
          <p:nvPr/>
        </p:nvSpPr>
        <p:spPr bwMode="auto">
          <a:xfrm>
            <a:off x="1999426" y="2056322"/>
            <a:ext cx="46924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解</a:t>
            </a:r>
            <a:r>
              <a:rPr lang="zh-CN" altLang="en-US" sz="2800" dirty="0"/>
              <a:t>： 哈斯图如图</a:t>
            </a:r>
            <a:r>
              <a:rPr lang="en-US" altLang="zh-CN" sz="2800" dirty="0"/>
              <a:t>2.4</a:t>
            </a:r>
            <a:r>
              <a:rPr lang="zh-CN" altLang="en-US" sz="2800" dirty="0"/>
              <a:t>所示。</a:t>
            </a:r>
            <a:endParaRPr lang="zh-CN" altLang="en-US" sz="2800" dirty="0"/>
          </a:p>
        </p:txBody>
      </p:sp>
      <p:sp>
        <p:nvSpPr>
          <p:cNvPr id="323614" name="Rectangle 30"/>
          <p:cNvSpPr>
            <a:spLocks noChangeArrowheads="1"/>
          </p:cNvSpPr>
          <p:nvPr/>
        </p:nvSpPr>
        <p:spPr bwMode="auto">
          <a:xfrm>
            <a:off x="6169416" y="5704959"/>
            <a:ext cx="7072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2.4</a:t>
            </a:r>
            <a:endParaRPr lang="en-US" altLang="zh-CN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704C2DCA-12C2-4358-9821-A84649109476}" type="slidenum">
              <a:rPr lang="en-US" altLang="zh-CN"/>
            </a:fld>
            <a:endParaRPr lang="en-US" altLang="zh-CN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51704" y="274902"/>
            <a:ext cx="7488238" cy="116205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cs typeface="+mn-cs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cs typeface="+mn-cs"/>
              </a:rPr>
              <a:t>2.57  </a:t>
            </a:r>
            <a:r>
              <a:rPr lang="zh-CN" altLang="en-US" sz="2400" dirty="0"/>
              <a:t>已知偏序集</a:t>
            </a:r>
            <a:r>
              <a:rPr lang="en-US" altLang="zh-CN" sz="2400" dirty="0"/>
              <a:t>(R,≤)</a:t>
            </a:r>
            <a:r>
              <a:rPr lang="zh-CN" altLang="en-US" sz="2400" dirty="0"/>
              <a:t>的哈斯图如图</a:t>
            </a:r>
            <a:r>
              <a:rPr lang="en-US" altLang="zh-CN" sz="2400" dirty="0"/>
              <a:t>2.4</a:t>
            </a:r>
            <a:r>
              <a:rPr lang="zh-CN" altLang="en-US" sz="2400" dirty="0"/>
              <a:t>所示，</a:t>
            </a:r>
            <a:br>
              <a:rPr lang="zh-CN" altLang="en-US" sz="2400" dirty="0"/>
            </a:br>
            <a:r>
              <a:rPr lang="zh-CN" altLang="en-US" sz="2400" dirty="0"/>
              <a:t>求集合</a:t>
            </a:r>
            <a:r>
              <a:rPr lang="en-US" altLang="zh-CN" sz="2400" dirty="0"/>
              <a:t>A</a:t>
            </a:r>
            <a:r>
              <a:rPr lang="zh-CN" altLang="en-US" sz="2400" dirty="0"/>
              <a:t>的偏序关系≤。</a:t>
            </a:r>
            <a:endParaRPr lang="zh-CN" altLang="en-US" sz="24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89991" y="1863272"/>
            <a:ext cx="5667375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解  </a:t>
            </a:r>
            <a:r>
              <a:rPr lang="zh-CN" altLang="zh-CN" dirty="0"/>
              <a:t>写出集合A中的元素为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000000"/>
                </a:solidFill>
              </a:rPr>
              <a:t>A={</a:t>
            </a:r>
            <a:r>
              <a:rPr lang="en-US" altLang="zh-CN" dirty="0" err="1">
                <a:solidFill>
                  <a:srgbClr val="000000"/>
                </a:solidFill>
              </a:rPr>
              <a:t>a,b,c,d,e,f,g,h</a:t>
            </a:r>
            <a:r>
              <a:rPr lang="en-US" altLang="zh-CN" dirty="0">
                <a:solidFill>
                  <a:srgbClr val="000000"/>
                </a:solidFill>
              </a:rPr>
              <a:t>},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  <a:endParaRPr lang="zh-CN" altLang="en-US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zh-CN" dirty="0"/>
              <a:t>R={(a,c),(a,d),(a,e),(b,c), (b,d), (b,e),(c,e),(d,e), (f,g)}∪ I</a:t>
            </a:r>
            <a:r>
              <a:rPr lang="en-US" altLang="zh-CN" baseline="-30000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br>
              <a:rPr lang="en-US" altLang="zh-CN" dirty="0">
                <a:solidFill>
                  <a:srgbClr val="000000"/>
                </a:solidFill>
              </a:rPr>
            </a:b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654050" y="25225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0425" name="Group 9"/>
          <p:cNvGrpSpPr/>
          <p:nvPr/>
        </p:nvGrpSpPr>
        <p:grpSpPr bwMode="auto">
          <a:xfrm>
            <a:off x="1415480" y="1700808"/>
            <a:ext cx="3169220" cy="2880719"/>
            <a:chOff x="2895" y="8280"/>
            <a:chExt cx="2000" cy="2088"/>
          </a:xfrm>
        </p:grpSpPr>
        <p:grpSp>
          <p:nvGrpSpPr>
            <p:cNvPr id="60426" name="Group 10"/>
            <p:cNvGrpSpPr/>
            <p:nvPr/>
          </p:nvGrpSpPr>
          <p:grpSpPr bwMode="auto">
            <a:xfrm>
              <a:off x="2895" y="9697"/>
              <a:ext cx="307" cy="384"/>
              <a:chOff x="4952" y="10297"/>
              <a:chExt cx="307" cy="384"/>
            </a:xfrm>
          </p:grpSpPr>
          <p:sp>
            <p:nvSpPr>
              <p:cNvPr id="60427" name="Text Box 11"/>
              <p:cNvSpPr txBox="1">
                <a:spLocks noChangeArrowheads="1"/>
              </p:cNvSpPr>
              <p:nvPr/>
            </p:nvSpPr>
            <p:spPr bwMode="auto">
              <a:xfrm>
                <a:off x="4952" y="10297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a</a:t>
                </a:r>
                <a:endParaRPr lang="en-US" altLang="zh-CN"/>
              </a:p>
            </p:txBody>
          </p:sp>
          <p:sp>
            <p:nvSpPr>
              <p:cNvPr id="60428" name="Oval 12"/>
              <p:cNvSpPr>
                <a:spLocks noChangeArrowheads="1"/>
              </p:cNvSpPr>
              <p:nvPr/>
            </p:nvSpPr>
            <p:spPr bwMode="auto">
              <a:xfrm>
                <a:off x="4965" y="10493"/>
                <a:ext cx="72" cy="69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29" name="Group 13"/>
            <p:cNvGrpSpPr/>
            <p:nvPr/>
          </p:nvGrpSpPr>
          <p:grpSpPr bwMode="auto">
            <a:xfrm>
              <a:off x="3525" y="9753"/>
              <a:ext cx="307" cy="384"/>
              <a:chOff x="3420" y="9708"/>
              <a:chExt cx="307" cy="384"/>
            </a:xfrm>
          </p:grpSpPr>
          <p:sp>
            <p:nvSpPr>
              <p:cNvPr id="60430" name="Text Box 14"/>
              <p:cNvSpPr txBox="1">
                <a:spLocks noChangeArrowheads="1"/>
              </p:cNvSpPr>
              <p:nvPr/>
            </p:nvSpPr>
            <p:spPr bwMode="auto">
              <a:xfrm>
                <a:off x="3420" y="9708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b</a:t>
                </a:r>
                <a:endParaRPr lang="en-US" altLang="zh-CN"/>
              </a:p>
            </p:txBody>
          </p:sp>
          <p:sp>
            <p:nvSpPr>
              <p:cNvPr id="60431" name="Oval 15"/>
              <p:cNvSpPr>
                <a:spLocks noChangeArrowheads="1"/>
              </p:cNvSpPr>
              <p:nvPr/>
            </p:nvSpPr>
            <p:spPr bwMode="auto">
              <a:xfrm>
                <a:off x="3438" y="9866"/>
                <a:ext cx="73" cy="7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2" name="Group 16"/>
            <p:cNvGrpSpPr/>
            <p:nvPr/>
          </p:nvGrpSpPr>
          <p:grpSpPr bwMode="auto">
            <a:xfrm>
              <a:off x="4575" y="9781"/>
              <a:ext cx="320" cy="384"/>
              <a:chOff x="6000" y="8836"/>
              <a:chExt cx="320" cy="384"/>
            </a:xfrm>
          </p:grpSpPr>
          <p:sp>
            <p:nvSpPr>
              <p:cNvPr id="60433" name="Text Box 17"/>
              <p:cNvSpPr txBox="1">
                <a:spLocks noChangeArrowheads="1"/>
              </p:cNvSpPr>
              <p:nvPr/>
            </p:nvSpPr>
            <p:spPr bwMode="auto">
              <a:xfrm>
                <a:off x="6013" y="8836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h</a:t>
                </a:r>
                <a:endParaRPr lang="en-US" altLang="zh-CN"/>
              </a:p>
            </p:txBody>
          </p:sp>
          <p:sp>
            <p:nvSpPr>
              <p:cNvPr id="60434" name="Oval 18"/>
              <p:cNvSpPr>
                <a:spLocks noChangeArrowheads="1"/>
              </p:cNvSpPr>
              <p:nvPr/>
            </p:nvSpPr>
            <p:spPr bwMode="auto">
              <a:xfrm>
                <a:off x="6000" y="8966"/>
                <a:ext cx="73" cy="7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5" name="Group 19"/>
            <p:cNvGrpSpPr/>
            <p:nvPr/>
          </p:nvGrpSpPr>
          <p:grpSpPr bwMode="auto">
            <a:xfrm>
              <a:off x="3255" y="8280"/>
              <a:ext cx="330" cy="384"/>
              <a:chOff x="4300" y="9382"/>
              <a:chExt cx="330" cy="384"/>
            </a:xfrm>
          </p:grpSpPr>
          <p:sp>
            <p:nvSpPr>
              <p:cNvPr id="60436" name="Text Box 20"/>
              <p:cNvSpPr txBox="1">
                <a:spLocks noChangeArrowheads="1"/>
              </p:cNvSpPr>
              <p:nvPr/>
            </p:nvSpPr>
            <p:spPr bwMode="auto">
              <a:xfrm>
                <a:off x="4323" y="9382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e</a:t>
                </a:r>
                <a:endParaRPr lang="en-US" altLang="zh-CN"/>
              </a:p>
            </p:txBody>
          </p:sp>
          <p:sp>
            <p:nvSpPr>
              <p:cNvPr id="60437" name="Oval 21"/>
              <p:cNvSpPr>
                <a:spLocks noChangeArrowheads="1"/>
              </p:cNvSpPr>
              <p:nvPr/>
            </p:nvSpPr>
            <p:spPr bwMode="auto">
              <a:xfrm>
                <a:off x="4300" y="9594"/>
                <a:ext cx="73" cy="7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8" name="Group 22"/>
            <p:cNvGrpSpPr/>
            <p:nvPr/>
          </p:nvGrpSpPr>
          <p:grpSpPr bwMode="auto">
            <a:xfrm>
              <a:off x="2910" y="8952"/>
              <a:ext cx="307" cy="384"/>
              <a:chOff x="4952" y="9032"/>
              <a:chExt cx="307" cy="384"/>
            </a:xfrm>
          </p:grpSpPr>
          <p:sp>
            <p:nvSpPr>
              <p:cNvPr id="60439" name="Text Box 23"/>
              <p:cNvSpPr txBox="1">
                <a:spLocks noChangeArrowheads="1"/>
              </p:cNvSpPr>
              <p:nvPr/>
            </p:nvSpPr>
            <p:spPr bwMode="auto">
              <a:xfrm>
                <a:off x="4952" y="9032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c</a:t>
                </a:r>
                <a:endParaRPr lang="en-US" altLang="zh-CN"/>
              </a:p>
            </p:txBody>
          </p:sp>
          <p:sp>
            <p:nvSpPr>
              <p:cNvPr id="60440" name="Oval 24"/>
              <p:cNvSpPr>
                <a:spLocks noChangeArrowheads="1"/>
              </p:cNvSpPr>
              <p:nvPr/>
            </p:nvSpPr>
            <p:spPr bwMode="auto">
              <a:xfrm>
                <a:off x="4952" y="9232"/>
                <a:ext cx="73" cy="7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41" name="Group 25"/>
            <p:cNvGrpSpPr/>
            <p:nvPr/>
          </p:nvGrpSpPr>
          <p:grpSpPr bwMode="auto">
            <a:xfrm>
              <a:off x="3555" y="8970"/>
              <a:ext cx="307" cy="384"/>
              <a:chOff x="4952" y="8376"/>
              <a:chExt cx="307" cy="384"/>
            </a:xfrm>
          </p:grpSpPr>
          <p:sp>
            <p:nvSpPr>
              <p:cNvPr id="60442" name="Text Box 26"/>
              <p:cNvSpPr txBox="1">
                <a:spLocks noChangeArrowheads="1"/>
              </p:cNvSpPr>
              <p:nvPr/>
            </p:nvSpPr>
            <p:spPr bwMode="auto">
              <a:xfrm>
                <a:off x="4952" y="8376"/>
                <a:ext cx="307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900" i="1">
                    <a:latin typeface="Times New Roman" panose="02020603050405020304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60443" name="Oval 27"/>
              <p:cNvSpPr>
                <a:spLocks noChangeArrowheads="1"/>
              </p:cNvSpPr>
              <p:nvPr/>
            </p:nvSpPr>
            <p:spPr bwMode="auto">
              <a:xfrm>
                <a:off x="4952" y="8558"/>
                <a:ext cx="73" cy="69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44" name="Group 28"/>
            <p:cNvGrpSpPr/>
            <p:nvPr/>
          </p:nvGrpSpPr>
          <p:grpSpPr bwMode="auto">
            <a:xfrm>
              <a:off x="4095" y="8958"/>
              <a:ext cx="390" cy="1410"/>
              <a:chOff x="4530" y="8943"/>
              <a:chExt cx="390" cy="1410"/>
            </a:xfrm>
          </p:grpSpPr>
          <p:grpSp>
            <p:nvGrpSpPr>
              <p:cNvPr id="60445" name="Group 29"/>
              <p:cNvGrpSpPr/>
              <p:nvPr/>
            </p:nvGrpSpPr>
            <p:grpSpPr bwMode="auto">
              <a:xfrm>
                <a:off x="4538" y="9729"/>
                <a:ext cx="382" cy="624"/>
                <a:chOff x="4313" y="8754"/>
                <a:chExt cx="382" cy="624"/>
              </a:xfrm>
            </p:grpSpPr>
            <p:sp>
              <p:nvSpPr>
                <p:cNvPr id="6044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335" y="8754"/>
                  <a:ext cx="360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900" i="1">
                      <a:latin typeface="Times New Roman" panose="02020603050405020304" pitchFamily="18" charset="0"/>
                    </a:rPr>
                    <a:t>f</a:t>
                  </a:r>
                  <a:endParaRPr lang="en-US" altLang="zh-CN"/>
                </a:p>
              </p:txBody>
            </p:sp>
            <p:sp>
              <p:nvSpPr>
                <p:cNvPr id="60447" name="Oval 31"/>
                <p:cNvSpPr>
                  <a:spLocks noChangeArrowheads="1"/>
                </p:cNvSpPr>
                <p:nvPr/>
              </p:nvSpPr>
              <p:spPr bwMode="auto">
                <a:xfrm>
                  <a:off x="4313" y="8939"/>
                  <a:ext cx="72" cy="7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0448" name="Group 32"/>
              <p:cNvGrpSpPr/>
              <p:nvPr/>
            </p:nvGrpSpPr>
            <p:grpSpPr bwMode="auto">
              <a:xfrm>
                <a:off x="4530" y="8943"/>
                <a:ext cx="375" cy="468"/>
                <a:chOff x="3405" y="8148"/>
                <a:chExt cx="375" cy="468"/>
              </a:xfrm>
            </p:grpSpPr>
            <p:sp>
              <p:nvSpPr>
                <p:cNvPr id="6044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405" y="8148"/>
                  <a:ext cx="375" cy="46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900" i="1">
                      <a:latin typeface="Times New Roman" panose="02020603050405020304" pitchFamily="18" charset="0"/>
                    </a:rPr>
                    <a:t>g</a:t>
                  </a:r>
                  <a:endParaRPr lang="en-US" altLang="zh-CN"/>
                </a:p>
              </p:txBody>
            </p:sp>
            <p:sp>
              <p:nvSpPr>
                <p:cNvPr id="60450" name="Oval 34"/>
                <p:cNvSpPr>
                  <a:spLocks noChangeArrowheads="1"/>
                </p:cNvSpPr>
                <p:nvPr/>
              </p:nvSpPr>
              <p:spPr bwMode="auto">
                <a:xfrm>
                  <a:off x="3418" y="8355"/>
                  <a:ext cx="72" cy="7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51" name="Line 35"/>
              <p:cNvSpPr>
                <a:spLocks noChangeShapeType="1"/>
              </p:cNvSpPr>
              <p:nvPr/>
            </p:nvSpPr>
            <p:spPr bwMode="auto">
              <a:xfrm rot="408517">
                <a:off x="4530" y="9195"/>
                <a:ext cx="76" cy="7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52" name="Line 36"/>
            <p:cNvSpPr>
              <a:spLocks noChangeShapeType="1"/>
            </p:cNvSpPr>
            <p:nvPr/>
          </p:nvSpPr>
          <p:spPr bwMode="auto">
            <a:xfrm>
              <a:off x="2925" y="9204"/>
              <a:ext cx="660" cy="7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3" name="Line 37"/>
            <p:cNvSpPr>
              <a:spLocks noChangeShapeType="1"/>
            </p:cNvSpPr>
            <p:nvPr/>
          </p:nvSpPr>
          <p:spPr bwMode="auto">
            <a:xfrm rot="408517">
              <a:off x="3555" y="9195"/>
              <a:ext cx="76" cy="7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4" name="Line 38"/>
            <p:cNvSpPr>
              <a:spLocks noChangeShapeType="1"/>
            </p:cNvSpPr>
            <p:nvPr/>
          </p:nvSpPr>
          <p:spPr bwMode="auto">
            <a:xfrm rot="408517">
              <a:off x="2910" y="9204"/>
              <a:ext cx="76" cy="7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5" name="Line 39"/>
            <p:cNvSpPr>
              <a:spLocks noChangeShapeType="1"/>
            </p:cNvSpPr>
            <p:nvPr/>
          </p:nvSpPr>
          <p:spPr bwMode="auto">
            <a:xfrm>
              <a:off x="3300" y="8535"/>
              <a:ext cx="300" cy="6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6" name="Line 40"/>
            <p:cNvSpPr>
              <a:spLocks noChangeShapeType="1"/>
            </p:cNvSpPr>
            <p:nvPr/>
          </p:nvSpPr>
          <p:spPr bwMode="auto">
            <a:xfrm flipH="1">
              <a:off x="2925" y="8505"/>
              <a:ext cx="39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7" name="Line 41"/>
            <p:cNvSpPr>
              <a:spLocks noChangeShapeType="1"/>
            </p:cNvSpPr>
            <p:nvPr/>
          </p:nvSpPr>
          <p:spPr bwMode="auto">
            <a:xfrm flipH="1">
              <a:off x="2940" y="9210"/>
              <a:ext cx="660" cy="6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1774825" y="4552434"/>
            <a:ext cx="194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2.4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utoUpdateAnimBg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E63F3F7-651D-42E9-8F40-54785A551D5C}" type="slidenum">
              <a:rPr lang="en-US" altLang="zh-CN"/>
            </a:fld>
            <a:endParaRPr lang="en-US" altLang="zh-CN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71664" y="168275"/>
            <a:ext cx="6240016" cy="1143000"/>
          </a:xfrm>
        </p:spPr>
        <p:txBody>
          <a:bodyPr/>
          <a:lstStyle/>
          <a:p>
            <a:r>
              <a:rPr lang="en-US" altLang="zh-CN" dirty="0"/>
              <a:t>2.7.2 </a:t>
            </a:r>
            <a:r>
              <a:rPr lang="zh-CN" altLang="en-US" dirty="0"/>
              <a:t>偏序集中的特殊元素</a:t>
            </a:r>
            <a:endParaRPr lang="zh-CN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1424" y="930275"/>
            <a:ext cx="11064552" cy="49974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2.28</a:t>
            </a:r>
            <a:r>
              <a:rPr lang="zh-CN" altLang="en-US" sz="2800" dirty="0">
                <a:solidFill>
                  <a:srgbClr val="000000"/>
                </a:solidFill>
              </a:rPr>
              <a:t>： 设</a:t>
            </a:r>
            <a:r>
              <a:rPr lang="en-US" altLang="zh-CN" sz="2800" dirty="0">
                <a:solidFill>
                  <a:srgbClr val="000000"/>
                </a:solidFill>
              </a:rPr>
              <a:t>(A,≤)</a:t>
            </a:r>
            <a:r>
              <a:rPr lang="zh-CN" altLang="en-US" sz="2800" dirty="0">
                <a:solidFill>
                  <a:srgbClr val="000000"/>
                </a:solidFill>
              </a:rPr>
              <a:t>为偏序集，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 err="1">
                <a:solidFill>
                  <a:srgbClr val="000000"/>
                </a:solidFill>
              </a:rPr>
              <a:t>b∈B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br>
              <a:rPr lang="zh-CN" altLang="en-US" sz="2800" dirty="0">
                <a:solidFill>
                  <a:srgbClr val="000000"/>
                </a:solidFill>
              </a:rPr>
            </a:br>
            <a:r>
              <a:rPr lang="zh-CN" altLang="en-US" dirty="0"/>
              <a:t>若对任意的元素</a:t>
            </a:r>
            <a:r>
              <a:rPr lang="en-US" altLang="zh-CN" dirty="0" err="1"/>
              <a:t>x∈B</a:t>
            </a:r>
            <a:r>
              <a:rPr lang="zh-CN" altLang="en-US" dirty="0"/>
              <a:t>且不满足</a:t>
            </a:r>
            <a:r>
              <a:rPr lang="en-US" altLang="zh-CN" dirty="0" err="1"/>
              <a:t>x≤b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极小元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r>
              <a:rPr lang="zh-CN" altLang="en-US" dirty="0"/>
              <a:t>若对任意的元素</a:t>
            </a:r>
            <a:r>
              <a:rPr lang="en-US" altLang="zh-CN" dirty="0" err="1"/>
              <a:t>x∈B</a:t>
            </a:r>
            <a:r>
              <a:rPr lang="zh-CN" altLang="en-US" dirty="0"/>
              <a:t>且不满足</a:t>
            </a:r>
            <a:r>
              <a:rPr lang="en-US" altLang="zh-CN" dirty="0" err="1"/>
              <a:t>b≤x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极大元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2.58</a:t>
            </a:r>
            <a:r>
              <a:rPr lang="en-US" altLang="zh-CN" sz="2800" dirty="0">
                <a:solidFill>
                  <a:srgbClr val="000000"/>
                </a:solidFill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</a:rPr>
              <a:t>A={2,3,4,6,8}</a:t>
            </a:r>
            <a:r>
              <a:rPr lang="zh-CN" altLang="en-US" sz="2800" dirty="0">
                <a:solidFill>
                  <a:srgbClr val="000000"/>
                </a:solidFill>
              </a:rPr>
              <a:t>，偏序关系是整除关系，则</a:t>
            </a:r>
            <a:r>
              <a:rPr lang="en-US" altLang="zh-CN" sz="2800" dirty="0">
                <a:solidFill>
                  <a:srgbClr val="000000"/>
                </a:solidFill>
              </a:rPr>
              <a:t>6</a:t>
            </a:r>
            <a:r>
              <a:rPr lang="zh-CN" altLang="en-US" sz="2800" dirty="0">
                <a:solidFill>
                  <a:srgbClr val="000000"/>
                </a:solidFill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</a:rPr>
              <a:t>8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的极大元，</a:t>
            </a:r>
            <a:r>
              <a:rPr lang="en-US" altLang="zh-CN" sz="28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</a:rPr>
              <a:t>3</a:t>
            </a:r>
            <a:r>
              <a:rPr lang="zh-CN" altLang="en-US" sz="2800" dirty="0">
                <a:solidFill>
                  <a:srgbClr val="000000"/>
                </a:solidFill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的极小元。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2.59 </a:t>
            </a:r>
            <a:r>
              <a:rPr lang="zh-CN" altLang="en-US" sz="2800" dirty="0">
                <a:solidFill>
                  <a:srgbClr val="000000"/>
                </a:solidFill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</a:rPr>
              <a:t>2.56</a:t>
            </a:r>
            <a:r>
              <a:rPr lang="zh-CN" altLang="en-US" sz="2800" dirty="0">
                <a:solidFill>
                  <a:srgbClr val="000000"/>
                </a:solidFill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</a:rPr>
              <a:t>,</a:t>
            </a:r>
            <a:r>
              <a:rPr lang="zh-CN" altLang="en-US" sz="2800" dirty="0">
                <a:solidFill>
                  <a:srgbClr val="000000"/>
                </a:solidFill>
              </a:rPr>
              <a:t>极大元是</a:t>
            </a:r>
            <a:r>
              <a:rPr lang="en-US" altLang="zh-CN" sz="2800" dirty="0">
                <a:solidFill>
                  <a:srgbClr val="000000"/>
                </a:solidFill>
              </a:rPr>
              <a:t>5,6,7,8,9;</a:t>
            </a:r>
            <a:r>
              <a:rPr lang="zh-CN" altLang="en-US" sz="2800" dirty="0">
                <a:solidFill>
                  <a:srgbClr val="000000"/>
                </a:solidFill>
              </a:rPr>
              <a:t>极小元是</a:t>
            </a:r>
            <a:r>
              <a:rPr lang="en-US" altLang="zh-CN" sz="28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。 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2.60 </a:t>
            </a:r>
            <a:r>
              <a:rPr lang="zh-CN" altLang="en-US" sz="2800" dirty="0">
                <a:solidFill>
                  <a:srgbClr val="000000"/>
                </a:solidFill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</a:rPr>
              <a:t>2.57</a:t>
            </a:r>
            <a:r>
              <a:rPr lang="zh-CN" altLang="en-US" sz="2800" dirty="0">
                <a:solidFill>
                  <a:srgbClr val="000000"/>
                </a:solidFill>
              </a:rPr>
              <a:t>的哈斯图中</a:t>
            </a:r>
            <a:r>
              <a:rPr lang="en-US" altLang="zh-CN" sz="2800" dirty="0">
                <a:solidFill>
                  <a:srgbClr val="000000"/>
                </a:solidFill>
              </a:rPr>
              <a:t>,</a:t>
            </a:r>
            <a:r>
              <a:rPr lang="zh-CN" altLang="en-US" sz="2800" dirty="0">
                <a:solidFill>
                  <a:srgbClr val="000000"/>
                </a:solidFill>
              </a:rPr>
              <a:t>可以看到极大元有三个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r>
              <a:rPr lang="en-US" altLang="zh-CN" sz="2800" dirty="0" err="1">
                <a:solidFill>
                  <a:srgbClr val="000000"/>
                </a:solidFill>
              </a:rPr>
              <a:t>e,g,h</a:t>
            </a:r>
            <a:r>
              <a:rPr lang="en-US" altLang="zh-CN" sz="2800" dirty="0">
                <a:solidFill>
                  <a:srgbClr val="000000"/>
                </a:solidFill>
              </a:rPr>
              <a:t>;</a:t>
            </a:r>
            <a:r>
              <a:rPr lang="zh-CN" altLang="en-US" sz="2800" dirty="0">
                <a:solidFill>
                  <a:srgbClr val="000000"/>
                </a:solidFill>
              </a:rPr>
              <a:t>极小元有</a:t>
            </a:r>
            <a:r>
              <a:rPr lang="en-US" altLang="zh-CN" sz="2800" dirty="0">
                <a:solidFill>
                  <a:srgbClr val="000000"/>
                </a:solidFill>
              </a:rPr>
              <a:t>4</a:t>
            </a:r>
            <a:r>
              <a:rPr lang="zh-CN" altLang="en-US" sz="2800" dirty="0">
                <a:solidFill>
                  <a:srgbClr val="000000"/>
                </a:solidFill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</a:rPr>
              <a:t>:a, </a:t>
            </a:r>
            <a:r>
              <a:rPr lang="en-US" altLang="zh-CN" sz="2800" dirty="0" err="1">
                <a:solidFill>
                  <a:srgbClr val="000000"/>
                </a:solidFill>
              </a:rPr>
              <a:t>b,f,h</a:t>
            </a:r>
            <a:r>
              <a:rPr lang="zh-CN" altLang="en-US" sz="2800" dirty="0">
                <a:solidFill>
                  <a:srgbClr val="000000"/>
                </a:solidFill>
              </a:rPr>
              <a:t>。可以看到元素</a:t>
            </a:r>
            <a:r>
              <a:rPr lang="en-US" altLang="zh-CN" sz="2800" dirty="0">
                <a:solidFill>
                  <a:srgbClr val="000000"/>
                </a:solidFill>
              </a:rPr>
              <a:t>h </a:t>
            </a:r>
            <a:r>
              <a:rPr lang="zh-CN" altLang="en-US" sz="2800" dirty="0">
                <a:solidFill>
                  <a:srgbClr val="000000"/>
                </a:solidFill>
              </a:rPr>
              <a:t>既是极大元又是极小元。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2E44569-7D20-409C-923A-FF1947343366}" type="slidenum">
              <a:rPr lang="en-US" altLang="zh-CN"/>
            </a:fld>
            <a:endParaRPr lang="en-US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1052736"/>
            <a:ext cx="10225088" cy="45783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</a:rPr>
              <a:t>2.29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r>
              <a:rPr lang="zh-CN" altLang="en-US" sz="2800" dirty="0">
                <a:solidFill>
                  <a:srgbClr val="000000"/>
                </a:solidFill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</a:rPr>
              <a:t>(A,≤)</a:t>
            </a:r>
            <a:r>
              <a:rPr lang="zh-CN" altLang="en-US" sz="2800" dirty="0">
                <a:solidFill>
                  <a:srgbClr val="000000"/>
                </a:solidFill>
              </a:rPr>
              <a:t>为偏序集，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，若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solidFill>
                  <a:srgbClr val="000000"/>
                </a:solidFill>
              </a:rPr>
              <a:t>b∈B</a:t>
            </a:r>
            <a:r>
              <a:rPr lang="zh-CN" altLang="en-US" sz="2800" dirty="0">
                <a:solidFill>
                  <a:srgbClr val="000000"/>
                </a:solidFill>
              </a:rPr>
              <a:t>，使得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中任意元素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都有</a:t>
            </a:r>
            <a:r>
              <a:rPr lang="en-US" altLang="zh-CN" sz="2800" dirty="0" err="1">
                <a:solidFill>
                  <a:srgbClr val="000000"/>
                </a:solidFill>
              </a:rPr>
              <a:t>b≤x</a:t>
            </a:r>
            <a:r>
              <a:rPr lang="zh-CN" altLang="en-US" sz="2800" dirty="0">
                <a:solidFill>
                  <a:srgbClr val="000000"/>
                </a:solidFill>
              </a:rPr>
              <a:t>。则称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最小元</a:t>
            </a:r>
            <a:r>
              <a:rPr lang="zh-CN" altLang="en-US" sz="2800" dirty="0">
                <a:solidFill>
                  <a:srgbClr val="000000"/>
                </a:solidFill>
              </a:rPr>
              <a:t>。同理，若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存在</a:t>
            </a:r>
            <a:r>
              <a:rPr lang="en-US" altLang="zh-CN" sz="2800" dirty="0" err="1">
                <a:solidFill>
                  <a:srgbClr val="000000"/>
                </a:solidFill>
              </a:rPr>
              <a:t>b∈B</a:t>
            </a:r>
            <a:r>
              <a:rPr lang="zh-CN" altLang="en-US" sz="2800" dirty="0">
                <a:solidFill>
                  <a:srgbClr val="000000"/>
                </a:solidFill>
              </a:rPr>
              <a:t>，使得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中任意元素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都有</a:t>
            </a:r>
            <a:r>
              <a:rPr lang="en-US" altLang="zh-CN" sz="2800" dirty="0" err="1">
                <a:solidFill>
                  <a:srgbClr val="000000"/>
                </a:solidFill>
              </a:rPr>
              <a:t>x≤b</a:t>
            </a:r>
            <a:r>
              <a:rPr lang="zh-CN" altLang="en-US" sz="2800" dirty="0">
                <a:solidFill>
                  <a:srgbClr val="000000"/>
                </a:solidFill>
              </a:rPr>
              <a:t>。则称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最大元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</a:rPr>
              <a:t>注意：</a:t>
            </a:r>
            <a:r>
              <a:rPr lang="zh-CN" altLang="en-US" sz="2800" dirty="0">
                <a:solidFill>
                  <a:srgbClr val="000000"/>
                </a:solidFill>
              </a:rPr>
              <a:t>  在</a:t>
            </a:r>
            <a:r>
              <a:rPr lang="en-US" altLang="zh-CN" sz="2800" dirty="0">
                <a:solidFill>
                  <a:srgbClr val="000000"/>
                </a:solidFill>
              </a:rPr>
              <a:t>(A,≤)</a:t>
            </a:r>
            <a:r>
              <a:rPr lang="zh-CN" altLang="en-US" sz="2800" dirty="0">
                <a:solidFill>
                  <a:srgbClr val="000000"/>
                </a:solidFill>
              </a:rPr>
              <a:t>中，不一定存在最大元和最小元。</a:t>
            </a:r>
            <a:br>
              <a:rPr lang="zh-CN" altLang="en-US" sz="2800" dirty="0">
                <a:solidFill>
                  <a:srgbClr val="000000"/>
                </a:solidFill>
              </a:rPr>
            </a:b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BD5F097D-32FB-4250-AF46-E2364D193BA8}" type="slidenum">
              <a:rPr lang="en-US" altLang="zh-CN"/>
            </a:fld>
            <a:endParaRPr lang="en-US" altLang="zh-CN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66913" y="1371600"/>
            <a:ext cx="10225087" cy="47942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2.61</a:t>
            </a:r>
            <a:r>
              <a:rPr lang="en-US" altLang="zh-CN" sz="2800" dirty="0">
                <a:solidFill>
                  <a:srgbClr val="000000"/>
                </a:solidFill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</a:rPr>
              <a:t>A={2,3,4,6,8}</a:t>
            </a:r>
            <a:r>
              <a:rPr lang="zh-CN" altLang="en-US" sz="2800" dirty="0">
                <a:solidFill>
                  <a:srgbClr val="000000"/>
                </a:solidFill>
              </a:rPr>
              <a:t>，偏序关系是整除关系。因为对整除关系来说，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中所有元素的（最小）公分母和（最大）公约数均不属于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，所以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中既没有最大元，也没有最小元。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2.62 </a:t>
            </a:r>
            <a:r>
              <a:rPr lang="zh-CN" altLang="en-US" sz="2800" dirty="0">
                <a:solidFill>
                  <a:srgbClr val="000000"/>
                </a:solidFill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</a:rPr>
              <a:t>2.56</a:t>
            </a:r>
            <a:r>
              <a:rPr lang="zh-CN" altLang="en-US" sz="2800" dirty="0">
                <a:solidFill>
                  <a:srgbClr val="000000"/>
                </a:solidFill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</a:rPr>
              <a:t>,1</a:t>
            </a:r>
            <a:r>
              <a:rPr lang="zh-CN" altLang="en-US" sz="2800" dirty="0">
                <a:solidFill>
                  <a:srgbClr val="000000"/>
                </a:solidFill>
              </a:rPr>
              <a:t>是最小元</a:t>
            </a:r>
            <a:r>
              <a:rPr lang="en-US" altLang="zh-CN" sz="2800" dirty="0">
                <a:solidFill>
                  <a:srgbClr val="000000"/>
                </a:solidFill>
              </a:rPr>
              <a:t>,</a:t>
            </a:r>
            <a:r>
              <a:rPr lang="zh-CN" altLang="en-US" sz="2800" dirty="0">
                <a:solidFill>
                  <a:srgbClr val="000000"/>
                </a:solidFill>
              </a:rPr>
              <a:t>没有最大元。 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</a:rPr>
              <a:t>2.63 </a:t>
            </a:r>
            <a:r>
              <a:rPr lang="zh-CN" altLang="en-US" sz="2800" dirty="0">
                <a:solidFill>
                  <a:srgbClr val="000000"/>
                </a:solidFill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</a:rPr>
              <a:t>2.57</a:t>
            </a:r>
            <a:r>
              <a:rPr lang="zh-CN" altLang="en-US" sz="2800" dirty="0">
                <a:solidFill>
                  <a:srgbClr val="000000"/>
                </a:solidFill>
              </a:rPr>
              <a:t>的哈斯图中</a:t>
            </a:r>
            <a:r>
              <a:rPr lang="en-US" altLang="zh-CN" sz="2800" dirty="0">
                <a:solidFill>
                  <a:srgbClr val="000000"/>
                </a:solidFill>
              </a:rPr>
              <a:t>,</a:t>
            </a:r>
            <a:r>
              <a:rPr lang="zh-CN" altLang="en-US" sz="2800" dirty="0">
                <a:solidFill>
                  <a:srgbClr val="000000"/>
                </a:solidFill>
              </a:rPr>
              <a:t>既没有最小元也没有最大元。 </a:t>
            </a:r>
            <a:br>
              <a:rPr lang="zh-CN" altLang="en-US" sz="2800" dirty="0">
                <a:solidFill>
                  <a:srgbClr val="000000"/>
                </a:solidFill>
              </a:rPr>
            </a:b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CF3F76F-269F-4A74-83ED-7983F99C8CB9}" type="slidenum">
              <a:rPr lang="en-US" altLang="zh-CN"/>
            </a:fld>
            <a:endParaRPr lang="en-US" altLang="zh-CN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11624" y="247119"/>
            <a:ext cx="2999656" cy="1143000"/>
          </a:xfrm>
        </p:spPr>
        <p:txBody>
          <a:bodyPr/>
          <a:lstStyle/>
          <a:p>
            <a:r>
              <a:rPr lang="zh-CN" altLang="en-US" dirty="0"/>
              <a:t>结论：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512" y="1052736"/>
            <a:ext cx="9098979" cy="411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2.22 </a:t>
            </a:r>
            <a:r>
              <a:rPr lang="zh-CN" altLang="en-US" sz="2800" dirty="0"/>
              <a:t>设</a:t>
            </a:r>
            <a:r>
              <a:rPr lang="en-US" altLang="zh-CN" sz="2800" dirty="0">
                <a:solidFill>
                  <a:srgbClr val="000000"/>
                </a:solidFill>
              </a:rPr>
              <a:t>(A</a:t>
            </a:r>
            <a:r>
              <a:rPr lang="zh-CN" altLang="en-US" sz="2800" dirty="0">
                <a:solidFill>
                  <a:srgbClr val="000000"/>
                </a:solidFill>
              </a:rPr>
              <a:t>，≤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为偏序集，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，若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中有最大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zh-CN" altLang="en-US" sz="2800" dirty="0">
                <a:solidFill>
                  <a:srgbClr val="000000"/>
                </a:solidFill>
              </a:rPr>
              <a:t>最小</a:t>
            </a:r>
            <a:r>
              <a:rPr lang="en-US" altLang="zh-CN" sz="2800" dirty="0">
                <a:solidFill>
                  <a:srgbClr val="000000"/>
                </a:solidFill>
              </a:rPr>
              <a:t>)</a:t>
            </a:r>
            <a:r>
              <a:rPr lang="zh-CN" altLang="en-US" sz="2800" dirty="0">
                <a:solidFill>
                  <a:srgbClr val="000000"/>
                </a:solidFill>
              </a:rPr>
              <a:t>元，则必是唯一的。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证明</a:t>
            </a:r>
            <a:r>
              <a:rPr lang="zh-CN" altLang="en-US" sz="2800" dirty="0">
                <a:solidFill>
                  <a:srgbClr val="000000"/>
                </a:solidFill>
              </a:rPr>
              <a:t>：假定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都是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的最大元，则</a:t>
            </a:r>
            <a:r>
              <a:rPr lang="en-US" altLang="zh-CN" sz="2800" dirty="0" err="1">
                <a:solidFill>
                  <a:srgbClr val="000000"/>
                </a:solidFill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</a:rPr>
              <a:t>和</a:t>
            </a:r>
            <a:r>
              <a:rPr lang="en-US" altLang="zh-CN" sz="2800" dirty="0" err="1">
                <a:solidFill>
                  <a:srgbClr val="000000"/>
                </a:solidFill>
              </a:rPr>
              <a:t>b≤a</a:t>
            </a:r>
            <a:r>
              <a:rPr lang="zh-CN" altLang="en-US" sz="2800" dirty="0">
                <a:solidFill>
                  <a:srgbClr val="000000"/>
                </a:solidFill>
              </a:rPr>
              <a:t>，由偏序的反对称性，得</a:t>
            </a:r>
            <a:r>
              <a:rPr lang="en-US" altLang="zh-CN" sz="2800" dirty="0">
                <a:solidFill>
                  <a:srgbClr val="000000"/>
                </a:solidFill>
              </a:rPr>
              <a:t>a=b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61D73B7-581A-4B6E-B04C-B562286C20AD}" type="slidenum">
              <a:rPr lang="en-US" altLang="zh-CN"/>
            </a:fld>
            <a:endParaRPr lang="en-US" altLang="zh-CN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759" y="341313"/>
            <a:ext cx="4583832" cy="1143000"/>
          </a:xfrm>
        </p:spPr>
        <p:txBody>
          <a:bodyPr/>
          <a:lstStyle/>
          <a:p>
            <a:r>
              <a:rPr lang="en-US" altLang="zh-CN" dirty="0"/>
              <a:t>2.7.3 </a:t>
            </a:r>
            <a:r>
              <a:rPr lang="zh-CN" altLang="en-US" dirty="0"/>
              <a:t>全序和良序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980728"/>
            <a:ext cx="9984432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</a:rPr>
              <a:t>2.30</a:t>
            </a:r>
            <a:r>
              <a:rPr lang="zh-CN" altLang="en-US" sz="3200" dirty="0">
                <a:solidFill>
                  <a:srgbClr val="000000"/>
                </a:solidFill>
              </a:rPr>
              <a:t>设</a:t>
            </a:r>
            <a:r>
              <a:rPr lang="en-US" altLang="zh-CN" sz="3200" dirty="0">
                <a:solidFill>
                  <a:srgbClr val="000000"/>
                </a:solidFill>
              </a:rPr>
              <a:t>R</a:t>
            </a:r>
            <a:r>
              <a:rPr lang="zh-CN" altLang="en-US" sz="3200" dirty="0">
                <a:solidFill>
                  <a:srgbClr val="000000"/>
                </a:solidFill>
              </a:rPr>
              <a:t>为非空集合</a:t>
            </a:r>
            <a:r>
              <a:rPr lang="en-US" altLang="zh-CN" sz="3200" dirty="0">
                <a:solidFill>
                  <a:srgbClr val="000000"/>
                </a:solidFill>
              </a:rPr>
              <a:t>A</a:t>
            </a:r>
            <a:r>
              <a:rPr lang="zh-CN" altLang="en-US" sz="3200" dirty="0">
                <a:solidFill>
                  <a:srgbClr val="000000"/>
                </a:solidFill>
              </a:rPr>
              <a:t>上的偏序关系，如果</a:t>
            </a:r>
            <a:r>
              <a:rPr lang="zh-CN" altLang="en-US" sz="3200" dirty="0">
                <a:solidFill>
                  <a:srgbClr val="000000"/>
                </a:solidFill>
                <a:sym typeface="Symbol" panose="05050102010706020507" pitchFamily="18" charset="2"/>
              </a:rPr>
              <a:t>任意的</a:t>
            </a:r>
            <a:r>
              <a:rPr lang="zh-CN" altLang="en-US" sz="3200" dirty="0">
                <a:solidFill>
                  <a:srgbClr val="000000"/>
                </a:solidFill>
              </a:rPr>
              <a:t> </a:t>
            </a:r>
            <a:r>
              <a:rPr lang="en-US" altLang="zh-CN" sz="3200" dirty="0" err="1">
                <a:solidFill>
                  <a:srgbClr val="000000"/>
                </a:solidFill>
              </a:rPr>
              <a:t>a,b∈A</a:t>
            </a:r>
            <a:r>
              <a:rPr lang="zh-CN" altLang="en-US" sz="3200" dirty="0">
                <a:solidFill>
                  <a:srgbClr val="000000"/>
                </a:solidFill>
              </a:rPr>
              <a:t>，都有</a:t>
            </a:r>
            <a:r>
              <a:rPr lang="en-US" altLang="zh-CN" sz="3200" dirty="0" err="1">
                <a:solidFill>
                  <a:srgbClr val="000000"/>
                </a:solidFill>
              </a:rPr>
              <a:t>a≤b</a:t>
            </a:r>
            <a:r>
              <a:rPr lang="zh-CN" altLang="en-US" sz="3200" dirty="0">
                <a:solidFill>
                  <a:srgbClr val="000000"/>
                </a:solidFill>
              </a:rPr>
              <a:t>或</a:t>
            </a:r>
            <a:r>
              <a:rPr lang="en-US" altLang="zh-CN" sz="3200" dirty="0">
                <a:solidFill>
                  <a:srgbClr val="000000"/>
                </a:solidFill>
              </a:rPr>
              <a:t>b ≤ a</a:t>
            </a:r>
            <a:r>
              <a:rPr lang="zh-CN" altLang="en-US" sz="3200" dirty="0">
                <a:solidFill>
                  <a:srgbClr val="000000"/>
                </a:solidFill>
              </a:rPr>
              <a:t>，则称</a:t>
            </a:r>
            <a:r>
              <a:rPr lang="en-US" altLang="zh-CN" sz="3200" dirty="0">
                <a:solidFill>
                  <a:srgbClr val="000000"/>
                </a:solidFill>
              </a:rPr>
              <a:t>R</a:t>
            </a:r>
            <a:r>
              <a:rPr lang="zh-CN" altLang="en-US" sz="3200" dirty="0">
                <a:solidFill>
                  <a:srgbClr val="000000"/>
                </a:solidFill>
              </a:rPr>
              <a:t>为</a:t>
            </a:r>
            <a:r>
              <a:rPr lang="en-US" altLang="zh-CN" sz="3200" dirty="0">
                <a:solidFill>
                  <a:srgbClr val="000000"/>
                </a:solidFill>
              </a:rPr>
              <a:t>A</a:t>
            </a:r>
            <a:r>
              <a:rPr lang="zh-CN" altLang="en-US" sz="3200" dirty="0">
                <a:solidFill>
                  <a:srgbClr val="000000"/>
                </a:solidFill>
              </a:rPr>
              <a:t>上的</a:t>
            </a:r>
            <a:r>
              <a:rPr lang="zh-CN" altLang="en-US" sz="3200" b="1" dirty="0">
                <a:solidFill>
                  <a:schemeClr val="folHlink"/>
                </a:solidFill>
              </a:rPr>
              <a:t>全序关系</a:t>
            </a:r>
            <a:r>
              <a:rPr lang="en-US" altLang="zh-CN" sz="3200" dirty="0">
                <a:solidFill>
                  <a:srgbClr val="000000"/>
                </a:solidFill>
              </a:rPr>
              <a:t>(</a:t>
            </a:r>
            <a:r>
              <a:rPr lang="zh-CN" altLang="en-US" sz="3200" dirty="0">
                <a:solidFill>
                  <a:srgbClr val="000000"/>
                </a:solidFill>
              </a:rPr>
              <a:t>或</a:t>
            </a:r>
            <a:r>
              <a:rPr lang="zh-CN" altLang="en-US" sz="3200" b="1" dirty="0">
                <a:solidFill>
                  <a:schemeClr val="folHlink"/>
                </a:solidFill>
              </a:rPr>
              <a:t>线序关系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  <a:r>
              <a:rPr lang="en-US" altLang="zh-CN" sz="3200" b="1" dirty="0"/>
              <a:t>,</a:t>
            </a:r>
            <a:r>
              <a:rPr lang="zh-CN" altLang="en-US" sz="3200" b="1" dirty="0"/>
              <a:t>且</a:t>
            </a:r>
            <a:r>
              <a:rPr lang="en-US" altLang="zh-CN" sz="3200" b="1" dirty="0"/>
              <a:t>(A,</a:t>
            </a:r>
            <a:r>
              <a:rPr lang="en-US" altLang="zh-CN" sz="3200" dirty="0">
                <a:solidFill>
                  <a:srgbClr val="000000"/>
                </a:solidFill>
              </a:rPr>
              <a:t>≤)</a:t>
            </a:r>
            <a:r>
              <a:rPr lang="zh-CN" altLang="en-US" sz="3200" dirty="0">
                <a:solidFill>
                  <a:srgbClr val="000000"/>
                </a:solidFill>
              </a:rPr>
              <a:t>构成一个</a:t>
            </a:r>
            <a:r>
              <a:rPr lang="zh-CN" altLang="en-US" sz="3200" b="1" dirty="0">
                <a:solidFill>
                  <a:schemeClr val="folHlink"/>
                </a:solidFill>
              </a:rPr>
              <a:t>全序集</a:t>
            </a:r>
            <a:r>
              <a:rPr lang="zh-CN" altLang="en-US" sz="3200" dirty="0">
                <a:solidFill>
                  <a:srgbClr val="000000"/>
                </a:solidFill>
              </a:rPr>
              <a:t>或</a:t>
            </a:r>
            <a:r>
              <a:rPr lang="zh-CN" altLang="en-US" sz="3200" b="1" dirty="0">
                <a:solidFill>
                  <a:schemeClr val="folHlink"/>
                </a:solidFill>
              </a:rPr>
              <a:t>链</a:t>
            </a:r>
            <a:r>
              <a:rPr lang="zh-CN" altLang="en-US" sz="3200" dirty="0">
                <a:solidFill>
                  <a:srgbClr val="000000"/>
                </a:solidFill>
              </a:rPr>
              <a:t>。</a:t>
            </a:r>
            <a:endParaRPr lang="zh-CN" altLang="en-US" sz="32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/>
              <a:t>全序集的哈斯图是一条直线段。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1D33F95E-9AB1-459B-BD03-BC6B4EF66335}" type="slidenum">
              <a:rPr lang="en-US" altLang="zh-CN"/>
            </a:fld>
            <a:endParaRPr lang="en-US" altLang="zh-CN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00049" y="908720"/>
            <a:ext cx="9999910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2.64</a:t>
            </a:r>
            <a:r>
              <a:rPr lang="en-US" altLang="zh-CN" sz="2800" dirty="0"/>
              <a:t>  </a:t>
            </a:r>
            <a:r>
              <a:rPr lang="zh-CN" altLang="en-US" sz="2800" dirty="0"/>
              <a:t>给定</a:t>
            </a:r>
            <a:r>
              <a:rPr lang="en-US" altLang="zh-CN" sz="2800" dirty="0"/>
              <a:t>P={</a:t>
            </a:r>
            <a:r>
              <a:rPr lang="en-US" altLang="zh-CN" sz="2800" dirty="0">
                <a:sym typeface="Symbol" panose="05050102010706020507" pitchFamily="18" charset="2"/>
              </a:rPr>
              <a:t>,{a},{</a:t>
            </a:r>
            <a:r>
              <a:rPr lang="en-US" altLang="zh-CN" sz="2800" dirty="0" err="1"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sym typeface="Symbol" panose="05050102010706020507" pitchFamily="18" charset="2"/>
              </a:rPr>
              <a:t>},{</a:t>
            </a:r>
            <a:r>
              <a:rPr lang="en-US" altLang="zh-CN" sz="2800" dirty="0" err="1">
                <a:sym typeface="Symbol" panose="05050102010706020507" pitchFamily="18" charset="2"/>
              </a:rPr>
              <a:t>a,b,c</a:t>
            </a:r>
            <a:r>
              <a:rPr lang="en-US" altLang="zh-CN" sz="2800" dirty="0">
                <a:sym typeface="Symbol" panose="05050102010706020507" pitchFamily="18" charset="2"/>
              </a:rPr>
              <a:t>}}</a:t>
            </a:r>
            <a:r>
              <a:rPr lang="zh-CN" altLang="en-US" sz="2800" dirty="0">
                <a:sym typeface="Symbol" panose="05050102010706020507" pitchFamily="18" charset="2"/>
              </a:rPr>
              <a:t>上的包含关系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，则（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，）构成全序集。</a:t>
            </a:r>
            <a:endParaRPr lang="zh-CN" altLang="en-US" sz="28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2.65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给定自然数集</a:t>
            </a:r>
            <a:r>
              <a:rPr lang="en-US" altLang="zh-CN" sz="2800" dirty="0"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ym typeface="Symbol" panose="05050102010706020507" pitchFamily="18" charset="2"/>
              </a:rPr>
              <a:t>上的小于等于（≤）关系，则</a:t>
            </a:r>
            <a:r>
              <a:rPr lang="en-US" altLang="zh-CN" sz="2800" dirty="0">
                <a:sym typeface="Symbol" panose="05050102010706020507" pitchFamily="18" charset="2"/>
              </a:rPr>
              <a:t>(N,≤)</a:t>
            </a:r>
            <a:r>
              <a:rPr lang="zh-CN" altLang="en-US" sz="2800" dirty="0">
                <a:sym typeface="Symbol" panose="05050102010706020507" pitchFamily="18" charset="2"/>
              </a:rPr>
              <a:t>构成全序集。</a:t>
            </a:r>
            <a:endParaRPr lang="zh-CN" altLang="en-US" sz="28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8F1C6E97-3B9C-4159-833E-796C26344C7D}" type="slidenum">
              <a:rPr lang="en-US" altLang="zh-CN"/>
            </a:fld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764704"/>
            <a:ext cx="9855894" cy="46831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</a:rPr>
              <a:t>2.31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任一偏序集</a:t>
            </a:r>
            <a:r>
              <a:rPr lang="en-US" altLang="zh-CN" sz="2800" b="1" dirty="0"/>
              <a:t>(A,</a:t>
            </a:r>
            <a:r>
              <a:rPr lang="en-US" altLang="zh-CN" sz="2800" dirty="0">
                <a:solidFill>
                  <a:srgbClr val="000000"/>
                </a:solidFill>
              </a:rPr>
              <a:t>≤)</a:t>
            </a:r>
            <a:r>
              <a:rPr lang="zh-CN" altLang="en-US" sz="2800" dirty="0">
                <a:solidFill>
                  <a:srgbClr val="000000"/>
                </a:solidFill>
              </a:rPr>
              <a:t>，若任意</a:t>
            </a:r>
            <a:r>
              <a:rPr lang="en-US" altLang="zh-CN" sz="2800" dirty="0">
                <a:solidFill>
                  <a:srgbClr val="000000"/>
                </a:solidFill>
              </a:rPr>
              <a:t>S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A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中存在最小元，则称</a:t>
            </a:r>
            <a:r>
              <a:rPr lang="en-US" altLang="zh-CN" sz="2800" b="1" dirty="0"/>
              <a:t>(A,</a:t>
            </a:r>
            <a:r>
              <a:rPr lang="en-US" altLang="zh-CN" sz="2800" dirty="0">
                <a:solidFill>
                  <a:srgbClr val="000000"/>
                </a:solidFill>
              </a:rPr>
              <a:t>≤)</a:t>
            </a:r>
            <a:r>
              <a:rPr lang="zh-CN" altLang="en-US" sz="2800" dirty="0">
                <a:solidFill>
                  <a:srgbClr val="000000"/>
                </a:solidFill>
              </a:rPr>
              <a:t>为</a:t>
            </a:r>
            <a:r>
              <a:rPr lang="zh-CN" altLang="en-US" sz="2800" dirty="0">
                <a:solidFill>
                  <a:srgbClr val="0000FF"/>
                </a:solidFill>
              </a:rPr>
              <a:t>良序集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</a:pP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2.66</a:t>
            </a:r>
            <a:r>
              <a:rPr lang="en-US" altLang="zh-CN" sz="2800" dirty="0"/>
              <a:t> </a:t>
            </a:r>
            <a:r>
              <a:rPr lang="zh-CN" altLang="en-US" sz="2800" dirty="0"/>
              <a:t>给定自然数集</a:t>
            </a:r>
            <a:r>
              <a:rPr lang="en-US" altLang="zh-CN" sz="2800" dirty="0"/>
              <a:t>N</a:t>
            </a:r>
            <a:r>
              <a:rPr lang="zh-CN" altLang="en-US" sz="2800" dirty="0"/>
              <a:t>上的小于等于（≤）关系，则</a:t>
            </a:r>
            <a:r>
              <a:rPr lang="en-US" altLang="zh-CN" sz="2800" dirty="0"/>
              <a:t>(N,≤)</a:t>
            </a:r>
            <a:r>
              <a:rPr lang="zh-CN" altLang="en-US" sz="2800" dirty="0"/>
              <a:t>是良序集合。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D8AE8289-6887-4678-95C7-4813C044923A}" type="slidenum">
              <a:rPr lang="en-US" altLang="zh-CN"/>
            </a:fld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9833" y="871044"/>
            <a:ext cx="10287942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2.23</a:t>
            </a:r>
            <a:r>
              <a:rPr lang="en-US" altLang="zh-CN" sz="2800" dirty="0"/>
              <a:t>  </a:t>
            </a:r>
            <a:r>
              <a:rPr lang="zh-CN" altLang="en-US" sz="2800" dirty="0"/>
              <a:t>每一个良序集一定是全序集。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：设</a:t>
            </a:r>
            <a:r>
              <a:rPr lang="en-US" altLang="zh-CN" sz="2800" dirty="0"/>
              <a:t>(A,</a:t>
            </a:r>
            <a:r>
              <a:rPr lang="en-US" altLang="zh-CN" sz="2800" dirty="0">
                <a:solidFill>
                  <a:srgbClr val="000000"/>
                </a:solidFill>
              </a:rPr>
              <a:t>≤)</a:t>
            </a:r>
            <a:r>
              <a:rPr lang="zh-CN" altLang="en-US" sz="2800" dirty="0">
                <a:solidFill>
                  <a:srgbClr val="000000"/>
                </a:solidFill>
              </a:rPr>
              <a:t>是良序集，则对任意</a:t>
            </a:r>
            <a:r>
              <a:rPr lang="en-US" altLang="zh-CN" sz="2800" dirty="0" err="1">
                <a:solidFill>
                  <a:srgbClr val="000000"/>
                </a:solidFill>
              </a:rPr>
              <a:t>a,b∈A</a:t>
            </a:r>
            <a:r>
              <a:rPr lang="zh-CN" altLang="en-US" sz="2800" dirty="0">
                <a:solidFill>
                  <a:srgbClr val="000000"/>
                </a:solidFill>
              </a:rPr>
              <a:t>构成的一定存在最小元</a:t>
            </a:r>
            <a:r>
              <a:rPr lang="en-US" altLang="zh-CN" sz="2800" dirty="0">
                <a:solidFill>
                  <a:srgbClr val="000000"/>
                </a:solidFill>
              </a:rPr>
              <a:t>,</a:t>
            </a:r>
            <a:r>
              <a:rPr lang="zh-CN" altLang="en-US" sz="2800" dirty="0">
                <a:solidFill>
                  <a:srgbClr val="000000"/>
                </a:solidFill>
              </a:rPr>
              <a:t>该最小元不是</a:t>
            </a:r>
            <a:r>
              <a:rPr lang="en-US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就是</a:t>
            </a:r>
            <a:r>
              <a:rPr lang="en-US" altLang="zh-CN" sz="2800" dirty="0">
                <a:solidFill>
                  <a:srgbClr val="000000"/>
                </a:solidFill>
              </a:rPr>
              <a:t>b</a:t>
            </a:r>
            <a:r>
              <a:rPr lang="zh-CN" altLang="en-US" sz="2800" dirty="0">
                <a:solidFill>
                  <a:srgbClr val="000000"/>
                </a:solidFill>
              </a:rPr>
              <a:t>，因此一定满足</a:t>
            </a:r>
            <a:r>
              <a:rPr lang="en-US" altLang="zh-CN" sz="2800" dirty="0" err="1">
                <a:solidFill>
                  <a:srgbClr val="000000"/>
                </a:solidFill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</a:rPr>
              <a:t>或</a:t>
            </a:r>
            <a:r>
              <a:rPr lang="en-US" altLang="zh-CN" sz="2800" dirty="0" err="1">
                <a:solidFill>
                  <a:srgbClr val="000000"/>
                </a:solidFill>
              </a:rPr>
              <a:t>b≤a</a:t>
            </a:r>
            <a:r>
              <a:rPr lang="zh-CN" altLang="en-US" sz="2800" dirty="0">
                <a:solidFill>
                  <a:srgbClr val="000000"/>
                </a:solidFill>
              </a:rPr>
              <a:t>。所以</a:t>
            </a:r>
            <a:r>
              <a:rPr lang="en-US" altLang="zh-CN" sz="2800" dirty="0"/>
              <a:t>(A,</a:t>
            </a:r>
            <a:r>
              <a:rPr lang="en-US" altLang="zh-CN" sz="2800" dirty="0">
                <a:solidFill>
                  <a:srgbClr val="000000"/>
                </a:solidFill>
              </a:rPr>
              <a:t>≤)</a:t>
            </a:r>
            <a:r>
              <a:rPr lang="zh-CN" altLang="en-US" sz="2800" dirty="0">
                <a:solidFill>
                  <a:srgbClr val="000000"/>
                </a:solidFill>
              </a:rPr>
              <a:t>是全序集。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</a:rPr>
              <a:t>然而</a:t>
            </a:r>
            <a:r>
              <a:rPr lang="zh-CN" altLang="en-US" sz="2800" dirty="0">
                <a:solidFill>
                  <a:srgbClr val="000000"/>
                </a:solidFill>
              </a:rPr>
              <a:t>全序集不一定是良序集。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84225" y="4437112"/>
            <a:ext cx="11143920" cy="1440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2.67 </a:t>
            </a:r>
            <a:r>
              <a:rPr lang="zh-CN" altLang="en-US" dirty="0"/>
              <a:t>给定整数集</a:t>
            </a:r>
            <a:r>
              <a:rPr lang="en-US" altLang="zh-CN" dirty="0"/>
              <a:t>Z</a:t>
            </a:r>
            <a:r>
              <a:rPr lang="zh-CN" altLang="en-US" dirty="0"/>
              <a:t>上的小于等于（≤）关系，则</a:t>
            </a:r>
            <a:r>
              <a:rPr lang="en-US" altLang="zh-CN" dirty="0"/>
              <a:t>(Z,≤)</a:t>
            </a:r>
            <a:r>
              <a:rPr lang="zh-CN" altLang="en-US" dirty="0"/>
              <a:t>构成全序集。但因为在整数集上不存在最小元，所以该偏序集不是良序集。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11407775" y="6453188"/>
            <a:ext cx="784225" cy="228600"/>
          </a:xfrm>
        </p:spPr>
        <p:txBody>
          <a:bodyPr/>
          <a:lstStyle/>
          <a:p>
            <a:fld id="{3DAD8AE1-9C39-4C8F-BAFA-3FEA8B64E117}" type="slidenum">
              <a:rPr lang="en-US" altLang="zh-CN"/>
            </a:fld>
            <a:endParaRPr lang="en-US" altLang="zh-CN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7488" y="836712"/>
            <a:ext cx="10143926" cy="4683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2.24</a:t>
            </a:r>
            <a:r>
              <a:rPr lang="en-US" altLang="zh-CN" sz="2800" dirty="0"/>
              <a:t>  </a:t>
            </a:r>
            <a:r>
              <a:rPr lang="zh-CN" altLang="en-US" sz="2800" dirty="0"/>
              <a:t>每一个</a:t>
            </a:r>
            <a:r>
              <a:rPr lang="zh-CN" altLang="en-US" sz="2800" dirty="0">
                <a:solidFill>
                  <a:schemeClr val="hlink"/>
                </a:solidFill>
              </a:rPr>
              <a:t>有限</a:t>
            </a:r>
            <a:r>
              <a:rPr lang="zh-CN" altLang="en-US" sz="2800" dirty="0"/>
              <a:t>的全序集一定是良序集。</a:t>
            </a: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证明</a:t>
            </a:r>
            <a:r>
              <a:rPr lang="zh-CN" altLang="en-US" sz="2800" dirty="0"/>
              <a:t>：证明： 设</a:t>
            </a:r>
            <a:r>
              <a:rPr lang="en-US" altLang="zh-CN" sz="2800" dirty="0"/>
              <a:t>(A,≤)</a:t>
            </a:r>
            <a:r>
              <a:rPr lang="zh-CN" altLang="en-US" sz="2800" dirty="0"/>
              <a:t>是任一有限全序集，</a:t>
            </a:r>
            <a:r>
              <a:rPr lang="en-US" altLang="zh-CN" sz="2800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</a:t>
            </a:r>
            <a:r>
              <a:rPr lang="zh-CN" altLang="en-US" sz="2800" dirty="0"/>
              <a:t>为任一非空子集，则</a:t>
            </a:r>
            <a:r>
              <a:rPr lang="en-US" altLang="zh-CN" sz="2800" dirty="0"/>
              <a:t>B</a:t>
            </a:r>
            <a:r>
              <a:rPr lang="zh-CN" altLang="en-US" sz="2800" dirty="0"/>
              <a:t>也是全序集。设</a:t>
            </a:r>
            <a:r>
              <a:rPr lang="en-US" altLang="zh-CN" sz="2800" dirty="0"/>
              <a:t>B</a:t>
            </a:r>
            <a:r>
              <a:rPr lang="zh-CN" altLang="en-US" sz="2800" dirty="0"/>
              <a:t>中有</a:t>
            </a:r>
            <a:r>
              <a:rPr lang="en-US" altLang="zh-CN" sz="2800" dirty="0"/>
              <a:t>n</a:t>
            </a:r>
            <a:r>
              <a:rPr lang="zh-CN" altLang="en-US" sz="2800" dirty="0"/>
              <a:t>个元素，将</a:t>
            </a:r>
            <a:r>
              <a:rPr lang="en-US" altLang="zh-CN" sz="2800" dirty="0"/>
              <a:t>B</a:t>
            </a:r>
            <a:r>
              <a:rPr lang="zh-CN" altLang="en-US" sz="2800" dirty="0"/>
              <a:t>中的元素依次进行比较，找出最小的那个元素，则最多进行</a:t>
            </a:r>
            <a:r>
              <a:rPr lang="en-US" altLang="zh-CN" sz="2800" dirty="0">
                <a:solidFill>
                  <a:srgbClr val="000000"/>
                </a:solidFill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</a:rPr>
              <a:t>2</a:t>
            </a:r>
            <a:r>
              <a:rPr lang="zh-CN" altLang="en-US" sz="2800" dirty="0"/>
              <a:t>次比较，即可找出最小元，因此</a:t>
            </a:r>
            <a:r>
              <a:rPr lang="en-US" altLang="zh-CN" sz="2800" dirty="0"/>
              <a:t>(A,≤)</a:t>
            </a:r>
            <a:r>
              <a:rPr lang="zh-CN" altLang="en-US" sz="2800" dirty="0"/>
              <a:t>是良序。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Object 4"/>
          <p:cNvGraphicFramePr/>
          <p:nvPr/>
        </p:nvGraphicFramePr>
        <p:xfrm>
          <a:off x="3719736" y="1268760"/>
          <a:ext cx="3636541" cy="3632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Clip" r:id="rId1" imgW="7833360" imgH="7839075" progId="MS_ClipArt_Gallery.2">
                  <p:embed/>
                </p:oleObj>
              </mc:Choice>
              <mc:Fallback>
                <p:oleObj name="Clip" r:id="rId1" imgW="7833360" imgH="7839075" progId="MS_ClipArt_Gallery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1268760"/>
                        <a:ext cx="3636541" cy="3632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75520" y="5137153"/>
            <a:ext cx="8077200" cy="12192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5F5F5F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7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Thank you !!!</a:t>
            </a:r>
            <a:endParaRPr lang="en-US" alt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24472</Words>
  <Application>WPS 演示</Application>
  <PresentationFormat>宽屏</PresentationFormat>
  <Paragraphs>1207</Paragraphs>
  <Slides>134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34</vt:i4>
      </vt:variant>
      <vt:variant>
        <vt:lpstr>幻灯片标题</vt:lpstr>
      </vt:variant>
      <vt:variant>
        <vt:i4>134</vt:i4>
      </vt:variant>
    </vt:vector>
  </HeadingPairs>
  <TitlesOfParts>
    <vt:vector size="184" baseType="lpstr">
      <vt:lpstr>Arial</vt:lpstr>
      <vt:lpstr>宋体</vt:lpstr>
      <vt:lpstr>Wingdings</vt:lpstr>
      <vt:lpstr>微软雅黑</vt:lpstr>
      <vt:lpstr>Times New Roman</vt:lpstr>
      <vt:lpstr>Symbol</vt:lpstr>
      <vt:lpstr>Arial Unicode MS</vt:lpstr>
      <vt:lpstr>等线 Light</vt:lpstr>
      <vt:lpstr>Gill Sans MT</vt:lpstr>
      <vt:lpstr>等线</vt:lpstr>
      <vt:lpstr>Calibri</vt:lpstr>
      <vt:lpstr>Verdana</vt:lpstr>
      <vt:lpstr>Tahoma</vt:lpstr>
      <vt:lpstr>楷体</vt:lpstr>
      <vt:lpstr>Cambria Math</vt:lpstr>
      <vt:lpstr>画廊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例2.3 设A={1,2,3}, B={a,b}，求A×B。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关系的表示方法 </vt:lpstr>
      <vt:lpstr>PowerPoint 演示文稿</vt:lpstr>
      <vt:lpstr>PowerPoint 演示文稿</vt:lpstr>
      <vt:lpstr>3.用关系矩阵表示关系</vt:lpstr>
      <vt:lpstr>PowerPoint 演示文稿</vt:lpstr>
      <vt:lpstr> 4.用关系图表示二元关系 </vt:lpstr>
      <vt:lpstr>PowerPoint 演示文稿</vt:lpstr>
      <vt:lpstr>2.3 关系的运算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合成关系</vt:lpstr>
      <vt:lpstr>PowerPoint 演示文稿</vt:lpstr>
      <vt:lpstr>PowerPoint 演示文稿</vt:lpstr>
      <vt:lpstr>PowerPoint 演示文稿</vt:lpstr>
      <vt:lpstr>定理2.4  R为定义在集合A上的关系,则R·IA=IA·R=R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2.4关系的性质</vt:lpstr>
      <vt:lpstr>自反、反自反</vt:lpstr>
      <vt:lpstr>PowerPoint 演示文稿</vt:lpstr>
      <vt:lpstr>PowerPoint 演示文稿</vt:lpstr>
      <vt:lpstr>定理2.6 设R是定义在集合A上的二元关系，R是自反的当且仅当IA R。</vt:lpstr>
      <vt:lpstr>定理2.7 设R是定义在集合A上的二元关系，R是反自反的当且仅当R∩IA=。</vt:lpstr>
      <vt:lpstr>对称、反对称</vt:lpstr>
      <vt:lpstr>PowerPoint 演示文稿</vt:lpstr>
      <vt:lpstr>定理2.8 设R是A上的二元关系，R是对称的当且仅当R=R-1。</vt:lpstr>
      <vt:lpstr>定理2.9 设R是A上的二元关系，R是反对称的当且仅当R∩R-1IA。</vt:lpstr>
      <vt:lpstr>传递</vt:lpstr>
      <vt:lpstr>PowerPoint 演示文稿</vt:lpstr>
      <vt:lpstr>定理2.10 设R是集合A上的二元关系，则R是传递的当且仅当R.RR </vt:lpstr>
      <vt:lpstr>2.4.2关系性质的证明</vt:lpstr>
      <vt:lpstr>例2.30设R1，R2是定义在集合A上的两个关系，并且R1，R2具有传递性，则R1∩R2也具有传递性。</vt:lpstr>
      <vt:lpstr>关系性质与集合运算</vt:lpstr>
      <vt:lpstr>2.5关系的闭包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2.6等价关系与划分</vt:lpstr>
      <vt:lpstr>2.6.1等价关系</vt:lpstr>
      <vt:lpstr>PowerPoint 演示文稿</vt:lpstr>
      <vt:lpstr>例2.38设关系R是定义在有理数集Q上的关系，并且(x,y)∈R，当且仅当x-y是整数，试证R是等价关系。</vt:lpstr>
      <vt:lpstr>PowerPoint 演示文稿</vt:lpstr>
      <vt:lpstr>PowerPoint 演示文稿</vt:lpstr>
      <vt:lpstr>定理2.16 设R是定义在集合A上的关系，则R为等价关系R * R-1=R。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2.6.2 集合的划分</vt:lpstr>
      <vt:lpstr>PowerPoint 演示文稿</vt:lpstr>
      <vt:lpstr>细分、真细分</vt:lpstr>
      <vt:lpstr>PowerPoint 演示文稿</vt:lpstr>
      <vt:lpstr>最大划分、最小划分、交叉划分</vt:lpstr>
      <vt:lpstr>最大划分、最小划分、交叉划分</vt:lpstr>
      <vt:lpstr>PowerPoint 演示文稿</vt:lpstr>
      <vt:lpstr>PowerPoint 演示文稿</vt:lpstr>
      <vt:lpstr>PowerPoint 演示文稿</vt:lpstr>
      <vt:lpstr>2.6.3 划分与等价关系</vt:lpstr>
      <vt:lpstr>例2.49设集合A={1,2,3},求出A上所有的等价关系。</vt:lpstr>
      <vt:lpstr>PowerPoint 演示文稿</vt:lpstr>
      <vt:lpstr>PowerPoint 演示文稿</vt:lpstr>
      <vt:lpstr>定理2.20 划分个数=</vt:lpstr>
      <vt:lpstr>定理2.21 :设π是集合A的划分，R是A上等价关系，那么，对应π的等价关系为R，当且仅当R对应的划分为π。 </vt:lpstr>
      <vt:lpstr>PowerPoint 演示文稿</vt:lpstr>
      <vt:lpstr>2.7 偏序关系</vt:lpstr>
      <vt:lpstr>2.7.1 偏序的定义及表示</vt:lpstr>
      <vt:lpstr>PowerPoint 演示文稿</vt:lpstr>
      <vt:lpstr>PowerPoint 演示文稿</vt:lpstr>
      <vt:lpstr>PowerPoint 演示文稿</vt:lpstr>
      <vt:lpstr>哈斯图</vt:lpstr>
      <vt:lpstr>例2.56  A={1,2,3,4,5,6,7,8,9},偏序关系是A的整除“|”，画出偏序集(A,|)的哈斯图。</vt:lpstr>
      <vt:lpstr>例2.57  已知偏序集(R,≤)的哈斯图如图2.4所示， 求集合A的偏序关系≤。</vt:lpstr>
      <vt:lpstr>2.7.2 偏序集中的特殊元素</vt:lpstr>
      <vt:lpstr>PowerPoint 演示文稿</vt:lpstr>
      <vt:lpstr>PowerPoint 演示文稿</vt:lpstr>
      <vt:lpstr>结论：</vt:lpstr>
      <vt:lpstr>2.7.3 全序和良序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WPS_1644672902</cp:lastModifiedBy>
  <cp:revision>573</cp:revision>
  <dcterms:created xsi:type="dcterms:W3CDTF">2014-06-18T03:25:00Z</dcterms:created>
  <dcterms:modified xsi:type="dcterms:W3CDTF">2026-03-13T08:55:55Z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A2D561B17B1449ACB48159FC05E884AE_12</vt:lpwstr>
  </property>
</Properties>
</file>