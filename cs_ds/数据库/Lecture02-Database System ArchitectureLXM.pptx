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80"/>
  </p:handoutMasterIdLst>
  <p:sldIdLst>
    <p:sldId id="260" r:id="rId3"/>
    <p:sldId id="315" r:id="rId5"/>
    <p:sldId id="263" r:id="rId6"/>
    <p:sldId id="264" r:id="rId7"/>
    <p:sldId id="265" r:id="rId8"/>
    <p:sldId id="266" r:id="rId9"/>
    <p:sldId id="353" r:id="rId10"/>
    <p:sldId id="326" r:id="rId11"/>
    <p:sldId id="333" r:id="rId12"/>
    <p:sldId id="334" r:id="rId13"/>
    <p:sldId id="327" r:id="rId14"/>
    <p:sldId id="329" r:id="rId15"/>
    <p:sldId id="328" r:id="rId16"/>
    <p:sldId id="330" r:id="rId17"/>
    <p:sldId id="331" r:id="rId18"/>
    <p:sldId id="332" r:id="rId19"/>
    <p:sldId id="345" r:id="rId20"/>
    <p:sldId id="268" r:id="rId21"/>
    <p:sldId id="320" r:id="rId22"/>
    <p:sldId id="336" r:id="rId23"/>
    <p:sldId id="337" r:id="rId24"/>
    <p:sldId id="338" r:id="rId25"/>
    <p:sldId id="339" r:id="rId26"/>
    <p:sldId id="341" r:id="rId27"/>
    <p:sldId id="342" r:id="rId28"/>
    <p:sldId id="343" r:id="rId29"/>
    <p:sldId id="344" r:id="rId30"/>
    <p:sldId id="316" r:id="rId31"/>
    <p:sldId id="269" r:id="rId32"/>
    <p:sldId id="270" r:id="rId33"/>
    <p:sldId id="271" r:id="rId34"/>
    <p:sldId id="272" r:id="rId35"/>
    <p:sldId id="273" r:id="rId36"/>
    <p:sldId id="274" r:id="rId37"/>
    <p:sldId id="347" r:id="rId38"/>
    <p:sldId id="348" r:id="rId39"/>
    <p:sldId id="349" r:id="rId40"/>
    <p:sldId id="350" r:id="rId41"/>
    <p:sldId id="351" r:id="rId42"/>
    <p:sldId id="352" r:id="rId43"/>
    <p:sldId id="275" r:id="rId44"/>
    <p:sldId id="301" r:id="rId45"/>
    <p:sldId id="302" r:id="rId46"/>
    <p:sldId id="303" r:id="rId47"/>
    <p:sldId id="276" r:id="rId48"/>
    <p:sldId id="277" r:id="rId49"/>
    <p:sldId id="305" r:id="rId50"/>
    <p:sldId id="306" r:id="rId51"/>
    <p:sldId id="278" r:id="rId52"/>
    <p:sldId id="280" r:id="rId53"/>
    <p:sldId id="281" r:id="rId54"/>
    <p:sldId id="317" r:id="rId55"/>
    <p:sldId id="318" r:id="rId56"/>
    <p:sldId id="282" r:id="rId57"/>
    <p:sldId id="283" r:id="rId58"/>
    <p:sldId id="284" r:id="rId59"/>
    <p:sldId id="323" r:id="rId60"/>
    <p:sldId id="324" r:id="rId61"/>
    <p:sldId id="321" r:id="rId62"/>
    <p:sldId id="322" r:id="rId63"/>
    <p:sldId id="325" r:id="rId64"/>
    <p:sldId id="285" r:id="rId65"/>
    <p:sldId id="286" r:id="rId66"/>
    <p:sldId id="287" r:id="rId67"/>
    <p:sldId id="291" r:id="rId68"/>
    <p:sldId id="289" r:id="rId69"/>
    <p:sldId id="292" r:id="rId70"/>
    <p:sldId id="293" r:id="rId71"/>
    <p:sldId id="294" r:id="rId72"/>
    <p:sldId id="295" r:id="rId73"/>
    <p:sldId id="296" r:id="rId74"/>
    <p:sldId id="297" r:id="rId75"/>
    <p:sldId id="298" r:id="rId76"/>
    <p:sldId id="299" r:id="rId77"/>
    <p:sldId id="300" r:id="rId78"/>
    <p:sldId id="314" r:id="rId79"/>
  </p:sldIdLst>
  <p:sldSz cx="9906000" cy="6858000" type="A4"/>
  <p:notesSz cx="6642100" cy="9779000"/>
  <p:kinsoku lang="zh-CN" invalStChars="、。，．・：；？！゛゜ヽヾゝゞ々ー’”）〕］｝〉》」』】°‰′″℃￠％ぁぃぅぇぉっゃゅょゎァィゥェォッャュョヮヵヶ!%),.:;?]}｡｣､･ｧｨｩｪｫｬｭｮｯｰﾞﾟ" invalEndChars="‘“（〔［｛〈《「『【￥＄$([\{｢￡"/>
  <p:defaultTextStyle>
    <a:defPPr>
      <a:defRPr lang="en-GB"/>
    </a:defPPr>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99CCFF"/>
    <a:srgbClr val="0033CC"/>
    <a:srgbClr val="009900"/>
    <a:srgbClr val="33CC33"/>
    <a:srgbClr val="000099"/>
    <a:srgbClr val="CCFF99"/>
    <a:srgbClr val="FFC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napToGrid="0" showGuides="1">
      <p:cViewPr varScale="1">
        <p:scale>
          <a:sx n="69" d="100"/>
          <a:sy n="69" d="100"/>
        </p:scale>
        <p:origin x="1032" y="4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35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2642" name="Rectangle 2"/>
          <p:cNvSpPr>
            <a:spLocks noChangeArrowheads="1"/>
          </p:cNvSpPr>
          <p:nvPr/>
        </p:nvSpPr>
        <p:spPr bwMode="auto">
          <a:xfrm>
            <a:off x="2992438" y="9259888"/>
            <a:ext cx="771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ctr" defTabSz="914400" rtl="0" eaLnBrk="0" fontAlgn="base" latinLnBrk="0" hangingPunct="0">
              <a:lnSpc>
                <a:spcPct val="90000"/>
              </a:lnSpc>
              <a:spcBef>
                <a:spcPct val="50000"/>
              </a:spcBef>
              <a:spcAft>
                <a:spcPct val="0"/>
              </a:spcAft>
              <a:buClrTx/>
              <a:buSzTx/>
              <a:buFontTx/>
              <a:buNone/>
              <a:defRPr/>
            </a:pPr>
            <a:fld id="{C73F0B9A-939E-4BE2-AE34-5DB440B92BEF}" type="slidenum">
              <a:rPr kumimoji="0" lang="zh-CN" alt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fld>
            <a:endParaRPr kumimoji="0" lang="zh-CN" alt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TextEdit="1"/>
          </p:cNvSpPr>
          <p:nvPr>
            <p:ph type="sldImg" idx="2"/>
          </p:nvPr>
        </p:nvSpPr>
        <p:spPr>
          <a:xfrm>
            <a:off x="857250" y="755650"/>
            <a:ext cx="4940300" cy="3397250"/>
          </a:xfrm>
          <a:prstGeom prst="rect">
            <a:avLst/>
          </a:prstGeom>
          <a:noFill/>
          <a:ln w="12700">
            <a:noFill/>
          </a:ln>
        </p:spPr>
      </p:sp>
    </p:spTree>
  </p:cSld>
  <p:clrMap bg1="lt1" tx1="dk1" bg2="lt2" tx2="dk2" accent1="accent1" accent2="accent2" accent3="accent3" accent4="accent4" accent5="accent5" accent6="accent6" hlink="hlink" folHlink="folHlink"/>
  <p:hf sldNum="0" hdr="0" ftr="0" dt="0"/>
  <p:notesStyle>
    <a:lvl1pPr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TextEdit="1"/>
          </p:cNvSpPr>
          <p:nvPr>
            <p:ph type="sldImg"/>
          </p:nvPr>
        </p:nvSpPr>
        <p:spPr>
          <a:xfrm>
            <a:off x="873125" y="755650"/>
            <a:ext cx="4908550" cy="3397250"/>
          </a:xfrm>
          <a:ln/>
        </p:spPr>
      </p:sp>
      <p:sp>
        <p:nvSpPr>
          <p:cNvPr id="512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TextEdit="1"/>
          </p:cNvSpPr>
          <p:nvPr>
            <p:ph type="sldImg"/>
          </p:nvPr>
        </p:nvSpPr>
        <p:spPr>
          <a:xfrm>
            <a:off x="873125" y="755650"/>
            <a:ext cx="4908550" cy="3397250"/>
          </a:xfrm>
          <a:ln/>
        </p:spPr>
      </p:sp>
      <p:sp>
        <p:nvSpPr>
          <p:cNvPr id="717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TextEdit="1"/>
          </p:cNvSpPr>
          <p:nvPr>
            <p:ph type="sldImg"/>
          </p:nvPr>
        </p:nvSpPr>
        <p:spPr>
          <a:xfrm>
            <a:off x="873125" y="755650"/>
            <a:ext cx="4908550" cy="3397250"/>
          </a:xfrm>
          <a:ln/>
        </p:spPr>
      </p:sp>
      <p:sp>
        <p:nvSpPr>
          <p:cNvPr id="921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TextEdit="1"/>
          </p:cNvSpPr>
          <p:nvPr>
            <p:ph type="sldImg"/>
          </p:nvPr>
        </p:nvSpPr>
        <p:spPr>
          <a:xfrm>
            <a:off x="873125" y="755650"/>
            <a:ext cx="4908550" cy="3397250"/>
          </a:xfrm>
          <a:ln/>
        </p:spPr>
      </p:sp>
      <p:sp>
        <p:nvSpPr>
          <p:cNvPr id="1126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TextEdit="1"/>
          </p:cNvSpPr>
          <p:nvPr>
            <p:ph type="sldImg"/>
          </p:nvPr>
        </p:nvSpPr>
        <p:spPr>
          <a:xfrm>
            <a:off x="873125" y="755650"/>
            <a:ext cx="4908550" cy="3397250"/>
          </a:xfrm>
          <a:ln/>
        </p:spPr>
      </p:sp>
      <p:sp>
        <p:nvSpPr>
          <p:cNvPr id="1331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TextEdit="1"/>
          </p:cNvSpPr>
          <p:nvPr>
            <p:ph type="sldImg"/>
          </p:nvPr>
        </p:nvSpPr>
        <p:spPr>
          <a:xfrm>
            <a:off x="873125" y="755650"/>
            <a:ext cx="4908550" cy="3397250"/>
          </a:xfrm>
          <a:ln/>
        </p:spPr>
      </p:sp>
      <p:sp>
        <p:nvSpPr>
          <p:cNvPr id="1536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TextEdit="1"/>
          </p:cNvSpPr>
          <p:nvPr>
            <p:ph type="sldImg"/>
          </p:nvPr>
        </p:nvSpPr>
        <p:spPr>
          <a:xfrm>
            <a:off x="873125" y="755650"/>
            <a:ext cx="4908550" cy="3397250"/>
          </a:xfrm>
          <a:ln/>
        </p:spPr>
      </p:sp>
      <p:sp>
        <p:nvSpPr>
          <p:cNvPr id="1741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TextEdit="1"/>
          </p:cNvSpPr>
          <p:nvPr>
            <p:ph type="sldImg"/>
          </p:nvPr>
        </p:nvSpPr>
        <p:spPr>
          <a:xfrm>
            <a:off x="873125" y="755650"/>
            <a:ext cx="4908550" cy="3397250"/>
          </a:xfrm>
          <a:ln/>
        </p:spPr>
      </p:sp>
      <p:sp>
        <p:nvSpPr>
          <p:cNvPr id="2969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TextEdit="1"/>
          </p:cNvSpPr>
          <p:nvPr>
            <p:ph type="sldImg"/>
          </p:nvPr>
        </p:nvSpPr>
        <p:spPr>
          <a:xfrm>
            <a:off x="873125" y="755650"/>
            <a:ext cx="4908550" cy="3397250"/>
          </a:xfrm>
          <a:ln/>
        </p:spPr>
      </p:sp>
      <p:sp>
        <p:nvSpPr>
          <p:cNvPr id="4096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TextEdit="1"/>
          </p:cNvSpPr>
          <p:nvPr>
            <p:ph type="sldImg"/>
          </p:nvPr>
        </p:nvSpPr>
        <p:spPr>
          <a:xfrm>
            <a:off x="873125" y="755650"/>
            <a:ext cx="4908550" cy="3397250"/>
          </a:xfrm>
          <a:ln/>
        </p:spPr>
      </p:sp>
      <p:sp>
        <p:nvSpPr>
          <p:cNvPr id="4301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TextEdit="1"/>
          </p:cNvSpPr>
          <p:nvPr>
            <p:ph type="sldImg"/>
          </p:nvPr>
        </p:nvSpPr>
        <p:spPr>
          <a:xfrm>
            <a:off x="873125" y="755650"/>
            <a:ext cx="4908550" cy="3397250"/>
          </a:xfrm>
          <a:ln/>
        </p:spPr>
      </p:sp>
      <p:sp>
        <p:nvSpPr>
          <p:cNvPr id="4505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TextEdit="1"/>
          </p:cNvSpPr>
          <p:nvPr>
            <p:ph type="sldImg"/>
          </p:nvPr>
        </p:nvSpPr>
        <p:spPr>
          <a:xfrm>
            <a:off x="873125" y="755650"/>
            <a:ext cx="4908550" cy="3397250"/>
          </a:xfrm>
          <a:ln/>
        </p:spPr>
      </p:sp>
      <p:sp>
        <p:nvSpPr>
          <p:cNvPr id="4710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TextEdit="1"/>
          </p:cNvSpPr>
          <p:nvPr>
            <p:ph type="sldImg"/>
          </p:nvPr>
        </p:nvSpPr>
        <p:spPr>
          <a:xfrm>
            <a:off x="873125" y="755650"/>
            <a:ext cx="4908550" cy="3397250"/>
          </a:xfrm>
          <a:ln/>
        </p:spPr>
      </p:sp>
      <p:sp>
        <p:nvSpPr>
          <p:cNvPr id="4915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TextEdit="1"/>
          </p:cNvSpPr>
          <p:nvPr>
            <p:ph type="sldImg"/>
          </p:nvPr>
        </p:nvSpPr>
        <p:spPr>
          <a:xfrm>
            <a:off x="873125" y="755650"/>
            <a:ext cx="4908550" cy="3397250"/>
          </a:xfrm>
          <a:ln/>
        </p:spPr>
      </p:sp>
      <p:sp>
        <p:nvSpPr>
          <p:cNvPr id="5120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050"/>
          <p:cNvSpPr>
            <a:spLocks noTextEdit="1"/>
          </p:cNvSpPr>
          <p:nvPr>
            <p:ph type="sldImg"/>
          </p:nvPr>
        </p:nvSpPr>
        <p:spPr>
          <a:xfrm>
            <a:off x="873125" y="755650"/>
            <a:ext cx="4908550" cy="3397250"/>
          </a:xfrm>
          <a:ln/>
        </p:spPr>
      </p:sp>
      <p:sp>
        <p:nvSpPr>
          <p:cNvPr id="53251" name="Rectangle 2051"/>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TextEdit="1"/>
          </p:cNvSpPr>
          <p:nvPr>
            <p:ph type="sldImg"/>
          </p:nvPr>
        </p:nvSpPr>
        <p:spPr>
          <a:xfrm>
            <a:off x="873125" y="755650"/>
            <a:ext cx="4908550" cy="3397250"/>
          </a:xfrm>
          <a:ln/>
        </p:spPr>
      </p:sp>
      <p:sp>
        <p:nvSpPr>
          <p:cNvPr id="6144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TextEdit="1"/>
          </p:cNvSpPr>
          <p:nvPr>
            <p:ph type="sldImg"/>
          </p:nvPr>
        </p:nvSpPr>
        <p:spPr>
          <a:xfrm>
            <a:off x="873125" y="755650"/>
            <a:ext cx="4908550" cy="3397250"/>
          </a:xfrm>
          <a:ln/>
        </p:spPr>
      </p:sp>
      <p:sp>
        <p:nvSpPr>
          <p:cNvPr id="6349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TextEdit="1"/>
          </p:cNvSpPr>
          <p:nvPr>
            <p:ph type="sldImg"/>
          </p:nvPr>
        </p:nvSpPr>
        <p:spPr>
          <a:xfrm>
            <a:off x="873125" y="755650"/>
            <a:ext cx="4908550" cy="3397250"/>
          </a:xfrm>
          <a:ln/>
        </p:spPr>
      </p:sp>
      <p:sp>
        <p:nvSpPr>
          <p:cNvPr id="6553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TextEdit="1"/>
          </p:cNvSpPr>
          <p:nvPr>
            <p:ph type="sldImg"/>
          </p:nvPr>
        </p:nvSpPr>
        <p:spPr>
          <a:xfrm>
            <a:off x="873125" y="755650"/>
            <a:ext cx="4908550" cy="3397250"/>
          </a:xfrm>
          <a:ln/>
        </p:spPr>
      </p:sp>
      <p:sp>
        <p:nvSpPr>
          <p:cNvPr id="6758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TextEdit="1"/>
          </p:cNvSpPr>
          <p:nvPr>
            <p:ph type="sldImg"/>
          </p:nvPr>
        </p:nvSpPr>
        <p:spPr>
          <a:xfrm>
            <a:off x="873125" y="755650"/>
            <a:ext cx="4908550" cy="3397250"/>
          </a:xfrm>
          <a:ln/>
        </p:spPr>
      </p:sp>
      <p:sp>
        <p:nvSpPr>
          <p:cNvPr id="6963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TextEdit="1"/>
          </p:cNvSpPr>
          <p:nvPr>
            <p:ph type="sldImg"/>
          </p:nvPr>
        </p:nvSpPr>
        <p:spPr>
          <a:xfrm>
            <a:off x="873125" y="755650"/>
            <a:ext cx="4908550" cy="3397250"/>
          </a:xfrm>
          <a:ln/>
        </p:spPr>
      </p:sp>
      <p:sp>
        <p:nvSpPr>
          <p:cNvPr id="7168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TextEdit="1"/>
          </p:cNvSpPr>
          <p:nvPr>
            <p:ph type="sldImg"/>
          </p:nvPr>
        </p:nvSpPr>
        <p:spPr>
          <a:xfrm>
            <a:off x="873125" y="755650"/>
            <a:ext cx="4908550" cy="3397250"/>
          </a:xfrm>
          <a:ln/>
        </p:spPr>
      </p:sp>
      <p:sp>
        <p:nvSpPr>
          <p:cNvPr id="7373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TextEdit="1"/>
          </p:cNvSpPr>
          <p:nvPr>
            <p:ph type="sldImg"/>
          </p:nvPr>
        </p:nvSpPr>
        <p:spPr>
          <a:xfrm>
            <a:off x="873125" y="755650"/>
            <a:ext cx="4908550" cy="3397250"/>
          </a:xfrm>
          <a:ln/>
        </p:spPr>
      </p:sp>
      <p:sp>
        <p:nvSpPr>
          <p:cNvPr id="7577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TextEdit="1"/>
          </p:cNvSpPr>
          <p:nvPr>
            <p:ph type="sldImg"/>
          </p:nvPr>
        </p:nvSpPr>
        <p:spPr>
          <a:xfrm>
            <a:off x="873125" y="755650"/>
            <a:ext cx="4908550" cy="3397250"/>
          </a:xfrm>
          <a:ln/>
        </p:spPr>
      </p:sp>
      <p:sp>
        <p:nvSpPr>
          <p:cNvPr id="7782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TextEdit="1"/>
          </p:cNvSpPr>
          <p:nvPr>
            <p:ph type="sldImg"/>
          </p:nvPr>
        </p:nvSpPr>
        <p:spPr>
          <a:xfrm>
            <a:off x="873125" y="755650"/>
            <a:ext cx="4908550" cy="3397250"/>
          </a:xfrm>
          <a:ln/>
        </p:spPr>
      </p:sp>
      <p:sp>
        <p:nvSpPr>
          <p:cNvPr id="7987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TextEdit="1"/>
          </p:cNvSpPr>
          <p:nvPr>
            <p:ph type="sldImg"/>
          </p:nvPr>
        </p:nvSpPr>
        <p:spPr>
          <a:xfrm>
            <a:off x="873125" y="755650"/>
            <a:ext cx="4908550" cy="3397250"/>
          </a:xfrm>
          <a:ln/>
        </p:spPr>
      </p:sp>
      <p:sp>
        <p:nvSpPr>
          <p:cNvPr id="8192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TextEdit="1"/>
          </p:cNvSpPr>
          <p:nvPr>
            <p:ph type="sldImg"/>
          </p:nvPr>
        </p:nvSpPr>
        <p:spPr>
          <a:xfrm>
            <a:off x="873125" y="755650"/>
            <a:ext cx="4908550" cy="3397250"/>
          </a:xfrm>
          <a:ln/>
        </p:spPr>
      </p:sp>
      <p:sp>
        <p:nvSpPr>
          <p:cNvPr id="8397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TextEdit="1"/>
          </p:cNvSpPr>
          <p:nvPr>
            <p:ph type="sldImg"/>
          </p:nvPr>
        </p:nvSpPr>
        <p:spPr>
          <a:xfrm>
            <a:off x="873125" y="755650"/>
            <a:ext cx="4908550" cy="3397250"/>
          </a:xfrm>
          <a:ln/>
        </p:spPr>
      </p:sp>
      <p:sp>
        <p:nvSpPr>
          <p:cNvPr id="8601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TextEdit="1"/>
          </p:cNvSpPr>
          <p:nvPr>
            <p:ph type="sldImg"/>
          </p:nvPr>
        </p:nvSpPr>
        <p:spPr>
          <a:xfrm>
            <a:off x="873125" y="755650"/>
            <a:ext cx="4908550" cy="3397250"/>
          </a:xfrm>
          <a:ln/>
        </p:spPr>
      </p:sp>
      <p:sp>
        <p:nvSpPr>
          <p:cNvPr id="8806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TextEdit="1"/>
          </p:cNvSpPr>
          <p:nvPr>
            <p:ph type="sldImg"/>
          </p:nvPr>
        </p:nvSpPr>
        <p:spPr>
          <a:xfrm>
            <a:off x="873125" y="755650"/>
            <a:ext cx="4908550" cy="3397250"/>
          </a:xfrm>
          <a:ln/>
        </p:spPr>
      </p:sp>
      <p:sp>
        <p:nvSpPr>
          <p:cNvPr id="9011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TextEdit="1"/>
          </p:cNvSpPr>
          <p:nvPr>
            <p:ph type="sldImg"/>
          </p:nvPr>
        </p:nvSpPr>
        <p:spPr>
          <a:xfrm>
            <a:off x="873125" y="755650"/>
            <a:ext cx="4908550" cy="3397250"/>
          </a:xfrm>
          <a:ln/>
        </p:spPr>
      </p:sp>
      <p:sp>
        <p:nvSpPr>
          <p:cNvPr id="9216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TextEdit="1"/>
          </p:cNvSpPr>
          <p:nvPr>
            <p:ph type="sldImg"/>
          </p:nvPr>
        </p:nvSpPr>
        <p:spPr>
          <a:xfrm>
            <a:off x="873125" y="755650"/>
            <a:ext cx="4908550" cy="3397250"/>
          </a:xfrm>
          <a:ln/>
        </p:spPr>
      </p:sp>
      <p:sp>
        <p:nvSpPr>
          <p:cNvPr id="9933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TextEdit="1"/>
          </p:cNvSpPr>
          <p:nvPr>
            <p:ph type="sldImg"/>
          </p:nvPr>
        </p:nvSpPr>
        <p:spPr>
          <a:xfrm>
            <a:off x="873125" y="755650"/>
            <a:ext cx="4908550" cy="3397250"/>
          </a:xfrm>
          <a:ln/>
        </p:spPr>
      </p:sp>
      <p:sp>
        <p:nvSpPr>
          <p:cNvPr id="10137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TextEdit="1"/>
          </p:cNvSpPr>
          <p:nvPr>
            <p:ph type="sldImg"/>
          </p:nvPr>
        </p:nvSpPr>
        <p:spPr>
          <a:xfrm>
            <a:off x="873125" y="755650"/>
            <a:ext cx="4908550" cy="3397250"/>
          </a:xfrm>
          <a:ln/>
        </p:spPr>
      </p:sp>
      <p:sp>
        <p:nvSpPr>
          <p:cNvPr id="10342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TextEdit="1"/>
          </p:cNvSpPr>
          <p:nvPr>
            <p:ph type="sldImg"/>
          </p:nvPr>
        </p:nvSpPr>
        <p:spPr>
          <a:xfrm>
            <a:off x="873125" y="755650"/>
            <a:ext cx="4908550" cy="3397250"/>
          </a:xfrm>
          <a:ln/>
        </p:spPr>
      </p:sp>
      <p:sp>
        <p:nvSpPr>
          <p:cNvPr id="10547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TextEdit="1"/>
          </p:cNvSpPr>
          <p:nvPr>
            <p:ph type="sldImg"/>
          </p:nvPr>
        </p:nvSpPr>
        <p:spPr>
          <a:xfrm>
            <a:off x="873125" y="755650"/>
            <a:ext cx="4908550" cy="3397250"/>
          </a:xfrm>
          <a:ln/>
        </p:spPr>
      </p:sp>
      <p:sp>
        <p:nvSpPr>
          <p:cNvPr id="10752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TextEdit="1"/>
          </p:cNvSpPr>
          <p:nvPr>
            <p:ph type="sldImg"/>
          </p:nvPr>
        </p:nvSpPr>
        <p:spPr>
          <a:xfrm>
            <a:off x="873125" y="755650"/>
            <a:ext cx="4908550" cy="3397250"/>
          </a:xfrm>
          <a:ln/>
        </p:spPr>
      </p:sp>
      <p:sp>
        <p:nvSpPr>
          <p:cNvPr id="10957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TextEdit="1"/>
          </p:cNvSpPr>
          <p:nvPr>
            <p:ph type="sldImg"/>
          </p:nvPr>
        </p:nvSpPr>
        <p:spPr>
          <a:xfrm>
            <a:off x="873125" y="755650"/>
            <a:ext cx="4908550" cy="3397250"/>
          </a:xfrm>
          <a:ln/>
        </p:spPr>
      </p:sp>
      <p:sp>
        <p:nvSpPr>
          <p:cNvPr id="11161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TextEdit="1"/>
          </p:cNvSpPr>
          <p:nvPr>
            <p:ph type="sldImg"/>
          </p:nvPr>
        </p:nvSpPr>
        <p:spPr>
          <a:xfrm>
            <a:off x="873125" y="755650"/>
            <a:ext cx="4908550" cy="3397250"/>
          </a:xfrm>
          <a:ln/>
        </p:spPr>
      </p:sp>
      <p:sp>
        <p:nvSpPr>
          <p:cNvPr id="11366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TextEdit="1"/>
          </p:cNvSpPr>
          <p:nvPr>
            <p:ph type="sldImg"/>
          </p:nvPr>
        </p:nvSpPr>
        <p:spPr>
          <a:xfrm>
            <a:off x="873125" y="755650"/>
            <a:ext cx="4908550" cy="3397250"/>
          </a:xfrm>
          <a:ln/>
        </p:spPr>
      </p:sp>
      <p:sp>
        <p:nvSpPr>
          <p:cNvPr id="11571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TextEdit="1"/>
          </p:cNvSpPr>
          <p:nvPr>
            <p:ph type="sldImg"/>
          </p:nvPr>
        </p:nvSpPr>
        <p:spPr>
          <a:xfrm>
            <a:off x="873125" y="755650"/>
            <a:ext cx="4908550" cy="3397250"/>
          </a:xfrm>
          <a:ln/>
        </p:spPr>
      </p:sp>
      <p:sp>
        <p:nvSpPr>
          <p:cNvPr id="11776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TextEdit="1"/>
          </p:cNvSpPr>
          <p:nvPr>
            <p:ph type="sldImg"/>
          </p:nvPr>
        </p:nvSpPr>
        <p:spPr>
          <a:xfrm>
            <a:off x="873125" y="755650"/>
            <a:ext cx="4908550" cy="3397250"/>
          </a:xfrm>
          <a:ln/>
        </p:spPr>
      </p:sp>
      <p:sp>
        <p:nvSpPr>
          <p:cNvPr id="119811"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TextEdit="1"/>
          </p:cNvSpPr>
          <p:nvPr>
            <p:ph type="sldImg"/>
          </p:nvPr>
        </p:nvSpPr>
        <p:spPr>
          <a:xfrm>
            <a:off x="873125" y="755650"/>
            <a:ext cx="4908550" cy="3397250"/>
          </a:xfrm>
          <a:ln/>
        </p:spPr>
      </p:sp>
      <p:sp>
        <p:nvSpPr>
          <p:cNvPr id="121859"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TextEdit="1"/>
          </p:cNvSpPr>
          <p:nvPr>
            <p:ph type="sldImg"/>
          </p:nvPr>
        </p:nvSpPr>
        <p:spPr>
          <a:xfrm>
            <a:off x="873125" y="755650"/>
            <a:ext cx="4908550" cy="3397250"/>
          </a:xfrm>
          <a:ln/>
        </p:spPr>
      </p:sp>
      <p:sp>
        <p:nvSpPr>
          <p:cNvPr id="123907"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TextEdit="1"/>
          </p:cNvSpPr>
          <p:nvPr>
            <p:ph type="sldImg"/>
          </p:nvPr>
        </p:nvSpPr>
        <p:spPr>
          <a:xfrm>
            <a:off x="873125" y="755650"/>
            <a:ext cx="4908550" cy="3397250"/>
          </a:xfrm>
          <a:ln/>
        </p:spPr>
      </p:sp>
      <p:sp>
        <p:nvSpPr>
          <p:cNvPr id="125955"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TextEdit="1"/>
          </p:cNvSpPr>
          <p:nvPr>
            <p:ph type="sldImg"/>
          </p:nvPr>
        </p:nvSpPr>
        <p:spPr>
          <a:xfrm>
            <a:off x="873125" y="755650"/>
            <a:ext cx="4908550" cy="3397250"/>
          </a:xfrm>
          <a:ln/>
        </p:spPr>
      </p:sp>
      <p:sp>
        <p:nvSpPr>
          <p:cNvPr id="128003" name="Rectangle 3"/>
          <p:cNvSpPr>
            <a:spLocks noGrp="1"/>
          </p:cNvSpPr>
          <p:nvPr>
            <p:ph type="body" idx="1"/>
          </p:nvPr>
        </p:nvSpPr>
        <p:spPr>
          <a:xfrm>
            <a:off x="914400" y="4648200"/>
            <a:ext cx="4876800" cy="441960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20100" cy="1470025"/>
          </a:xfrm>
        </p:spPr>
        <p:txBody>
          <a:bodyPr/>
          <a:lstStyle/>
          <a:p>
            <a:r>
              <a:rPr lang="en-US" altLang="zh-CN" smtClean="0"/>
              <a:t>Click to edit Master title style</a:t>
            </a:r>
            <a:endParaRPr lang="zh-CN" alt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smtClean="0"/>
              <a:t>Click to edit Master subtitle style</a:t>
            </a:r>
            <a:endParaRPr lang="zh-CN" altLang="en-US"/>
          </a:p>
        </p:txBody>
      </p:sp>
      <p:sp>
        <p:nvSpPr>
          <p:cNvPr id="4" name="灯片编号占位符 3"/>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000"/>
            </a:lvl1pPr>
          </a:lstStyle>
          <a:p>
            <a:r>
              <a:rPr lang="en-US" altLang="zh-CN" smtClean="0"/>
              <a:t>Click to edit Master title style</a:t>
            </a:r>
            <a:endParaRPr lang="zh-CN" altLang="en-US"/>
          </a:p>
        </p:txBody>
      </p:sp>
      <p:sp>
        <p:nvSpPr>
          <p:cNvPr id="3" name="Content Placeholder 2"/>
          <p:cNvSpPr>
            <a:spLocks noGrp="1"/>
          </p:cNvSpPr>
          <p:nvPr>
            <p:ph idx="1"/>
          </p:nvPr>
        </p:nvSpPr>
        <p:spPr/>
        <p:txBody>
          <a:bodyPr/>
          <a:lstStyle>
            <a:lvl1pPr>
              <a:defRPr sz="2800" b="1">
                <a:latin typeface="Times New Roman" panose="02020603050405020304" pitchFamily="18" charset="0"/>
                <a:cs typeface="Times New Roman" panose="02020603050405020304" pitchFamily="18" charset="0"/>
              </a:defRPr>
            </a:lvl1pPr>
            <a:lvl2pPr>
              <a:defRPr sz="2400" b="1">
                <a:latin typeface="Times New Roman" panose="02020603050405020304" pitchFamily="18" charset="0"/>
                <a:cs typeface="Times New Roman" panose="02020603050405020304" pitchFamily="18" charset="0"/>
              </a:defRPr>
            </a:lvl2pPr>
            <a:lvl3pPr>
              <a:defRPr b="1">
                <a:latin typeface="Times New Roman" panose="02020603050405020304" pitchFamily="18" charset="0"/>
                <a:cs typeface="Times New Roman" panose="02020603050405020304" pitchFamily="18" charset="0"/>
              </a:defRPr>
            </a:lvl3pPr>
            <a:lvl4pPr>
              <a:defRPr b="1">
                <a:latin typeface="Times New Roman" panose="02020603050405020304" pitchFamily="18" charset="0"/>
                <a:cs typeface="Times New Roman" panose="02020603050405020304" pitchFamily="18" charset="0"/>
              </a:defRPr>
            </a:lvl4pPr>
            <a:lvl5pPr>
              <a:defRPr b="1">
                <a:latin typeface="Times New Roman" panose="02020603050405020304" pitchFamily="18" charset="0"/>
                <a:cs typeface="Times New Roman" panose="02020603050405020304" pitchFamily="18" charset="0"/>
              </a:defRPr>
            </a:lvl5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4" name="灯片编号占位符 3"/>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altLang="zh-CN" smtClean="0"/>
              <a:t>Click to edit Master title style</a:t>
            </a:r>
            <a:endParaRPr lang="zh-CN" alt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smtClean="0"/>
              <a:t>Click to edit Master text styles</a:t>
            </a:r>
            <a:endParaRPr lang="en-US" altLang="zh-CN" smtClean="0"/>
          </a:p>
        </p:txBody>
      </p:sp>
      <p:sp>
        <p:nvSpPr>
          <p:cNvPr id="4" name="灯片编号占位符 3"/>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Content Placeholder 2"/>
          <p:cNvSpPr>
            <a:spLocks noGrp="1"/>
          </p:cNvSpPr>
          <p:nvPr>
            <p:ph sz="half" idx="1"/>
          </p:nvPr>
        </p:nvSpPr>
        <p:spPr>
          <a:xfrm>
            <a:off x="1066800" y="2057400"/>
            <a:ext cx="3981450" cy="3556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4" name="Content Placeholder 3"/>
          <p:cNvSpPr>
            <a:spLocks noGrp="1"/>
          </p:cNvSpPr>
          <p:nvPr>
            <p:ph sz="half" idx="2"/>
          </p:nvPr>
        </p:nvSpPr>
        <p:spPr>
          <a:xfrm>
            <a:off x="5200650" y="2057400"/>
            <a:ext cx="3981450" cy="3556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5" name="灯片编号占位符 4"/>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altLang="zh-CN" smtClean="0"/>
              <a:t>Click to edit Master title style</a:t>
            </a:r>
            <a:endParaRPr lang="zh-CN" alt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endParaRPr lang="en-US" altLang="zh-CN" smtClean="0"/>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endParaRPr lang="en-US" altLang="zh-CN" smtClean="0"/>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7" name="灯片编号占位符 6"/>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灯片编号占位符 2"/>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altLang="zh-CN" smtClean="0"/>
              <a:t>Click to edit Master title style</a:t>
            </a:r>
            <a:endParaRPr lang="zh-CN" alt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smtClean="0"/>
              <a:t>Click to edit Master text styles</a:t>
            </a:r>
            <a:endParaRPr lang="en-US" altLang="zh-CN" smtClean="0"/>
          </a:p>
        </p:txBody>
      </p:sp>
      <p:sp>
        <p:nvSpPr>
          <p:cNvPr id="5" name="灯片编号占位符 4"/>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altLang="zh-CN" smtClean="0"/>
              <a:t>Click to edit Master title style</a:t>
            </a:r>
            <a:endParaRPr lang="zh-CN" altLang="en-US"/>
          </a:p>
        </p:txBody>
      </p:sp>
      <p:sp>
        <p:nvSpPr>
          <p:cNvPr id="3" name="Picture Placeholder 2"/>
          <p:cNvSpPr>
            <a:spLocks noGrp="1"/>
          </p:cNvSpPr>
          <p:nvPr>
            <p:ph type="pic" idx="1"/>
          </p:nvPr>
        </p:nvSpPr>
        <p:spPr>
          <a:xfrm>
            <a:off x="1941513" y="612775"/>
            <a:ext cx="5943600" cy="4114800"/>
          </a:xfrm>
        </p:spPr>
        <p:txBody>
          <a:bodyPr vert="horz" wrap="square" lIns="90488" tIns="44450" rIns="90488" bIns="4445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ct val="30000"/>
              </a:spcBef>
              <a:spcAft>
                <a:spcPct val="0"/>
              </a:spcAft>
              <a:buClr>
                <a:srgbClr val="037C03"/>
              </a:buClr>
              <a:buSzPct val="100000"/>
              <a:buFont typeface="Monotype Sorts"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smtClean="0"/>
              <a:t>Click to edit Master text styles</a:t>
            </a:r>
            <a:endParaRPr lang="en-US" altLang="zh-CN" smtClean="0"/>
          </a:p>
        </p:txBody>
      </p:sp>
      <p:sp>
        <p:nvSpPr>
          <p:cNvPr id="5" name="灯片编号占位符 4"/>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4" name="灯片编号占位符 3"/>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53275" y="901700"/>
            <a:ext cx="2028825" cy="4711700"/>
          </a:xfrm>
        </p:spPr>
        <p:txBody>
          <a:bodyPr vert="eaVert"/>
          <a:lstStyle/>
          <a:p>
            <a:r>
              <a:rPr lang="en-US" altLang="zh-CN" smtClean="0"/>
              <a:t>Click to edit Master title style</a:t>
            </a:r>
            <a:endParaRPr lang="zh-CN" altLang="en-US"/>
          </a:p>
        </p:txBody>
      </p:sp>
      <p:sp>
        <p:nvSpPr>
          <p:cNvPr id="3" name="Vertical Text Placeholder 2"/>
          <p:cNvSpPr>
            <a:spLocks noGrp="1"/>
          </p:cNvSpPr>
          <p:nvPr>
            <p:ph type="body" orient="vert" idx="1"/>
          </p:nvPr>
        </p:nvSpPr>
        <p:spPr>
          <a:xfrm>
            <a:off x="1066800" y="901700"/>
            <a:ext cx="5934075" cy="4711700"/>
          </a:xfrm>
        </p:spPr>
        <p:txBody>
          <a:bodyPr vert="eaVert"/>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4" name="灯片编号占位符 3"/>
          <p:cNvSpPr>
            <a:spLocks noGrp="1"/>
          </p:cNvSpPr>
          <p:nvPr>
            <p:ph type="sldNum" sz="quarter" idx="10"/>
          </p:nvPr>
        </p:nvSpPr>
        <p:spPr/>
        <p:txBody>
          <a:bodyPr/>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31"/>
          <p:cNvSpPr>
            <a:spLocks noChangeArrowheads="1"/>
          </p:cNvSpPr>
          <p:nvPr/>
        </p:nvSpPr>
        <p:spPr bwMode="auto">
          <a:xfrm>
            <a:off x="7162800" y="6148388"/>
            <a:ext cx="1931988" cy="328613"/>
          </a:xfrm>
          <a:prstGeom prst="rect">
            <a:avLst/>
          </a:prstGeom>
          <a:solidFill>
            <a:srgbClr val="A3F25F"/>
          </a:solidFill>
          <a:ln w="12700">
            <a:solidFill>
              <a:srgbClr val="005400"/>
            </a:solidFill>
            <a:miter lim="800000"/>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Grp="1"/>
          </p:cNvSpPr>
          <p:nvPr>
            <p:ph type="title"/>
          </p:nvPr>
        </p:nvSpPr>
        <p:spPr>
          <a:xfrm>
            <a:off x="1409700" y="901700"/>
            <a:ext cx="7429500" cy="88265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lvl="0"/>
            <a:r>
              <a:rPr lang="en-GB" altLang="zh-CN" dirty="0"/>
              <a:t>Slide Title</a:t>
            </a:r>
            <a:endParaRPr lang="en-GB" altLang="zh-CN" dirty="0"/>
          </a:p>
        </p:txBody>
      </p:sp>
      <p:sp>
        <p:nvSpPr>
          <p:cNvPr id="1028" name="Rectangle 4"/>
          <p:cNvSpPr>
            <a:spLocks noGrp="1"/>
          </p:cNvSpPr>
          <p:nvPr>
            <p:ph type="body" idx="1"/>
          </p:nvPr>
        </p:nvSpPr>
        <p:spPr>
          <a:xfrm>
            <a:off x="1066800" y="2057400"/>
            <a:ext cx="8115300" cy="3556000"/>
          </a:xfrm>
          <a:prstGeom prst="rect">
            <a:avLst/>
          </a:prstGeom>
          <a:noFill/>
          <a:ln w="12700">
            <a:noFill/>
          </a:ln>
        </p:spPr>
        <p:txBody>
          <a:bodyPr lIns="90488" tIns="44450" rIns="90488" bIns="44450"/>
          <a:p>
            <a:pPr lvl="0"/>
            <a:r>
              <a:rPr lang="en-GB" altLang="zh-CN" dirty="0"/>
              <a:t>Body Text</a:t>
            </a:r>
            <a:endParaRPr lang="en-GB" altLang="zh-CN" dirty="0"/>
          </a:p>
          <a:p>
            <a:pPr lvl="1"/>
            <a:r>
              <a:rPr lang="en-GB" altLang="zh-CN" dirty="0"/>
              <a:t>Second Level</a:t>
            </a:r>
            <a:endParaRPr lang="en-GB" altLang="zh-CN" dirty="0"/>
          </a:p>
          <a:p>
            <a:pPr lvl="2"/>
            <a:r>
              <a:rPr lang="en-GB" altLang="zh-CN" dirty="0"/>
              <a:t>Third Level</a:t>
            </a:r>
            <a:endParaRPr lang="en-GB" altLang="zh-CN" dirty="0"/>
          </a:p>
          <a:p>
            <a:pPr lvl="3"/>
            <a:r>
              <a:rPr lang="en-GB" altLang="zh-CN" dirty="0"/>
              <a:t>Fourth Level</a:t>
            </a:r>
            <a:endParaRPr lang="en-GB" altLang="zh-CN" dirty="0"/>
          </a:p>
          <a:p>
            <a:pPr lvl="4"/>
            <a:r>
              <a:rPr lang="en-GB" altLang="zh-CN" dirty="0"/>
              <a:t>Fifth Level</a:t>
            </a:r>
            <a:endParaRPr lang="en-GB" altLang="zh-CN" dirty="0"/>
          </a:p>
        </p:txBody>
      </p:sp>
      <p:sp>
        <p:nvSpPr>
          <p:cNvPr id="1029" name="Rectangle 5"/>
          <p:cNvSpPr>
            <a:spLocks noChangeArrowheads="1"/>
          </p:cNvSpPr>
          <p:nvPr/>
        </p:nvSpPr>
        <p:spPr bwMode="auto">
          <a:xfrm>
            <a:off x="1019175" y="6002338"/>
            <a:ext cx="2693988" cy="557213"/>
          </a:xfrm>
          <a:prstGeom prst="rect">
            <a:avLst/>
          </a:prstGeom>
          <a:solidFill>
            <a:srgbClr val="A3F25F"/>
          </a:solidFill>
          <a:ln w="12700">
            <a:solidFill>
              <a:srgbClr val="005400"/>
            </a:solidFill>
            <a:miter lim="800000"/>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ChangeArrowheads="1"/>
          </p:cNvSpPr>
          <p:nvPr/>
        </p:nvSpPr>
        <p:spPr bwMode="auto">
          <a:xfrm>
            <a:off x="949325" y="6045200"/>
            <a:ext cx="28098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GB" altLang="zh-CN" sz="1400" b="1" i="0" u="none" strike="noStrike" kern="1200" cap="none" spc="0" normalizeH="0" baseline="0" noProof="0" smtClean="0">
                <a:ln>
                  <a:noFill/>
                </a:ln>
                <a:solidFill>
                  <a:srgbClr val="005400"/>
                </a:solidFill>
                <a:effectLst/>
                <a:uLnTx/>
                <a:uFillTx/>
                <a:latin typeface="Times New Roman" panose="02020603050405020304" pitchFamily="18" charset="0"/>
                <a:ea typeface="宋体" panose="02010600030101010101" pitchFamily="2" charset="-122"/>
                <a:cs typeface="+mn-cs"/>
              </a:rPr>
              <a:t>School of Information Management &amp; Engineering</a:t>
            </a:r>
            <a:endParaRPr kumimoji="0" lang="en-GB" altLang="zh-CN" sz="1400" b="1" i="0" u="none" strike="noStrike" kern="1200" cap="none" spc="0" normalizeH="0" baseline="0" noProof="0" smtClean="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
        <p:nvSpPr>
          <p:cNvPr id="1031" name="Line 2"/>
          <p:cNvSpPr/>
          <p:nvPr userDrawn="1"/>
        </p:nvSpPr>
        <p:spPr>
          <a:xfrm>
            <a:off x="260350" y="6343650"/>
            <a:ext cx="514350" cy="0"/>
          </a:xfrm>
          <a:prstGeom prst="line">
            <a:avLst/>
          </a:prstGeom>
          <a:ln w="38100" cap="flat" cmpd="dbl">
            <a:solidFill>
              <a:srgbClr val="005400"/>
            </a:solidFill>
            <a:prstDash val="solid"/>
            <a:headEnd type="none" w="med" len="med"/>
            <a:tailEnd type="none" w="med" len="med"/>
          </a:ln>
        </p:spPr>
      </p:sp>
      <p:sp>
        <p:nvSpPr>
          <p:cNvPr id="1032" name="Line 7"/>
          <p:cNvSpPr/>
          <p:nvPr userDrawn="1"/>
        </p:nvSpPr>
        <p:spPr>
          <a:xfrm>
            <a:off x="180975" y="698500"/>
            <a:ext cx="0" cy="5588000"/>
          </a:xfrm>
          <a:prstGeom prst="line">
            <a:avLst/>
          </a:prstGeom>
          <a:ln w="38100" cap="flat" cmpd="dbl">
            <a:solidFill>
              <a:srgbClr val="005400"/>
            </a:solidFill>
            <a:prstDash val="solid"/>
            <a:headEnd type="none" w="med" len="med"/>
            <a:tailEnd type="none" w="med" len="med"/>
          </a:ln>
        </p:spPr>
      </p:sp>
      <p:sp>
        <p:nvSpPr>
          <p:cNvPr id="1033" name="Line 8"/>
          <p:cNvSpPr/>
          <p:nvPr userDrawn="1"/>
        </p:nvSpPr>
        <p:spPr>
          <a:xfrm>
            <a:off x="254000" y="619125"/>
            <a:ext cx="76200" cy="0"/>
          </a:xfrm>
          <a:prstGeom prst="line">
            <a:avLst/>
          </a:prstGeom>
          <a:ln w="38100" cap="flat" cmpd="dbl">
            <a:solidFill>
              <a:srgbClr val="005400"/>
            </a:solidFill>
            <a:prstDash val="solid"/>
            <a:headEnd type="none" w="med" len="med"/>
            <a:tailEnd type="none" w="med" len="med"/>
          </a:ln>
        </p:spPr>
      </p:sp>
      <p:sp>
        <p:nvSpPr>
          <p:cNvPr id="1034" name="Line 9"/>
          <p:cNvSpPr/>
          <p:nvPr userDrawn="1"/>
        </p:nvSpPr>
        <p:spPr>
          <a:xfrm>
            <a:off x="9632950" y="698500"/>
            <a:ext cx="0" cy="5589588"/>
          </a:xfrm>
          <a:prstGeom prst="line">
            <a:avLst/>
          </a:prstGeom>
          <a:ln w="38100" cap="flat" cmpd="dbl">
            <a:solidFill>
              <a:srgbClr val="005400"/>
            </a:solidFill>
            <a:prstDash val="solid"/>
            <a:headEnd type="none" w="med" len="med"/>
            <a:tailEnd type="none" w="med" len="med"/>
          </a:ln>
        </p:spPr>
      </p:sp>
      <p:sp>
        <p:nvSpPr>
          <p:cNvPr id="1035" name="Line 10"/>
          <p:cNvSpPr/>
          <p:nvPr userDrawn="1"/>
        </p:nvSpPr>
        <p:spPr>
          <a:xfrm>
            <a:off x="3390900" y="619125"/>
            <a:ext cx="6178550" cy="0"/>
          </a:xfrm>
          <a:prstGeom prst="line">
            <a:avLst/>
          </a:prstGeom>
          <a:ln w="38100" cap="flat" cmpd="dbl">
            <a:solidFill>
              <a:srgbClr val="005400"/>
            </a:solidFill>
            <a:prstDash val="solid"/>
            <a:headEnd type="none" w="med" len="med"/>
            <a:tailEnd type="none" w="med" len="med"/>
          </a:ln>
        </p:spPr>
      </p:sp>
      <p:sp>
        <p:nvSpPr>
          <p:cNvPr id="1036" name="Oval 11"/>
          <p:cNvSpPr>
            <a:spLocks noChangeArrowheads="1"/>
          </p:cNvSpPr>
          <p:nvPr/>
        </p:nvSpPr>
        <p:spPr bwMode="auto">
          <a:xfrm>
            <a:off x="342900" y="574675"/>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37" name="Oval 12"/>
          <p:cNvSpPr>
            <a:spLocks noChangeArrowheads="1"/>
          </p:cNvSpPr>
          <p:nvPr/>
        </p:nvSpPr>
        <p:spPr bwMode="auto">
          <a:xfrm>
            <a:off x="136525" y="574675"/>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38" name="Oval 13"/>
          <p:cNvSpPr>
            <a:spLocks noChangeArrowheads="1"/>
          </p:cNvSpPr>
          <p:nvPr/>
        </p:nvSpPr>
        <p:spPr bwMode="auto">
          <a:xfrm>
            <a:off x="136525" y="6299200"/>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39" name="Oval 14"/>
          <p:cNvSpPr>
            <a:spLocks noChangeArrowheads="1"/>
          </p:cNvSpPr>
          <p:nvPr/>
        </p:nvSpPr>
        <p:spPr bwMode="auto">
          <a:xfrm>
            <a:off x="9588500" y="574675"/>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0" name="Oval 15"/>
          <p:cNvSpPr>
            <a:spLocks noChangeArrowheads="1"/>
          </p:cNvSpPr>
          <p:nvPr/>
        </p:nvSpPr>
        <p:spPr bwMode="auto">
          <a:xfrm>
            <a:off x="793750" y="6299200"/>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1" name="Oval 16"/>
          <p:cNvSpPr>
            <a:spLocks noChangeArrowheads="1"/>
          </p:cNvSpPr>
          <p:nvPr/>
        </p:nvSpPr>
        <p:spPr bwMode="auto">
          <a:xfrm>
            <a:off x="3276600" y="574675"/>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2" name="Line 19"/>
          <p:cNvSpPr/>
          <p:nvPr userDrawn="1"/>
        </p:nvSpPr>
        <p:spPr>
          <a:xfrm>
            <a:off x="3943350" y="6343650"/>
            <a:ext cx="3009900" cy="0"/>
          </a:xfrm>
          <a:prstGeom prst="line">
            <a:avLst/>
          </a:prstGeom>
          <a:ln w="38100" cap="flat" cmpd="dbl">
            <a:solidFill>
              <a:srgbClr val="005400"/>
            </a:solidFill>
            <a:prstDash val="solid"/>
            <a:headEnd type="none" w="med" len="med"/>
            <a:tailEnd type="none" w="med" len="med"/>
          </a:ln>
        </p:spPr>
      </p:sp>
      <p:sp>
        <p:nvSpPr>
          <p:cNvPr id="1043" name="Line 20"/>
          <p:cNvSpPr/>
          <p:nvPr userDrawn="1"/>
        </p:nvSpPr>
        <p:spPr>
          <a:xfrm>
            <a:off x="9359900" y="6343650"/>
            <a:ext cx="196850" cy="0"/>
          </a:xfrm>
          <a:prstGeom prst="line">
            <a:avLst/>
          </a:prstGeom>
          <a:ln w="38100" cap="flat" cmpd="dbl">
            <a:solidFill>
              <a:srgbClr val="005400"/>
            </a:solidFill>
            <a:prstDash val="solid"/>
            <a:headEnd type="none" w="med" len="med"/>
            <a:tailEnd type="none" w="med" len="med"/>
          </a:ln>
        </p:spPr>
      </p:sp>
      <p:sp>
        <p:nvSpPr>
          <p:cNvPr id="1044" name="Oval 21"/>
          <p:cNvSpPr>
            <a:spLocks noChangeArrowheads="1"/>
          </p:cNvSpPr>
          <p:nvPr/>
        </p:nvSpPr>
        <p:spPr bwMode="auto">
          <a:xfrm>
            <a:off x="6985000" y="6299200"/>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5" name="Oval 22"/>
          <p:cNvSpPr>
            <a:spLocks noChangeArrowheads="1"/>
          </p:cNvSpPr>
          <p:nvPr/>
        </p:nvSpPr>
        <p:spPr bwMode="auto">
          <a:xfrm>
            <a:off x="9232900" y="6299200"/>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6" name="Oval 25"/>
          <p:cNvSpPr>
            <a:spLocks noChangeArrowheads="1"/>
          </p:cNvSpPr>
          <p:nvPr/>
        </p:nvSpPr>
        <p:spPr bwMode="auto">
          <a:xfrm>
            <a:off x="9588500" y="6299200"/>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7" name="Oval 26"/>
          <p:cNvSpPr>
            <a:spLocks noChangeArrowheads="1"/>
          </p:cNvSpPr>
          <p:nvPr/>
        </p:nvSpPr>
        <p:spPr bwMode="auto">
          <a:xfrm>
            <a:off x="3816350" y="6299200"/>
            <a:ext cx="88900" cy="88900"/>
          </a:xfrm>
          <a:prstGeom prst="ellipse">
            <a:avLst/>
          </a:prstGeom>
          <a:solidFill>
            <a:srgbClr val="A3F25F"/>
          </a:solidFill>
          <a:ln w="12700">
            <a:solidFill>
              <a:srgbClr val="037C03"/>
            </a:solidFill>
            <a:round/>
          </a:ln>
        </p:spPr>
        <p:txBody>
          <a:bodyPr wrap="none" anchor="ct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endParaRPr kumimoji="0" lang="zh-CN" altLang="en-US" sz="1600" b="0" i="0" u="none" strike="noStrike" kern="1200" cap="none" spc="0" normalizeH="0" baseline="0" noProof="0" smtClean="0">
              <a:ln>
                <a:noFill/>
              </a:ln>
              <a:solidFill>
                <a:srgbClr val="00279F"/>
              </a:solidFill>
              <a:effectLst/>
              <a:uLnTx/>
              <a:uFillTx/>
              <a:latin typeface="Times New Roman" panose="02020603050405020304" pitchFamily="18" charset="0"/>
              <a:ea typeface="宋体" panose="02010600030101010101" pitchFamily="2" charset="-122"/>
              <a:cs typeface="+mn-cs"/>
            </a:endParaRPr>
          </a:p>
        </p:txBody>
      </p:sp>
      <p:sp>
        <p:nvSpPr>
          <p:cNvPr id="1048" name="Rectangle 27"/>
          <p:cNvSpPr>
            <a:spLocks noChangeArrowheads="1"/>
          </p:cNvSpPr>
          <p:nvPr/>
        </p:nvSpPr>
        <p:spPr bwMode="auto">
          <a:xfrm>
            <a:off x="606425" y="457200"/>
            <a:ext cx="2365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r>
              <a:rPr kumimoji="0" lang="en-GB" altLang="zh-CN" sz="1800" b="1" i="0" u="none" strike="noStrike" kern="1200" cap="none" spc="0" normalizeH="0" baseline="0" noProof="0" smtClean="0">
                <a:ln>
                  <a:noFill/>
                </a:ln>
                <a:solidFill>
                  <a:srgbClr val="00279F"/>
                </a:solidFill>
                <a:effectLst/>
                <a:uLnTx/>
                <a:uFillTx/>
                <a:latin typeface="Courier New" panose="02070309020205020404" pitchFamily="49" charset="0"/>
                <a:ea typeface="宋体" panose="02010600030101010101" pitchFamily="2" charset="-122"/>
                <a:cs typeface="+mn-cs"/>
              </a:rPr>
              <a:t>Database Systems</a:t>
            </a:r>
            <a:endParaRPr kumimoji="0" lang="en-GB" altLang="zh-CN" sz="1800" b="1" i="0" u="none" strike="noStrike" kern="1200" cap="none" spc="0" normalizeH="0" baseline="0" noProof="0" smtClean="0">
              <a:ln>
                <a:noFill/>
              </a:ln>
              <a:solidFill>
                <a:srgbClr val="00279F"/>
              </a:solidFill>
              <a:effectLst/>
              <a:uLnTx/>
              <a:uFillTx/>
              <a:latin typeface="Courier New" panose="02070309020205020404" pitchFamily="49" charset="0"/>
              <a:ea typeface="宋体" panose="02010600030101010101" pitchFamily="2" charset="-122"/>
              <a:cs typeface="+mn-cs"/>
            </a:endParaRPr>
          </a:p>
        </p:txBody>
      </p:sp>
      <p:sp>
        <p:nvSpPr>
          <p:cNvPr id="75804" name="Rectangle 28"/>
          <p:cNvSpPr>
            <a:spLocks noGrp="1" noChangeArrowheads="1"/>
          </p:cNvSpPr>
          <p:nvPr>
            <p:ph type="sldNum" sz="quarter" idx="4"/>
          </p:nvPr>
        </p:nvSpPr>
        <p:spPr bwMode="auto">
          <a:xfrm>
            <a:off x="7213600" y="6159500"/>
            <a:ext cx="1828800" cy="304800"/>
          </a:xfrm>
          <a:prstGeom prst="rect">
            <a:avLst/>
          </a:prstGeom>
          <a:noFill/>
          <a:ln w="9525">
            <a:noFill/>
            <a:miter lim="800000"/>
          </a:ln>
          <a:effectLst/>
        </p:spPr>
        <p:txBody>
          <a:bodyPr vert="horz" wrap="square" lIns="91440" tIns="45720" rIns="91440" bIns="45720" numCol="1" anchor="t" anchorCtr="0" compatLnSpc="1"/>
          <a:lstStyle>
            <a:lvl1pPr algn="ctr">
              <a:lnSpc>
                <a:spcPct val="90000"/>
              </a:lnSpc>
              <a:defRPr sz="1400" b="1" i="1">
                <a:solidFill>
                  <a:srgbClr val="005400"/>
                </a:solidFill>
                <a:ea typeface="宋体" panose="02010600030101010101" pitchFamily="2" charset="-122"/>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t>Page </a:t>
            </a:r>
            <a:fld id="{D6BA167E-2166-4B90-B9BF-A47F65E1AB5A}" type="slidenum">
              <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rPr>
            </a:fld>
            <a:endParaRPr kumimoji="0" lang="en-US" altLang="zh-CN" sz="1400" b="1" i="1" u="none" strike="noStrike" kern="1200" cap="none" spc="0" normalizeH="0" baseline="0" noProof="0">
              <a:ln>
                <a:noFill/>
              </a:ln>
              <a:solidFill>
                <a:srgbClr val="005400"/>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lnSpc>
          <a:spcPct val="90000"/>
        </a:lnSpc>
        <a:spcBef>
          <a:spcPct val="0"/>
        </a:spcBef>
        <a:spcAft>
          <a:spcPct val="0"/>
        </a:spcAft>
        <a:defRPr sz="2800" b="1">
          <a:solidFill>
            <a:srgbClr val="005400"/>
          </a:solidFill>
          <a:latin typeface="+mj-lt"/>
          <a:ea typeface="+mj-ea"/>
          <a:cs typeface="+mj-cs"/>
        </a:defRPr>
      </a:lvl1pPr>
      <a:lvl2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2pPr>
      <a:lvl3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3pPr>
      <a:lvl4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4pPr>
      <a:lvl5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5pPr>
      <a:lvl6pPr marL="4572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6pPr>
      <a:lvl7pPr marL="9144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7pPr>
      <a:lvl8pPr marL="13716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8pPr>
      <a:lvl9pPr marL="18288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9pPr>
    </p:titleStyle>
    <p:body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vl6pPr marL="24574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6pPr>
      <a:lvl7pPr marL="29146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7pPr>
      <a:lvl8pPr marL="33718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8pPr>
      <a:lvl9pPr marL="3829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GI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oleObject" Target="../embeddings/oleObject3.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51.GIF"/><Relationship Id="rId1"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4099" name="Rectangle 3"/>
          <p:cNvSpPr/>
          <p:nvPr/>
        </p:nvSpPr>
        <p:spPr>
          <a:xfrm>
            <a:off x="546100" y="2227263"/>
            <a:ext cx="7315200" cy="4097337"/>
          </a:xfrm>
          <a:prstGeom prst="rect">
            <a:avLst/>
          </a:prstGeom>
          <a:noFill/>
          <a:ln w="12700">
            <a:noFill/>
          </a:ln>
        </p:spPr>
        <p:txBody>
          <a:bodyPr lIns="90488" tIns="44450" rIns="90488" bIns="44450">
            <a:spAutoFit/>
          </a:bodyPr>
          <a:p>
            <a:pPr marL="457200" indent="-457200">
              <a:lnSpc>
                <a:spcPct val="90000"/>
              </a:lnSpc>
            </a:pPr>
            <a:r>
              <a:rPr lang="en-GB" altLang="zh-CN" sz="2800" b="1" u="sng" dirty="0">
                <a:solidFill>
                  <a:schemeClr val="tx1"/>
                </a:solidFill>
                <a:latin typeface="Times New Roman" panose="02020603050405020304" pitchFamily="18" charset="0"/>
                <a:ea typeface="宋体" panose="02010600030101010101" pitchFamily="2" charset="-122"/>
              </a:rPr>
              <a:t>What you will learn from this lecture:</a:t>
            </a:r>
            <a:endParaRPr lang="en-GB" altLang="zh-CN" sz="2800" b="1" u="sng" dirty="0">
              <a:solidFill>
                <a:schemeClr val="tx1"/>
              </a:solidFill>
              <a:latin typeface="Times New Roman" panose="02020603050405020304" pitchFamily="18" charset="0"/>
              <a:ea typeface="宋体" panose="02010600030101010101" pitchFamily="2" charset="-122"/>
            </a:endParaRPr>
          </a:p>
          <a:p>
            <a:pPr marL="457200" indent="-457200">
              <a:lnSpc>
                <a:spcPct val="70000"/>
              </a:lnSpc>
            </a:pPr>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r>
              <a:rPr lang="en-GB" altLang="zh-CN" sz="2800" b="1" dirty="0">
                <a:solidFill>
                  <a:schemeClr val="tx1"/>
                </a:solidFill>
                <a:latin typeface="Times New Roman" panose="02020603050405020304" pitchFamily="18" charset="0"/>
                <a:ea typeface="宋体" panose="02010600030101010101" pitchFamily="2" charset="-122"/>
              </a:rPr>
              <a:t>1. The Three Levels of the Architecture</a:t>
            </a:r>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r>
              <a:rPr lang="en-GB" altLang="zh-CN" sz="2800" b="1" dirty="0">
                <a:solidFill>
                  <a:schemeClr val="tx1"/>
                </a:solidFill>
                <a:latin typeface="仿宋" panose="02010609060101010101" pitchFamily="49" charset="-122"/>
                <a:ea typeface="仿宋" panose="02010609060101010101" pitchFamily="49" charset="-122"/>
              </a:rPr>
              <a:t>  </a:t>
            </a:r>
            <a:r>
              <a:rPr lang="zh-CN" altLang="en-US" sz="2800" b="1" dirty="0">
                <a:solidFill>
                  <a:srgbClr val="0033CC"/>
                </a:solidFill>
                <a:latin typeface="仿宋" panose="02010609060101010101" pitchFamily="49" charset="-122"/>
                <a:ea typeface="仿宋" panose="02010609060101010101" pitchFamily="49" charset="-122"/>
              </a:rPr>
              <a:t>三级模式结构</a:t>
            </a:r>
            <a:endParaRPr lang="en-GB" altLang="zh-CN" sz="2800" b="1" dirty="0">
              <a:solidFill>
                <a:srgbClr val="0033CC"/>
              </a:solidFill>
              <a:latin typeface="仿宋" panose="02010609060101010101" pitchFamily="49" charset="-122"/>
              <a:ea typeface="仿宋" panose="02010609060101010101" pitchFamily="49" charset="-122"/>
            </a:endParaRPr>
          </a:p>
          <a:p>
            <a:pPr marL="457200" indent="-457200"/>
            <a:r>
              <a:rPr lang="en-GB" altLang="zh-CN" sz="2800" b="1" dirty="0">
                <a:solidFill>
                  <a:schemeClr val="tx1"/>
                </a:solidFill>
                <a:latin typeface="Times New Roman" panose="02020603050405020304" pitchFamily="18" charset="0"/>
                <a:ea typeface="宋体" panose="02010600030101010101" pitchFamily="2" charset="-122"/>
              </a:rPr>
              <a:t>2. The Database Administrator</a:t>
            </a:r>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r>
              <a:rPr lang="en-GB" altLang="zh-CN" sz="2800" b="1" dirty="0">
                <a:solidFill>
                  <a:schemeClr val="tx1"/>
                </a:solidFill>
                <a:latin typeface="Times New Roman" panose="02020603050405020304" pitchFamily="18" charset="0"/>
                <a:ea typeface="宋体" panose="02010600030101010101" pitchFamily="2" charset="-122"/>
              </a:rPr>
              <a:t>3. DBMS</a:t>
            </a:r>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r>
              <a:rPr lang="en-GB" altLang="zh-CN" sz="2800" b="1" dirty="0">
                <a:solidFill>
                  <a:schemeClr val="tx1"/>
                </a:solidFill>
                <a:latin typeface="Times New Roman" panose="02020603050405020304" pitchFamily="18" charset="0"/>
                <a:ea typeface="宋体" panose="02010600030101010101" pitchFamily="2" charset="-122"/>
              </a:rPr>
              <a:t>4. Client/Server Architecture</a:t>
            </a:r>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r>
              <a:rPr lang="en-GB" altLang="zh-CN" sz="2800" b="1" dirty="0">
                <a:solidFill>
                  <a:schemeClr val="tx1"/>
                </a:solidFill>
                <a:latin typeface="Times New Roman" panose="02020603050405020304" pitchFamily="18" charset="0"/>
                <a:ea typeface="宋体" panose="02010600030101010101" pitchFamily="2" charset="-122"/>
              </a:rPr>
              <a:t>5. Distributed Processing</a:t>
            </a:r>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endParaRPr lang="en-GB" altLang="zh-CN" sz="2800" b="1" dirty="0">
              <a:solidFill>
                <a:schemeClr val="tx1"/>
              </a:solidFill>
              <a:latin typeface="Times New Roman" panose="02020603050405020304" pitchFamily="18" charset="0"/>
              <a:ea typeface="宋体" panose="02010600030101010101" pitchFamily="2" charset="-122"/>
            </a:endParaRPr>
          </a:p>
          <a:p>
            <a:pPr marL="457200" indent="-457200">
              <a:lnSpc>
                <a:spcPct val="70000"/>
              </a:lnSpc>
            </a:pPr>
            <a:endParaRPr lang="en-GB" altLang="zh-CN" sz="2800" b="1" dirty="0">
              <a:solidFill>
                <a:schemeClr val="tx1"/>
              </a:solidFill>
              <a:latin typeface="Times New Roman" panose="02020603050405020304" pitchFamily="18" charset="0"/>
              <a:ea typeface="宋体" panose="02010600030101010101" pitchFamily="2" charset="-122"/>
            </a:endParaRPr>
          </a:p>
        </p:txBody>
      </p:sp>
      <p:sp>
        <p:nvSpPr>
          <p:cNvPr id="4100" name="Rectangle 4"/>
          <p:cNvSpPr>
            <a:spLocks noGrp="1"/>
          </p:cNvSpPr>
          <p:nvPr>
            <p:ph type="title"/>
          </p:nvPr>
        </p:nvSpPr>
        <p:spPr>
          <a:xfrm>
            <a:off x="1295400" y="1219200"/>
            <a:ext cx="7086600" cy="838200"/>
          </a:xfrm>
          <a:ln/>
        </p:spPr>
        <p:txBody>
          <a:bodyPr vert="horz" wrap="square" lIns="90488" tIns="44450" rIns="90488" bIns="44450" anchor="ctr" anchorCtr="0"/>
          <a:p>
            <a:pPr/>
            <a:r>
              <a:rPr lang="en-GB" altLang="zh-CN" dirty="0">
                <a:latin typeface="+mj-lt"/>
                <a:ea typeface="+mj-ea"/>
                <a:cs typeface="+mj-cs"/>
              </a:rPr>
              <a:t>Lecture Two: Database System Architecture</a:t>
            </a:r>
            <a:endParaRPr lang="en-GB" altLang="zh-CN" dirty="0">
              <a:latin typeface="+mj-lt"/>
              <a:ea typeface="+mj-ea"/>
              <a:cs typeface="+mj-cs"/>
            </a:endParaRPr>
          </a:p>
        </p:txBody>
      </p:sp>
      <p:sp>
        <p:nvSpPr>
          <p:cNvPr id="4101" name="Rectangle 5"/>
          <p:cNvSpPr/>
          <p:nvPr/>
        </p:nvSpPr>
        <p:spPr>
          <a:xfrm>
            <a:off x="5776913" y="4348163"/>
            <a:ext cx="3552825" cy="996950"/>
          </a:xfrm>
          <a:prstGeom prst="rect">
            <a:avLst/>
          </a:prstGeom>
          <a:solidFill>
            <a:srgbClr val="000099"/>
          </a:solidFill>
          <a:ln w="38100">
            <a:noFill/>
          </a:ln>
          <a:effectLst>
            <a:outerShdw dist="71842" dir="2699999" algn="ctr" rotWithShape="0">
              <a:srgbClr val="003300"/>
            </a:outerShdw>
          </a:effectLst>
        </p:spPr>
        <p:txBody>
          <a:bodyPr>
            <a:spAutoFit/>
          </a:bodyPr>
          <a:p>
            <a:pPr>
              <a:lnSpc>
                <a:spcPct val="90000"/>
              </a:lnSpc>
            </a:pPr>
            <a:r>
              <a:rPr lang="en-GB" altLang="zh-CN" sz="2200" b="1" dirty="0">
                <a:solidFill>
                  <a:schemeClr val="bg1"/>
                </a:solidFill>
                <a:latin typeface="Times New Roman" panose="02020603050405020304" pitchFamily="18" charset="0"/>
                <a:ea typeface="宋体" panose="02010600030101010101" pitchFamily="2" charset="-122"/>
              </a:rPr>
              <a:t>From the point of view of development and execution of database applications</a:t>
            </a:r>
            <a:endParaRPr lang="zh-CN" altLang="en-US" sz="2200" b="1" dirty="0">
              <a:solidFill>
                <a:schemeClr val="bg1"/>
              </a:solidFill>
              <a:latin typeface="Times New Roman" panose="02020603050405020304" pitchFamily="18" charset="0"/>
              <a:ea typeface="宋体" panose="02010600030101010101" pitchFamily="2" charset="-122"/>
            </a:endParaRPr>
          </a:p>
        </p:txBody>
      </p:sp>
      <p:sp>
        <p:nvSpPr>
          <p:cNvPr id="4102" name="Line 6"/>
          <p:cNvSpPr/>
          <p:nvPr/>
        </p:nvSpPr>
        <p:spPr>
          <a:xfrm flipH="1">
            <a:off x="5094288" y="4919663"/>
            <a:ext cx="617537" cy="0"/>
          </a:xfrm>
          <a:prstGeom prst="line">
            <a:avLst/>
          </a:prstGeom>
          <a:ln w="38100" cap="flat" cmpd="sng">
            <a:solidFill>
              <a:srgbClr val="009900"/>
            </a:solidFill>
            <a:prstDash val="solid"/>
            <a:headEnd type="none" w="med" len="med"/>
            <a:tailEnd type="triangle" w="med" len="med"/>
          </a:ln>
        </p:spPr>
      </p:sp>
      <p:sp>
        <p:nvSpPr>
          <p:cNvPr id="4103" name="Line 9"/>
          <p:cNvSpPr/>
          <p:nvPr/>
        </p:nvSpPr>
        <p:spPr>
          <a:xfrm flipH="1">
            <a:off x="6672263" y="3200400"/>
            <a:ext cx="576262" cy="4763"/>
          </a:xfrm>
          <a:prstGeom prst="line">
            <a:avLst/>
          </a:prstGeom>
          <a:ln w="38100" cap="flat" cmpd="sng">
            <a:solidFill>
              <a:srgbClr val="009900"/>
            </a:solidFill>
            <a:prstDash val="solid"/>
            <a:headEnd type="none" w="med" len="med"/>
            <a:tailEnd type="triangle" w="med" len="med"/>
          </a:ln>
        </p:spPr>
      </p:sp>
      <p:pic>
        <p:nvPicPr>
          <p:cNvPr id="4104" name="Picture 10" descr="E:\数据库\精品课程建设\2005暑假数据库精品课程建设\讲稿\SQL_people4.gif"/>
          <p:cNvPicPr>
            <a:picLocks noChangeAspect="1"/>
          </p:cNvPicPr>
          <p:nvPr/>
        </p:nvPicPr>
        <p:blipFill>
          <a:blip r:embed="rId1"/>
          <a:stretch>
            <a:fillRect/>
          </a:stretch>
        </p:blipFill>
        <p:spPr>
          <a:xfrm>
            <a:off x="4927600" y="5461000"/>
            <a:ext cx="962025" cy="793750"/>
          </a:xfrm>
          <a:prstGeom prst="rect">
            <a:avLst/>
          </a:prstGeom>
          <a:noFill/>
          <a:ln w="9525">
            <a:noFill/>
          </a:ln>
        </p:spPr>
      </p:pic>
      <p:sp>
        <p:nvSpPr>
          <p:cNvPr id="4105" name="Rectangle 8"/>
          <p:cNvSpPr/>
          <p:nvPr/>
        </p:nvSpPr>
        <p:spPr>
          <a:xfrm>
            <a:off x="7366000" y="2949575"/>
            <a:ext cx="1925638" cy="701675"/>
          </a:xfrm>
          <a:prstGeom prst="rect">
            <a:avLst/>
          </a:prstGeom>
          <a:solidFill>
            <a:srgbClr val="FF0000"/>
          </a:solidFill>
          <a:ln w="38100" cap="flat" cmpd="sng">
            <a:solidFill>
              <a:srgbClr val="FF0000"/>
            </a:solidFill>
            <a:prstDash val="solid"/>
            <a:miter/>
            <a:headEnd type="none" w="med" len="med"/>
            <a:tailEnd type="none" w="med" len="med"/>
          </a:ln>
          <a:effectLst>
            <a:outerShdw dist="71842" dir="2699999" algn="ctr" rotWithShape="0">
              <a:srgbClr val="003300"/>
            </a:outerShdw>
          </a:effectLst>
        </p:spPr>
        <p:txBody>
          <a:bodyPr>
            <a:spAutoFit/>
          </a:bodyPr>
          <a:p>
            <a:pPr>
              <a:lnSpc>
                <a:spcPct val="90000"/>
              </a:lnSpc>
            </a:pPr>
            <a:r>
              <a:rPr lang="en-GB" altLang="zh-CN" sz="2200" b="1" dirty="0">
                <a:solidFill>
                  <a:schemeClr val="bg1"/>
                </a:solidFill>
                <a:latin typeface="Times New Roman" panose="02020603050405020304" pitchFamily="18" charset="0"/>
                <a:ea typeface="宋体" panose="02010600030101010101" pitchFamily="2" charset="-122"/>
              </a:rPr>
              <a:t>ANSI/SPARC Architecture</a:t>
            </a:r>
            <a:endParaRPr lang="zh-CN" altLang="en-US" sz="22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6147" name="Text Box 3"/>
          <p:cNvSpPr txBox="1"/>
          <p:nvPr/>
        </p:nvSpPr>
        <p:spPr>
          <a:xfrm>
            <a:off x="7677150" y="4953000"/>
            <a:ext cx="990600" cy="366713"/>
          </a:xfrm>
          <a:prstGeom prst="rect">
            <a:avLst/>
          </a:prstGeom>
          <a:noFill/>
          <a:ln w="9525">
            <a:noFill/>
          </a:ln>
        </p:spPr>
        <p:txBody>
          <a:bodyPr>
            <a:spAutoFit/>
          </a:bodyPr>
          <a:p>
            <a:pPr>
              <a:spcBef>
                <a:spcPct val="50000"/>
              </a:spcBef>
            </a:pPr>
            <a:r>
              <a:rPr lang="en-US" altLang="zh-CN" sz="1800" dirty="0">
                <a:solidFill>
                  <a:schemeClr val="bg1"/>
                </a:solidFill>
                <a:latin typeface="Tahoma" panose="020B0604030504040204" pitchFamily="34" charset="0"/>
                <a:ea typeface="宋体" panose="02010600030101010101" pitchFamily="2" charset="-122"/>
              </a:rPr>
              <a:t>one</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6148" name="Text Box 4"/>
          <p:cNvSpPr txBox="1"/>
          <p:nvPr/>
        </p:nvSpPr>
        <p:spPr>
          <a:xfrm>
            <a:off x="7677150" y="3505200"/>
            <a:ext cx="990600" cy="366713"/>
          </a:xfrm>
          <a:prstGeom prst="rect">
            <a:avLst/>
          </a:prstGeom>
          <a:noFill/>
          <a:ln w="9525">
            <a:noFill/>
          </a:ln>
        </p:spPr>
        <p:txBody>
          <a:bodyPr>
            <a:spAutoFit/>
          </a:bodyPr>
          <a:p>
            <a:pPr>
              <a:spcBef>
                <a:spcPct val="50000"/>
              </a:spcBef>
            </a:pPr>
            <a:r>
              <a:rPr lang="en-US" altLang="zh-CN" sz="1800" dirty="0">
                <a:solidFill>
                  <a:schemeClr val="bg1"/>
                </a:solidFill>
                <a:latin typeface="Tahoma" panose="020B0604030504040204" pitchFamily="34" charset="0"/>
                <a:ea typeface="宋体" panose="02010600030101010101" pitchFamily="2" charset="-122"/>
              </a:rPr>
              <a:t>one</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6149" name="Rectangle 11"/>
          <p:cNvSpPr/>
          <p:nvPr/>
        </p:nvSpPr>
        <p:spPr>
          <a:xfrm>
            <a:off x="638175" y="1919288"/>
            <a:ext cx="8439150" cy="3876675"/>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r>
              <a:rPr lang="en-US" altLang="zh-CN" sz="2800" b="1" dirty="0">
                <a:latin typeface="Times New Roman" panose="02020603050405020304" pitchFamily="18" charset="0"/>
                <a:ea typeface="宋体" panose="02010600030101010101" pitchFamily="2" charset="-122"/>
              </a:rPr>
              <a:t>ANSI(American National Standards Institute)</a:t>
            </a:r>
            <a:endParaRPr lang="en-US" altLang="zh-CN" sz="2800" b="1" dirty="0">
              <a:latin typeface="Times New Roman" panose="02020603050405020304" pitchFamily="18" charset="0"/>
              <a:ea typeface="宋体" panose="02010600030101010101" pitchFamily="2" charset="-122"/>
            </a:endParaRPr>
          </a:p>
          <a:p>
            <a:pPr marL="285750" lvl="0" indent="-285750">
              <a:buFontTx/>
              <a:buNone/>
            </a:pPr>
            <a:r>
              <a:rPr lang="en-US" altLang="zh-CN" sz="2800" b="1" dirty="0">
                <a:latin typeface="Times New Roman" panose="02020603050405020304" pitchFamily="18" charset="0"/>
                <a:ea typeface="宋体" panose="02010600030101010101" pitchFamily="2" charset="-122"/>
              </a:rPr>
              <a:t>   </a:t>
            </a:r>
            <a:r>
              <a:rPr lang="zh-CN" altLang="en-US" sz="2800" b="1" dirty="0">
                <a:solidFill>
                  <a:srgbClr val="0033CC"/>
                </a:solidFill>
                <a:latin typeface="仿宋" panose="02010609060101010101" pitchFamily="49" charset="-122"/>
                <a:ea typeface="仿宋" panose="02010609060101010101" pitchFamily="49" charset="-122"/>
              </a:rPr>
              <a:t>美国国家标准协会</a:t>
            </a:r>
            <a:endParaRPr lang="zh-CN" altLang="en-US" sz="2800" b="1" dirty="0">
              <a:solidFill>
                <a:srgbClr val="0033CC"/>
              </a:solidFill>
              <a:latin typeface="仿宋" panose="02010609060101010101" pitchFamily="49" charset="-122"/>
              <a:ea typeface="仿宋" panose="02010609060101010101" pitchFamily="49" charset="-122"/>
            </a:endParaRPr>
          </a:p>
          <a:p>
            <a:pPr marL="285750" lvl="0" indent="-285750"/>
            <a:r>
              <a:rPr lang="en-US" altLang="zh-CN" sz="2800" b="1" dirty="0">
                <a:latin typeface="Times New Roman" panose="02020603050405020304" pitchFamily="18" charset="0"/>
                <a:ea typeface="宋体" panose="02010600030101010101" pitchFamily="2" charset="-122"/>
              </a:rPr>
              <a:t>SPARC(Standards Planning and Requirements Committee)</a:t>
            </a:r>
            <a:endParaRPr lang="en-US" altLang="zh-CN" sz="2800" b="1" dirty="0">
              <a:latin typeface="Times New Roman" panose="02020603050405020304" pitchFamily="18" charset="0"/>
              <a:ea typeface="宋体" panose="02010600030101010101" pitchFamily="2" charset="-122"/>
            </a:endParaRPr>
          </a:p>
          <a:p>
            <a:pPr marL="285750" lvl="0" indent="-285750">
              <a:buFontTx/>
              <a:buNone/>
            </a:pPr>
            <a:r>
              <a:rPr lang="zh-CN" altLang="en-US" sz="2800" b="1" dirty="0">
                <a:latin typeface="Times New Roman" panose="02020603050405020304" pitchFamily="18" charset="0"/>
                <a:ea typeface="宋体" panose="02010600030101010101" pitchFamily="2" charset="-122"/>
              </a:rPr>
              <a:t>   </a:t>
            </a:r>
            <a:r>
              <a:rPr lang="zh-CN" altLang="en-US" sz="2800" b="1" dirty="0">
                <a:solidFill>
                  <a:srgbClr val="0033CC"/>
                </a:solidFill>
                <a:latin typeface="仿宋" panose="02010609060101010101" pitchFamily="49" charset="-122"/>
                <a:ea typeface="仿宋" panose="02010609060101010101" pitchFamily="49" charset="-122"/>
              </a:rPr>
              <a:t>美国国家标准协会的计算机与信息处理委员会中的标准规划与需求委员会</a:t>
            </a:r>
            <a:endParaRPr lang="en-US" altLang="zh-CN" sz="2800" b="1" dirty="0">
              <a:solidFill>
                <a:srgbClr val="0033CC"/>
              </a:solidFill>
              <a:latin typeface="仿宋" panose="02010609060101010101" pitchFamily="49" charset="-122"/>
              <a:ea typeface="仿宋" panose="02010609060101010101" pitchFamily="49" charset="-122"/>
            </a:endParaRPr>
          </a:p>
          <a:p>
            <a:pPr marL="285750" lvl="0" indent="-285750"/>
            <a:r>
              <a:rPr lang="en-US" altLang="zh-CN" sz="2800" b="1" dirty="0">
                <a:latin typeface="Times New Roman" panose="02020603050405020304" pitchFamily="18" charset="0"/>
                <a:ea typeface="宋体" panose="02010600030101010101" pitchFamily="2" charset="-122"/>
              </a:rPr>
              <a:t>The Three Levels of the Architecture</a:t>
            </a:r>
            <a:endParaRPr lang="en-US" altLang="zh-CN" sz="2800" b="1" dirty="0">
              <a:latin typeface="Times New Roman" panose="02020603050405020304" pitchFamily="18" charset="0"/>
              <a:ea typeface="宋体" panose="02010600030101010101" pitchFamily="2" charset="-122"/>
            </a:endParaRPr>
          </a:p>
          <a:p>
            <a:pPr marL="285750" lvl="0" indent="-285750">
              <a:buFontTx/>
              <a:buNone/>
            </a:pPr>
            <a:r>
              <a:rPr lang="en-US" altLang="zh-CN" sz="2800" b="1" dirty="0">
                <a:latin typeface="Times New Roman" panose="02020603050405020304" pitchFamily="18" charset="0"/>
                <a:ea typeface="宋体" panose="02010600030101010101" pitchFamily="2" charset="-122"/>
              </a:rPr>
              <a:t>   </a:t>
            </a:r>
            <a:r>
              <a:rPr lang="zh-CN" altLang="en-US" sz="2800" b="1" dirty="0">
                <a:solidFill>
                  <a:srgbClr val="0033CC"/>
                </a:solidFill>
                <a:latin typeface="仿宋" panose="02010609060101010101" pitchFamily="49" charset="-122"/>
                <a:ea typeface="仿宋" panose="02010609060101010101" pitchFamily="49" charset="-122"/>
              </a:rPr>
              <a:t>三级模式结构</a:t>
            </a:r>
            <a:endParaRPr lang="en-US" altLang="zh-CN" sz="2800" b="1" dirty="0">
              <a:solidFill>
                <a:srgbClr val="0033CC"/>
              </a:solidFill>
              <a:latin typeface="仿宋" panose="02010609060101010101" pitchFamily="49" charset="-122"/>
              <a:ea typeface="仿宋" panose="02010609060101010101" pitchFamily="49" charset="-122"/>
            </a:endParaRPr>
          </a:p>
          <a:p>
            <a:pPr marL="285750" lvl="0" indent="-285750"/>
            <a:endParaRPr lang="en-US" altLang="zh-CN" sz="2800" b="1" dirty="0">
              <a:latin typeface="Times New Roman" panose="02020603050405020304" pitchFamily="18" charset="0"/>
              <a:ea typeface="宋体" panose="02010600030101010101" pitchFamily="2" charset="-122"/>
            </a:endParaRPr>
          </a:p>
          <a:p>
            <a:pPr marL="285750" lvl="0" indent="-285750">
              <a:buFontTx/>
              <a:buNone/>
            </a:pPr>
            <a:r>
              <a:rPr lang="zh-CN" altLang="en-US"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p:txBody>
      </p:sp>
      <p:sp>
        <p:nvSpPr>
          <p:cNvPr id="6150" name="Rectangle 1036"/>
          <p:cNvSpPr/>
          <p:nvPr/>
        </p:nvSpPr>
        <p:spPr>
          <a:xfrm>
            <a:off x="1155700" y="831850"/>
            <a:ext cx="7429500" cy="985838"/>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Comic Sans MS" panose="030F0702030302020204" pitchFamily="66" charset="0"/>
                <a:ea typeface="宋体" panose="02010600030101010101" pitchFamily="2" charset="-122"/>
              </a:rPr>
              <a:t>1.The Three Levels of the Architecture</a:t>
            </a:r>
            <a:br>
              <a:rPr lang="en-US" altLang="zh-CN" sz="2800" b="1" dirty="0">
                <a:solidFill>
                  <a:srgbClr val="005400"/>
                </a:solidFill>
                <a:latin typeface="Comic Sans MS" panose="030F0702030302020204" pitchFamily="66" charset="0"/>
                <a:ea typeface="宋体" panose="02010600030101010101" pitchFamily="2" charset="-122"/>
              </a:rPr>
            </a:br>
            <a:r>
              <a:rPr lang="en-US" altLang="zh-CN" sz="2800" b="1" dirty="0">
                <a:solidFill>
                  <a:srgbClr val="005400"/>
                </a:solidFill>
                <a:latin typeface="Comic Sans MS" panose="030F0702030302020204" pitchFamily="66" charset="0"/>
                <a:ea typeface="宋体" panose="02010600030101010101" pitchFamily="2" charset="-122"/>
              </a:rPr>
              <a:t>(ANSI/SPARC</a:t>
            </a:r>
            <a:r>
              <a:rPr lang="zh-CN" altLang="en-US" sz="2800" b="1" dirty="0">
                <a:solidFill>
                  <a:srgbClr val="005400"/>
                </a:solidFill>
                <a:latin typeface="Comic Sans MS" panose="030F0702030302020204" pitchFamily="66" charset="0"/>
                <a:ea typeface="宋体" panose="02010600030101010101" pitchFamily="2" charset="-122"/>
              </a:rPr>
              <a:t>体系结构)</a:t>
            </a:r>
            <a:endParaRPr lang="zh-CN" altLang="en-US" sz="2800" b="1" dirty="0">
              <a:solidFill>
                <a:srgbClr val="005400"/>
              </a:solidFill>
              <a:latin typeface="Comic Sans MS" panose="030F0702030302020204" pitchFamily="66"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8195" name="Text Box 1029"/>
          <p:cNvSpPr txBox="1"/>
          <p:nvPr/>
        </p:nvSpPr>
        <p:spPr>
          <a:xfrm>
            <a:off x="7677150" y="4953000"/>
            <a:ext cx="990600" cy="366713"/>
          </a:xfrm>
          <a:prstGeom prst="rect">
            <a:avLst/>
          </a:prstGeom>
          <a:noFill/>
          <a:ln w="9525">
            <a:noFill/>
          </a:ln>
        </p:spPr>
        <p:txBody>
          <a:bodyPr>
            <a:spAutoFit/>
          </a:bodyPr>
          <a:p>
            <a:pPr>
              <a:spcBef>
                <a:spcPct val="50000"/>
              </a:spcBef>
            </a:pPr>
            <a:r>
              <a:rPr lang="en-US" altLang="zh-CN" sz="1800" dirty="0">
                <a:solidFill>
                  <a:schemeClr val="bg1"/>
                </a:solidFill>
                <a:latin typeface="Tahoma" panose="020B0604030504040204" pitchFamily="34" charset="0"/>
                <a:ea typeface="宋体" panose="02010600030101010101" pitchFamily="2" charset="-122"/>
              </a:rPr>
              <a:t>one</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8196" name="Text Box 1030"/>
          <p:cNvSpPr txBox="1"/>
          <p:nvPr/>
        </p:nvSpPr>
        <p:spPr>
          <a:xfrm>
            <a:off x="7677150" y="3505200"/>
            <a:ext cx="990600" cy="366713"/>
          </a:xfrm>
          <a:prstGeom prst="rect">
            <a:avLst/>
          </a:prstGeom>
          <a:noFill/>
          <a:ln w="9525">
            <a:noFill/>
          </a:ln>
        </p:spPr>
        <p:txBody>
          <a:bodyPr>
            <a:spAutoFit/>
          </a:bodyPr>
          <a:p>
            <a:pPr>
              <a:spcBef>
                <a:spcPct val="50000"/>
              </a:spcBef>
            </a:pPr>
            <a:r>
              <a:rPr lang="en-US" altLang="zh-CN" sz="1800" dirty="0">
                <a:solidFill>
                  <a:schemeClr val="bg1"/>
                </a:solidFill>
                <a:latin typeface="Tahoma" panose="020B0604030504040204" pitchFamily="34" charset="0"/>
                <a:ea typeface="宋体" panose="02010600030101010101" pitchFamily="2" charset="-122"/>
              </a:rPr>
              <a:t>one</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8197" name="Rectangle 1035"/>
          <p:cNvSpPr>
            <a:spLocks noGrp="1"/>
          </p:cNvSpPr>
          <p:nvPr>
            <p:ph idx="1"/>
          </p:nvPr>
        </p:nvSpPr>
        <p:spPr>
          <a:xfrm>
            <a:off x="444500" y="1925638"/>
            <a:ext cx="9090025" cy="3916362"/>
          </a:xfrm>
          <a:ln/>
        </p:spPr>
        <p:txBody>
          <a:bodyPr vert="horz" wrap="square" lIns="90488" tIns="44450" rIns="90488" bIns="44450" anchor="t" anchorCtr="0"/>
          <a:p>
            <a:pPr>
              <a:buSzPct val="100000"/>
            </a:pPr>
            <a:r>
              <a:rPr lang="en-US" altLang="zh-CN" dirty="0">
                <a:latin typeface="Times New Roman" panose="02020603050405020304" pitchFamily="18" charset="0"/>
                <a:ea typeface="宋体" panose="02010600030101010101" pitchFamily="2" charset="-122"/>
                <a:cs typeface="+mn-cs"/>
              </a:rPr>
              <a:t>Conceptual Level </a:t>
            </a:r>
            <a:r>
              <a:rPr lang="en-US" altLang="zh-CN" dirty="0">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概念层</a:t>
            </a:r>
            <a:r>
              <a:rPr lang="en-US" altLang="zh-CN" dirty="0">
                <a:latin typeface="仿宋" panose="02010609060101010101" pitchFamily="49" charset="-122"/>
                <a:ea typeface="仿宋" panose="02010609060101010101" pitchFamily="49" charset="-122"/>
                <a:cs typeface="+mn-cs"/>
              </a:rPr>
              <a:t>)</a:t>
            </a:r>
            <a:endParaRPr lang="en-US" altLang="zh-CN" dirty="0">
              <a:latin typeface="仿宋" panose="02010609060101010101" pitchFamily="49" charset="-122"/>
              <a:ea typeface="仿宋" panose="02010609060101010101" pitchFamily="49" charset="-122"/>
              <a:cs typeface="+mn-cs"/>
            </a:endParaRPr>
          </a:p>
          <a:p>
            <a:pPr>
              <a:buSzPct val="100000"/>
            </a:pPr>
            <a:r>
              <a:rPr lang="en-US" altLang="zh-CN" dirty="0">
                <a:latin typeface="Times New Roman" panose="02020603050405020304" pitchFamily="18" charset="0"/>
                <a:ea typeface="宋体" panose="02010600030101010101" pitchFamily="2" charset="-122"/>
                <a:cs typeface="+mn-cs"/>
              </a:rPr>
              <a:t>External Level </a:t>
            </a:r>
            <a:r>
              <a:rPr lang="en-US" altLang="zh-CN" dirty="0">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外部层</a:t>
            </a:r>
            <a:r>
              <a:rPr lang="en-US" altLang="zh-CN" dirty="0">
                <a:latin typeface="仿宋" panose="02010609060101010101" pitchFamily="49" charset="-122"/>
                <a:ea typeface="仿宋" panose="02010609060101010101" pitchFamily="49" charset="-122"/>
                <a:cs typeface="+mn-cs"/>
              </a:rPr>
              <a:t>)-&gt; </a:t>
            </a:r>
            <a:r>
              <a:rPr lang="zh-CN" altLang="en-US" dirty="0">
                <a:latin typeface="仿宋" panose="02010609060101010101" pitchFamily="49" charset="-122"/>
                <a:ea typeface="仿宋" panose="02010609060101010101" pitchFamily="49" charset="-122"/>
                <a:cs typeface="+mn-cs"/>
              </a:rPr>
              <a:t>用户模式</a:t>
            </a:r>
            <a:endParaRPr lang="en-US" altLang="zh-CN" dirty="0">
              <a:latin typeface="仿宋" panose="02010609060101010101" pitchFamily="49" charset="-122"/>
              <a:ea typeface="仿宋" panose="02010609060101010101" pitchFamily="49" charset="-122"/>
              <a:cs typeface="+mn-cs"/>
            </a:endParaRPr>
          </a:p>
          <a:p>
            <a:pPr>
              <a:buSzPct val="100000"/>
            </a:pPr>
            <a:r>
              <a:rPr lang="en-US" altLang="zh-CN" dirty="0">
                <a:latin typeface="Times New Roman" panose="02020603050405020304" pitchFamily="18" charset="0"/>
                <a:ea typeface="宋体" panose="02010600030101010101" pitchFamily="2" charset="-122"/>
                <a:cs typeface="+mn-cs"/>
              </a:rPr>
              <a:t>Internal Level</a:t>
            </a:r>
            <a:r>
              <a:rPr lang="en-US" altLang="zh-CN" b="0" dirty="0">
                <a:latin typeface="Times New Roman" panose="02020603050405020304" pitchFamily="18" charset="0"/>
                <a:ea typeface="宋体" panose="02010600030101010101" pitchFamily="2" charset="-122"/>
                <a:cs typeface="+mn-cs"/>
              </a:rPr>
              <a:t> </a:t>
            </a:r>
            <a:r>
              <a:rPr lang="en-US" altLang="zh-CN" dirty="0">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内部层</a:t>
            </a:r>
            <a:r>
              <a:rPr lang="en-US" altLang="zh-CN" dirty="0">
                <a:latin typeface="仿宋" panose="02010609060101010101" pitchFamily="49" charset="-122"/>
                <a:ea typeface="仿宋" panose="02010609060101010101" pitchFamily="49" charset="-122"/>
                <a:cs typeface="+mn-cs"/>
              </a:rPr>
              <a:t>) -&gt; </a:t>
            </a:r>
            <a:r>
              <a:rPr lang="zh-CN" altLang="en-US" dirty="0">
                <a:latin typeface="仿宋" panose="02010609060101010101" pitchFamily="49" charset="-122"/>
                <a:ea typeface="仿宋" panose="02010609060101010101" pitchFamily="49" charset="-122"/>
                <a:cs typeface="+mn-cs"/>
              </a:rPr>
              <a:t>存储模式，物理存储</a:t>
            </a:r>
            <a:endParaRPr lang="en-US" altLang="zh-CN" dirty="0">
              <a:latin typeface="仿宋" panose="02010609060101010101" pitchFamily="49" charset="-122"/>
              <a:ea typeface="仿宋" panose="02010609060101010101" pitchFamily="49" charset="-122"/>
              <a:cs typeface="+mn-cs"/>
            </a:endParaRPr>
          </a:p>
          <a:p>
            <a:pPr>
              <a:buSzPct val="100000"/>
            </a:pPr>
            <a:r>
              <a:rPr lang="en-US" altLang="zh-CN" dirty="0">
                <a:latin typeface="Times New Roman" panose="02020603050405020304" pitchFamily="18" charset="0"/>
                <a:ea typeface="宋体" panose="02010600030101010101" pitchFamily="2" charset="-122"/>
                <a:cs typeface="+mn-cs"/>
              </a:rPr>
              <a:t>How the three levels of the architecture are typically realized in a relational system?</a:t>
            </a:r>
            <a:endParaRPr lang="en-US" altLang="zh-CN" dirty="0">
              <a:latin typeface="Times New Roman" panose="02020603050405020304" pitchFamily="18" charset="0"/>
              <a:ea typeface="宋体" panose="02010600030101010101" pitchFamily="2" charset="-122"/>
              <a:cs typeface="+mn-cs"/>
            </a:endParaRPr>
          </a:p>
          <a:p>
            <a:pPr>
              <a:buSzPct val="100000"/>
            </a:pPr>
            <a:r>
              <a:rPr lang="en-US" altLang="zh-CN" dirty="0">
                <a:latin typeface="Times New Roman" panose="02020603050405020304" pitchFamily="18" charset="0"/>
                <a:ea typeface="宋体" panose="02010600030101010101" pitchFamily="2" charset="-122"/>
                <a:cs typeface="+mn-cs"/>
              </a:rPr>
              <a:t>Conceptual/Internal Mapping </a:t>
            </a:r>
            <a:r>
              <a:rPr lang="en-US" altLang="zh-CN" dirty="0">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概念模式</a:t>
            </a:r>
            <a:r>
              <a:rPr lang="en-US" altLang="zh-CN" dirty="0">
                <a:solidFill>
                  <a:srgbClr val="0033CC"/>
                </a:solidFill>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内模式映射</a:t>
            </a:r>
            <a:r>
              <a:rPr lang="en-US" altLang="zh-CN" dirty="0">
                <a:latin typeface="仿宋" panose="02010609060101010101" pitchFamily="49" charset="-122"/>
                <a:ea typeface="仿宋" panose="02010609060101010101" pitchFamily="49" charset="-122"/>
                <a:cs typeface="+mn-cs"/>
              </a:rPr>
              <a:t>)</a:t>
            </a:r>
            <a:endParaRPr lang="en-US" altLang="zh-CN" dirty="0">
              <a:latin typeface="仿宋" panose="02010609060101010101" pitchFamily="49" charset="-122"/>
              <a:ea typeface="仿宋" panose="02010609060101010101" pitchFamily="49" charset="-122"/>
              <a:cs typeface="+mn-cs"/>
            </a:endParaRPr>
          </a:p>
          <a:p>
            <a:pPr>
              <a:lnSpc>
                <a:spcPct val="100000"/>
              </a:lnSpc>
              <a:buSzPct val="100000"/>
            </a:pPr>
            <a:r>
              <a:rPr lang="en-US" altLang="zh-CN" dirty="0">
                <a:latin typeface="Times New Roman" panose="02020603050405020304" pitchFamily="18" charset="0"/>
                <a:ea typeface="宋体" panose="02010600030101010101" pitchFamily="2" charset="-122"/>
                <a:cs typeface="+mn-cs"/>
              </a:rPr>
              <a:t>External/Conceptual Mapping</a:t>
            </a:r>
            <a:r>
              <a:rPr lang="en-US" altLang="zh-CN" dirty="0">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外模式</a:t>
            </a:r>
            <a:r>
              <a:rPr lang="en-US" altLang="zh-CN" dirty="0">
                <a:solidFill>
                  <a:srgbClr val="0033CC"/>
                </a:solidFill>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概念模式映射</a:t>
            </a:r>
            <a:r>
              <a:rPr lang="en-US" altLang="zh-CN" dirty="0">
                <a:latin typeface="仿宋" panose="02010609060101010101" pitchFamily="49" charset="-122"/>
                <a:ea typeface="仿宋" panose="02010609060101010101" pitchFamily="49" charset="-122"/>
                <a:cs typeface="+mn-cs"/>
              </a:rPr>
              <a:t>)</a:t>
            </a:r>
            <a:endParaRPr lang="en-US" altLang="zh-CN" dirty="0">
              <a:latin typeface="Times New Roman" panose="02020603050405020304" pitchFamily="18" charset="0"/>
              <a:ea typeface="宋体" panose="02010600030101010101" pitchFamily="2" charset="-122"/>
              <a:cs typeface="+mn-cs"/>
            </a:endParaRPr>
          </a:p>
          <a:p>
            <a:pPr>
              <a:lnSpc>
                <a:spcPct val="100000"/>
              </a:lnSpc>
              <a:buSzPct val="100000"/>
            </a:pPr>
            <a:r>
              <a:rPr lang="en-US" altLang="zh-CN" dirty="0">
                <a:latin typeface="Times New Roman" panose="02020603050405020304" pitchFamily="18" charset="0"/>
                <a:ea typeface="宋体" panose="02010600030101010101" pitchFamily="2" charset="-122"/>
                <a:cs typeface="+mn-cs"/>
              </a:rPr>
              <a:t>Data Independence </a:t>
            </a:r>
            <a:r>
              <a:rPr lang="en-US" altLang="zh-CN" dirty="0">
                <a:latin typeface="仿宋" panose="02010609060101010101" pitchFamily="49" charset="-122"/>
                <a:ea typeface="仿宋" panose="02010609060101010101" pitchFamily="49" charset="-122"/>
                <a:cs typeface="+mn-cs"/>
              </a:rPr>
              <a:t>(</a:t>
            </a:r>
            <a:r>
              <a:rPr lang="zh-CN" altLang="en-US" dirty="0">
                <a:solidFill>
                  <a:srgbClr val="0033CC"/>
                </a:solidFill>
                <a:latin typeface="仿宋" panose="02010609060101010101" pitchFamily="49" charset="-122"/>
                <a:ea typeface="仿宋" panose="02010609060101010101" pitchFamily="49" charset="-122"/>
                <a:cs typeface="+mn-cs"/>
              </a:rPr>
              <a:t>数据独立性</a:t>
            </a:r>
            <a:r>
              <a:rPr lang="en-US" altLang="zh-CN" dirty="0">
                <a:latin typeface="仿宋" panose="02010609060101010101" pitchFamily="49" charset="-122"/>
                <a:ea typeface="仿宋" panose="02010609060101010101" pitchFamily="49" charset="-122"/>
                <a:cs typeface="+mn-cs"/>
              </a:rPr>
              <a:t>)</a:t>
            </a:r>
            <a:endParaRPr lang="en-US" altLang="zh-CN" dirty="0">
              <a:latin typeface="仿宋" panose="02010609060101010101" pitchFamily="49" charset="-122"/>
              <a:ea typeface="仿宋" panose="02010609060101010101" pitchFamily="49" charset="-122"/>
              <a:cs typeface="+mn-cs"/>
            </a:endParaRPr>
          </a:p>
        </p:txBody>
      </p:sp>
      <p:sp>
        <p:nvSpPr>
          <p:cNvPr id="8198" name="Rectangle 1036"/>
          <p:cNvSpPr/>
          <p:nvPr/>
        </p:nvSpPr>
        <p:spPr>
          <a:xfrm>
            <a:off x="1155700" y="831850"/>
            <a:ext cx="7429500" cy="88265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Comic Sans MS" panose="030F0702030302020204" pitchFamily="66" charset="0"/>
                <a:ea typeface="宋体" panose="02010600030101010101" pitchFamily="2" charset="-122"/>
              </a:rPr>
              <a:t>1.The Three Levels of the Architecture</a:t>
            </a:r>
            <a:br>
              <a:rPr lang="en-US" altLang="zh-CN" sz="2800" b="1" dirty="0">
                <a:solidFill>
                  <a:srgbClr val="005400"/>
                </a:solidFill>
                <a:latin typeface="Comic Sans MS" panose="030F0702030302020204" pitchFamily="66" charset="0"/>
                <a:ea typeface="宋体" panose="02010600030101010101" pitchFamily="2" charset="-122"/>
              </a:rPr>
            </a:br>
            <a:r>
              <a:rPr lang="en-US" altLang="zh-CN" sz="2800" b="1" dirty="0">
                <a:solidFill>
                  <a:srgbClr val="005400"/>
                </a:solidFill>
                <a:latin typeface="Comic Sans MS" panose="030F0702030302020204" pitchFamily="66" charset="0"/>
                <a:ea typeface="宋体" panose="02010600030101010101" pitchFamily="2" charset="-122"/>
              </a:rPr>
              <a:t>(ANSI/SPARC</a:t>
            </a:r>
            <a:r>
              <a:rPr lang="zh-CN" altLang="en-US" sz="2800" b="1" dirty="0">
                <a:solidFill>
                  <a:srgbClr val="005400"/>
                </a:solidFill>
                <a:latin typeface="Comic Sans MS" panose="030F0702030302020204" pitchFamily="66" charset="0"/>
                <a:ea typeface="宋体" panose="02010600030101010101" pitchFamily="2" charset="-122"/>
              </a:rPr>
              <a:t>体系结构)</a:t>
            </a:r>
            <a:endParaRPr lang="zh-CN" altLang="en-US" sz="2800" b="1" dirty="0">
              <a:solidFill>
                <a:srgbClr val="005400"/>
              </a:solidFill>
              <a:latin typeface="Comic Sans MS" panose="030F0702030302020204" pitchFamily="66"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10243" name="Picture 6"/>
          <p:cNvPicPr>
            <a:picLocks noChangeAspect="1"/>
          </p:cNvPicPr>
          <p:nvPr/>
        </p:nvPicPr>
        <p:blipFill>
          <a:blip r:embed="rId1"/>
          <a:stretch>
            <a:fillRect/>
          </a:stretch>
        </p:blipFill>
        <p:spPr>
          <a:xfrm>
            <a:off x="239713" y="1725613"/>
            <a:ext cx="6975475" cy="4140200"/>
          </a:xfrm>
          <a:prstGeom prst="rect">
            <a:avLst/>
          </a:prstGeom>
          <a:noFill/>
          <a:ln w="9525">
            <a:noFill/>
          </a:ln>
        </p:spPr>
      </p:pic>
      <p:sp>
        <p:nvSpPr>
          <p:cNvPr id="10244" name="Rectangle 9"/>
          <p:cNvSpPr/>
          <p:nvPr/>
        </p:nvSpPr>
        <p:spPr>
          <a:xfrm>
            <a:off x="3189288" y="225425"/>
            <a:ext cx="6530975" cy="88265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400" b="1" dirty="0">
                <a:solidFill>
                  <a:srgbClr val="005400"/>
                </a:solidFill>
                <a:latin typeface="Comic Sans MS" panose="030F0702030302020204" pitchFamily="66" charset="0"/>
                <a:ea typeface="宋体" panose="02010600030101010101" pitchFamily="2" charset="-122"/>
              </a:rPr>
              <a:t>1.The Three Levels of the Architecture</a:t>
            </a:r>
            <a:br>
              <a:rPr lang="en-US" altLang="zh-CN" sz="2400" b="1" dirty="0">
                <a:solidFill>
                  <a:srgbClr val="005400"/>
                </a:solidFill>
                <a:latin typeface="Comic Sans MS" panose="030F0702030302020204" pitchFamily="66" charset="0"/>
                <a:ea typeface="宋体" panose="02010600030101010101" pitchFamily="2" charset="-122"/>
              </a:rPr>
            </a:br>
            <a:r>
              <a:rPr lang="en-US" altLang="zh-CN" sz="2400" b="1" dirty="0">
                <a:solidFill>
                  <a:srgbClr val="005400"/>
                </a:solidFill>
                <a:latin typeface="Comic Sans MS" panose="030F0702030302020204" pitchFamily="66" charset="0"/>
                <a:ea typeface="宋体" panose="02010600030101010101" pitchFamily="2" charset="-122"/>
              </a:rPr>
              <a:t>(ANSI/SPARC</a:t>
            </a:r>
            <a:r>
              <a:rPr lang="zh-CN" altLang="en-US" sz="2400" b="1" dirty="0">
                <a:solidFill>
                  <a:srgbClr val="005400"/>
                </a:solidFill>
                <a:latin typeface="Comic Sans MS" panose="030F0702030302020204" pitchFamily="66" charset="0"/>
                <a:ea typeface="宋体" panose="02010600030101010101" pitchFamily="2" charset="-122"/>
              </a:rPr>
              <a:t>体系结构)</a:t>
            </a:r>
            <a:endParaRPr lang="zh-CN" altLang="en-US" sz="2400" b="1" dirty="0">
              <a:solidFill>
                <a:srgbClr val="005400"/>
              </a:solidFill>
              <a:latin typeface="Comic Sans MS" panose="030F0702030302020204" pitchFamily="66" charset="0"/>
              <a:ea typeface="宋体" panose="02010600030101010101" pitchFamily="2" charset="-122"/>
            </a:endParaRPr>
          </a:p>
        </p:txBody>
      </p:sp>
      <p:sp>
        <p:nvSpPr>
          <p:cNvPr id="10245" name="矩形 7"/>
          <p:cNvSpPr/>
          <p:nvPr/>
        </p:nvSpPr>
        <p:spPr>
          <a:xfrm>
            <a:off x="5621338" y="5181600"/>
            <a:ext cx="3902075" cy="646113"/>
          </a:xfrm>
          <a:prstGeom prst="rect">
            <a:avLst/>
          </a:prstGeom>
          <a:noFill/>
          <a:ln w="9525">
            <a:noFill/>
          </a:ln>
        </p:spPr>
        <p:txBody>
          <a:bodyPr>
            <a:spAutoFit/>
          </a:bodyPr>
          <a:p>
            <a:pPr>
              <a:lnSpc>
                <a:spcPct val="90000"/>
              </a:lnSpc>
            </a:pPr>
            <a:r>
              <a:rPr lang="en-US" altLang="zh-CN" sz="2000" dirty="0">
                <a:solidFill>
                  <a:schemeClr val="tx1"/>
                </a:solidFill>
                <a:latin typeface="Times New Roman" panose="02020603050405020304" pitchFamily="18" charset="0"/>
                <a:ea typeface="宋体" panose="02010600030101010101" pitchFamily="2" charset="-122"/>
              </a:rPr>
              <a:t>concerned with  the way the data is physically stored.</a:t>
            </a:r>
            <a:endParaRPr lang="zh-CN" altLang="en-US" sz="2000" dirty="0">
              <a:solidFill>
                <a:schemeClr val="tx1"/>
              </a:solidFill>
              <a:latin typeface="Times New Roman" panose="02020603050405020304" pitchFamily="18" charset="0"/>
              <a:ea typeface="宋体" panose="02010600030101010101" pitchFamily="2" charset="-122"/>
            </a:endParaRPr>
          </a:p>
        </p:txBody>
      </p:sp>
      <p:sp>
        <p:nvSpPr>
          <p:cNvPr id="10246" name="矩形 8"/>
          <p:cNvSpPr/>
          <p:nvPr/>
        </p:nvSpPr>
        <p:spPr>
          <a:xfrm>
            <a:off x="7242175" y="1757363"/>
            <a:ext cx="2281238" cy="923925"/>
          </a:xfrm>
          <a:prstGeom prst="rect">
            <a:avLst/>
          </a:prstGeom>
          <a:noFill/>
          <a:ln w="9525">
            <a:noFill/>
          </a:ln>
        </p:spPr>
        <p:txBody>
          <a:bodyPr>
            <a:spAutoFit/>
          </a:bodyPr>
          <a:p>
            <a:pPr>
              <a:lnSpc>
                <a:spcPct val="90000"/>
              </a:lnSpc>
            </a:pPr>
            <a:r>
              <a:rPr lang="en-US" altLang="zh-CN" sz="2000" dirty="0">
                <a:solidFill>
                  <a:schemeClr val="tx1"/>
                </a:solidFill>
                <a:latin typeface="Times New Roman" panose="02020603050405020304" pitchFamily="18" charset="0"/>
                <a:ea typeface="宋体" panose="02010600030101010101" pitchFamily="2" charset="-122"/>
              </a:rPr>
              <a:t>concerned with the way the data is seen by individual users.</a:t>
            </a:r>
            <a:endParaRPr lang="zh-CN" altLang="en-US" sz="2000" dirty="0">
              <a:solidFill>
                <a:schemeClr val="tx1"/>
              </a:solidFill>
              <a:latin typeface="Times New Roman" panose="02020603050405020304" pitchFamily="18" charset="0"/>
              <a:ea typeface="宋体" panose="02010600030101010101" pitchFamily="2" charset="-122"/>
            </a:endParaRPr>
          </a:p>
        </p:txBody>
      </p:sp>
      <p:sp>
        <p:nvSpPr>
          <p:cNvPr id="10247" name="矩形 9"/>
          <p:cNvSpPr/>
          <p:nvPr/>
        </p:nvSpPr>
        <p:spPr>
          <a:xfrm>
            <a:off x="892175" y="1116013"/>
            <a:ext cx="6629400" cy="368300"/>
          </a:xfrm>
          <a:prstGeom prst="rect">
            <a:avLst/>
          </a:prstGeom>
          <a:noFill/>
          <a:ln w="9525">
            <a:noFill/>
          </a:ln>
        </p:spPr>
        <p:txBody>
          <a:bodyPr>
            <a:spAutoFit/>
          </a:bodyPr>
          <a:p>
            <a:pPr>
              <a:lnSpc>
                <a:spcPct val="90000"/>
              </a:lnSpc>
            </a:pPr>
            <a:r>
              <a:rPr lang="en-US" altLang="zh-CN" sz="2000" dirty="0">
                <a:solidFill>
                  <a:schemeClr val="tx1"/>
                </a:solidFill>
                <a:latin typeface="Times New Roman" panose="02020603050405020304" pitchFamily="18" charset="0"/>
                <a:ea typeface="宋体" panose="02010600030101010101" pitchFamily="2" charset="-122"/>
              </a:rPr>
              <a:t>USER1(application programmer)         USER2(end user)     …  </a:t>
            </a:r>
            <a:endParaRPr lang="zh-CN" altLang="en-US" sz="2000" dirty="0">
              <a:solidFill>
                <a:schemeClr val="tx1"/>
              </a:solidFill>
              <a:latin typeface="Times New Roman" panose="02020603050405020304" pitchFamily="18" charset="0"/>
              <a:ea typeface="宋体" panose="02010600030101010101" pitchFamily="2" charset="-122"/>
            </a:endParaRPr>
          </a:p>
        </p:txBody>
      </p:sp>
      <p:cxnSp>
        <p:nvCxnSpPr>
          <p:cNvPr id="12" name="直接连接符 11"/>
          <p:cNvCxnSpPr/>
          <p:nvPr/>
        </p:nvCxnSpPr>
        <p:spPr bwMode="auto">
          <a:xfrm>
            <a:off x="2411413" y="1474788"/>
            <a:ext cx="685800" cy="29686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bwMode="auto">
          <a:xfrm flipV="1">
            <a:off x="4389438" y="1485900"/>
            <a:ext cx="846138" cy="27463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bwMode="auto">
          <a:xfrm flipV="1">
            <a:off x="6778625" y="1474788"/>
            <a:ext cx="250825" cy="30797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0251" name="矩形 18"/>
          <p:cNvSpPr/>
          <p:nvPr/>
        </p:nvSpPr>
        <p:spPr>
          <a:xfrm>
            <a:off x="5621338" y="4906963"/>
            <a:ext cx="1655762" cy="369887"/>
          </a:xfrm>
          <a:prstGeom prst="rect">
            <a:avLst/>
          </a:prstGeom>
          <a:noFill/>
          <a:ln w="9525">
            <a:noFill/>
          </a:ln>
        </p:spPr>
        <p:txBody>
          <a:bodyPr wrap="none">
            <a:spAutoFit/>
          </a:bodyPr>
          <a:p>
            <a:pPr>
              <a:lnSpc>
                <a:spcPct val="90000"/>
              </a:lnSpc>
            </a:pPr>
            <a:r>
              <a:rPr lang="en-US" altLang="zh-CN" sz="2000" b="1" dirty="0">
                <a:latin typeface="Times New Roman" panose="02020603050405020304" pitchFamily="18" charset="0"/>
                <a:ea typeface="宋体" panose="02010600030101010101" pitchFamily="2" charset="-122"/>
              </a:rPr>
              <a:t>Physical level</a:t>
            </a:r>
            <a:endParaRPr lang="zh-CN" altLang="en-US" sz="2000" b="1" dirty="0">
              <a:latin typeface="Times New Roman" panose="02020603050405020304" pitchFamily="18" charset="0"/>
              <a:ea typeface="宋体" panose="02010600030101010101" pitchFamily="2" charset="-122"/>
            </a:endParaRPr>
          </a:p>
        </p:txBody>
      </p:sp>
      <p:sp>
        <p:nvSpPr>
          <p:cNvPr id="10252" name="矩形 19"/>
          <p:cNvSpPr/>
          <p:nvPr/>
        </p:nvSpPr>
        <p:spPr>
          <a:xfrm>
            <a:off x="7250113" y="1468438"/>
            <a:ext cx="2028825" cy="369887"/>
          </a:xfrm>
          <a:prstGeom prst="rect">
            <a:avLst/>
          </a:prstGeom>
          <a:noFill/>
          <a:ln w="9525">
            <a:noFill/>
          </a:ln>
        </p:spPr>
        <p:txBody>
          <a:bodyPr wrap="none">
            <a:spAutoFit/>
          </a:bodyPr>
          <a:p>
            <a:pPr>
              <a:lnSpc>
                <a:spcPct val="90000"/>
              </a:lnSpc>
            </a:pPr>
            <a:r>
              <a:rPr lang="en-US" altLang="zh-CN" sz="2000" b="1" dirty="0">
                <a:latin typeface="Times New Roman" panose="02020603050405020304" pitchFamily="18" charset="0"/>
                <a:ea typeface="宋体" panose="02010600030101010101" pitchFamily="2" charset="-122"/>
              </a:rPr>
              <a:t>User logical level</a:t>
            </a:r>
            <a:endParaRPr lang="zh-CN" altLang="en-US" sz="2000" b="1" dirty="0">
              <a:latin typeface="Times New Roman" panose="02020603050405020304" pitchFamily="18" charset="0"/>
              <a:ea typeface="宋体" panose="02010600030101010101" pitchFamily="2" charset="-122"/>
            </a:endParaRPr>
          </a:p>
        </p:txBody>
      </p:sp>
      <p:sp>
        <p:nvSpPr>
          <p:cNvPr id="10253" name="矩形 20"/>
          <p:cNvSpPr/>
          <p:nvPr/>
        </p:nvSpPr>
        <p:spPr>
          <a:xfrm>
            <a:off x="5621338" y="3629025"/>
            <a:ext cx="2894012" cy="369888"/>
          </a:xfrm>
          <a:prstGeom prst="rect">
            <a:avLst/>
          </a:prstGeom>
          <a:noFill/>
          <a:ln w="9525">
            <a:noFill/>
          </a:ln>
        </p:spPr>
        <p:txBody>
          <a:bodyPr wrap="none">
            <a:spAutoFit/>
          </a:bodyPr>
          <a:p>
            <a:pPr>
              <a:lnSpc>
                <a:spcPct val="90000"/>
              </a:lnSpc>
            </a:pPr>
            <a:r>
              <a:rPr lang="en-US" altLang="zh-CN" sz="2000" b="1" dirty="0">
                <a:latin typeface="Times New Roman" panose="02020603050405020304" pitchFamily="18" charset="0"/>
                <a:ea typeface="宋体" panose="02010600030101010101" pitchFamily="2" charset="-122"/>
              </a:rPr>
              <a:t>Community logical level</a:t>
            </a:r>
            <a:endParaRPr lang="zh-CN" altLang="en-US" sz="2000" b="1" dirty="0">
              <a:latin typeface="Times New Roman" panose="02020603050405020304" pitchFamily="18" charset="0"/>
              <a:ea typeface="宋体" panose="02010600030101010101" pitchFamily="2" charset="-122"/>
            </a:endParaRPr>
          </a:p>
        </p:txBody>
      </p:sp>
      <p:sp>
        <p:nvSpPr>
          <p:cNvPr id="10254" name="矩形 14"/>
          <p:cNvSpPr/>
          <p:nvPr/>
        </p:nvSpPr>
        <p:spPr>
          <a:xfrm>
            <a:off x="5621338" y="3921125"/>
            <a:ext cx="3775075" cy="646113"/>
          </a:xfrm>
          <a:prstGeom prst="rect">
            <a:avLst/>
          </a:prstGeom>
          <a:noFill/>
          <a:ln w="9525">
            <a:noFill/>
          </a:ln>
        </p:spPr>
        <p:txBody>
          <a:bodyPr>
            <a:spAutoFit/>
          </a:bodyPr>
          <a:p>
            <a:pPr>
              <a:lnSpc>
                <a:spcPct val="90000"/>
              </a:lnSpc>
            </a:pPr>
            <a:r>
              <a:rPr lang="en-US" altLang="zh-CN" sz="2000" dirty="0">
                <a:solidFill>
                  <a:schemeClr val="tx1"/>
                </a:solidFill>
                <a:latin typeface="Times New Roman" panose="02020603050405020304" pitchFamily="18" charset="0"/>
                <a:ea typeface="宋体" panose="02010600030101010101" pitchFamily="2" charset="-122"/>
              </a:rPr>
              <a:t>a representation of the entire information content of the database</a:t>
            </a:r>
            <a:endParaRPr lang="zh-CN" altLang="en-US" sz="20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graphicFrame>
        <p:nvGraphicFramePr>
          <p:cNvPr id="12291" name="Object 3"/>
          <p:cNvGraphicFramePr>
            <a:graphicFrameLocks noChangeAspect="1"/>
          </p:cNvGraphicFramePr>
          <p:nvPr>
            <p:ph idx="1"/>
          </p:nvPr>
        </p:nvGraphicFramePr>
        <p:xfrm>
          <a:off x="241300" y="469900"/>
          <a:ext cx="9350375" cy="4694238"/>
        </p:xfrm>
        <a:graphic>
          <a:graphicData uri="http://schemas.openxmlformats.org/presentationml/2006/ole">
            <mc:AlternateContent xmlns:mc="http://schemas.openxmlformats.org/markup-compatibility/2006">
              <mc:Choice xmlns:v="urn:schemas-microsoft-com:vml" Requires="v">
                <p:oleObj spid="_x0000_s3076" name="" r:id="rId1" imgW="8115300" imgH="4391025" progId="Paint.Picture">
                  <p:embed/>
                </p:oleObj>
              </mc:Choice>
              <mc:Fallback>
                <p:oleObj name="" r:id="rId1" imgW="8115300" imgH="4391025" progId="Paint.Picture">
                  <p:embed/>
                  <p:pic>
                    <p:nvPicPr>
                      <p:cNvPr id="0" name="图片 3075"/>
                      <p:cNvPicPr/>
                      <p:nvPr/>
                    </p:nvPicPr>
                    <p:blipFill>
                      <a:blip r:embed="rId2"/>
                      <a:srcRect/>
                      <a:stretch>
                        <a:fillRect/>
                      </a:stretch>
                    </p:blipFill>
                    <p:spPr>
                      <a:xfrm>
                        <a:off x="241300" y="469900"/>
                        <a:ext cx="9350375" cy="4694238"/>
                      </a:xfrm>
                      <a:prstGeom prst="rect">
                        <a:avLst/>
                      </a:prstGeom>
                      <a:noFill/>
                      <a:ln w="38100">
                        <a:miter/>
                      </a:ln>
                    </p:spPr>
                  </p:pic>
                </p:oleObj>
              </mc:Fallback>
            </mc:AlternateContent>
          </a:graphicData>
        </a:graphic>
      </p:graphicFrame>
      <p:sp>
        <p:nvSpPr>
          <p:cNvPr id="12292" name="Rectangle 7"/>
          <p:cNvSpPr/>
          <p:nvPr/>
        </p:nvSpPr>
        <p:spPr>
          <a:xfrm>
            <a:off x="3503613" y="158750"/>
            <a:ext cx="5808662" cy="425450"/>
          </a:xfrm>
          <a:prstGeom prst="rect">
            <a:avLst/>
          </a:prstGeom>
          <a:noFill/>
          <a:ln w="12700">
            <a:noFill/>
          </a:ln>
        </p:spPr>
        <p:txBody>
          <a:bodyPr wrap="none">
            <a:spAutoFit/>
          </a:bodyPr>
          <a:p>
            <a:pPr>
              <a:lnSpc>
                <a:spcPct val="90000"/>
              </a:lnSpc>
              <a:spcBef>
                <a:spcPct val="30000"/>
              </a:spcBef>
              <a:buClr>
                <a:srgbClr val="037C03"/>
              </a:buClr>
              <a:buSzPct val="100000"/>
              <a:buFont typeface="Monotype Sorts" pitchFamily="2" charset="2"/>
            </a:pPr>
            <a:r>
              <a:rPr lang="en-US" altLang="zh-CN" sz="2400" b="1" dirty="0">
                <a:solidFill>
                  <a:schemeClr val="tx1"/>
                </a:solidFill>
                <a:latin typeface="Arial" panose="020B0604020202020204" pitchFamily="34" charset="0"/>
                <a:ea typeface="宋体" panose="02010600030101010101" pitchFamily="2" charset="-122"/>
              </a:rPr>
              <a:t> Fig. 2.2</a:t>
            </a:r>
            <a:r>
              <a:rPr lang="en-US" altLang="zh-CN" b="1" dirty="0">
                <a:latin typeface="Times New Roman" panose="02020603050405020304" pitchFamily="18" charset="0"/>
                <a:ea typeface="宋体" panose="02010600030101010101" pitchFamily="2" charset="-122"/>
              </a:rPr>
              <a:t> </a:t>
            </a:r>
            <a:r>
              <a:rPr lang="en-US" altLang="zh-CN" sz="2400" b="1" dirty="0">
                <a:solidFill>
                  <a:schemeClr val="tx1"/>
                </a:solidFill>
                <a:latin typeface="Arial" panose="020B0604020202020204" pitchFamily="34" charset="0"/>
                <a:ea typeface="宋体" panose="02010600030101010101" pitchFamily="2" charset="-122"/>
              </a:rPr>
              <a:t>An example of the three levels</a:t>
            </a:r>
            <a:endParaRPr lang="zh-CN" altLang="en-US" sz="2400" b="1" dirty="0">
              <a:solidFill>
                <a:schemeClr val="tx1"/>
              </a:solidFill>
              <a:latin typeface="Arial" panose="020B0604020202020204" pitchFamily="34" charset="0"/>
              <a:ea typeface="宋体" panose="02010600030101010101" pitchFamily="2" charset="-122"/>
            </a:endParaRPr>
          </a:p>
        </p:txBody>
      </p:sp>
      <p:sp>
        <p:nvSpPr>
          <p:cNvPr id="123913" name="Text Box 9"/>
          <p:cNvSpPr txBox="1">
            <a:spLocks noChangeArrowheads="1"/>
          </p:cNvSpPr>
          <p:nvPr/>
        </p:nvSpPr>
        <p:spPr bwMode="auto">
          <a:xfrm>
            <a:off x="974725" y="5210175"/>
            <a:ext cx="7673975" cy="1647825"/>
          </a:xfrm>
          <a:prstGeom prst="rect">
            <a:avLst/>
          </a:prstGeom>
          <a:solidFill>
            <a:srgbClr val="009900"/>
          </a:solidFill>
          <a:ln w="12700">
            <a:noFill/>
            <a:miter lim="800000"/>
          </a:ln>
          <a:effectLst>
            <a:prstShdw prst="shdw17" dist="53882" dir="2700000">
              <a:srgbClr val="009900">
                <a:gamma/>
                <a:shade val="60000"/>
                <a:invGamma/>
              </a:srgbClr>
            </a:prstShdw>
          </a:effectLst>
        </p:spPr>
        <p:txBody>
          <a:bodyPr>
            <a:spAutoFit/>
          </a:bodyPr>
          <a:lstStyle/>
          <a:p>
            <a:pPr marR="0" defTabSz="914400">
              <a:lnSpc>
                <a:spcPct val="90000"/>
              </a:lnSpc>
              <a:spcBef>
                <a:spcPct val="50000"/>
              </a:spcBef>
              <a:buClrTx/>
              <a:buSzTx/>
              <a:buFontTx/>
              <a:buNone/>
              <a:defRPr/>
            </a:pPr>
            <a:r>
              <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rPr>
              <a:t>CREATE VIEW EMPC(EMPNO,DEPTNO)</a:t>
            </a:r>
            <a:endPar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endParaRPr>
          </a:p>
          <a:p>
            <a:pPr marR="0" defTabSz="914400">
              <a:lnSpc>
                <a:spcPct val="90000"/>
              </a:lnSpc>
              <a:spcBef>
                <a:spcPct val="50000"/>
              </a:spcBef>
              <a:buClrTx/>
              <a:buSzTx/>
              <a:buFontTx/>
              <a:buNone/>
              <a:defRPr/>
            </a:pPr>
            <a:r>
              <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rPr>
              <a:t>AS SELECT EMPLOYEE_NUMBER, DEPARTMENT_NUMBER</a:t>
            </a:r>
            <a:endPar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endParaRPr>
          </a:p>
          <a:p>
            <a:pPr marR="0" defTabSz="914400">
              <a:lnSpc>
                <a:spcPct val="90000"/>
              </a:lnSpc>
              <a:spcBef>
                <a:spcPct val="50000"/>
              </a:spcBef>
              <a:buClrTx/>
              <a:buSzTx/>
              <a:buFontTx/>
              <a:buNone/>
              <a:defRPr/>
            </a:pPr>
            <a:r>
              <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rPr>
              <a:t>      FROM EMPLOYEE;</a:t>
            </a:r>
            <a:endPar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endParaRPr>
          </a:p>
          <a:p>
            <a:pPr marR="0" defTabSz="914400">
              <a:lnSpc>
                <a:spcPct val="90000"/>
              </a:lnSpc>
              <a:spcBef>
                <a:spcPct val="50000"/>
              </a:spcBef>
              <a:buClrTx/>
              <a:buSzTx/>
              <a:buFontTx/>
              <a:buNone/>
              <a:defRPr/>
            </a:pPr>
            <a:r>
              <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rPr>
              <a:t>GRANT SELECT ON EMPC TO USER02;</a:t>
            </a:r>
            <a:endParaRPr kumimoji="0" lang="en-US" altLang="zh-CN" sz="2000" b="1" kern="1200" cap="none" spc="0" normalizeH="0" baseline="0" noProof="0" dirty="0">
              <a:solidFill>
                <a:schemeClr val="bg1"/>
              </a:solidFill>
              <a:effectLst>
                <a:outerShdw blurRad="38100" dist="38100" dir="2700000" algn="tl">
                  <a:srgbClr val="000000"/>
                </a:outerShdw>
              </a:effectLst>
              <a:latin typeface="+mn-lt"/>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4339" name="Rectangle 2"/>
          <p:cNvSpPr>
            <a:spLocks noGrp="1"/>
          </p:cNvSpPr>
          <p:nvPr>
            <p:ph type="title"/>
          </p:nvPr>
        </p:nvSpPr>
        <p:spPr>
          <a:xfrm>
            <a:off x="1208088" y="847725"/>
            <a:ext cx="7429500" cy="787400"/>
          </a:xfrm>
          <a:ln/>
        </p:spPr>
        <p:txBody>
          <a:bodyPr vert="horz" wrap="square" lIns="90488" tIns="44450" rIns="90488" bIns="44450" anchor="ctr" anchorCtr="0"/>
          <a:p>
            <a:pPr/>
            <a:r>
              <a:rPr lang="en-US" altLang="zh-CN" dirty="0">
                <a:latin typeface="+mj-lt"/>
                <a:ea typeface="+mj-ea"/>
                <a:cs typeface="+mj-cs"/>
              </a:rPr>
              <a:t>1.1 Conceptual Level</a:t>
            </a:r>
            <a:endParaRPr lang="zh-CN" altLang="en-US" dirty="0">
              <a:latin typeface="+mj-lt"/>
              <a:ea typeface="+mj-ea"/>
              <a:cs typeface="+mj-cs"/>
            </a:endParaRPr>
          </a:p>
        </p:txBody>
      </p:sp>
      <p:sp>
        <p:nvSpPr>
          <p:cNvPr id="8196" name="Rectangle 3"/>
          <p:cNvSpPr>
            <a:spLocks noGrp="1" noChangeArrowheads="1"/>
          </p:cNvSpPr>
          <p:nvPr>
            <p:ph idx="1"/>
          </p:nvPr>
        </p:nvSpPr>
        <p:spPr>
          <a:xfrm>
            <a:off x="590550" y="1738313"/>
            <a:ext cx="8589963" cy="4568825"/>
          </a:xfrm>
        </p:spPr>
        <p:txBody>
          <a:bodyPr vert="horz" wrap="square" lIns="90488" tIns="44450" rIns="90488" bIns="44450" numCol="1" anchor="t" anchorCtr="0" compatLnSpc="1"/>
          <a:lstStyle/>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a:t>
            </a:r>
            <a:r>
              <a:rPr kumimoji="0" lang="en-US" altLang="zh-CN" sz="2550" b="1" i="0" u="none" strike="noStrike" kern="0" cap="none" spc="0" normalizeH="0" baseline="0" noProof="0" dirty="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conceptual view</a:t>
            </a: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550" b="1" i="0" u="none" strike="noStrike" kern="0" cap="none" spc="0" normalizeH="0" baseline="0" noProof="0" dirty="0" smtClean="0">
                <a:ln>
                  <a:noFill/>
                </a:ln>
                <a:solidFill>
                  <a:srgbClr val="0033CC"/>
                </a:solidFill>
                <a:effectLst/>
                <a:uLnTx/>
                <a:uFillTx/>
                <a:latin typeface="华文仿宋" panose="02010600040101010101" pitchFamily="2" charset="-122"/>
                <a:ea typeface="华文仿宋" panose="02010600040101010101" pitchFamily="2" charset="-122"/>
                <a:cs typeface="Times New Roman" panose="02020603050405020304" pitchFamily="18" charset="0"/>
              </a:rPr>
              <a:t>概念视图</a:t>
            </a: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)is a representation of the entire information content of the database. </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conceptual view is defined by means of the </a:t>
            </a:r>
            <a:r>
              <a:rPr kumimoji="0" lang="en-US" altLang="zh-CN" sz="2550" b="1" i="0" u="none" strike="noStrike" kern="0" cap="none" spc="0" normalizeH="0" baseline="0" noProof="0" dirty="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conceptual schema</a:t>
            </a: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550" b="1" i="0" u="none" strike="noStrike" kern="0" cap="none" spc="0" normalizeH="0" baseline="0" noProof="0" dirty="0" smtClean="0">
                <a:ln>
                  <a:noFill/>
                </a:ln>
                <a:solidFill>
                  <a:srgbClr val="0033CC"/>
                </a:solidFill>
                <a:effectLst/>
                <a:uLnTx/>
                <a:uFillTx/>
                <a:latin typeface="华文仿宋" panose="02010600040101010101" pitchFamily="2" charset="-122"/>
                <a:ea typeface="华文仿宋" panose="02010600040101010101" pitchFamily="2" charset="-122"/>
                <a:cs typeface="Times New Roman" panose="02020603050405020304" pitchFamily="18" charset="0"/>
              </a:rPr>
              <a:t>概念模式</a:t>
            </a: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zh-CN" altLang="en-US"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我们以关系数据库为例，模式描述的是关系数据库中的所有关系（二维表）的结构，而对关系的描述就是关系模式，因此，关系数据库的模式就是指数据库中全体关系模式的集合。</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zh-CN" altLang="en-US"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例如：高校教务管理数据库：学生表、班级表、专业表、系表、课程表</a:t>
            </a: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5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6387" name="Rectangle 2"/>
          <p:cNvSpPr>
            <a:spLocks noGrp="1"/>
          </p:cNvSpPr>
          <p:nvPr>
            <p:ph type="title"/>
          </p:nvPr>
        </p:nvSpPr>
        <p:spPr>
          <a:xfrm>
            <a:off x="1208088" y="847725"/>
            <a:ext cx="7429500" cy="787400"/>
          </a:xfrm>
          <a:ln/>
        </p:spPr>
        <p:txBody>
          <a:bodyPr vert="horz" wrap="square" lIns="90488" tIns="44450" rIns="90488" bIns="44450" anchor="ctr" anchorCtr="0"/>
          <a:p>
            <a:pPr/>
            <a:r>
              <a:rPr lang="en-US" altLang="zh-CN" dirty="0">
                <a:latin typeface="+mj-lt"/>
                <a:ea typeface="+mj-ea"/>
                <a:cs typeface="+mj-cs"/>
              </a:rPr>
              <a:t>1.1 Conceptual Level</a:t>
            </a:r>
            <a:endParaRPr lang="zh-CN" altLang="en-US" dirty="0">
              <a:latin typeface="+mj-lt"/>
              <a:ea typeface="+mj-ea"/>
              <a:cs typeface="+mj-cs"/>
            </a:endParaRPr>
          </a:p>
        </p:txBody>
      </p:sp>
      <p:sp>
        <p:nvSpPr>
          <p:cNvPr id="8196" name="Rectangle 3"/>
          <p:cNvSpPr>
            <a:spLocks noGrp="1" noChangeArrowheads="1"/>
          </p:cNvSpPr>
          <p:nvPr>
            <p:ph idx="1"/>
          </p:nvPr>
        </p:nvSpPr>
        <p:spPr>
          <a:xfrm>
            <a:off x="881063" y="1935163"/>
            <a:ext cx="8085138" cy="4376738"/>
          </a:xfrm>
        </p:spPr>
        <p:txBody>
          <a:bodyPr vert="horz" wrap="square" lIns="90488" tIns="44450" rIns="90488" bIns="44450" numCol="1" anchor="t" anchorCtr="0" compatLnSpc="1"/>
          <a:lstStyle/>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conceptual schema is written using the </a:t>
            </a:r>
            <a:r>
              <a:rPr kumimoji="0" lang="en-US" altLang="zh-CN" sz="2550" b="1" i="0" u="none" strike="noStrike" kern="0" cap="none" spc="0" normalizeH="0" baseline="0" noProof="0" dirty="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conceptual DDL</a:t>
            </a:r>
            <a:r>
              <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zh-CN" altLang="en-US"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模式和数据</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ct val="30000"/>
              </a:spcBef>
              <a:spcAft>
                <a:spcPct val="0"/>
              </a:spcAft>
              <a:buClr>
                <a:srgbClr val="009900"/>
              </a:buClr>
              <a:buSzPct val="150000"/>
              <a:buFont typeface="Wingdings" panose="05000000000000000000" pitchFamily="2" charset="2"/>
              <a:buChar char="§"/>
              <a:defRPr/>
            </a:pPr>
            <a:r>
              <a:rPr kumimoji="0" lang="zh-CN" altLang="en-US"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模式：对数据的描述和定义</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ct val="30000"/>
              </a:spcBef>
              <a:spcAft>
                <a:spcPct val="0"/>
              </a:spcAft>
              <a:buClr>
                <a:srgbClr val="009900"/>
              </a:buClr>
              <a:buSzPct val="150000"/>
              <a:buFont typeface="Wingdings" panose="05000000000000000000" pitchFamily="2" charset="2"/>
              <a:buChar char="§"/>
              <a:defRPr/>
            </a:pPr>
            <a:r>
              <a:rPr kumimoji="0" lang="zh-CN" altLang="en-US"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数据：数据本身</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Char char="n"/>
              <a:defRPr/>
            </a:pPr>
            <a:r>
              <a:rPr kumimoji="0" lang="zh-CN" altLang="en-US"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模式的分类</a:t>
            </a:r>
            <a:endParaRPr kumimoji="0" lang="en-US" altLang="zh-CN" sz="25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ct val="30000"/>
              </a:spcBef>
              <a:spcAft>
                <a:spcPct val="0"/>
              </a:spcAft>
              <a:buClr>
                <a:srgbClr val="009900"/>
              </a:buClr>
              <a:buSzPct val="150000"/>
              <a:buFont typeface="Wingdings" panose="05000000000000000000" pitchFamily="2" charset="2"/>
              <a:buChar char="§"/>
              <a:defRPr/>
            </a:pPr>
            <a:r>
              <a:rPr kumimoji="0" lang="zh-CN" altLang="en-US" sz="21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源</a:t>
            </a:r>
            <a:r>
              <a:rPr kumimoji="0" lang="zh-CN" altLang="en-US" sz="21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a:t>
            </a:r>
            <a:r>
              <a:rPr kumimoji="0" lang="en-US" altLang="zh-CN" sz="21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DBA</a:t>
            </a:r>
            <a:r>
              <a:rPr kumimoji="0" lang="zh-CN" altLang="en-US" sz="21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负责写</a:t>
            </a:r>
            <a:r>
              <a:rPr kumimoji="0" lang="zh-CN" altLang="en-US" sz="21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）：没有运行的</a:t>
            </a:r>
            <a:r>
              <a:rPr kumimoji="0" lang="en-US" altLang="zh-CN" sz="21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SQL</a:t>
            </a:r>
            <a:r>
              <a:rPr kumimoji="0" lang="zh-CN" altLang="en-US" sz="21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语句</a:t>
            </a:r>
            <a:endParaRPr kumimoji="0" lang="en-US" altLang="zh-CN" sz="21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ct val="30000"/>
              </a:spcBef>
              <a:spcAft>
                <a:spcPct val="0"/>
              </a:spcAft>
              <a:buClr>
                <a:srgbClr val="009900"/>
              </a:buClr>
              <a:buSzPct val="150000"/>
              <a:buFont typeface="Wingdings" panose="05000000000000000000" pitchFamily="2" charset="2"/>
              <a:buChar char="§"/>
              <a:defRPr/>
            </a:pPr>
            <a:r>
              <a:rPr kumimoji="0" lang="zh-CN" altLang="en-US" sz="215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目标</a:t>
            </a:r>
            <a:r>
              <a:rPr kumimoji="0" lang="zh-CN" altLang="en-US" sz="21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模式（保存在数据字典中）：运行好的，在数据库能查到的</a:t>
            </a:r>
            <a:r>
              <a:rPr kumimoji="0" lang="en-US" altLang="zh-CN" sz="21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215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2"/>
          <p:cNvSpPr>
            <a:spLocks noGrp="1"/>
          </p:cNvSpPr>
          <p:nvPr>
            <p:ph idx="1"/>
          </p:nvPr>
        </p:nvSpPr>
        <p:spPr>
          <a:xfrm>
            <a:off x="403225" y="1770063"/>
            <a:ext cx="9059863" cy="941387"/>
          </a:xfrm>
          <a:ln/>
        </p:spPr>
        <p:txBody>
          <a:bodyPr vert="horz" wrap="square" lIns="90488" tIns="44450" rIns="90488" bIns="44450" anchor="t" anchorCtr="0"/>
          <a:p>
            <a:pPr>
              <a:buSzPct val="100000"/>
            </a:pPr>
            <a:r>
              <a:rPr lang="zh-CN" altLang="en-US" sz="2600" dirty="0">
                <a:latin typeface="Times New Roman" panose="02020603050405020304" pitchFamily="18" charset="0"/>
                <a:ea typeface="宋体" panose="02010600030101010101" pitchFamily="2" charset="-122"/>
                <a:cs typeface="+mn-cs"/>
              </a:rPr>
              <a:t>以“</a:t>
            </a:r>
            <a:r>
              <a:rPr lang="en-US" altLang="zh-CN" sz="2600" dirty="0">
                <a:latin typeface="Times New Roman" panose="02020603050405020304" pitchFamily="18" charset="0"/>
                <a:ea typeface="宋体" panose="02010600030101010101" pitchFamily="2" charset="-122"/>
                <a:cs typeface="+mn-cs"/>
              </a:rPr>
              <a:t>SCOTT/tiger”</a:t>
            </a:r>
            <a:r>
              <a:rPr lang="zh-CN" altLang="en-US" sz="2600" dirty="0">
                <a:latin typeface="Times New Roman" panose="02020603050405020304" pitchFamily="18" charset="0"/>
                <a:ea typeface="宋体" panose="02010600030101010101" pitchFamily="2" charset="-122"/>
                <a:cs typeface="+mn-cs"/>
              </a:rPr>
              <a:t>身份登录</a:t>
            </a:r>
            <a:r>
              <a:rPr lang="en-US" altLang="zh-CN" sz="2600" dirty="0">
                <a:latin typeface="Times New Roman" panose="02020603050405020304" pitchFamily="18" charset="0"/>
                <a:ea typeface="宋体" panose="02010600030101010101" pitchFamily="2" charset="-122"/>
                <a:cs typeface="+mn-cs"/>
              </a:rPr>
              <a:t>ORACLE</a:t>
            </a:r>
            <a:r>
              <a:rPr lang="zh-CN" altLang="en-US" sz="2600" dirty="0">
                <a:latin typeface="Times New Roman" panose="02020603050405020304" pitchFamily="18" charset="0"/>
                <a:ea typeface="宋体" panose="02010600030101010101" pitchFamily="2" charset="-122"/>
                <a:cs typeface="+mn-cs"/>
              </a:rPr>
              <a:t>的</a:t>
            </a:r>
            <a:r>
              <a:rPr lang="en-US" altLang="zh-CN" sz="2600" dirty="0">
                <a:latin typeface="Times New Roman" panose="02020603050405020304" pitchFamily="18" charset="0"/>
                <a:ea typeface="宋体" panose="02010600030101010101" pitchFamily="2" charset="-122"/>
                <a:cs typeface="+mn-cs"/>
              </a:rPr>
              <a:t>SQL PLUS</a:t>
            </a:r>
            <a:r>
              <a:rPr lang="zh-CN" altLang="en-US" sz="2600" dirty="0">
                <a:latin typeface="Times New Roman" panose="02020603050405020304" pitchFamily="18" charset="0"/>
                <a:ea typeface="宋体" panose="02010600030101010101" pitchFamily="2" charset="-122"/>
                <a:cs typeface="+mn-cs"/>
              </a:rPr>
              <a:t>，创建订单数据库，定义概念模式。</a:t>
            </a:r>
            <a:endParaRPr lang="zh-CN" altLang="en-US" sz="2600" dirty="0">
              <a:latin typeface="Times New Roman" panose="02020603050405020304" pitchFamily="18" charset="0"/>
              <a:ea typeface="宋体" panose="02010600030101010101" pitchFamily="2" charset="-122"/>
              <a:cs typeface="+mn-cs"/>
            </a:endParaRPr>
          </a:p>
        </p:txBody>
      </p:sp>
      <p:sp>
        <p:nvSpPr>
          <p:cNvPr id="18435"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18436" name="Picture 2"/>
          <p:cNvPicPr>
            <a:picLocks noChangeAspect="1"/>
          </p:cNvPicPr>
          <p:nvPr/>
        </p:nvPicPr>
        <p:blipFill>
          <a:blip r:embed="rId1"/>
          <a:stretch>
            <a:fillRect/>
          </a:stretch>
        </p:blipFill>
        <p:spPr>
          <a:xfrm>
            <a:off x="1230313" y="2713038"/>
            <a:ext cx="7148512" cy="3213100"/>
          </a:xfrm>
          <a:prstGeom prst="rect">
            <a:avLst/>
          </a:prstGeom>
          <a:noFill/>
          <a:ln w="12700">
            <a:noFill/>
          </a:ln>
        </p:spPr>
      </p:pic>
      <p:sp>
        <p:nvSpPr>
          <p:cNvPr id="6" name="标题 1"/>
          <p:cNvSpPr txBox="1"/>
          <p:nvPr/>
        </p:nvSpPr>
        <p:spPr bwMode="auto">
          <a:xfrm>
            <a:off x="1797050" y="865188"/>
            <a:ext cx="6581775" cy="730250"/>
          </a:xfrm>
          <a:prstGeom prst="rect">
            <a:avLst/>
          </a:prstGeom>
        </p:spPr>
        <p:style>
          <a:lnRef idx="1">
            <a:schemeClr val="accent2"/>
          </a:lnRef>
          <a:fillRef idx="2">
            <a:schemeClr val="accent2"/>
          </a:fillRef>
          <a:effectRef idx="1">
            <a:schemeClr val="accent2"/>
          </a:effectRef>
          <a:fontRef idx="minor">
            <a:schemeClr val="dk1"/>
          </a:fontRef>
        </p:style>
        <p:txBody>
          <a:bodyPr lIns="90488" tIns="44450" rIns="90488" bIns="44450" anchor="ctr"/>
          <a:lstStyle>
            <a:lvl1pPr algn="ctr" rtl="0" eaLnBrk="0" fontAlgn="base" hangingPunct="0">
              <a:lnSpc>
                <a:spcPct val="90000"/>
              </a:lnSpc>
              <a:spcBef>
                <a:spcPct val="0"/>
              </a:spcBef>
              <a:spcAft>
                <a:spcPct val="0"/>
              </a:spcAft>
              <a:defRPr sz="3000" b="1">
                <a:solidFill>
                  <a:srgbClr val="005400"/>
                </a:solidFill>
                <a:latin typeface="+mj-lt"/>
                <a:ea typeface="+mj-ea"/>
                <a:cs typeface="+mj-cs"/>
              </a:defRPr>
            </a:lvl1pPr>
            <a:lvl2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2pPr>
            <a:lvl3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3pPr>
            <a:lvl4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4pPr>
            <a:lvl5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5pPr>
            <a:lvl6pPr marL="4572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6pPr>
            <a:lvl7pPr marL="9144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7pPr>
            <a:lvl8pPr marL="13716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8pPr>
            <a:lvl9pPr marL="18288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案例</a:t>
            </a:r>
            <a:r>
              <a:rPr kumimoji="0" lang="en-US" altLang="zh-CN" sz="3000" b="1" i="0" u="none" strike="noStrike" kern="0" cap="none" spc="0" normalizeH="0" baseline="0" noProof="0" dirty="0" smtClean="0">
                <a:ln>
                  <a:noFill/>
                </a:ln>
                <a:solidFill>
                  <a:srgbClr val="005400"/>
                </a:solidFill>
                <a:effectLst/>
                <a:uLnTx/>
                <a:uFillTx/>
                <a:latin typeface="+mj-lt"/>
                <a:ea typeface="+mj-ea"/>
                <a:cs typeface="+mj-cs"/>
              </a:rPr>
              <a:t>1</a:t>
            </a: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：订单数据库的概念模式定义</a:t>
            </a:r>
            <a:endParaRPr kumimoji="0" lang="zh-CN" altLang="en-US" sz="3000" b="1" i="0" u="none" strike="noStrike" kern="0" cap="none" spc="0" normalizeH="0" baseline="0" noProof="0" dirty="0" smtClean="0">
              <a:ln>
                <a:noFill/>
              </a:ln>
              <a:solidFill>
                <a:srgbClr val="005400"/>
              </a:solidFill>
              <a:effectLst/>
              <a:uLnTx/>
              <a:uFillTx/>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19459" name="图片 4"/>
          <p:cNvPicPr>
            <a:picLocks noChangeAspect="1"/>
          </p:cNvPicPr>
          <p:nvPr/>
        </p:nvPicPr>
        <p:blipFill>
          <a:blip r:embed="rId1"/>
          <a:stretch>
            <a:fillRect/>
          </a:stretch>
        </p:blipFill>
        <p:spPr>
          <a:xfrm>
            <a:off x="338138" y="1173163"/>
            <a:ext cx="9159875" cy="4600575"/>
          </a:xfrm>
          <a:prstGeom prst="rect">
            <a:avLst/>
          </a:prstGeom>
          <a:noFill/>
          <a:ln w="9525">
            <a:noFill/>
          </a:ln>
        </p:spPr>
      </p:pic>
      <p:sp>
        <p:nvSpPr>
          <p:cNvPr id="6" name="标题 1"/>
          <p:cNvSpPr>
            <a:spLocks noGrp="1"/>
          </p:cNvSpPr>
          <p:nvPr>
            <p:ph type="title"/>
          </p:nvPr>
        </p:nvSpPr>
        <p:spPr>
          <a:xfrm>
            <a:off x="4173538" y="304800"/>
            <a:ext cx="4141788" cy="681038"/>
          </a:xfrm>
        </p:spPr>
        <p:style>
          <a:lnRef idx="1">
            <a:schemeClr val="accent2"/>
          </a:lnRef>
          <a:fillRef idx="2">
            <a:schemeClr val="accent2"/>
          </a:fillRef>
          <a:effectRef idx="1">
            <a:schemeClr val="accent2"/>
          </a:effectRef>
          <a:fontRef idx="minor">
            <a:schemeClr val="dk1"/>
          </a:fontRef>
        </p:style>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订单数据库表结构</a:t>
            </a:r>
            <a:endParaRPr kumimoji="0" lang="zh-CN" altLang="en-US" sz="3000" b="1" i="0" u="none" strike="noStrike" kern="0" cap="none" spc="0" normalizeH="0" baseline="0" noProof="0" dirty="0">
              <a:ln>
                <a:noFill/>
              </a:ln>
              <a:solidFill>
                <a:srgbClr val="005400"/>
              </a:solidFill>
              <a:effectLst/>
              <a:uLnTx/>
              <a:uFillTx/>
              <a:latin typeface="+mj-lt"/>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5" name="标题 1"/>
          <p:cNvSpPr>
            <a:spLocks noGrp="1"/>
          </p:cNvSpPr>
          <p:nvPr>
            <p:ph type="title"/>
          </p:nvPr>
        </p:nvSpPr>
        <p:spPr>
          <a:xfrm>
            <a:off x="4173538" y="304800"/>
            <a:ext cx="4141788" cy="681038"/>
          </a:xfrm>
        </p:spPr>
        <p:style>
          <a:lnRef idx="1">
            <a:schemeClr val="accent2"/>
          </a:lnRef>
          <a:fillRef idx="2">
            <a:schemeClr val="accent2"/>
          </a:fillRef>
          <a:effectRef idx="1">
            <a:schemeClr val="accent2"/>
          </a:effectRef>
          <a:fontRef idx="minor">
            <a:schemeClr val="dk1"/>
          </a:fontRef>
        </p:style>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订单数据库表结构</a:t>
            </a:r>
            <a:endParaRPr kumimoji="0" lang="zh-CN" altLang="en-US" sz="3000" b="1" i="0" u="none" strike="noStrike" kern="0" cap="none" spc="0" normalizeH="0" baseline="0" noProof="0" dirty="0">
              <a:ln>
                <a:noFill/>
              </a:ln>
              <a:solidFill>
                <a:srgbClr val="005400"/>
              </a:solidFill>
              <a:effectLst/>
              <a:uLnTx/>
              <a:uFillTx/>
              <a:latin typeface="+mj-lt"/>
              <a:ea typeface="+mj-ea"/>
              <a:cs typeface="+mj-cs"/>
            </a:endParaRPr>
          </a:p>
        </p:txBody>
      </p:sp>
      <p:pic>
        <p:nvPicPr>
          <p:cNvPr id="20484" name="图片 5"/>
          <p:cNvPicPr>
            <a:picLocks noChangeAspect="1"/>
          </p:cNvPicPr>
          <p:nvPr/>
        </p:nvPicPr>
        <p:blipFill>
          <a:blip r:embed="rId1"/>
          <a:stretch>
            <a:fillRect/>
          </a:stretch>
        </p:blipFill>
        <p:spPr>
          <a:xfrm>
            <a:off x="215900" y="1379538"/>
            <a:ext cx="9369425" cy="414972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21507" name="内容占位符 4"/>
          <p:cNvPicPr>
            <a:picLocks noGrp="1"/>
          </p:cNvPicPr>
          <p:nvPr>
            <p:ph idx="1"/>
          </p:nvPr>
        </p:nvPicPr>
        <p:blipFill>
          <a:blip r:embed="rId1"/>
          <a:srcRect r="55853" b="51077"/>
          <a:stretch>
            <a:fillRect/>
          </a:stretch>
        </p:blipFill>
        <p:spPr>
          <a:xfrm>
            <a:off x="2195513" y="1169988"/>
            <a:ext cx="5343525" cy="4465637"/>
          </a:xfrm>
          <a:ln>
            <a:solidFill>
              <a:srgbClr val="99CCFF">
                <a:alpha val="100000"/>
              </a:srgbClr>
            </a:solidFill>
            <a:miter lim="800000"/>
            <a:headEnd/>
            <a:tailEnd/>
          </a:ln>
        </p:spPr>
      </p:pic>
      <p:sp>
        <p:nvSpPr>
          <p:cNvPr id="4101" name="标题 1"/>
          <p:cNvSpPr>
            <a:spLocks noGrp="1"/>
          </p:cNvSpPr>
          <p:nvPr>
            <p:ph type="title"/>
          </p:nvPr>
        </p:nvSpPr>
        <p:spPr>
          <a:xfrm>
            <a:off x="4173538" y="304800"/>
            <a:ext cx="4141788" cy="681038"/>
          </a:xfrm>
        </p:spPr>
        <p:style>
          <a:lnRef idx="1">
            <a:schemeClr val="accent2"/>
          </a:lnRef>
          <a:fillRef idx="2">
            <a:schemeClr val="accent2"/>
          </a:fillRef>
          <a:effectRef idx="1">
            <a:schemeClr val="accent2"/>
          </a:effectRef>
          <a:fontRef idx="minor">
            <a:schemeClr val="dk1"/>
          </a:fontRef>
        </p:style>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3000" b="1" i="0" u="none" strike="noStrike" kern="0" cap="none" spc="0" normalizeH="0" baseline="0" noProof="0" dirty="0">
                <a:ln>
                  <a:noFill/>
                </a:ln>
                <a:solidFill>
                  <a:srgbClr val="005400"/>
                </a:solidFill>
                <a:effectLst/>
                <a:uLnTx/>
                <a:uFillTx/>
                <a:latin typeface="+mj-lt"/>
                <a:ea typeface="+mj-ea"/>
                <a:cs typeface="+mj-cs"/>
              </a:rPr>
              <a:t>CREATE TABLE</a:t>
            </a:r>
            <a:endParaRPr kumimoji="0" lang="zh-CN" altLang="en-US" sz="3000" b="1" i="0" u="none" strike="noStrike" kern="0" cap="none" spc="0" normalizeH="0" baseline="0" noProof="0" dirty="0">
              <a:ln>
                <a:noFill/>
              </a:ln>
              <a:solidFill>
                <a:srgbClr val="005400"/>
              </a:solidFill>
              <a:effectLst/>
              <a:uLnTx/>
              <a:uFillTx/>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22531" name="内容占位符 4"/>
          <p:cNvPicPr/>
          <p:nvPr/>
        </p:nvPicPr>
        <p:blipFill>
          <a:blip r:embed="rId1"/>
          <a:srcRect t="49353" r="16869"/>
          <a:stretch>
            <a:fillRect/>
          </a:stretch>
        </p:blipFill>
        <p:spPr>
          <a:xfrm>
            <a:off x="663575" y="1127125"/>
            <a:ext cx="8672513" cy="4721225"/>
          </a:xfrm>
          <a:prstGeom prst="rect">
            <a:avLst/>
          </a:prstGeom>
          <a:noFill/>
          <a:ln w="12700" cap="flat" cmpd="sng">
            <a:solidFill>
              <a:srgbClr val="99CCFF"/>
            </a:solidFill>
            <a:prstDash val="solid"/>
            <a:miter/>
            <a:headEnd type="none" w="med" len="med"/>
            <a:tailEnd type="none" w="med" len="med"/>
          </a:ln>
        </p:spPr>
      </p:pic>
      <p:sp>
        <p:nvSpPr>
          <p:cNvPr id="8" name="标题 1"/>
          <p:cNvSpPr txBox="1"/>
          <p:nvPr/>
        </p:nvSpPr>
        <p:spPr bwMode="auto">
          <a:xfrm>
            <a:off x="4173538" y="304800"/>
            <a:ext cx="4141788" cy="681038"/>
          </a:xfrm>
          <a:prstGeom prst="rect">
            <a:avLst/>
          </a:prstGeom>
        </p:spPr>
        <p:style>
          <a:lnRef idx="1">
            <a:schemeClr val="accent2"/>
          </a:lnRef>
          <a:fillRef idx="2">
            <a:schemeClr val="accent2"/>
          </a:fillRef>
          <a:effectRef idx="1">
            <a:schemeClr val="accent2"/>
          </a:effectRef>
          <a:fontRef idx="minor">
            <a:schemeClr val="dk1"/>
          </a:fontRef>
        </p:style>
        <p:txBody>
          <a:bodyPr lIns="90488" tIns="44450" rIns="90488" bIns="44450" anchor="ctr"/>
          <a:lstStyle>
            <a:lvl1pPr algn="ctr">
              <a:lnSpc>
                <a:spcPct val="90000"/>
              </a:lnSpc>
              <a:defRPr sz="3000" b="1">
                <a:solidFill>
                  <a:srgbClr val="005400"/>
                </a:solidFill>
                <a:latin typeface="+mj-lt"/>
                <a:ea typeface="+mj-ea"/>
                <a:cs typeface="+mj-cs"/>
              </a:defRPr>
            </a:lvl1pPr>
            <a:lvl2pPr algn="ctr">
              <a:lnSpc>
                <a:spcPct val="90000"/>
              </a:lnSpc>
              <a:defRPr sz="2800" b="1"/>
            </a:lvl2pPr>
            <a:lvl3pPr algn="ctr">
              <a:lnSpc>
                <a:spcPct val="90000"/>
              </a:lnSpc>
              <a:defRPr sz="2800" b="1"/>
            </a:lvl3pPr>
            <a:lvl4pPr algn="ctr">
              <a:lnSpc>
                <a:spcPct val="90000"/>
              </a:lnSpc>
              <a:defRPr sz="2800" b="1"/>
            </a:lvl4pPr>
            <a:lvl5pPr algn="ctr">
              <a:lnSpc>
                <a:spcPct val="90000"/>
              </a:lnSpc>
              <a:defRPr sz="2800" b="1"/>
            </a:lvl5pPr>
            <a:lvl6pPr marL="457200" algn="ctr" eaLnBrk="0" fontAlgn="base" hangingPunct="0">
              <a:lnSpc>
                <a:spcPct val="90000"/>
              </a:lnSpc>
              <a:spcBef>
                <a:spcPct val="0"/>
              </a:spcBef>
              <a:spcAft>
                <a:spcPct val="0"/>
              </a:spcAft>
              <a:defRPr sz="2800" b="1"/>
            </a:lvl6pPr>
            <a:lvl7pPr marL="914400" algn="ctr" eaLnBrk="0" fontAlgn="base" hangingPunct="0">
              <a:lnSpc>
                <a:spcPct val="90000"/>
              </a:lnSpc>
              <a:spcBef>
                <a:spcPct val="0"/>
              </a:spcBef>
              <a:spcAft>
                <a:spcPct val="0"/>
              </a:spcAft>
              <a:defRPr sz="2800" b="1"/>
            </a:lvl7pPr>
            <a:lvl8pPr marL="1371600" algn="ctr" eaLnBrk="0" fontAlgn="base" hangingPunct="0">
              <a:lnSpc>
                <a:spcPct val="90000"/>
              </a:lnSpc>
              <a:spcBef>
                <a:spcPct val="0"/>
              </a:spcBef>
              <a:spcAft>
                <a:spcPct val="0"/>
              </a:spcAft>
              <a:defRPr sz="2800" b="1"/>
            </a:lvl8pPr>
            <a:lvl9pPr marL="1828800" algn="ctr" eaLnBrk="0" fontAlgn="base" hangingPunct="0">
              <a:lnSpc>
                <a:spcPct val="90000"/>
              </a:lnSpc>
              <a:spcBef>
                <a:spcPct val="0"/>
              </a:spcBef>
              <a:spcAft>
                <a:spcPct val="0"/>
              </a:spcAft>
              <a:defRPr sz="2800" b="1"/>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3000" b="1" i="0" u="none" strike="noStrike" kern="1200" cap="none" spc="0" normalizeH="0" baseline="0" noProof="0" dirty="0">
                <a:ln>
                  <a:noFill/>
                </a:ln>
                <a:solidFill>
                  <a:srgbClr val="005400"/>
                </a:solidFill>
                <a:effectLst/>
                <a:uLnTx/>
                <a:uFillTx/>
                <a:latin typeface="+mj-lt"/>
                <a:ea typeface="+mj-ea"/>
                <a:cs typeface="+mj-cs"/>
              </a:rPr>
              <a:t>CREATE TABLE</a:t>
            </a:r>
            <a:endParaRPr kumimoji="0" lang="zh-CN" altLang="en-US" sz="3000" b="1" i="0" u="none" strike="noStrike" kern="1200" cap="none" spc="0" normalizeH="0" baseline="0" noProof="0" dirty="0">
              <a:ln>
                <a:noFill/>
              </a:ln>
              <a:solidFill>
                <a:srgbClr val="005400"/>
              </a:solidFill>
              <a:effectLst/>
              <a:uLnTx/>
              <a:uFillTx/>
              <a:latin typeface="+mj-lt"/>
              <a:ea typeface="+mj-ea"/>
              <a:cs typeface="+mj-cs"/>
            </a:endParaRPr>
          </a:p>
        </p:txBody>
      </p:sp>
      <p:pic>
        <p:nvPicPr>
          <p:cNvPr id="22533" name="图片 5"/>
          <p:cNvPicPr>
            <a:picLocks noChangeAspect="1"/>
          </p:cNvPicPr>
          <p:nvPr/>
        </p:nvPicPr>
        <p:blipFill>
          <a:blip r:embed="rId2"/>
          <a:srcRect r="37778" b="63255"/>
          <a:stretch>
            <a:fillRect/>
          </a:stretch>
        </p:blipFill>
        <p:spPr>
          <a:xfrm>
            <a:off x="4891088" y="1849438"/>
            <a:ext cx="5013325" cy="3684587"/>
          </a:xfrm>
          <a:prstGeom prst="rect">
            <a:avLst/>
          </a:prstGeom>
          <a:noFill/>
          <a:ln w="9525" cap="flat" cmpd="sng">
            <a:solidFill>
              <a:srgbClr val="99CCFF"/>
            </a:solidFill>
            <a:prstDash val="solid"/>
            <a:miter/>
            <a:headEnd type="none" w="med" len="med"/>
            <a:tailEnd type="none" w="med" len="me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23555" name="图片 5"/>
          <p:cNvPicPr>
            <a:picLocks noChangeAspect="1"/>
          </p:cNvPicPr>
          <p:nvPr/>
        </p:nvPicPr>
        <p:blipFill>
          <a:blip r:embed="rId1"/>
          <a:srcRect t="39626"/>
          <a:stretch>
            <a:fillRect/>
          </a:stretch>
        </p:blipFill>
        <p:spPr>
          <a:xfrm>
            <a:off x="552450" y="0"/>
            <a:ext cx="8686800" cy="5911850"/>
          </a:xfrm>
          <a:prstGeom prst="rect">
            <a:avLst/>
          </a:prstGeom>
          <a:noFill/>
          <a:ln w="9525" cap="flat" cmpd="sng">
            <a:solidFill>
              <a:srgbClr val="99CCFF"/>
            </a:solidFill>
            <a:prstDash val="solid"/>
            <a:miter/>
            <a:headEnd type="none" w="med" len="med"/>
            <a:tailEnd type="none" w="med" len="me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内容占位符 2"/>
          <p:cNvSpPr>
            <a:spLocks noGrp="1"/>
          </p:cNvSpPr>
          <p:nvPr>
            <p:ph idx="1"/>
          </p:nvPr>
        </p:nvSpPr>
        <p:spPr>
          <a:xfrm>
            <a:off x="504825" y="989013"/>
            <a:ext cx="8883650" cy="495300"/>
          </a:xfrm>
          <a:ln/>
        </p:spPr>
        <p:txBody>
          <a:bodyPr vert="horz" wrap="square" lIns="90488" tIns="44450" rIns="90488" bIns="44450" anchor="t" anchorCtr="0"/>
          <a:p>
            <a:pPr>
              <a:buSzPct val="100000"/>
            </a:pPr>
            <a:r>
              <a:rPr lang="zh-CN" altLang="en-US" dirty="0">
                <a:latin typeface="Times New Roman" panose="02020603050405020304" pitchFamily="18" charset="0"/>
                <a:ea typeface="宋体" panose="02010600030101010101" pitchFamily="2" charset="-122"/>
                <a:cs typeface="+mn-cs"/>
              </a:rPr>
              <a:t>源模式会转换成目标模式保存在数据字典中</a:t>
            </a:r>
            <a:endParaRPr lang="zh-CN" altLang="en-US" dirty="0">
              <a:latin typeface="Times New Roman" panose="02020603050405020304" pitchFamily="18" charset="0"/>
              <a:ea typeface="宋体" panose="02010600030101010101" pitchFamily="2" charset="-122"/>
              <a:cs typeface="+mn-cs"/>
            </a:endParaRPr>
          </a:p>
        </p:txBody>
      </p:sp>
      <p:sp>
        <p:nvSpPr>
          <p:cNvPr id="24579"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24580" name="图片 5"/>
          <p:cNvPicPr>
            <a:picLocks noChangeAspect="1"/>
          </p:cNvPicPr>
          <p:nvPr/>
        </p:nvPicPr>
        <p:blipFill>
          <a:blip r:embed="rId1"/>
          <a:stretch>
            <a:fillRect/>
          </a:stretch>
        </p:blipFill>
        <p:spPr>
          <a:xfrm>
            <a:off x="1073150" y="1484313"/>
            <a:ext cx="7645400" cy="4440237"/>
          </a:xfrm>
          <a:prstGeom prst="rect">
            <a:avLst/>
          </a:prstGeom>
          <a:noFill/>
          <a:ln w="9525">
            <a:noFill/>
          </a:ln>
        </p:spPr>
      </p:pic>
      <p:sp>
        <p:nvSpPr>
          <p:cNvPr id="5" name="标题 1"/>
          <p:cNvSpPr>
            <a:spLocks noGrp="1"/>
          </p:cNvSpPr>
          <p:nvPr>
            <p:ph type="title"/>
          </p:nvPr>
        </p:nvSpPr>
        <p:spPr>
          <a:xfrm>
            <a:off x="4173538" y="304800"/>
            <a:ext cx="4141788" cy="681038"/>
          </a:xfrm>
        </p:spPr>
        <p:style>
          <a:lnRef idx="1">
            <a:schemeClr val="accent2"/>
          </a:lnRef>
          <a:fillRef idx="2">
            <a:schemeClr val="accent2"/>
          </a:fillRef>
          <a:effectRef idx="1">
            <a:schemeClr val="accent2"/>
          </a:effectRef>
          <a:fontRef idx="minor">
            <a:schemeClr val="dk1"/>
          </a:fontRef>
        </p:style>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dirty="0">
                <a:ln>
                  <a:noFill/>
                </a:ln>
                <a:solidFill>
                  <a:srgbClr val="005400"/>
                </a:solidFill>
                <a:effectLst/>
                <a:uLnTx/>
                <a:uFillTx/>
                <a:latin typeface="+mj-lt"/>
                <a:ea typeface="+mj-ea"/>
                <a:cs typeface="+mj-cs"/>
              </a:rPr>
              <a:t>查看数据字典</a:t>
            </a:r>
            <a:endParaRPr kumimoji="0" lang="zh-CN" altLang="en-US" sz="3000" b="1" i="0" u="none" strike="noStrike" kern="0" cap="none" spc="0" normalizeH="0" baseline="0" noProof="0" dirty="0">
              <a:ln>
                <a:noFill/>
              </a:ln>
              <a:solidFill>
                <a:srgbClr val="005400"/>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25603" name="内容占位符 4"/>
          <p:cNvPicPr>
            <a:picLocks noGrp="1"/>
          </p:cNvPicPr>
          <p:nvPr>
            <p:ph idx="1"/>
          </p:nvPr>
        </p:nvPicPr>
        <p:blipFill>
          <a:blip r:embed="rId1"/>
          <a:srcRect/>
          <a:stretch>
            <a:fillRect/>
          </a:stretch>
        </p:blipFill>
        <p:spPr>
          <a:xfrm>
            <a:off x="757238" y="1041400"/>
            <a:ext cx="8359775" cy="4767263"/>
          </a:xfr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26627" name="内容占位符 4"/>
          <p:cNvPicPr>
            <a:picLocks noGrp="1"/>
          </p:cNvPicPr>
          <p:nvPr>
            <p:ph idx="1"/>
          </p:nvPr>
        </p:nvPicPr>
        <p:blipFill>
          <a:blip r:embed="rId1"/>
          <a:srcRect/>
          <a:stretch>
            <a:fillRect/>
          </a:stretch>
        </p:blipFill>
        <p:spPr>
          <a:xfrm>
            <a:off x="631825" y="1049338"/>
            <a:ext cx="8418513" cy="4732337"/>
          </a:xfr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内容占位符 2"/>
          <p:cNvSpPr>
            <a:spLocks noGrp="1"/>
          </p:cNvSpPr>
          <p:nvPr>
            <p:ph idx="1"/>
          </p:nvPr>
        </p:nvSpPr>
        <p:spPr>
          <a:xfrm>
            <a:off x="307975" y="793750"/>
            <a:ext cx="9123363" cy="6064250"/>
          </a:xfrm>
          <a:solidFill>
            <a:schemeClr val="bg1">
              <a:alpha val="100000"/>
            </a:schemeClr>
          </a:solidFill>
          <a:ln/>
        </p:spPr>
        <p:txBody>
          <a:bodyPr vert="horz" wrap="square" lIns="90488" tIns="44450" rIns="90488" bIns="44450" anchor="t" anchorCtr="0"/>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INSERT INTO Ptype VALUES('1','Book'); </a:t>
            </a:r>
            <a:endParaRPr lang="zh-CN"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INSERT INTO Product VALUES('1001','Advanced Marketing',20.50,'1',120); </a:t>
            </a:r>
            <a:endParaRPr lang="zh-CN"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INSERT INTO CUSTOMER</a:t>
            </a: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VALUES('C0001','Zhang Chen','Citibank','Shanghai','021-65903818'); </a:t>
            </a: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   …</a:t>
            </a: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INSERT INTO Orders </a:t>
            </a:r>
            <a:endParaRPr lang="zh-CN"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VALUES('O0001',' 10-3</a:t>
            </a:r>
            <a:r>
              <a:rPr lang="zh-CN" altLang="zh-CN" sz="2000" dirty="0">
                <a:latin typeface="Times New Roman" panose="02020603050405020304" pitchFamily="18" charset="0"/>
                <a:ea typeface="宋体" panose="02010600030101010101" pitchFamily="2" charset="-122"/>
                <a:cs typeface="+mn-cs"/>
              </a:rPr>
              <a:t>月</a:t>
            </a:r>
            <a:r>
              <a:rPr lang="en-US" altLang="zh-CN" sz="2000" dirty="0">
                <a:latin typeface="Times New Roman" panose="02020603050405020304" pitchFamily="18" charset="0"/>
                <a:ea typeface="宋体" panose="02010600030101010101" pitchFamily="2" charset="-122"/>
                <a:cs typeface="+mn-cs"/>
              </a:rPr>
              <a:t>-2014','C0001',8,' 11-3</a:t>
            </a:r>
            <a:r>
              <a:rPr lang="zh-CN" altLang="zh-CN" sz="2000" dirty="0">
                <a:latin typeface="Times New Roman" panose="02020603050405020304" pitchFamily="18" charset="0"/>
                <a:ea typeface="宋体" panose="02010600030101010101" pitchFamily="2" charset="-122"/>
                <a:cs typeface="+mn-cs"/>
              </a:rPr>
              <a:t>月</a:t>
            </a:r>
            <a:r>
              <a:rPr lang="en-US" altLang="zh-CN" sz="2000" dirty="0">
                <a:latin typeface="Times New Roman" panose="02020603050405020304" pitchFamily="18" charset="0"/>
                <a:ea typeface="宋体" panose="02010600030101010101" pitchFamily="2" charset="-122"/>
                <a:cs typeface="+mn-cs"/>
              </a:rPr>
              <a:t>-2014','Beijing','1','Complete');</a:t>
            </a: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INSERT INTO Order_items VALUES('O0001','1002',1,0.2); </a:t>
            </a:r>
            <a:endParaRPr lang="en-US"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r>
              <a:rPr lang="en-US" altLang="zh-CN" sz="2000" dirty="0">
                <a:latin typeface="Times New Roman" panose="02020603050405020304" pitchFamily="18" charset="0"/>
                <a:ea typeface="宋体" panose="02010600030101010101" pitchFamily="2" charset="-122"/>
                <a:cs typeface="+mn-cs"/>
              </a:rPr>
              <a:t>(</a:t>
            </a:r>
            <a:r>
              <a:rPr lang="zh-CN" altLang="en-US" sz="2000" dirty="0">
                <a:latin typeface="Times New Roman" panose="02020603050405020304" pitchFamily="18" charset="0"/>
                <a:ea typeface="宋体" panose="02010600030101010101" pitchFamily="2" charset="-122"/>
                <a:cs typeface="+mn-cs"/>
              </a:rPr>
              <a:t>仅包含部分代码）</a:t>
            </a:r>
            <a:endParaRPr lang="zh-CN"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zh-CN"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zh-CN" altLang="zh-CN" sz="2000"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zh-CN" altLang="en-US" sz="2000" dirty="0">
              <a:latin typeface="Times New Roman" panose="02020603050405020304" pitchFamily="18" charset="0"/>
              <a:ea typeface="宋体" panose="02010600030101010101" pitchFamily="2" charset="-122"/>
              <a:cs typeface="+mn-cs"/>
            </a:endParaRPr>
          </a:p>
        </p:txBody>
      </p:sp>
      <p:sp>
        <p:nvSpPr>
          <p:cNvPr id="27651"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6" name="标题 1"/>
          <p:cNvSpPr txBox="1"/>
          <p:nvPr/>
        </p:nvSpPr>
        <p:spPr bwMode="auto">
          <a:xfrm>
            <a:off x="5143500" y="114300"/>
            <a:ext cx="4140200" cy="679450"/>
          </a:xfrm>
          <a:prstGeom prst="rect">
            <a:avLst/>
          </a:prstGeom>
        </p:spPr>
        <p:style>
          <a:lnRef idx="1">
            <a:schemeClr val="accent2"/>
          </a:lnRef>
          <a:fillRef idx="2">
            <a:schemeClr val="accent2"/>
          </a:fillRef>
          <a:effectRef idx="1">
            <a:schemeClr val="accent2"/>
          </a:effectRef>
          <a:fontRef idx="minor">
            <a:schemeClr val="dk1"/>
          </a:fontRef>
        </p:style>
        <p:txBody>
          <a:bodyPr lIns="90488" tIns="44450" rIns="90488" bIns="44450" anchor="ctr"/>
          <a:lstStyle>
            <a:lvl1pPr algn="ctr">
              <a:lnSpc>
                <a:spcPct val="90000"/>
              </a:lnSpc>
              <a:defRPr sz="3000" b="1">
                <a:solidFill>
                  <a:srgbClr val="005400"/>
                </a:solidFill>
                <a:latin typeface="+mj-lt"/>
                <a:ea typeface="+mj-ea"/>
                <a:cs typeface="+mj-cs"/>
              </a:defRPr>
            </a:lvl1pPr>
            <a:lvl2pPr algn="ctr">
              <a:lnSpc>
                <a:spcPct val="90000"/>
              </a:lnSpc>
              <a:defRPr sz="2800" b="1"/>
            </a:lvl2pPr>
            <a:lvl3pPr algn="ctr">
              <a:lnSpc>
                <a:spcPct val="90000"/>
              </a:lnSpc>
              <a:defRPr sz="2800" b="1"/>
            </a:lvl3pPr>
            <a:lvl4pPr algn="ctr">
              <a:lnSpc>
                <a:spcPct val="90000"/>
              </a:lnSpc>
              <a:defRPr sz="2800" b="1"/>
            </a:lvl4pPr>
            <a:lvl5pPr algn="ctr">
              <a:lnSpc>
                <a:spcPct val="90000"/>
              </a:lnSpc>
              <a:defRPr sz="2800" b="1"/>
            </a:lvl5pPr>
            <a:lvl6pPr marL="457200" algn="ctr" eaLnBrk="0" fontAlgn="base" hangingPunct="0">
              <a:lnSpc>
                <a:spcPct val="90000"/>
              </a:lnSpc>
              <a:spcBef>
                <a:spcPct val="0"/>
              </a:spcBef>
              <a:spcAft>
                <a:spcPct val="0"/>
              </a:spcAft>
              <a:defRPr sz="2800" b="1"/>
            </a:lvl6pPr>
            <a:lvl7pPr marL="914400" algn="ctr" eaLnBrk="0" fontAlgn="base" hangingPunct="0">
              <a:lnSpc>
                <a:spcPct val="90000"/>
              </a:lnSpc>
              <a:spcBef>
                <a:spcPct val="0"/>
              </a:spcBef>
              <a:spcAft>
                <a:spcPct val="0"/>
              </a:spcAft>
              <a:defRPr sz="2800" b="1"/>
            </a:lvl7pPr>
            <a:lvl8pPr marL="1371600" algn="ctr" eaLnBrk="0" fontAlgn="base" hangingPunct="0">
              <a:lnSpc>
                <a:spcPct val="90000"/>
              </a:lnSpc>
              <a:spcBef>
                <a:spcPct val="0"/>
              </a:spcBef>
              <a:spcAft>
                <a:spcPct val="0"/>
              </a:spcAft>
              <a:defRPr sz="2800" b="1"/>
            </a:lvl8pPr>
            <a:lvl9pPr marL="1828800" algn="ctr" eaLnBrk="0" fontAlgn="base" hangingPunct="0">
              <a:lnSpc>
                <a:spcPct val="90000"/>
              </a:lnSpc>
              <a:spcBef>
                <a:spcPct val="0"/>
              </a:spcBef>
              <a:spcAft>
                <a:spcPct val="0"/>
              </a:spcAft>
              <a:defRPr sz="2800" b="1"/>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1200" cap="none" spc="0" normalizeH="0" baseline="0" noProof="0" dirty="0" smtClean="0">
                <a:ln>
                  <a:noFill/>
                </a:ln>
                <a:solidFill>
                  <a:srgbClr val="005400"/>
                </a:solidFill>
                <a:effectLst/>
                <a:uLnTx/>
                <a:uFillTx/>
                <a:latin typeface="+mj-lt"/>
                <a:ea typeface="+mj-ea"/>
                <a:cs typeface="+mj-cs"/>
              </a:rPr>
              <a:t>插入数据</a:t>
            </a:r>
            <a:endParaRPr kumimoji="0" lang="zh-CN" altLang="en-US" sz="3000" b="1" i="0" u="none" strike="noStrike" kern="1200" cap="none" spc="0" normalizeH="0" baseline="0" noProof="0" dirty="0">
              <a:ln>
                <a:noFill/>
              </a:ln>
              <a:solidFill>
                <a:srgbClr val="005400"/>
              </a:solidFill>
              <a:effectLst/>
              <a:uLnTx/>
              <a:uFillTx/>
              <a:latin typeface="+mj-lt"/>
              <a:ea typeface="+mj-ea"/>
              <a:cs typeface="+mj-cs"/>
            </a:endParaRPr>
          </a:p>
        </p:txBody>
      </p:sp>
      <p:pic>
        <p:nvPicPr>
          <p:cNvPr id="27653" name="图片 6"/>
          <p:cNvPicPr>
            <a:picLocks noChangeAspect="1"/>
          </p:cNvPicPr>
          <p:nvPr/>
        </p:nvPicPr>
        <p:blipFill>
          <a:blip r:embed="rId1"/>
          <a:stretch>
            <a:fillRect/>
          </a:stretch>
        </p:blipFill>
        <p:spPr>
          <a:xfrm>
            <a:off x="2211388" y="2257425"/>
            <a:ext cx="5411787" cy="294005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28675" name="Rectangle 2"/>
          <p:cNvSpPr>
            <a:spLocks noGrp="1"/>
          </p:cNvSpPr>
          <p:nvPr>
            <p:ph type="title"/>
          </p:nvPr>
        </p:nvSpPr>
        <p:spPr>
          <a:xfrm>
            <a:off x="1409700" y="803275"/>
            <a:ext cx="7429500" cy="768350"/>
          </a:xfrm>
          <a:ln/>
        </p:spPr>
        <p:txBody>
          <a:bodyPr vert="horz" wrap="square" lIns="90488" tIns="44450" rIns="90488" bIns="44450" anchor="ctr" anchorCtr="0"/>
          <a:p>
            <a:pPr/>
            <a:r>
              <a:rPr lang="en-US" altLang="zh-CN" dirty="0">
                <a:latin typeface="+mj-lt"/>
                <a:ea typeface="+mj-ea"/>
                <a:cs typeface="+mj-cs"/>
              </a:rPr>
              <a:t>1.2 The External Level</a:t>
            </a:r>
            <a:endParaRPr lang="zh-CN" altLang="en-US" dirty="0">
              <a:latin typeface="+mj-lt"/>
              <a:ea typeface="+mj-ea"/>
              <a:cs typeface="+mj-cs"/>
            </a:endParaRPr>
          </a:p>
        </p:txBody>
      </p:sp>
      <p:sp>
        <p:nvSpPr>
          <p:cNvPr id="28676" name="Rectangle 3"/>
          <p:cNvSpPr>
            <a:spLocks noGrp="1"/>
          </p:cNvSpPr>
          <p:nvPr>
            <p:ph idx="1"/>
          </p:nvPr>
        </p:nvSpPr>
        <p:spPr>
          <a:xfrm>
            <a:off x="565150" y="1633538"/>
            <a:ext cx="9107488" cy="428625"/>
          </a:xfrm>
          <a:ln/>
        </p:spPr>
        <p:txBody>
          <a:bodyPr vert="horz" wrap="square" lIns="90488" tIns="44450" rIns="90488" bIns="44450" anchor="t" anchorCtr="0"/>
          <a:p>
            <a:pPr>
              <a:buSzPct val="100000"/>
            </a:pPr>
            <a:r>
              <a:rPr lang="en-US" altLang="zh-CN" dirty="0">
                <a:solidFill>
                  <a:srgbClr val="FF3300"/>
                </a:solidFill>
                <a:latin typeface="Times New Roman" panose="02020603050405020304" pitchFamily="18" charset="0"/>
                <a:ea typeface="宋体" panose="02010600030101010101" pitchFamily="2" charset="-122"/>
                <a:cs typeface="+mn-cs"/>
              </a:rPr>
              <a:t>External view</a:t>
            </a:r>
            <a:r>
              <a:rPr lang="en-US" altLang="zh-CN" dirty="0">
                <a:latin typeface="Times New Roman" panose="02020603050405020304" pitchFamily="18" charset="0"/>
                <a:ea typeface="宋体" panose="02010600030101010101" pitchFamily="2" charset="-122"/>
                <a:cs typeface="+mn-cs"/>
              </a:rPr>
              <a:t> is the individual user view. </a:t>
            </a:r>
            <a:endParaRPr lang="en-US" altLang="zh-CN" dirty="0">
              <a:solidFill>
                <a:srgbClr val="000099"/>
              </a:solidFill>
              <a:latin typeface="Times New Roman" panose="02020603050405020304" pitchFamily="18" charset="0"/>
              <a:ea typeface="宋体" panose="02010600030101010101" pitchFamily="2" charset="-122"/>
              <a:cs typeface="+mn-cs"/>
            </a:endParaRPr>
          </a:p>
        </p:txBody>
      </p:sp>
      <p:pic>
        <p:nvPicPr>
          <p:cNvPr id="28677" name="Picture 5"/>
          <p:cNvPicPr>
            <a:picLocks noChangeAspect="1"/>
          </p:cNvPicPr>
          <p:nvPr/>
        </p:nvPicPr>
        <p:blipFill>
          <a:blip r:embed="rId1"/>
          <a:stretch>
            <a:fillRect/>
          </a:stretch>
        </p:blipFill>
        <p:spPr>
          <a:xfrm>
            <a:off x="1049338" y="2197100"/>
            <a:ext cx="8004175" cy="3224213"/>
          </a:xfrm>
          <a:prstGeom prst="rect">
            <a:avLst/>
          </a:prstGeom>
          <a:noFill/>
          <a:ln w="9525">
            <a:noFill/>
          </a:ln>
        </p:spPr>
      </p:pic>
      <p:sp>
        <p:nvSpPr>
          <p:cNvPr id="28678" name="Text Box 6"/>
          <p:cNvSpPr txBox="1"/>
          <p:nvPr/>
        </p:nvSpPr>
        <p:spPr>
          <a:xfrm>
            <a:off x="1127125" y="5545138"/>
            <a:ext cx="6864350" cy="393700"/>
          </a:xfrm>
          <a:prstGeom prst="rect">
            <a:avLst/>
          </a:prstGeom>
          <a:noFill/>
          <a:ln w="12700">
            <a:noFill/>
          </a:ln>
        </p:spPr>
        <p:txBody>
          <a:bodyPr>
            <a:spAutoFit/>
          </a:bodyPr>
          <a:p>
            <a:pPr>
              <a:lnSpc>
                <a:spcPct val="90000"/>
              </a:lnSpc>
              <a:spcBef>
                <a:spcPct val="50000"/>
              </a:spcBef>
              <a:buNone/>
            </a:pPr>
            <a:r>
              <a:rPr lang="en-US" altLang="zh-CN" sz="2200" b="1" dirty="0">
                <a:solidFill>
                  <a:srgbClr val="000099"/>
                </a:solidFill>
                <a:latin typeface="Times New Roman" panose="02020603050405020304" pitchFamily="18" charset="0"/>
                <a:ea typeface="宋体" panose="02010600030101010101" pitchFamily="2" charset="-122"/>
              </a:rPr>
              <a:t>GRANT SELECT ON Customer_sh TO USER01;</a:t>
            </a:r>
            <a:endParaRPr lang="en-US" altLang="zh-CN" sz="2200" b="1" dirty="0">
              <a:solidFill>
                <a:srgbClr val="000099"/>
              </a:solidFill>
              <a:latin typeface="Times New Roman" panose="02020603050405020304" pitchFamily="18" charset="0"/>
              <a:ea typeface="宋体" panose="02010600030101010101" pitchFamily="2" charset="-122"/>
            </a:endParaRPr>
          </a:p>
        </p:txBody>
      </p:sp>
      <p:sp>
        <p:nvSpPr>
          <p:cNvPr id="28679" name="Rectangle 7"/>
          <p:cNvSpPr/>
          <p:nvPr/>
        </p:nvSpPr>
        <p:spPr>
          <a:xfrm>
            <a:off x="428625" y="5480050"/>
            <a:ext cx="9034463" cy="615950"/>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endParaRPr lang="en-US" altLang="zh-CN"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4541838" y="206375"/>
            <a:ext cx="4540250" cy="590550"/>
          </a:xfrm>
          <a:ln/>
        </p:spPr>
        <p:txBody>
          <a:bodyPr vert="horz" wrap="square" lIns="90488" tIns="44450" rIns="90488" bIns="44450" anchor="ctr" anchorCtr="0"/>
          <a:p>
            <a:pPr/>
            <a:r>
              <a:rPr lang="en-US" altLang="zh-CN" dirty="0">
                <a:latin typeface="+mj-lt"/>
                <a:ea typeface="+mj-ea"/>
                <a:cs typeface="+mj-cs"/>
              </a:rPr>
              <a:t>1.2 The External Level</a:t>
            </a:r>
            <a:endParaRPr lang="zh-CN" altLang="en-US" dirty="0">
              <a:latin typeface="+mj-lt"/>
              <a:ea typeface="+mj-ea"/>
              <a:cs typeface="+mj-cs"/>
            </a:endParaRPr>
          </a:p>
        </p:txBody>
      </p:sp>
      <p:grpSp>
        <p:nvGrpSpPr>
          <p:cNvPr id="30723" name="Group 15"/>
          <p:cNvGrpSpPr/>
          <p:nvPr/>
        </p:nvGrpSpPr>
        <p:grpSpPr>
          <a:xfrm>
            <a:off x="469900" y="860425"/>
            <a:ext cx="9239250" cy="4252913"/>
            <a:chOff x="415" y="1221"/>
            <a:chExt cx="5479" cy="2616"/>
          </a:xfrm>
        </p:grpSpPr>
        <p:grpSp>
          <p:nvGrpSpPr>
            <p:cNvPr id="30728" name="Group 12"/>
            <p:cNvGrpSpPr/>
            <p:nvPr/>
          </p:nvGrpSpPr>
          <p:grpSpPr>
            <a:xfrm>
              <a:off x="415" y="1221"/>
              <a:ext cx="5479" cy="2565"/>
              <a:chOff x="761" y="1221"/>
              <a:chExt cx="5479" cy="2565"/>
            </a:xfrm>
          </p:grpSpPr>
          <p:pic>
            <p:nvPicPr>
              <p:cNvPr id="30740" name="Picture 7" descr="SQL_people"/>
              <p:cNvPicPr>
                <a:picLocks noChangeAspect="1"/>
              </p:cNvPicPr>
              <p:nvPr/>
            </p:nvPicPr>
            <p:blipFill>
              <a:blip r:embed="rId1"/>
              <a:stretch>
                <a:fillRect/>
              </a:stretch>
            </p:blipFill>
            <p:spPr>
              <a:xfrm>
                <a:off x="4579" y="2765"/>
                <a:ext cx="1063" cy="1021"/>
              </a:xfrm>
              <a:prstGeom prst="rect">
                <a:avLst/>
              </a:prstGeom>
              <a:noFill/>
              <a:ln w="9525">
                <a:noFill/>
              </a:ln>
            </p:spPr>
          </p:pic>
          <p:sp>
            <p:nvSpPr>
              <p:cNvPr id="30741" name="AutoShape 6"/>
              <p:cNvSpPr/>
              <p:nvPr/>
            </p:nvSpPr>
            <p:spPr>
              <a:xfrm>
                <a:off x="761" y="1221"/>
                <a:ext cx="2273" cy="2427"/>
              </a:xfrm>
              <a:prstGeom prst="flowChartMagneticDisk">
                <a:avLst/>
              </a:prstGeom>
              <a:noFill/>
              <a:ln w="19050" cap="flat" cmpd="sng">
                <a:solidFill>
                  <a:srgbClr val="080808"/>
                </a:solidFill>
                <a:prstDash val="solid"/>
                <a:headEnd type="none" w="med" len="med"/>
                <a:tailEnd type="none" w="med" len="med"/>
              </a:ln>
            </p:spPr>
            <p:txBody>
              <a:bodyPr wrap="none" anchor="ctr" anchorCtr="0"/>
              <a:p>
                <a:pPr>
                  <a:lnSpc>
                    <a:spcPct val="90000"/>
                  </a:lnSpc>
                </a:pPr>
                <a:endParaRPr lang="zh-CN" altLang="en-US" dirty="0">
                  <a:latin typeface="Times New Roman" panose="02020603050405020304" pitchFamily="18" charset="0"/>
                  <a:ea typeface="宋体" panose="02010600030101010101" pitchFamily="2" charset="-122"/>
                </a:endParaRPr>
              </a:p>
            </p:txBody>
          </p:sp>
          <p:grpSp>
            <p:nvGrpSpPr>
              <p:cNvPr id="30742" name="Group 11"/>
              <p:cNvGrpSpPr/>
              <p:nvPr/>
            </p:nvGrpSpPr>
            <p:grpSpPr>
              <a:xfrm>
                <a:off x="1160" y="2103"/>
                <a:ext cx="1467" cy="673"/>
                <a:chOff x="1567" y="2172"/>
                <a:chExt cx="1467" cy="673"/>
              </a:xfrm>
            </p:grpSpPr>
            <p:sp>
              <p:nvSpPr>
                <p:cNvPr id="30744" name="AutoShape 7"/>
                <p:cNvSpPr/>
                <p:nvPr/>
              </p:nvSpPr>
              <p:spPr>
                <a:xfrm rot="-5400000">
                  <a:off x="1964" y="1775"/>
                  <a:ext cx="673" cy="1467"/>
                </a:xfrm>
                <a:prstGeom prst="flowChartOnlineStorage">
                  <a:avLst/>
                </a:prstGeom>
                <a:noFill/>
                <a:ln w="19050" cap="flat" cmpd="sng">
                  <a:solidFill>
                    <a:srgbClr val="000099"/>
                  </a:solidFill>
                  <a:prstDash val="solid"/>
                  <a:miter/>
                  <a:headEnd type="none" w="med" len="med"/>
                  <a:tailEnd type="none" w="med" len="med"/>
                </a:ln>
              </p:spPr>
              <p:txBody>
                <a:bodyPr wrap="none" anchor="ctr" anchorCtr="0"/>
                <a:p>
                  <a:pPr>
                    <a:lnSpc>
                      <a:spcPct val="90000"/>
                    </a:lnSpc>
                  </a:pPr>
                  <a:endParaRPr lang="zh-CN" altLang="en-US" dirty="0">
                    <a:latin typeface="Times New Roman" panose="02020603050405020304" pitchFamily="18" charset="0"/>
                    <a:ea typeface="宋体" panose="02010600030101010101" pitchFamily="2" charset="-122"/>
                  </a:endParaRPr>
                </a:p>
              </p:txBody>
            </p:sp>
            <p:sp>
              <p:nvSpPr>
                <p:cNvPr id="124936" name="Text Box 8"/>
                <p:cNvSpPr txBox="1">
                  <a:spLocks noChangeArrowheads="1"/>
                </p:cNvSpPr>
                <p:nvPr/>
              </p:nvSpPr>
              <p:spPr bwMode="auto">
                <a:xfrm>
                  <a:off x="1790" y="2556"/>
                  <a:ext cx="1141" cy="261"/>
                </a:xfrm>
                <a:prstGeom prst="rect">
                  <a:avLst/>
                </a:prstGeom>
                <a:noFill/>
                <a:ln>
                  <a:noFill/>
                </a:ln>
                <a:effectLst>
                  <a:prstShdw prst="shdw17" dist="17961" dir="2700000">
                    <a:srgbClr val="DBFFB8">
                      <a:gamma/>
                      <a:shade val="60000"/>
                      <a:invGamma/>
                    </a:srgbClr>
                  </a:prstShdw>
                </a:effectLst>
                <a:extLst>
                  <a:ext uri="{909E8E84-426E-40DD-AFC4-6F175D3DCCD1}">
                    <a14:hiddenFill xmlns:a14="http://schemas.microsoft.com/office/drawing/2010/main">
                      <a:solidFill>
                        <a:srgbClr val="DBFFB8"/>
                      </a:solidFill>
                    </a14:hiddenFill>
                  </a:ext>
                  <a:ext uri="{91240B29-F687-4F45-9708-019B960494DF}">
                    <a14:hiddenLine xmlns:a14="http://schemas.microsoft.com/office/drawing/2010/main" w="12700">
                      <a:solidFill>
                        <a:schemeClr val="accent2"/>
                      </a:solidFill>
                      <a:miter lim="800000"/>
                      <a:headEnd/>
                      <a:tailEnd/>
                    </a14:hiddenLine>
                  </a:ext>
                </a:extLst>
              </p:spPr>
              <p:txBody>
                <a:bodyPr>
                  <a:spAutoFit/>
                </a:bodyPr>
                <a:lstStyle/>
                <a:p>
                  <a:pPr marR="0" algn="ctr" defTabSz="914400">
                    <a:lnSpc>
                      <a:spcPct val="90000"/>
                    </a:lnSpc>
                    <a:spcBef>
                      <a:spcPts val="0"/>
                    </a:spcBef>
                    <a:buClrTx/>
                    <a:buSzTx/>
                    <a:buFontTx/>
                    <a:buNone/>
                    <a:defRPr/>
                  </a:pPr>
                  <a:r>
                    <a:rPr kumimoji="0" lang="en-US" altLang="zh-CN" sz="2400" b="1" kern="1200" cap="none" spc="0" normalizeH="0" baseline="0" noProof="0">
                      <a:solidFill>
                        <a:srgbClr val="00279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Customer_sh</a:t>
                  </a:r>
                  <a:endParaRPr kumimoji="0" lang="en-US" altLang="zh-CN" sz="2400" b="1" kern="1200" cap="none" spc="0" normalizeH="0" baseline="0" noProof="0">
                    <a:solidFill>
                      <a:srgbClr val="00279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Text Box 8"/>
                <p:cNvSpPr txBox="1">
                  <a:spLocks noChangeArrowheads="1"/>
                </p:cNvSpPr>
                <p:nvPr/>
              </p:nvSpPr>
              <p:spPr bwMode="auto">
                <a:xfrm>
                  <a:off x="1598" y="2307"/>
                  <a:ext cx="1422" cy="270"/>
                </a:xfrm>
                <a:prstGeom prst="rect">
                  <a:avLst/>
                </a:prstGeom>
                <a:noFill/>
                <a:ln>
                  <a:noFill/>
                </a:ln>
                <a:effectLst>
                  <a:prstShdw prst="shdw17" dist="17961" dir="2700000">
                    <a:srgbClr val="DBFFB8">
                      <a:gamma/>
                      <a:shade val="60000"/>
                      <a:invGamma/>
                    </a:srgbClr>
                  </a:prstShdw>
                </a:effectLst>
                <a:extLst>
                  <a:ext uri="{909E8E84-426E-40DD-AFC4-6F175D3DCCD1}">
                    <a14:hiddenFill xmlns:a14="http://schemas.microsoft.com/office/drawing/2010/main">
                      <a:solidFill>
                        <a:srgbClr val="DBFFB8"/>
                      </a:solidFill>
                    </a14:hiddenFill>
                  </a:ext>
                  <a:ext uri="{91240B29-F687-4F45-9708-019B960494DF}">
                    <a14:hiddenLine xmlns:a14="http://schemas.microsoft.com/office/drawing/2010/main" w="12700">
                      <a:solidFill>
                        <a:schemeClr val="accent2"/>
                      </a:solidFill>
                      <a:miter lim="800000"/>
                      <a:headEnd/>
                      <a:tailEnd/>
                    </a14:hiddenLine>
                  </a:ext>
                </a:extLst>
              </p:spPr>
              <p:txBody>
                <a:bodyPr>
                  <a:spAutoFit/>
                </a:bodyPr>
                <a:lstStyle/>
                <a:p>
                  <a:pPr marR="0" algn="ctr" defTabSz="914400">
                    <a:lnSpc>
                      <a:spcPct val="90000"/>
                    </a:lnSpc>
                    <a:spcBef>
                      <a:spcPts val="0"/>
                    </a:spcBef>
                    <a:buClrTx/>
                    <a:buSzTx/>
                    <a:buFontTx/>
                    <a:buNone/>
                    <a:defRPr/>
                  </a:pPr>
                  <a:r>
                    <a:rPr kumimoji="0" lang="en-US" altLang="zh-CN" sz="2400" b="1" kern="1200" cap="none" spc="0" normalizeH="0" baseline="0" noProof="0">
                      <a:solidFill>
                        <a:srgbClr val="00279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Product</a:t>
                  </a:r>
                  <a:r>
                    <a:rPr kumimoji="0" lang="zh-CN" altLang="en-US" sz="2400" b="1" kern="1200" cap="none" spc="0" normalizeH="0" baseline="0" noProof="0">
                      <a:solidFill>
                        <a:srgbClr val="00279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表</a:t>
                  </a:r>
                  <a:endParaRPr kumimoji="0" lang="en-US" altLang="zh-CN" sz="2400" b="1" kern="1200" cap="none" spc="0" normalizeH="0" baseline="0" noProof="0">
                    <a:solidFill>
                      <a:srgbClr val="00279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0743" name="Rectangle 10"/>
              <p:cNvSpPr/>
              <p:nvPr/>
            </p:nvSpPr>
            <p:spPr>
              <a:xfrm>
                <a:off x="3105" y="1561"/>
                <a:ext cx="3135" cy="1012"/>
              </a:xfrm>
              <a:prstGeom prst="rect">
                <a:avLst/>
              </a:prstGeom>
              <a:noFill/>
              <a:ln w="12700">
                <a:noFill/>
              </a:ln>
              <a:effectLst>
                <a:prstShdw prst="shdw17" dist="17961" dir="2699999">
                  <a:srgbClr val="83996E"/>
                </a:prstShdw>
              </a:effectLst>
            </p:spPr>
            <p:txBody>
              <a:bodyPr>
                <a:spAutoFit/>
              </a:bodyPr>
              <a:p>
                <a:pPr>
                  <a:lnSpc>
                    <a:spcPct val="90000"/>
                  </a:lnSpc>
                  <a:spcBef>
                    <a:spcPct val="50000"/>
                  </a:spcBef>
                  <a:buNone/>
                </a:pPr>
                <a:r>
                  <a:rPr lang="en-US" altLang="zh-CN" sz="2400" b="1" dirty="0">
                    <a:solidFill>
                      <a:schemeClr val="tx1"/>
                    </a:solidFill>
                    <a:latin typeface="Times New Roman" panose="02020603050405020304" pitchFamily="18" charset="0"/>
                    <a:ea typeface="宋体" panose="02010600030101010101" pitchFamily="2" charset="-122"/>
                  </a:rPr>
                  <a:t>GRANT SELECT ON Customer_sh TO USER01;</a:t>
                </a:r>
                <a:endParaRPr lang="en-US" altLang="zh-CN" sz="2400" b="1" dirty="0">
                  <a:solidFill>
                    <a:schemeClr val="tx1"/>
                  </a:solidFill>
                  <a:latin typeface="Times New Roman" panose="02020603050405020304" pitchFamily="18" charset="0"/>
                  <a:ea typeface="宋体" panose="02010600030101010101" pitchFamily="2" charset="-122"/>
                </a:endParaRPr>
              </a:p>
              <a:p>
                <a:pPr>
                  <a:lnSpc>
                    <a:spcPct val="90000"/>
                  </a:lnSpc>
                  <a:spcBef>
                    <a:spcPct val="50000"/>
                  </a:spcBef>
                  <a:buNone/>
                </a:pPr>
                <a:r>
                  <a:rPr lang="en-US" altLang="zh-CN" sz="2400" b="1" dirty="0">
                    <a:solidFill>
                      <a:schemeClr val="tx1"/>
                    </a:solidFill>
                    <a:latin typeface="Times New Roman" panose="02020603050405020304" pitchFamily="18" charset="0"/>
                    <a:ea typeface="宋体" panose="02010600030101010101" pitchFamily="2" charset="-122"/>
                  </a:rPr>
                  <a:t>GRANT SELECT ON Product TO PUBLIC;</a:t>
                </a:r>
                <a:endParaRPr lang="en-US" altLang="zh-CN" sz="2400" b="1" dirty="0">
                  <a:solidFill>
                    <a:schemeClr val="tx1"/>
                  </a:solidFill>
                  <a:latin typeface="Times New Roman" panose="02020603050405020304" pitchFamily="18" charset="0"/>
                  <a:ea typeface="宋体" panose="02010600030101010101" pitchFamily="2" charset="-122"/>
                </a:endParaRPr>
              </a:p>
            </p:txBody>
          </p:sp>
        </p:grpSp>
        <p:sp>
          <p:nvSpPr>
            <p:cNvPr id="11271" name="Text Box 13"/>
            <p:cNvSpPr txBox="1">
              <a:spLocks noChangeArrowheads="1"/>
            </p:cNvSpPr>
            <p:nvPr/>
          </p:nvSpPr>
          <p:spPr bwMode="auto">
            <a:xfrm>
              <a:off x="2799" y="2678"/>
              <a:ext cx="1420" cy="261"/>
            </a:xfrm>
            <a:prstGeom prst="rect">
              <a:avLst/>
            </a:prstGeom>
            <a:solidFill>
              <a:srgbClr val="33CC33"/>
            </a:solidFill>
          </p:spPr>
          <p:style>
            <a:lnRef idx="0">
              <a:schemeClr val="accent2"/>
            </a:lnRef>
            <a:fillRef idx="3">
              <a:schemeClr val="accent2"/>
            </a:fillRef>
            <a:effectRef idx="3">
              <a:schemeClr val="accent2"/>
            </a:effectRef>
            <a:fontRef idx="minor">
              <a:schemeClr val="lt1"/>
            </a:fontRef>
          </p:style>
          <p:txBody>
            <a:bodyPr>
              <a:spAutoFit/>
            </a:bodyPr>
            <a:lstStyle>
              <a:defPPr>
                <a:defRPr lang="en-GB"/>
              </a:defPPr>
              <a:lvl1pPr algn="ctr">
                <a:spcBef>
                  <a:spcPct val="50000"/>
                </a:spcBef>
                <a:defRPr sz="2400" b="1">
                  <a:solidFill>
                    <a:schemeClr val="tx1"/>
                  </a:solidFill>
                  <a:ea typeface="宋体" panose="02010600030101010101" pitchFamily="2" charset="-122"/>
                  <a:cs typeface="Times New Roman" panose="02020603050405020304" pitchFamily="18"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pPr marL="0" marR="0" lvl="0" indent="0" algn="ctr" defTabSz="914400" rtl="0" eaLnBrk="0" fontAlgn="base" latinLnBrk="0" hangingPunct="0">
                <a:lnSpc>
                  <a:spcPct val="90000"/>
                </a:lnSpc>
                <a:spcBef>
                  <a:spcPct val="50000"/>
                </a:spcBef>
                <a:spcAft>
                  <a:spcPct val="0"/>
                </a:spcAft>
                <a:buClrTx/>
                <a:buSzTx/>
                <a:buFontTx/>
                <a:buNone/>
                <a:defRPr/>
              </a:pPr>
              <a:r>
                <a:rPr kumimoji="0" lang="en-US" altLang="zh-CN" sz="2400" b="1" i="0" u="none" strike="noStrike" kern="1200" cap="none" spc="0" normalizeH="0" baseline="0" noProof="0" smtClean="0">
                  <a:ln>
                    <a:noFill/>
                  </a:ln>
                  <a:solidFill>
                    <a:srgbClr val="FF0000"/>
                  </a:solidFill>
                  <a:effectLst/>
                  <a:uLnTx/>
                  <a:uFillTx/>
                  <a:latin typeface="仿宋" panose="02010609060101010101" pitchFamily="49" charset="-122"/>
                  <a:ea typeface="仿宋" panose="02010609060101010101" pitchFamily="49" charset="-122"/>
                  <a:cs typeface="Times New Roman" panose="02020603050405020304" pitchFamily="18" charset="0"/>
                </a:rPr>
                <a:t>USER01</a:t>
              </a:r>
              <a:r>
                <a:rPr kumimoji="0" lang="zh-CN" altLang="en-US" sz="2400" b="1" i="0" u="none" strike="noStrike" kern="1200" cap="none" spc="0" normalizeH="0" baseline="0" noProof="0" smtClean="0">
                  <a:ln>
                    <a:noFill/>
                  </a:ln>
                  <a:solidFill>
                    <a:srgbClr val="FF0000"/>
                  </a:solidFill>
                  <a:effectLst/>
                  <a:uLnTx/>
                  <a:uFillTx/>
                  <a:latin typeface="仿宋" panose="02010609060101010101" pitchFamily="49" charset="-122"/>
                  <a:ea typeface="仿宋" panose="02010609060101010101" pitchFamily="49" charset="-122"/>
                  <a:cs typeface="Times New Roman" panose="02020603050405020304" pitchFamily="18" charset="0"/>
                </a:rPr>
                <a:t>外部视图</a:t>
              </a:r>
              <a:endParaRPr kumimoji="0" lang="en-US" altLang="zh-CN" sz="2400" b="1" i="0" u="none" strike="noStrike" kern="1200" cap="none" spc="0" normalizeH="0" baseline="0" noProof="0" smtClean="0">
                <a:ln>
                  <a:noFill/>
                </a:ln>
                <a:solidFill>
                  <a:srgbClr val="FF0000"/>
                </a:solidFill>
                <a:effectLst/>
                <a:uLnTx/>
                <a:uFillTx/>
                <a:latin typeface="仿宋" panose="02010609060101010101" pitchFamily="49" charset="-122"/>
                <a:ea typeface="仿宋" panose="02010609060101010101" pitchFamily="49" charset="-122"/>
                <a:cs typeface="Times New Roman" panose="02020603050405020304" pitchFamily="18" charset="0"/>
              </a:endParaRPr>
            </a:p>
          </p:txBody>
        </p:sp>
        <p:sp>
          <p:nvSpPr>
            <p:cNvPr id="30732" name="Text Box 14"/>
            <p:cNvSpPr txBox="1"/>
            <p:nvPr/>
          </p:nvSpPr>
          <p:spPr>
            <a:xfrm>
              <a:off x="2741" y="2991"/>
              <a:ext cx="1390" cy="846"/>
            </a:xfrm>
            <a:prstGeom prst="rect">
              <a:avLst/>
            </a:prstGeom>
            <a:noFill/>
            <a:ln w="12700">
              <a:noFill/>
            </a:ln>
            <a:effectLst>
              <a:prstShdw prst="shdw17" dist="17961" dir="2699999">
                <a:srgbClr val="83996E"/>
              </a:prstShdw>
            </a:effectLst>
          </p:spPr>
          <p:txBody>
            <a:bodyPr>
              <a:spAutoFit/>
            </a:bodyPr>
            <a:p>
              <a:pPr>
                <a:lnSpc>
                  <a:spcPct val="90000"/>
                </a:lnSpc>
                <a:spcBef>
                  <a:spcPct val="50000"/>
                </a:spcBef>
                <a:buNone/>
              </a:pPr>
              <a:r>
                <a:rPr lang="en-US" altLang="zh-CN" sz="2000" b="1" dirty="0">
                  <a:latin typeface="Times New Roman" panose="02020603050405020304" pitchFamily="18" charset="0"/>
                  <a:ea typeface="宋体" panose="02010600030101010101" pitchFamily="2" charset="-122"/>
                </a:rPr>
                <a:t>SELECT * FROM Customer_sh;</a:t>
              </a:r>
              <a:endParaRPr lang="en-US" altLang="zh-CN" sz="2000" b="1" dirty="0">
                <a:latin typeface="Times New Roman" panose="02020603050405020304" pitchFamily="18" charset="0"/>
                <a:ea typeface="宋体" panose="02010600030101010101" pitchFamily="2" charset="-122"/>
              </a:endParaRPr>
            </a:p>
            <a:p>
              <a:pPr>
                <a:lnSpc>
                  <a:spcPct val="90000"/>
                </a:lnSpc>
                <a:spcBef>
                  <a:spcPct val="50000"/>
                </a:spcBef>
                <a:buNone/>
              </a:pPr>
              <a:r>
                <a:rPr lang="en-US" altLang="zh-CN" sz="2000" b="1" dirty="0">
                  <a:latin typeface="Times New Roman" panose="02020603050405020304" pitchFamily="18" charset="0"/>
                  <a:ea typeface="宋体" panose="02010600030101010101" pitchFamily="2" charset="-122"/>
                </a:rPr>
                <a:t>SELECT * FROM Product;</a:t>
              </a:r>
              <a:endParaRPr lang="en-US" altLang="zh-CN" sz="2000" b="1" dirty="0">
                <a:latin typeface="Times New Roman" panose="02020603050405020304" pitchFamily="18" charset="0"/>
                <a:ea typeface="宋体" panose="02010600030101010101" pitchFamily="2" charset="-122"/>
              </a:endParaRPr>
            </a:p>
          </p:txBody>
        </p:sp>
        <p:sp>
          <p:nvSpPr>
            <p:cNvPr id="16" name="Text Box 13"/>
            <p:cNvSpPr txBox="1">
              <a:spLocks noChangeArrowheads="1"/>
            </p:cNvSpPr>
            <p:nvPr/>
          </p:nvSpPr>
          <p:spPr bwMode="auto">
            <a:xfrm>
              <a:off x="2792" y="1289"/>
              <a:ext cx="789" cy="261"/>
            </a:xfrm>
            <a:prstGeom prst="rect">
              <a:avLst/>
            </a:prstGeom>
            <a:solidFill>
              <a:srgbClr val="33CC33"/>
            </a:solidFill>
          </p:spPr>
          <p:style>
            <a:lnRef idx="0">
              <a:schemeClr val="accent2"/>
            </a:lnRef>
            <a:fillRef idx="3">
              <a:schemeClr val="accent2"/>
            </a:fillRef>
            <a:effectRef idx="3">
              <a:schemeClr val="accent2"/>
            </a:effectRef>
            <a:fontRef idx="minor">
              <a:schemeClr val="lt1"/>
            </a:fontRef>
          </p:style>
          <p:txBody>
            <a:bodyPr>
              <a:spAutoFit/>
            </a:bodyP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ctr" defTabSz="914400" rtl="0" eaLnBrk="0" fontAlgn="base" latinLnBrk="0" hangingPunct="0">
                <a:lnSpc>
                  <a:spcPct val="90000"/>
                </a:lnSpc>
                <a:spcBef>
                  <a:spcPct val="5000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DBA</a:t>
              </a:r>
              <a:endPar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736" name="Text Box 14"/>
            <p:cNvSpPr txBox="1"/>
            <p:nvPr/>
          </p:nvSpPr>
          <p:spPr>
            <a:xfrm>
              <a:off x="963" y="3066"/>
              <a:ext cx="1175" cy="261"/>
            </a:xfrm>
            <a:prstGeom prst="rect">
              <a:avLst/>
            </a:prstGeom>
            <a:noFill/>
            <a:ln w="12700">
              <a:noFill/>
            </a:ln>
            <a:effectLst>
              <a:prstShdw prst="shdw17" dist="17961" dir="2699999">
                <a:srgbClr val="83996E"/>
              </a:prstShdw>
            </a:effectLst>
          </p:spPr>
          <p:txBody>
            <a:bodyPr>
              <a:spAutoFit/>
            </a:bodyPr>
            <a:p>
              <a:pPr algn="ctr">
                <a:lnSpc>
                  <a:spcPct val="90000"/>
                </a:lnSpc>
                <a:spcBef>
                  <a:spcPct val="50000"/>
                </a:spcBef>
                <a:buNone/>
              </a:pPr>
              <a:r>
                <a:rPr lang="en-US" altLang="zh-CN" sz="2400" b="1" dirty="0">
                  <a:solidFill>
                    <a:schemeClr val="tx1"/>
                  </a:solidFill>
                  <a:latin typeface="Times New Roman" panose="02020603050405020304" pitchFamily="18" charset="0"/>
                  <a:ea typeface="宋体" panose="02010600030101010101" pitchFamily="2" charset="-122"/>
                </a:rPr>
                <a:t>Order</a:t>
              </a:r>
              <a:r>
                <a:rPr lang="zh-CN" altLang="en-US" sz="2400" b="1" dirty="0">
                  <a:solidFill>
                    <a:schemeClr val="tx1"/>
                  </a:solidFill>
                  <a:latin typeface="Times New Roman" panose="02020603050405020304" pitchFamily="18" charset="0"/>
                  <a:ea typeface="宋体" panose="02010600030101010101" pitchFamily="2" charset="-122"/>
                </a:rPr>
                <a:t>表</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7" name="Text Box 14"/>
            <p:cNvSpPr txBox="1"/>
            <p:nvPr/>
          </p:nvSpPr>
          <p:spPr>
            <a:xfrm>
              <a:off x="998" y="3305"/>
              <a:ext cx="1358" cy="261"/>
            </a:xfrm>
            <a:prstGeom prst="rect">
              <a:avLst/>
            </a:prstGeom>
            <a:noFill/>
            <a:ln w="12700">
              <a:noFill/>
            </a:ln>
            <a:effectLst>
              <a:prstShdw prst="shdw17" dist="17961" dir="2699999">
                <a:srgbClr val="83996E"/>
              </a:prstShdw>
            </a:effectLst>
          </p:spPr>
          <p:txBody>
            <a:bodyPr>
              <a:spAutoFit/>
            </a:bodyPr>
            <a:p>
              <a:pPr>
                <a:lnSpc>
                  <a:spcPct val="90000"/>
                </a:lnSpc>
                <a:spcBef>
                  <a:spcPct val="50000"/>
                </a:spcBef>
                <a:buNone/>
              </a:pPr>
              <a:r>
                <a:rPr lang="en-US" altLang="zh-CN" sz="2400" b="1" dirty="0">
                  <a:solidFill>
                    <a:schemeClr val="tx1"/>
                  </a:solidFill>
                  <a:latin typeface="Times New Roman" panose="02020603050405020304" pitchFamily="18" charset="0"/>
                  <a:ea typeface="宋体" panose="02010600030101010101" pitchFamily="2" charset="-122"/>
                </a:rPr>
                <a:t>Order_items</a:t>
              </a:r>
              <a:r>
                <a:rPr lang="zh-CN" altLang="en-US" sz="2400" b="1" dirty="0">
                  <a:solidFill>
                    <a:schemeClr val="tx1"/>
                  </a:solidFill>
                  <a:latin typeface="Times New Roman" panose="02020603050405020304" pitchFamily="18" charset="0"/>
                  <a:ea typeface="宋体" panose="02010600030101010101" pitchFamily="2" charset="-122"/>
                </a:rPr>
                <a:t>表</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8" name="Text Box 14"/>
            <p:cNvSpPr txBox="1"/>
            <p:nvPr/>
          </p:nvSpPr>
          <p:spPr>
            <a:xfrm>
              <a:off x="1053" y="2809"/>
              <a:ext cx="1205" cy="261"/>
            </a:xfrm>
            <a:prstGeom prst="rect">
              <a:avLst/>
            </a:prstGeom>
            <a:noFill/>
            <a:ln w="12700">
              <a:noFill/>
            </a:ln>
            <a:effectLst>
              <a:prstShdw prst="shdw17" dist="17961" dir="2699999">
                <a:srgbClr val="83996E"/>
              </a:prstShdw>
            </a:effectLst>
          </p:spPr>
          <p:txBody>
            <a:bodyPr>
              <a:spAutoFit/>
            </a:bodyPr>
            <a:p>
              <a:pPr>
                <a:lnSpc>
                  <a:spcPct val="90000"/>
                </a:lnSpc>
                <a:spcBef>
                  <a:spcPct val="50000"/>
                </a:spcBef>
                <a:buNone/>
              </a:pPr>
              <a:r>
                <a:rPr lang="en-US" altLang="zh-CN" sz="2400" b="1" dirty="0">
                  <a:solidFill>
                    <a:schemeClr val="tx1"/>
                  </a:solidFill>
                  <a:latin typeface="Times New Roman" panose="02020603050405020304" pitchFamily="18" charset="0"/>
                  <a:ea typeface="宋体" panose="02010600030101010101" pitchFamily="2" charset="-122"/>
                </a:rPr>
                <a:t>Customer</a:t>
              </a:r>
              <a:r>
                <a:rPr lang="zh-CN" altLang="en-US" sz="2400" b="1" dirty="0">
                  <a:solidFill>
                    <a:schemeClr val="tx1"/>
                  </a:solidFill>
                  <a:latin typeface="Times New Roman" panose="02020603050405020304" pitchFamily="18" charset="0"/>
                  <a:ea typeface="宋体" panose="02010600030101010101" pitchFamily="2" charset="-122"/>
                </a:rPr>
                <a:t>表</a:t>
              </a:r>
              <a:endParaRPr lang="en-US" altLang="zh-CN" sz="2400" b="1" dirty="0">
                <a:solidFill>
                  <a:schemeClr val="tx1"/>
                </a:solidFill>
                <a:latin typeface="Times New Roman" panose="02020603050405020304" pitchFamily="18" charset="0"/>
                <a:ea typeface="宋体" panose="02010600030101010101" pitchFamily="2" charset="-122"/>
              </a:endParaRPr>
            </a:p>
          </p:txBody>
        </p:sp>
        <p:sp>
          <p:nvSpPr>
            <p:cNvPr id="30739" name="Text Box 14"/>
            <p:cNvSpPr txBox="1"/>
            <p:nvPr/>
          </p:nvSpPr>
          <p:spPr>
            <a:xfrm>
              <a:off x="447" y="2701"/>
              <a:ext cx="487" cy="261"/>
            </a:xfrm>
            <a:prstGeom prst="rect">
              <a:avLst/>
            </a:prstGeom>
            <a:noFill/>
            <a:ln w="12700">
              <a:noFill/>
            </a:ln>
            <a:effectLst>
              <a:prstShdw prst="shdw17" dist="17961" dir="2699999">
                <a:srgbClr val="83996E"/>
              </a:prstShdw>
            </a:effectLst>
          </p:spPr>
          <p:txBody>
            <a:bodyPr>
              <a:spAutoFit/>
            </a:bodyPr>
            <a:p>
              <a:pPr algn="ctr">
                <a:lnSpc>
                  <a:spcPct val="90000"/>
                </a:lnSpc>
                <a:spcBef>
                  <a:spcPct val="50000"/>
                </a:spcBef>
                <a:buNone/>
              </a:pPr>
              <a:r>
                <a:rPr lang="zh-CN" altLang="en-US" sz="2400" b="1" dirty="0">
                  <a:solidFill>
                    <a:srgbClr val="009900"/>
                  </a:solidFill>
                  <a:latin typeface="仿宋" panose="02010609060101010101" pitchFamily="49" charset="-122"/>
                  <a:ea typeface="仿宋" panose="02010609060101010101" pitchFamily="49" charset="-122"/>
                </a:rPr>
                <a:t>导出</a:t>
              </a:r>
              <a:endParaRPr lang="en-US" altLang="zh-CN" sz="2400" b="1" dirty="0">
                <a:solidFill>
                  <a:srgbClr val="009900"/>
                </a:solidFill>
                <a:latin typeface="仿宋" panose="02010609060101010101" pitchFamily="49" charset="-122"/>
                <a:ea typeface="仿宋" panose="02010609060101010101" pitchFamily="49" charset="-122"/>
              </a:endParaRPr>
            </a:p>
          </p:txBody>
        </p:sp>
      </p:grpSp>
      <p:sp>
        <p:nvSpPr>
          <p:cNvPr id="30724" name="Rectangle 8"/>
          <p:cNvSpPr/>
          <p:nvPr/>
        </p:nvSpPr>
        <p:spPr>
          <a:xfrm>
            <a:off x="309563" y="5187950"/>
            <a:ext cx="9170987" cy="874713"/>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r>
              <a:rPr lang="en-US" altLang="zh-CN" b="1" dirty="0">
                <a:latin typeface="Times New Roman" panose="02020603050405020304" pitchFamily="18" charset="0"/>
                <a:ea typeface="宋体" panose="02010600030101010101" pitchFamily="2" charset="-122"/>
              </a:rPr>
              <a:t>External view is defined by means of an </a:t>
            </a:r>
            <a:r>
              <a:rPr lang="en-US" altLang="zh-CN" b="1" dirty="0">
                <a:solidFill>
                  <a:srgbClr val="FF0000"/>
                </a:solidFill>
                <a:latin typeface="Times New Roman" panose="02020603050405020304" pitchFamily="18" charset="0"/>
                <a:ea typeface="宋体" panose="02010600030101010101" pitchFamily="2" charset="-122"/>
              </a:rPr>
              <a:t>external schema  </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外模式</a:t>
            </a:r>
            <a:r>
              <a:rPr lang="en-US" altLang="zh-CN" b="1" dirty="0">
                <a:latin typeface="Times New Roman" panose="02020603050405020304" pitchFamily="18" charset="0"/>
                <a:ea typeface="宋体" panose="02010600030101010101" pitchFamily="2" charset="-122"/>
              </a:rPr>
              <a:t>). It is written using the external DDL.</a:t>
            </a:r>
            <a:endParaRPr lang="en-US" altLang="zh-CN" b="1" dirty="0">
              <a:latin typeface="Times New Roman" panose="02020603050405020304" pitchFamily="18" charset="0"/>
              <a:ea typeface="宋体" panose="02010600030101010101" pitchFamily="2" charset="-122"/>
            </a:endParaRPr>
          </a:p>
        </p:txBody>
      </p:sp>
      <p:sp>
        <p:nvSpPr>
          <p:cNvPr id="30725" name="Slide Number Placeholder 3"/>
          <p:cNvSpPr txBox="1">
            <a:spLocks noGrp="1"/>
          </p:cNvSpPr>
          <p:nvPr/>
        </p:nvSpPr>
        <p:spPr>
          <a:xfrm>
            <a:off x="7213600" y="6159500"/>
            <a:ext cx="1828800" cy="304800"/>
          </a:xfrm>
          <a:prstGeom prst="rect">
            <a:avLst/>
          </a:prstGeom>
          <a:noFill/>
          <a:ln w="9525">
            <a:noFill/>
          </a:ln>
        </p:spPr>
        <p:txBody>
          <a:bodyPr/>
          <a:p>
            <a:pPr algn="ctr">
              <a:lnSpc>
                <a:spcPct val="90000"/>
              </a:lnSpc>
            </a:pPr>
            <a:r>
              <a:rPr lang="en-US" altLang="zh-CN" sz="1400" b="1" i="1" dirty="0">
                <a:solidFill>
                  <a:srgbClr val="005400"/>
                </a:solidFill>
                <a:latin typeface="Times New Roman" panose="02020603050405020304" pitchFamily="18" charset="0"/>
                <a:ea typeface="宋体" panose="02010600030101010101" pitchFamily="2" charset="-122"/>
              </a:rPr>
              <a:t>Page </a:t>
            </a:r>
            <a:fld id="{9A0DB2DC-4C9A-4742-B13C-FB6460FD3503}" type="slidenum">
              <a:rPr lang="en-US" altLang="zh-CN" sz="1400" b="1" i="1" dirty="0">
                <a:solidFill>
                  <a:srgbClr val="005400"/>
                </a:solidFill>
                <a:latin typeface="Times New Roman" panose="02020603050405020304" pitchFamily="18" charset="0"/>
                <a:ea typeface="宋体" panose="02010600030101010101" pitchFamily="2" charset="-122"/>
              </a:rPr>
            </a:fld>
            <a:endParaRPr lang="en-US" altLang="zh-CN" sz="1400" b="1" i="1" dirty="0">
              <a:solidFill>
                <a:srgbClr val="005400"/>
              </a:solidFill>
              <a:latin typeface="Times New Roman" panose="02020603050405020304" pitchFamily="18" charset="0"/>
              <a:ea typeface="宋体" panose="02010600030101010101" pitchFamily="2" charset="-122"/>
            </a:endParaRPr>
          </a:p>
        </p:txBody>
      </p:sp>
      <p:cxnSp>
        <p:nvCxnSpPr>
          <p:cNvPr id="7" name="肘形连接符 6"/>
          <p:cNvCxnSpPr>
            <a:stCxn id="30738" idx="1"/>
            <a:endCxn id="124936" idx="1"/>
          </p:cNvCxnSpPr>
          <p:nvPr/>
        </p:nvCxnSpPr>
        <p:spPr bwMode="auto">
          <a:xfrm rot="10800000">
            <a:off x="1519238" y="3130550"/>
            <a:ext cx="26988" cy="523875"/>
          </a:xfrm>
          <a:prstGeom prst="bentConnector3">
            <a:avLst>
              <a:gd name="adj1" fmla="val 927302"/>
            </a:avLst>
          </a:prstGeom>
          <a:ln>
            <a:solidFill>
              <a:srgbClr val="33CC33"/>
            </a:solidFill>
            <a:headEnd type="none" w="med" len="med"/>
            <a:tailEnd type="arrow"/>
          </a:ln>
        </p:spPr>
        <p:style>
          <a:lnRef idx="2">
            <a:schemeClr val="accent6"/>
          </a:lnRef>
          <a:fillRef idx="0">
            <a:schemeClr val="accent6"/>
          </a:fillRef>
          <a:effectRef idx="1">
            <a:schemeClr val="accent6"/>
          </a:effectRef>
          <a:fontRef idx="minor">
            <a:schemeClr val="tx1"/>
          </a:fontRef>
        </p:style>
      </p:cxnSp>
      <p:cxnSp>
        <p:nvCxnSpPr>
          <p:cNvPr id="26" name="直接箭头连接符 25"/>
          <p:cNvCxnSpPr>
            <a:stCxn id="30744" idx="2"/>
          </p:cNvCxnSpPr>
          <p:nvPr/>
        </p:nvCxnSpPr>
        <p:spPr bwMode="auto">
          <a:xfrm>
            <a:off x="3616325" y="2841625"/>
            <a:ext cx="873125" cy="600075"/>
          </a:xfrm>
          <a:prstGeom prst="straightConnector1">
            <a:avLst/>
          </a:prstGeom>
          <a:ln>
            <a:solidFill>
              <a:srgbClr val="FF0000"/>
            </a:solidFill>
            <a:headEnd type="none" w="med" len="med"/>
            <a:tailEnd type="arrow"/>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内容占位符 2"/>
          <p:cNvSpPr>
            <a:spLocks noGrp="1"/>
          </p:cNvSpPr>
          <p:nvPr>
            <p:ph idx="1"/>
          </p:nvPr>
        </p:nvSpPr>
        <p:spPr>
          <a:xfrm>
            <a:off x="787400" y="1603375"/>
            <a:ext cx="8685213" cy="539750"/>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(1) </a:t>
            </a:r>
            <a:r>
              <a:rPr lang="zh-CN" altLang="zh-CN" dirty="0">
                <a:latin typeface="Times New Roman" panose="02020603050405020304" pitchFamily="18" charset="0"/>
                <a:ea typeface="宋体" panose="02010600030101010101" pitchFamily="2" charset="-122"/>
                <a:cs typeface="+mn-cs"/>
              </a:rPr>
              <a:t>创建用户</a:t>
            </a:r>
            <a:r>
              <a:rPr lang="zh-CN" altLang="en-US" dirty="0">
                <a:latin typeface="Times New Roman" panose="02020603050405020304" pitchFamily="18" charset="0"/>
                <a:ea typeface="宋体" panose="02010600030101010101" pitchFamily="2" charset="-122"/>
                <a:cs typeface="+mn-cs"/>
              </a:rPr>
              <a:t>：</a:t>
            </a:r>
            <a:r>
              <a:rPr lang="en-US" altLang="zh-CN" dirty="0">
                <a:latin typeface="Times New Roman" panose="02020603050405020304" pitchFamily="18" charset="0"/>
                <a:ea typeface="宋体" panose="02010600030101010101" pitchFamily="2" charset="-122"/>
                <a:cs typeface="+mn-cs"/>
              </a:rPr>
              <a:t>USER03</a:t>
            </a:r>
            <a:endParaRPr lang="zh-CN" altLang="zh-CN"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zh-CN" altLang="en-US" dirty="0">
              <a:latin typeface="Times New Roman" panose="02020603050405020304" pitchFamily="18" charset="0"/>
              <a:ea typeface="宋体" panose="02010600030101010101" pitchFamily="2" charset="-122"/>
              <a:cs typeface="+mn-cs"/>
            </a:endParaRPr>
          </a:p>
        </p:txBody>
      </p:sp>
      <p:sp>
        <p:nvSpPr>
          <p:cNvPr id="31747"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1748" name="图片 4"/>
          <p:cNvPicPr>
            <a:picLocks noChangeAspect="1"/>
          </p:cNvPicPr>
          <p:nvPr/>
        </p:nvPicPr>
        <p:blipFill>
          <a:blip r:embed="rId1"/>
          <a:stretch>
            <a:fillRect/>
          </a:stretch>
        </p:blipFill>
        <p:spPr>
          <a:xfrm>
            <a:off x="1020763" y="2143125"/>
            <a:ext cx="7607300" cy="3722688"/>
          </a:xfrm>
          <a:prstGeom prst="rect">
            <a:avLst/>
          </a:prstGeom>
          <a:noFill/>
          <a:ln w="9525">
            <a:noFill/>
          </a:ln>
        </p:spPr>
      </p:pic>
      <p:sp>
        <p:nvSpPr>
          <p:cNvPr id="5" name="标题 1"/>
          <p:cNvSpPr txBox="1"/>
          <p:nvPr/>
        </p:nvSpPr>
        <p:spPr bwMode="auto">
          <a:xfrm>
            <a:off x="1892300" y="777875"/>
            <a:ext cx="6103938" cy="730250"/>
          </a:xfrm>
          <a:prstGeom prst="rect">
            <a:avLst/>
          </a:prstGeom>
        </p:spPr>
        <p:style>
          <a:lnRef idx="1">
            <a:schemeClr val="accent2"/>
          </a:lnRef>
          <a:fillRef idx="2">
            <a:schemeClr val="accent2"/>
          </a:fillRef>
          <a:effectRef idx="1">
            <a:schemeClr val="accent2"/>
          </a:effectRef>
          <a:fontRef idx="minor">
            <a:schemeClr val="dk1"/>
          </a:fontRef>
        </p:style>
        <p:txBody>
          <a:bodyPr lIns="90488" tIns="44450" rIns="90488" bIns="44450" anchor="ctr"/>
          <a:lstStyle>
            <a:lvl1pPr algn="ctr" rtl="0" eaLnBrk="0" fontAlgn="base" hangingPunct="0">
              <a:lnSpc>
                <a:spcPct val="90000"/>
              </a:lnSpc>
              <a:spcBef>
                <a:spcPct val="0"/>
              </a:spcBef>
              <a:spcAft>
                <a:spcPct val="0"/>
              </a:spcAft>
              <a:defRPr sz="3000" b="1">
                <a:solidFill>
                  <a:srgbClr val="005400"/>
                </a:solidFill>
                <a:latin typeface="+mj-lt"/>
                <a:ea typeface="+mj-ea"/>
                <a:cs typeface="+mj-cs"/>
              </a:defRPr>
            </a:lvl1pPr>
            <a:lvl2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2pPr>
            <a:lvl3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3pPr>
            <a:lvl4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4pPr>
            <a:lvl5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5pPr>
            <a:lvl6pPr marL="4572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6pPr>
            <a:lvl7pPr marL="9144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7pPr>
            <a:lvl8pPr marL="13716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8pPr>
            <a:lvl9pPr marL="18288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案例</a:t>
            </a:r>
            <a:r>
              <a:rPr kumimoji="0" lang="en-US" altLang="zh-CN" sz="3000" b="1" i="0" u="none" strike="noStrike" kern="0" cap="none" spc="0" normalizeH="0" baseline="0" noProof="0" dirty="0" smtClean="0">
                <a:ln>
                  <a:noFill/>
                </a:ln>
                <a:solidFill>
                  <a:srgbClr val="005400"/>
                </a:solidFill>
                <a:effectLst/>
                <a:uLnTx/>
                <a:uFillTx/>
                <a:latin typeface="+mj-lt"/>
                <a:ea typeface="+mj-ea"/>
                <a:cs typeface="+mj-cs"/>
              </a:rPr>
              <a:t>2</a:t>
            </a: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：订单数据库的</a:t>
            </a:r>
            <a:r>
              <a:rPr kumimoji="0" lang="zh-CN" altLang="zh-CN" sz="3000" b="1" i="0" u="none" strike="noStrike" kern="1200" cap="none" spc="0" normalizeH="0" baseline="0" noProof="0" dirty="0" smtClean="0">
                <a:ln>
                  <a:noFill/>
                </a:ln>
                <a:solidFill>
                  <a:srgbClr val="005400"/>
                </a:solidFill>
                <a:effectLst/>
                <a:uLnTx/>
                <a:uFillTx/>
                <a:latin typeface="+mj-lt"/>
                <a:ea typeface="+mj-ea"/>
                <a:cs typeface="+mj-cs"/>
              </a:rPr>
              <a:t>外模式</a:t>
            </a:r>
            <a:r>
              <a:rPr kumimoji="0" lang="zh-CN" altLang="en-US" sz="3000" b="1" i="0" u="none" strike="noStrike" kern="0" cap="none" spc="0" normalizeH="0" baseline="0" noProof="0" dirty="0" smtClean="0">
                <a:ln>
                  <a:noFill/>
                </a:ln>
                <a:solidFill>
                  <a:srgbClr val="005400"/>
                </a:solidFill>
                <a:effectLst/>
                <a:uLnTx/>
                <a:uFillTx/>
                <a:latin typeface="+mj-lt"/>
                <a:ea typeface="+mj-ea"/>
                <a:cs typeface="+mj-cs"/>
              </a:rPr>
              <a:t>定义</a:t>
            </a:r>
            <a:endParaRPr kumimoji="0" lang="zh-CN" altLang="en-US" sz="3000" b="1" i="0" u="none" strike="noStrike" kern="0" cap="none" spc="0" normalizeH="0" baseline="0" noProof="0" dirty="0" smtClean="0">
              <a:ln>
                <a:noFill/>
              </a:ln>
              <a:solidFill>
                <a:srgbClr val="005400"/>
              </a:solidFill>
              <a:effectLst/>
              <a:uLnTx/>
              <a:uFillTx/>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内容占位符 2"/>
          <p:cNvSpPr>
            <a:spLocks noGrp="1"/>
          </p:cNvSpPr>
          <p:nvPr>
            <p:ph idx="1"/>
          </p:nvPr>
        </p:nvSpPr>
        <p:spPr>
          <a:xfrm>
            <a:off x="511175" y="752475"/>
            <a:ext cx="8901113" cy="511175"/>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(2) </a:t>
            </a:r>
            <a:r>
              <a:rPr lang="zh-CN" altLang="zh-CN" dirty="0">
                <a:latin typeface="Times New Roman" panose="02020603050405020304" pitchFamily="18" charset="0"/>
                <a:ea typeface="宋体" panose="02010600030101010101" pitchFamily="2" charset="-122"/>
                <a:cs typeface="+mn-cs"/>
              </a:rPr>
              <a:t>创建视图（数据库中的对象，本身不存放数据）</a:t>
            </a:r>
            <a:endParaRPr lang="zh-CN" altLang="en-US" dirty="0">
              <a:latin typeface="Times New Roman" panose="02020603050405020304" pitchFamily="18" charset="0"/>
              <a:ea typeface="宋体" panose="02010600030101010101" pitchFamily="2" charset="-122"/>
              <a:cs typeface="+mn-cs"/>
            </a:endParaRPr>
          </a:p>
        </p:txBody>
      </p:sp>
      <p:sp>
        <p:nvSpPr>
          <p:cNvPr id="32771"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2772" name="图片 4"/>
          <p:cNvPicPr>
            <a:picLocks noChangeAspect="1"/>
          </p:cNvPicPr>
          <p:nvPr/>
        </p:nvPicPr>
        <p:blipFill>
          <a:blip r:embed="rId1"/>
          <a:stretch>
            <a:fillRect/>
          </a:stretch>
        </p:blipFill>
        <p:spPr>
          <a:xfrm>
            <a:off x="806450" y="1252538"/>
            <a:ext cx="8121650" cy="5605462"/>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2"/>
          <p:cNvSpPr>
            <a:spLocks noGrp="1"/>
          </p:cNvSpPr>
          <p:nvPr>
            <p:ph idx="1"/>
          </p:nvPr>
        </p:nvSpPr>
        <p:spPr>
          <a:xfrm>
            <a:off x="604838" y="833438"/>
            <a:ext cx="8589962" cy="417512"/>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(3) </a:t>
            </a:r>
            <a:r>
              <a:rPr lang="zh-CN" altLang="zh-CN" dirty="0">
                <a:latin typeface="Times New Roman" panose="02020603050405020304" pitchFamily="18" charset="0"/>
                <a:ea typeface="宋体" panose="02010600030101010101" pitchFamily="2" charset="-122"/>
                <a:cs typeface="+mn-cs"/>
              </a:rPr>
              <a:t>查看视图定义</a:t>
            </a:r>
            <a:endParaRPr lang="zh-CN" altLang="zh-CN"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zh-CN" altLang="en-US" dirty="0">
              <a:latin typeface="Times New Roman" panose="02020603050405020304" pitchFamily="18" charset="0"/>
              <a:ea typeface="宋体" panose="02010600030101010101" pitchFamily="2" charset="-122"/>
              <a:cs typeface="+mn-cs"/>
            </a:endParaRPr>
          </a:p>
        </p:txBody>
      </p:sp>
      <p:sp>
        <p:nvSpPr>
          <p:cNvPr id="33795"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3796" name="图片 4"/>
          <p:cNvPicPr>
            <a:picLocks noChangeAspect="1"/>
          </p:cNvPicPr>
          <p:nvPr/>
        </p:nvPicPr>
        <p:blipFill>
          <a:blip r:embed="rId1"/>
          <a:stretch>
            <a:fillRect/>
          </a:stretch>
        </p:blipFill>
        <p:spPr>
          <a:xfrm>
            <a:off x="673100" y="1346200"/>
            <a:ext cx="8510588" cy="55118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内容占位符 2"/>
          <p:cNvSpPr>
            <a:spLocks noGrp="1"/>
          </p:cNvSpPr>
          <p:nvPr>
            <p:ph idx="1"/>
          </p:nvPr>
        </p:nvSpPr>
        <p:spPr>
          <a:xfrm>
            <a:off x="715963" y="795338"/>
            <a:ext cx="8632825" cy="442912"/>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(4) </a:t>
            </a:r>
            <a:r>
              <a:rPr lang="zh-CN" altLang="zh-CN" dirty="0">
                <a:latin typeface="Times New Roman" panose="02020603050405020304" pitchFamily="18" charset="0"/>
                <a:ea typeface="宋体" panose="02010600030101010101" pitchFamily="2" charset="-122"/>
                <a:cs typeface="+mn-cs"/>
              </a:rPr>
              <a:t>给</a:t>
            </a:r>
            <a:r>
              <a:rPr lang="en-US" altLang="zh-CN" dirty="0">
                <a:latin typeface="Times New Roman" panose="02020603050405020304" pitchFamily="18" charset="0"/>
                <a:ea typeface="宋体" panose="02010600030101010101" pitchFamily="2" charset="-122"/>
                <a:cs typeface="+mn-cs"/>
              </a:rPr>
              <a:t>USER03</a:t>
            </a:r>
            <a:r>
              <a:rPr lang="zh-CN" altLang="zh-CN" dirty="0">
                <a:latin typeface="Times New Roman" panose="02020603050405020304" pitchFamily="18" charset="0"/>
                <a:ea typeface="宋体" panose="02010600030101010101" pitchFamily="2" charset="-122"/>
                <a:cs typeface="+mn-cs"/>
              </a:rPr>
              <a:t>用户授权</a:t>
            </a:r>
            <a:endParaRPr lang="zh-CN" altLang="zh-CN" dirty="0">
              <a:latin typeface="Times New Roman" panose="02020603050405020304" pitchFamily="18" charset="0"/>
              <a:ea typeface="宋体" panose="02010600030101010101" pitchFamily="2" charset="-122"/>
              <a:cs typeface="+mn-cs"/>
            </a:endParaRPr>
          </a:p>
          <a:p>
            <a:pPr marL="0" indent="0">
              <a:buSzPct val="100000"/>
              <a:buFont typeface="Monotype Sorts" pitchFamily="2" charset="2"/>
              <a:buNone/>
            </a:pPr>
            <a:endParaRPr lang="zh-CN" altLang="en-US" dirty="0">
              <a:latin typeface="Times New Roman" panose="02020603050405020304" pitchFamily="18" charset="0"/>
              <a:ea typeface="宋体" panose="02010600030101010101" pitchFamily="2" charset="-122"/>
              <a:cs typeface="+mn-cs"/>
            </a:endParaRPr>
          </a:p>
        </p:txBody>
      </p:sp>
      <p:sp>
        <p:nvSpPr>
          <p:cNvPr id="34819"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4820" name="图片 4"/>
          <p:cNvPicPr>
            <a:picLocks noChangeAspect="1"/>
          </p:cNvPicPr>
          <p:nvPr/>
        </p:nvPicPr>
        <p:blipFill>
          <a:blip r:embed="rId1"/>
          <a:stretch>
            <a:fillRect/>
          </a:stretch>
        </p:blipFill>
        <p:spPr>
          <a:xfrm>
            <a:off x="565150" y="1285875"/>
            <a:ext cx="8753475" cy="454977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内容占位符 2"/>
          <p:cNvSpPr>
            <a:spLocks noGrp="1"/>
          </p:cNvSpPr>
          <p:nvPr>
            <p:ph idx="1"/>
          </p:nvPr>
        </p:nvSpPr>
        <p:spPr>
          <a:xfrm>
            <a:off x="511175" y="820738"/>
            <a:ext cx="8915400" cy="430212"/>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(5) </a:t>
            </a:r>
            <a:r>
              <a:rPr lang="zh-CN" altLang="zh-CN" dirty="0">
                <a:latin typeface="Times New Roman" panose="02020603050405020304" pitchFamily="18" charset="0"/>
                <a:ea typeface="宋体" panose="02010600030101010101" pitchFamily="2" charset="-122"/>
                <a:cs typeface="+mn-cs"/>
              </a:rPr>
              <a:t>理解外部视图的概念</a:t>
            </a:r>
            <a:endParaRPr lang="zh-CN" altLang="zh-CN" dirty="0">
              <a:latin typeface="Times New Roman" panose="02020603050405020304" pitchFamily="18" charset="0"/>
              <a:ea typeface="宋体" panose="02010600030101010101" pitchFamily="2" charset="-122"/>
              <a:cs typeface="+mn-cs"/>
            </a:endParaRPr>
          </a:p>
          <a:p>
            <a:pPr marL="0" indent="0">
              <a:buSzPct val="100000"/>
            </a:pPr>
            <a:endParaRPr lang="zh-CN" altLang="en-US" dirty="0">
              <a:latin typeface="Times New Roman" panose="02020603050405020304" pitchFamily="18" charset="0"/>
              <a:ea typeface="宋体" panose="02010600030101010101" pitchFamily="2" charset="-122"/>
              <a:cs typeface="+mn-cs"/>
            </a:endParaRPr>
          </a:p>
        </p:txBody>
      </p:sp>
      <p:sp>
        <p:nvSpPr>
          <p:cNvPr id="35843"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5844" name="图片 4"/>
          <p:cNvPicPr>
            <a:picLocks noChangeAspect="1"/>
          </p:cNvPicPr>
          <p:nvPr/>
        </p:nvPicPr>
        <p:blipFill>
          <a:blip r:embed="rId1"/>
          <a:stretch>
            <a:fillRect/>
          </a:stretch>
        </p:blipFill>
        <p:spPr>
          <a:xfrm>
            <a:off x="646113" y="1335088"/>
            <a:ext cx="8537575" cy="5522912"/>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内容占位符 2"/>
          <p:cNvSpPr>
            <a:spLocks noGrp="1"/>
          </p:cNvSpPr>
          <p:nvPr>
            <p:ph idx="1"/>
          </p:nvPr>
        </p:nvSpPr>
        <p:spPr>
          <a:xfrm>
            <a:off x="511175" y="820738"/>
            <a:ext cx="8915400" cy="430212"/>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(5) </a:t>
            </a:r>
            <a:r>
              <a:rPr lang="zh-CN" altLang="zh-CN" dirty="0">
                <a:latin typeface="Times New Roman" panose="02020603050405020304" pitchFamily="18" charset="0"/>
                <a:ea typeface="宋体" panose="02010600030101010101" pitchFamily="2" charset="-122"/>
                <a:cs typeface="+mn-cs"/>
              </a:rPr>
              <a:t>理解外部视图的概念</a:t>
            </a:r>
            <a:r>
              <a:rPr lang="en-US" altLang="zh-CN" dirty="0">
                <a:latin typeface="Times New Roman" panose="02020603050405020304" pitchFamily="18" charset="0"/>
                <a:ea typeface="宋体" panose="02010600030101010101" pitchFamily="2" charset="-122"/>
                <a:cs typeface="+mn-cs"/>
              </a:rPr>
              <a:t>…</a:t>
            </a:r>
            <a:endParaRPr lang="zh-CN" altLang="zh-CN" dirty="0">
              <a:latin typeface="Times New Roman" panose="02020603050405020304" pitchFamily="18" charset="0"/>
              <a:ea typeface="宋体" panose="02010600030101010101" pitchFamily="2" charset="-122"/>
              <a:cs typeface="+mn-cs"/>
            </a:endParaRPr>
          </a:p>
          <a:p>
            <a:pPr marL="0" indent="0">
              <a:buSzPct val="100000"/>
            </a:pPr>
            <a:endParaRPr lang="zh-CN" altLang="en-US" dirty="0">
              <a:latin typeface="Times New Roman" panose="02020603050405020304" pitchFamily="18" charset="0"/>
              <a:ea typeface="宋体" panose="02010600030101010101" pitchFamily="2" charset="-122"/>
              <a:cs typeface="+mn-cs"/>
            </a:endParaRPr>
          </a:p>
        </p:txBody>
      </p:sp>
      <p:sp>
        <p:nvSpPr>
          <p:cNvPr id="36867"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6868" name="图片 5"/>
          <p:cNvPicPr>
            <a:picLocks noChangeAspect="1"/>
          </p:cNvPicPr>
          <p:nvPr/>
        </p:nvPicPr>
        <p:blipFill>
          <a:blip r:embed="rId1"/>
          <a:stretch>
            <a:fillRect/>
          </a:stretch>
        </p:blipFill>
        <p:spPr>
          <a:xfrm>
            <a:off x="754063" y="1382713"/>
            <a:ext cx="8323262" cy="4440237"/>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内容占位符 2"/>
          <p:cNvSpPr>
            <a:spLocks noGrp="1"/>
          </p:cNvSpPr>
          <p:nvPr>
            <p:ph idx="1"/>
          </p:nvPr>
        </p:nvSpPr>
        <p:spPr>
          <a:xfrm>
            <a:off x="511175" y="820738"/>
            <a:ext cx="8915400" cy="430212"/>
          </a:xfrm>
          <a:ln/>
        </p:spPr>
        <p:txBody>
          <a:bodyPr vert="horz" wrap="square" lIns="90488" tIns="44450" rIns="90488" bIns="44450" anchor="t" anchorCtr="0"/>
          <a:p>
            <a:pPr marL="0" indent="0">
              <a:buSzPct val="100000"/>
              <a:buFont typeface="Monotype Sorts" pitchFamily="2" charset="2"/>
              <a:buNone/>
            </a:pPr>
            <a:r>
              <a:rPr lang="en-US" altLang="zh-CN" dirty="0">
                <a:latin typeface="Times New Roman" panose="02020603050405020304" pitchFamily="18" charset="0"/>
                <a:ea typeface="宋体" panose="02010600030101010101" pitchFamily="2" charset="-122"/>
                <a:cs typeface="+mn-cs"/>
              </a:rPr>
              <a:t>(5)</a:t>
            </a:r>
            <a:r>
              <a:rPr lang="zh-CN" altLang="zh-CN" dirty="0">
                <a:latin typeface="Times New Roman" panose="02020603050405020304" pitchFamily="18" charset="0"/>
                <a:ea typeface="宋体" panose="02010600030101010101" pitchFamily="2" charset="-122"/>
                <a:cs typeface="+mn-cs"/>
              </a:rPr>
              <a:t>理解外部视图的概念</a:t>
            </a:r>
            <a:r>
              <a:rPr lang="en-US" altLang="zh-CN" dirty="0">
                <a:latin typeface="Times New Roman" panose="02020603050405020304" pitchFamily="18" charset="0"/>
                <a:ea typeface="宋体" panose="02010600030101010101" pitchFamily="2" charset="-122"/>
                <a:cs typeface="+mn-cs"/>
              </a:rPr>
              <a:t>…</a:t>
            </a:r>
            <a:endParaRPr lang="zh-CN" altLang="zh-CN" dirty="0">
              <a:latin typeface="Times New Roman" panose="02020603050405020304" pitchFamily="18" charset="0"/>
              <a:ea typeface="宋体" panose="02010600030101010101" pitchFamily="2" charset="-122"/>
              <a:cs typeface="+mn-cs"/>
            </a:endParaRPr>
          </a:p>
          <a:p>
            <a:pPr marL="0" indent="0">
              <a:buSzPct val="100000"/>
            </a:pPr>
            <a:endParaRPr lang="zh-CN" altLang="en-US" dirty="0">
              <a:latin typeface="Times New Roman" panose="02020603050405020304" pitchFamily="18" charset="0"/>
              <a:ea typeface="宋体" panose="02010600030101010101" pitchFamily="2" charset="-122"/>
              <a:cs typeface="+mn-cs"/>
            </a:endParaRPr>
          </a:p>
        </p:txBody>
      </p:sp>
      <p:sp>
        <p:nvSpPr>
          <p:cNvPr id="37891"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37892" name="图片 4"/>
          <p:cNvPicPr>
            <a:picLocks noChangeAspect="1"/>
          </p:cNvPicPr>
          <p:nvPr/>
        </p:nvPicPr>
        <p:blipFill>
          <a:blip r:embed="rId1"/>
          <a:stretch>
            <a:fillRect/>
          </a:stretch>
        </p:blipFill>
        <p:spPr>
          <a:xfrm>
            <a:off x="1077913" y="1357313"/>
            <a:ext cx="7648575" cy="4532312"/>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2"/>
          <p:cNvSpPr>
            <a:spLocks noGrp="1"/>
          </p:cNvSpPr>
          <p:nvPr>
            <p:ph idx="1"/>
          </p:nvPr>
        </p:nvSpPr>
        <p:spPr>
          <a:xfrm>
            <a:off x="511175" y="820738"/>
            <a:ext cx="8915400" cy="2674937"/>
          </a:xfrm>
          <a:ln/>
        </p:spPr>
        <p:txBody>
          <a:bodyPr vert="horz" wrap="square" lIns="90488" tIns="44450" rIns="90488" bIns="44450" anchor="t" anchorCtr="0"/>
          <a:p>
            <a:pPr>
              <a:buSzPct val="100000"/>
            </a:pPr>
            <a:r>
              <a:rPr lang="zh-CN" altLang="en-US" dirty="0">
                <a:latin typeface="Times New Roman" panose="02020603050405020304" pitchFamily="18" charset="0"/>
                <a:ea typeface="宋体" panose="02010600030101010101" pitchFamily="2" charset="-122"/>
                <a:cs typeface="+mn-cs"/>
              </a:rPr>
              <a:t>思考：</a:t>
            </a:r>
            <a:endParaRPr lang="en-US" altLang="zh-CN" dirty="0">
              <a:latin typeface="Times New Roman" panose="02020603050405020304" pitchFamily="18" charset="0"/>
              <a:ea typeface="宋体" panose="02010600030101010101" pitchFamily="2" charset="-122"/>
              <a:cs typeface="+mn-cs"/>
            </a:endParaRPr>
          </a:p>
          <a:p>
            <a:pPr lvl="1">
              <a:buSzPct val="150000"/>
            </a:pPr>
            <a:r>
              <a:rPr lang="zh-CN" altLang="zh-CN" sz="2800" dirty="0">
                <a:latin typeface="Times New Roman" panose="02020603050405020304" pitchFamily="18" charset="0"/>
                <a:ea typeface="宋体" panose="02010600030101010101" pitchFamily="2" charset="-122"/>
              </a:rPr>
              <a:t>数据库的概念视图包含哪些对象？</a:t>
            </a:r>
            <a:endParaRPr lang="zh-CN" altLang="zh-CN" sz="2800" dirty="0">
              <a:latin typeface="Times New Roman" panose="02020603050405020304" pitchFamily="18" charset="0"/>
              <a:ea typeface="宋体" panose="02010600030101010101" pitchFamily="2" charset="-122"/>
            </a:endParaRPr>
          </a:p>
          <a:p>
            <a:pPr lvl="1">
              <a:buSzPct val="150000"/>
            </a:pPr>
            <a:r>
              <a:rPr lang="en-US" altLang="zh-CN" sz="2800" dirty="0">
                <a:latin typeface="Times New Roman" panose="02020603050405020304" pitchFamily="18" charset="0"/>
                <a:ea typeface="宋体" panose="02010600030101010101" pitchFamily="2" charset="-122"/>
              </a:rPr>
              <a:t>USER03</a:t>
            </a:r>
            <a:r>
              <a:rPr lang="zh-CN" altLang="en-US" sz="2800" dirty="0">
                <a:latin typeface="Times New Roman" panose="02020603050405020304" pitchFamily="18" charset="0"/>
                <a:ea typeface="宋体" panose="02010600030101010101" pitchFamily="2" charset="-122"/>
              </a:rPr>
              <a:t>用户</a:t>
            </a:r>
            <a:r>
              <a:rPr lang="zh-CN" altLang="zh-CN" sz="2800" dirty="0">
                <a:latin typeface="Times New Roman" panose="02020603050405020304" pitchFamily="18" charset="0"/>
                <a:ea typeface="宋体" panose="02010600030101010101" pitchFamily="2" charset="-122"/>
              </a:rPr>
              <a:t>的外部视图包含哪些对象？</a:t>
            </a:r>
            <a:endParaRPr lang="en-US" altLang="zh-CN" sz="2800" dirty="0">
              <a:latin typeface="Times New Roman" panose="02020603050405020304" pitchFamily="18" charset="0"/>
              <a:ea typeface="宋体" panose="02010600030101010101" pitchFamily="2" charset="-122"/>
            </a:endParaRPr>
          </a:p>
          <a:p>
            <a:pPr lvl="1">
              <a:buSzPct val="150000"/>
            </a:pPr>
            <a:r>
              <a:rPr lang="en-US" altLang="zh-CN" sz="2800" dirty="0">
                <a:latin typeface="Times New Roman" panose="02020603050405020304" pitchFamily="18" charset="0"/>
                <a:ea typeface="宋体" panose="02010600030101010101" pitchFamily="2" charset="-122"/>
              </a:rPr>
              <a:t>SCOTT</a:t>
            </a:r>
            <a:r>
              <a:rPr lang="zh-CN" altLang="en-US" sz="2800" dirty="0">
                <a:latin typeface="Times New Roman" panose="02020603050405020304" pitchFamily="18" charset="0"/>
                <a:ea typeface="宋体" panose="02010600030101010101" pitchFamily="2" charset="-122"/>
              </a:rPr>
              <a:t>用户</a:t>
            </a:r>
            <a:r>
              <a:rPr lang="zh-CN" altLang="zh-CN" sz="2800" dirty="0">
                <a:latin typeface="Times New Roman" panose="02020603050405020304" pitchFamily="18" charset="0"/>
                <a:ea typeface="宋体" panose="02010600030101010101" pitchFamily="2" charset="-122"/>
              </a:rPr>
              <a:t>的外部视图包含哪些对象？</a:t>
            </a:r>
            <a:endParaRPr lang="zh-CN" altLang="zh-CN" sz="2800" dirty="0">
              <a:latin typeface="Times New Roman" panose="02020603050405020304" pitchFamily="18" charset="0"/>
              <a:ea typeface="宋体" panose="02010600030101010101" pitchFamily="2" charset="-122"/>
            </a:endParaRPr>
          </a:p>
          <a:p>
            <a:pPr lvl="1">
              <a:buSzPct val="150000"/>
            </a:pPr>
            <a:endParaRPr lang="en-US" altLang="zh-CN" sz="2800" dirty="0">
              <a:latin typeface="Times New Roman" panose="02020603050405020304" pitchFamily="18" charset="0"/>
              <a:ea typeface="宋体" panose="02010600030101010101" pitchFamily="2" charset="-122"/>
            </a:endParaRPr>
          </a:p>
          <a:p>
            <a:pPr>
              <a:buSzPct val="100000"/>
            </a:pPr>
            <a:endParaRPr lang="zh-CN" altLang="zh-CN" dirty="0">
              <a:latin typeface="Times New Roman" panose="02020603050405020304" pitchFamily="18" charset="0"/>
              <a:ea typeface="宋体" panose="02010600030101010101" pitchFamily="2" charset="-122"/>
              <a:cs typeface="+mn-cs"/>
            </a:endParaRPr>
          </a:p>
          <a:p>
            <a:pPr>
              <a:buSzPct val="100000"/>
            </a:pPr>
            <a:endParaRPr lang="zh-CN" altLang="en-US" dirty="0">
              <a:latin typeface="Times New Roman" panose="02020603050405020304" pitchFamily="18" charset="0"/>
              <a:ea typeface="宋体" panose="02010600030101010101" pitchFamily="2" charset="-122"/>
              <a:cs typeface="+mn-cs"/>
            </a:endParaRPr>
          </a:p>
        </p:txBody>
      </p:sp>
      <p:sp>
        <p:nvSpPr>
          <p:cNvPr id="38915"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39939" name="Rectangle 2"/>
          <p:cNvSpPr>
            <a:spLocks noGrp="1"/>
          </p:cNvSpPr>
          <p:nvPr>
            <p:ph type="title"/>
          </p:nvPr>
        </p:nvSpPr>
        <p:spPr>
          <a:xfrm>
            <a:off x="1409700" y="901700"/>
            <a:ext cx="7429500" cy="892175"/>
          </a:xfrm>
          <a:ln/>
        </p:spPr>
        <p:txBody>
          <a:bodyPr vert="horz" wrap="square" lIns="90488" tIns="44450" rIns="90488" bIns="44450" anchor="ctr" anchorCtr="0"/>
          <a:p>
            <a:pPr/>
            <a:r>
              <a:rPr lang="en-US" altLang="zh-CN" dirty="0">
                <a:latin typeface="+mj-lt"/>
                <a:ea typeface="+mj-ea"/>
                <a:cs typeface="+mj-cs"/>
              </a:rPr>
              <a:t>1.2 The External Level</a:t>
            </a:r>
            <a:r>
              <a:rPr lang="en-US" altLang="zh-CN" dirty="0">
                <a:latin typeface="Arial" panose="020B0604020202020204" pitchFamily="34" charset="0"/>
                <a:ea typeface="+mj-ea"/>
                <a:cs typeface="+mj-cs"/>
              </a:rPr>
              <a:t>…</a:t>
            </a:r>
            <a:endParaRPr lang="zh-CN" altLang="en-US" dirty="0">
              <a:latin typeface="+mj-lt"/>
              <a:ea typeface="+mj-ea"/>
              <a:cs typeface="+mj-cs"/>
            </a:endParaRPr>
          </a:p>
        </p:txBody>
      </p:sp>
      <p:sp>
        <p:nvSpPr>
          <p:cNvPr id="39940" name="Rectangle 3"/>
          <p:cNvSpPr>
            <a:spLocks noGrp="1"/>
          </p:cNvSpPr>
          <p:nvPr>
            <p:ph idx="1"/>
          </p:nvPr>
        </p:nvSpPr>
        <p:spPr>
          <a:xfrm>
            <a:off x="723900" y="1924050"/>
            <a:ext cx="8420100" cy="3992563"/>
          </a:xfrm>
          <a:ln/>
        </p:spPr>
        <p:txBody>
          <a:bodyPr vert="horz" wrap="square" lIns="90488" tIns="44450" rIns="90488" bIns="44450" anchor="t" anchorCtr="0"/>
          <a:p>
            <a:pPr>
              <a:buSzPct val="100000"/>
            </a:pPr>
            <a:r>
              <a:rPr lang="en-US" altLang="zh-CN" dirty="0">
                <a:latin typeface="Times New Roman" panose="02020603050405020304" pitchFamily="18" charset="0"/>
                <a:ea typeface="宋体" panose="02010600030101010101" pitchFamily="2" charset="-122"/>
                <a:cs typeface="+mn-cs"/>
              </a:rPr>
              <a:t>User and language </a:t>
            </a:r>
            <a:endParaRPr lang="en-US" altLang="zh-CN" dirty="0">
              <a:latin typeface="Times New Roman" panose="02020603050405020304" pitchFamily="18" charset="0"/>
              <a:ea typeface="宋体" panose="02010600030101010101" pitchFamily="2" charset="-122"/>
              <a:cs typeface="+mn-cs"/>
            </a:endParaRPr>
          </a:p>
          <a:p>
            <a:pPr lvl="1">
              <a:buSzPct val="150000"/>
            </a:pPr>
            <a:r>
              <a:rPr lang="en-US" altLang="zh-CN" sz="2800" dirty="0">
                <a:latin typeface="Times New Roman" panose="02020603050405020304" pitchFamily="18" charset="0"/>
                <a:ea typeface="宋体" panose="02010600030101010101" pitchFamily="2" charset="-122"/>
              </a:rPr>
              <a:t>Application programmer:</a:t>
            </a:r>
            <a:endParaRPr lang="en-US" altLang="zh-CN" sz="2800" dirty="0">
              <a:latin typeface="Times New Roman" panose="02020603050405020304" pitchFamily="18" charset="0"/>
              <a:ea typeface="宋体" panose="02010600030101010101" pitchFamily="2" charset="-122"/>
            </a:endParaRPr>
          </a:p>
          <a:p>
            <a:pPr lvl="2">
              <a:buFont typeface="Wingdings" panose="05000000000000000000" pitchFamily="2" charset="2"/>
              <a:buNone/>
            </a:pPr>
            <a:r>
              <a:rPr lang="en-US" altLang="zh-CN" sz="2800" dirty="0">
                <a:latin typeface="Times New Roman" panose="02020603050405020304" pitchFamily="18" charset="0"/>
                <a:ea typeface="宋体" panose="02010600030101010101" pitchFamily="2" charset="-122"/>
              </a:rPr>
              <a:t>programming language, e.g., PL/I, C++, Java</a:t>
            </a:r>
            <a:endParaRPr lang="en-US" altLang="zh-CN" sz="2800" dirty="0">
              <a:latin typeface="Times New Roman" panose="02020603050405020304" pitchFamily="18" charset="0"/>
              <a:ea typeface="宋体" panose="02010600030101010101" pitchFamily="2" charset="-122"/>
            </a:endParaRPr>
          </a:p>
          <a:p>
            <a:pPr lvl="1">
              <a:buSzPct val="150000"/>
            </a:pPr>
            <a:r>
              <a:rPr lang="en-US" altLang="zh-CN" sz="2800" dirty="0">
                <a:latin typeface="Times New Roman" panose="02020603050405020304" pitchFamily="18" charset="0"/>
                <a:ea typeface="宋体" panose="02010600030101010101" pitchFamily="2" charset="-122"/>
              </a:rPr>
              <a:t>Other users:</a:t>
            </a:r>
            <a:endParaRPr lang="en-US" altLang="zh-CN" sz="2800" dirty="0">
              <a:latin typeface="Times New Roman" panose="02020603050405020304" pitchFamily="18" charset="0"/>
              <a:ea typeface="宋体" panose="02010600030101010101" pitchFamily="2" charset="-122"/>
            </a:endParaRPr>
          </a:p>
          <a:p>
            <a:pPr lvl="2">
              <a:buFont typeface="Wingdings" panose="05000000000000000000" pitchFamily="2" charset="2"/>
              <a:buNone/>
            </a:pPr>
            <a:r>
              <a:rPr lang="en-US" altLang="zh-CN" sz="2800" dirty="0">
                <a:latin typeface="Times New Roman" panose="02020603050405020304" pitchFamily="18" charset="0"/>
                <a:ea typeface="宋体" panose="02010600030101010101" pitchFamily="2" charset="-122"/>
              </a:rPr>
              <a:t>query language </a:t>
            </a:r>
            <a:endParaRPr lang="en-US" altLang="zh-CN" sz="2800" dirty="0">
              <a:latin typeface="Times New Roman" panose="02020603050405020304" pitchFamily="18" charset="0"/>
              <a:ea typeface="宋体" panose="02010600030101010101" pitchFamily="2" charset="-122"/>
            </a:endParaRPr>
          </a:p>
          <a:p>
            <a:pPr lvl="2">
              <a:buFont typeface="Wingdings" panose="05000000000000000000" pitchFamily="2" charset="2"/>
              <a:buNone/>
            </a:pPr>
            <a:r>
              <a:rPr lang="en-US" altLang="zh-CN" sz="2800" dirty="0">
                <a:latin typeface="Times New Roman" panose="02020603050405020304" pitchFamily="18" charset="0"/>
                <a:ea typeface="宋体" panose="02010600030101010101" pitchFamily="2" charset="-122"/>
              </a:rPr>
              <a:t>application program</a:t>
            </a:r>
            <a:endParaRPr lang="en-US" altLang="zh-CN" sz="2800" dirty="0">
              <a:latin typeface="Times New Roman" panose="02020603050405020304" pitchFamily="18" charset="0"/>
              <a:ea typeface="宋体" panose="02010600030101010101" pitchFamily="2" charset="-122"/>
            </a:endParaRPr>
          </a:p>
          <a:p>
            <a:pPr fontAlgn="ctr">
              <a:buClr>
                <a:srgbClr val="FF0000"/>
              </a:buClr>
              <a:buSzPct val="200000"/>
              <a:buFont typeface="Monotype Sorts" pitchFamily="2" charset="2"/>
              <a:buChar char="F"/>
            </a:pPr>
            <a:r>
              <a:rPr lang="en-US" altLang="zh-CN" dirty="0">
                <a:solidFill>
                  <a:srgbClr val="FF0000"/>
                </a:solidFill>
                <a:latin typeface="Times New Roman" panose="02020603050405020304" pitchFamily="18" charset="0"/>
                <a:ea typeface="宋体" panose="02010600030101010101" pitchFamily="2" charset="-122"/>
                <a:cs typeface="+mn-cs"/>
                <a:sym typeface="Wingdings" panose="05000000000000000000" pitchFamily="2" charset="2"/>
              </a:rPr>
              <a:t>All such languages include a data sublanguage,it include DDL and DML.</a:t>
            </a:r>
            <a:endParaRPr lang="zh-CN" altLang="en-US" dirty="0">
              <a:solidFill>
                <a:srgbClr val="FF0000"/>
              </a:solidFill>
              <a:latin typeface="Times New Roman" panose="02020603050405020304" pitchFamily="18" charset="0"/>
              <a:ea typeface="宋体" panose="02010600030101010101" pitchFamily="2" charset="-122"/>
              <a:cs typeface="+mn-cs"/>
              <a:sym typeface="Wingdings" panose="05000000000000000000" pitchFamily="2"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2291" name="Rectangle 5"/>
          <p:cNvSpPr>
            <a:spLocks noChangeArrowheads="1"/>
          </p:cNvSpPr>
          <p:nvPr/>
        </p:nvSpPr>
        <p:spPr bwMode="auto">
          <a:xfrm>
            <a:off x="592138" y="1762125"/>
            <a:ext cx="89154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defRPr sz="1600">
                <a:solidFill>
                  <a:srgbClr val="00279F"/>
                </a:solidFill>
                <a:latin typeface="Times New Roman" panose="02020603050405020304" pitchFamily="18" charset="0"/>
              </a:defRPr>
            </a:lvl1pPr>
            <a:lvl2pPr marL="685800" indent="-22860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285750" marR="0" lvl="0" indent="-28575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8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Data sublanguage</a:t>
            </a:r>
            <a:r>
              <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(DSL): is embedded within the corresponding host language.</a:t>
            </a:r>
            <a:endPar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Data Definition Language</a:t>
            </a:r>
            <a:r>
              <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(DDL):supports the definition or declaration of database objects.</a:t>
            </a:r>
            <a:endPar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Data Manipulation Language</a:t>
            </a:r>
            <a:r>
              <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(DML): supports the manipulation or processing of database objects. </a:t>
            </a:r>
            <a:endPar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Data sublanguage: responsible for database operations</a:t>
            </a:r>
            <a:endPar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8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Host language</a:t>
            </a:r>
            <a:r>
              <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responsible for nondatabase facilities</a:t>
            </a:r>
            <a:endPar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90000"/>
              </a:lnSpc>
              <a:spcBef>
                <a:spcPts val="600"/>
              </a:spcBef>
              <a:spcAft>
                <a:spcPct val="0"/>
              </a:spcAft>
              <a:buClr>
                <a:srgbClr val="037C03"/>
              </a:buClr>
              <a:buSzPct val="100000"/>
              <a:buFontTx/>
              <a:buNone/>
              <a:defRPr/>
            </a:pPr>
            <a:r>
              <a:rPr kumimoji="0" lang="en-US" altLang="zh-CN"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Times New Roman" panose="02020603050405020304" pitchFamily="18" charset="0"/>
              </a:rPr>
              <a:t>e.g., user interface, data input and output, </a:t>
            </a:r>
            <a:endParaRPr kumimoji="0" lang="en-US" altLang="zh-CN" sz="28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90000"/>
              </a:lnSpc>
              <a:spcBef>
                <a:spcPts val="600"/>
              </a:spcBef>
              <a:spcAft>
                <a:spcPct val="0"/>
              </a:spcAft>
              <a:buClr>
                <a:srgbClr val="037C03"/>
              </a:buClr>
              <a:buSzPct val="100000"/>
              <a:buFontTx/>
              <a:buNone/>
              <a:defRPr/>
            </a:pPr>
            <a:r>
              <a:rPr kumimoji="0" lang="en-US" altLang="zh-CN" sz="28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Times New Roman" panose="02020603050405020304" pitchFamily="18" charset="0"/>
              </a:rPr>
              <a:t>           computational operations</a:t>
            </a:r>
            <a:endParaRPr kumimoji="0" lang="en-US" altLang="zh-CN" sz="28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988" name="Rectangle 6"/>
          <p:cNvSpPr>
            <a:spLocks noGrp="1"/>
          </p:cNvSpPr>
          <p:nvPr>
            <p:ph type="title"/>
          </p:nvPr>
        </p:nvSpPr>
        <p:spPr>
          <a:xfrm>
            <a:off x="1223963" y="828675"/>
            <a:ext cx="7429500" cy="892175"/>
          </a:xfrm>
          <a:ln/>
        </p:spPr>
        <p:txBody>
          <a:bodyPr vert="horz" wrap="square" lIns="90488" tIns="44450" rIns="90488" bIns="44450" anchor="ctr" anchorCtr="0"/>
          <a:p>
            <a:pPr/>
            <a:r>
              <a:rPr lang="en-US" altLang="zh-CN" dirty="0">
                <a:latin typeface="+mj-lt"/>
                <a:ea typeface="+mj-ea"/>
                <a:cs typeface="+mj-cs"/>
              </a:rPr>
              <a:t>1.2 The External Level</a:t>
            </a:r>
            <a:r>
              <a:rPr lang="en-US" altLang="zh-CN" dirty="0">
                <a:latin typeface="Times New Roman" panose="02020603050405020304" pitchFamily="18" charset="0"/>
                <a:ea typeface="+mj-ea"/>
                <a:cs typeface="+mj-cs"/>
              </a:rPr>
              <a:t>…</a:t>
            </a:r>
            <a:endParaRPr lang="zh-CN" altLang="en-US" dirty="0">
              <a:latin typeface="+mj-lt"/>
              <a:ea typeface="+mj-ea"/>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44035" name="Rectangle 2"/>
          <p:cNvSpPr>
            <a:spLocks noGrp="1"/>
          </p:cNvSpPr>
          <p:nvPr>
            <p:ph type="title"/>
          </p:nvPr>
        </p:nvSpPr>
        <p:spPr>
          <a:ln/>
        </p:spPr>
        <p:txBody>
          <a:bodyPr vert="horz" wrap="square" lIns="90488" tIns="44450" rIns="90488" bIns="44450" anchor="ctr" anchorCtr="0"/>
          <a:p>
            <a:pPr/>
            <a:r>
              <a:rPr lang="en-US" altLang="zh-CN" dirty="0">
                <a:latin typeface="+mj-lt"/>
                <a:ea typeface="+mj-ea"/>
                <a:cs typeface="+mj-cs"/>
              </a:rPr>
              <a:t>1.3 The Internal Level</a:t>
            </a:r>
            <a:endParaRPr lang="zh-CN" altLang="en-US" dirty="0">
              <a:latin typeface="+mj-lt"/>
              <a:ea typeface="+mj-ea"/>
              <a:cs typeface="+mj-cs"/>
            </a:endParaRPr>
          </a:p>
        </p:txBody>
      </p:sp>
      <p:sp>
        <p:nvSpPr>
          <p:cNvPr id="44036" name="Rectangle 3"/>
          <p:cNvSpPr>
            <a:spLocks noGrp="1"/>
          </p:cNvSpPr>
          <p:nvPr>
            <p:ph idx="1"/>
          </p:nvPr>
        </p:nvSpPr>
        <p:spPr>
          <a:xfrm>
            <a:off x="649288" y="2097088"/>
            <a:ext cx="8897937" cy="3556000"/>
          </a:xfrm>
          <a:ln/>
        </p:spPr>
        <p:txBody>
          <a:bodyPr vert="horz" wrap="square" lIns="90488" tIns="44450" rIns="90488" bIns="44450" anchor="t" anchorCtr="0"/>
          <a:p>
            <a:pPr>
              <a:lnSpc>
                <a:spcPct val="150000"/>
              </a:lnSpc>
              <a:buSzPct val="100000"/>
            </a:pPr>
            <a:r>
              <a:rPr lang="en-US" altLang="zh-CN" dirty="0">
                <a:latin typeface="Times New Roman" panose="02020603050405020304" pitchFamily="18" charset="0"/>
                <a:ea typeface="宋体" panose="02010600030101010101" pitchFamily="2" charset="-122"/>
                <a:cs typeface="+mn-cs"/>
              </a:rPr>
              <a:t>The </a:t>
            </a:r>
            <a:r>
              <a:rPr lang="en-US" altLang="zh-CN" dirty="0">
                <a:solidFill>
                  <a:srgbClr val="FF3300"/>
                </a:solidFill>
                <a:latin typeface="Times New Roman" panose="02020603050405020304" pitchFamily="18" charset="0"/>
                <a:ea typeface="宋体" panose="02010600030101010101" pitchFamily="2" charset="-122"/>
                <a:cs typeface="+mn-cs"/>
              </a:rPr>
              <a:t>internal view</a:t>
            </a:r>
            <a:r>
              <a:rPr lang="en-US" altLang="zh-CN" dirty="0">
                <a:latin typeface="Times New Roman" panose="02020603050405020304" pitchFamily="18" charset="0"/>
                <a:ea typeface="宋体" panose="02010600030101010101" pitchFamily="2" charset="-122"/>
                <a:cs typeface="+mn-cs"/>
              </a:rPr>
              <a:t> (storage view) is a low-level representation of the entire database.</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r>
              <a:rPr lang="en-US" altLang="zh-CN" dirty="0">
                <a:latin typeface="Times New Roman" panose="02020603050405020304" pitchFamily="18" charset="0"/>
                <a:ea typeface="宋体" panose="02010600030101010101" pitchFamily="2" charset="-122"/>
                <a:cs typeface="+mn-cs"/>
              </a:rPr>
              <a:t>The internal view is described by means of the </a:t>
            </a:r>
            <a:r>
              <a:rPr lang="en-US" altLang="zh-CN" dirty="0">
                <a:solidFill>
                  <a:srgbClr val="FF3300"/>
                </a:solidFill>
                <a:latin typeface="Times New Roman" panose="02020603050405020304" pitchFamily="18" charset="0"/>
                <a:ea typeface="宋体" panose="02010600030101010101" pitchFamily="2" charset="-122"/>
                <a:cs typeface="+mn-cs"/>
              </a:rPr>
              <a:t>internal schema </a:t>
            </a:r>
            <a:r>
              <a:rPr lang="en-US" altLang="zh-CN" dirty="0">
                <a:solidFill>
                  <a:srgbClr val="FF3300"/>
                </a:solidFill>
                <a:latin typeface="仿宋" panose="02010609060101010101" pitchFamily="49" charset="-122"/>
                <a:ea typeface="仿宋" panose="02010609060101010101" pitchFamily="49" charset="-122"/>
                <a:cs typeface="+mn-cs"/>
              </a:rPr>
              <a:t>(</a:t>
            </a:r>
            <a:r>
              <a:rPr lang="zh-CN" altLang="en-US" dirty="0">
                <a:solidFill>
                  <a:srgbClr val="FF3300"/>
                </a:solidFill>
                <a:latin typeface="仿宋" panose="02010609060101010101" pitchFamily="49" charset="-122"/>
                <a:ea typeface="仿宋" panose="02010609060101010101" pitchFamily="49" charset="-122"/>
                <a:cs typeface="+mn-cs"/>
              </a:rPr>
              <a:t>内模式</a:t>
            </a:r>
            <a:r>
              <a:rPr lang="en-US" altLang="zh-CN" dirty="0">
                <a:solidFill>
                  <a:srgbClr val="FF3300"/>
                </a:solidFill>
                <a:latin typeface="仿宋" panose="02010609060101010101" pitchFamily="49" charset="-122"/>
                <a:ea typeface="仿宋" panose="02010609060101010101" pitchFamily="49" charset="-122"/>
                <a:cs typeface="+mn-cs"/>
              </a:rPr>
              <a:t>)</a:t>
            </a:r>
            <a:r>
              <a:rPr lang="en-US" altLang="zh-CN" dirty="0">
                <a:latin typeface="Times New Roman" panose="02020603050405020304" pitchFamily="18" charset="0"/>
                <a:ea typeface="宋体" panose="02010600030101010101" pitchFamily="2" charset="-122"/>
                <a:cs typeface="+mn-cs"/>
              </a:rPr>
              <a:t>.</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r>
              <a:rPr lang="en-US" altLang="zh-CN" dirty="0">
                <a:latin typeface="Times New Roman" panose="02020603050405020304" pitchFamily="18" charset="0"/>
                <a:ea typeface="宋体" panose="02010600030101010101" pitchFamily="2" charset="-122"/>
                <a:cs typeface="+mn-cs"/>
              </a:rPr>
              <a:t>The internal schema is written using </a:t>
            </a:r>
            <a:r>
              <a:rPr lang="en-US" altLang="zh-CN" dirty="0">
                <a:solidFill>
                  <a:srgbClr val="FF3300"/>
                </a:solidFill>
                <a:latin typeface="Times New Roman" panose="02020603050405020304" pitchFamily="18" charset="0"/>
                <a:ea typeface="宋体" panose="02010600030101010101" pitchFamily="2" charset="-122"/>
                <a:cs typeface="+mn-cs"/>
              </a:rPr>
              <a:t>the internal DDL</a:t>
            </a:r>
            <a:r>
              <a:rPr lang="en-US" altLang="zh-CN" dirty="0">
                <a:latin typeface="Times New Roman" panose="02020603050405020304" pitchFamily="18" charset="0"/>
                <a:ea typeface="宋体" panose="02010600030101010101" pitchFamily="2" charset="-122"/>
                <a:cs typeface="+mn-cs"/>
              </a:rPr>
              <a:t>.</a:t>
            </a:r>
            <a:endParaRPr lang="zh-CN" altLang="en-US"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46083" name="Rectangle 2"/>
          <p:cNvSpPr>
            <a:spLocks noGrp="1"/>
          </p:cNvSpPr>
          <p:nvPr>
            <p:ph type="title"/>
          </p:nvPr>
        </p:nvSpPr>
        <p:spPr>
          <a:xfrm>
            <a:off x="442913" y="901700"/>
            <a:ext cx="9053512" cy="882650"/>
          </a:xfrm>
          <a:ln/>
        </p:spPr>
        <p:txBody>
          <a:bodyPr vert="horz" wrap="square" lIns="90488" tIns="44450" rIns="90488" bIns="44450" anchor="ctr" anchorCtr="0"/>
          <a:p>
            <a:pPr/>
            <a:r>
              <a:rPr lang="en-US" altLang="zh-CN" dirty="0">
                <a:latin typeface="+mj-lt"/>
                <a:ea typeface="+mj-ea"/>
                <a:cs typeface="+mj-cs"/>
              </a:rPr>
              <a:t>1.4 How the three levels of the architecture are typically realized in a relational system?</a:t>
            </a:r>
            <a:endParaRPr lang="en-US" altLang="zh-CN" dirty="0">
              <a:latin typeface="+mj-lt"/>
              <a:ea typeface="+mj-ea"/>
              <a:cs typeface="+mj-cs"/>
            </a:endParaRPr>
          </a:p>
        </p:txBody>
      </p:sp>
      <p:sp>
        <p:nvSpPr>
          <p:cNvPr id="46084" name="Rectangle 3"/>
          <p:cNvSpPr>
            <a:spLocks noGrp="1"/>
          </p:cNvSpPr>
          <p:nvPr>
            <p:ph idx="1"/>
          </p:nvPr>
        </p:nvSpPr>
        <p:spPr>
          <a:xfrm>
            <a:off x="744538" y="2057400"/>
            <a:ext cx="8709025" cy="4006850"/>
          </a:xfrm>
          <a:ln/>
        </p:spPr>
        <p:txBody>
          <a:bodyPr vert="horz" wrap="square" lIns="90488" tIns="44450" rIns="90488" bIns="44450" anchor="t" anchorCtr="0"/>
          <a:p>
            <a:pPr>
              <a:lnSpc>
                <a:spcPct val="80000"/>
              </a:lnSpc>
              <a:buSzPct val="100000"/>
            </a:pPr>
            <a:r>
              <a:rPr lang="en-US" altLang="zh-CN" dirty="0">
                <a:latin typeface="Times New Roman" panose="02020603050405020304" pitchFamily="18" charset="0"/>
                <a:ea typeface="宋体" panose="02010600030101010101" pitchFamily="2" charset="-122"/>
                <a:cs typeface="+mn-cs"/>
              </a:rPr>
              <a:t>The conceptual level in such a system will definitely be relational</a:t>
            </a:r>
            <a:endParaRPr lang="en-US" altLang="zh-CN" sz="2000" dirty="0">
              <a:latin typeface="Times New Roman" panose="02020603050405020304" pitchFamily="18" charset="0"/>
              <a:ea typeface="宋体" panose="02010600030101010101" pitchFamily="2" charset="-122"/>
              <a:cs typeface="+mn-cs"/>
            </a:endParaRPr>
          </a:p>
          <a:p>
            <a:pPr lvl="1">
              <a:lnSpc>
                <a:spcPct val="80000"/>
              </a:lnSpc>
              <a:buSzPct val="150000"/>
            </a:pPr>
            <a:r>
              <a:rPr lang="en-US" altLang="zh-CN" dirty="0">
                <a:latin typeface="Times New Roman" panose="02020603050405020304" pitchFamily="18" charset="0"/>
                <a:ea typeface="宋体" panose="02010600030101010101" pitchFamily="2" charset="-122"/>
              </a:rPr>
              <a:t>Relational Tables </a:t>
            </a:r>
            <a:endParaRPr lang="en-US" altLang="zh-CN" dirty="0">
              <a:latin typeface="Times New Roman" panose="02020603050405020304" pitchFamily="18" charset="0"/>
              <a:ea typeface="宋体" panose="02010600030101010101" pitchFamily="2"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Relational Operators→ Result: Table</a:t>
            </a:r>
            <a:endParaRPr lang="en-US" altLang="zh-CN" dirty="0">
              <a:latin typeface="Times New Roman" panose="02020603050405020304" pitchFamily="18" charset="0"/>
              <a:ea typeface="宋体" panose="02010600030101010101" pitchFamily="2" charset="-122"/>
            </a:endParaRPr>
          </a:p>
          <a:p>
            <a:pPr>
              <a:lnSpc>
                <a:spcPct val="80000"/>
              </a:lnSpc>
              <a:buSzPct val="100000"/>
            </a:pPr>
            <a:r>
              <a:rPr lang="en-US" altLang="zh-CN" dirty="0">
                <a:latin typeface="Times New Roman" panose="02020603050405020304" pitchFamily="18" charset="0"/>
                <a:ea typeface="宋体" panose="02010600030101010101" pitchFamily="2" charset="-122"/>
                <a:cs typeface="+mn-cs"/>
              </a:rPr>
              <a:t>A given external view will typically be relational</a:t>
            </a:r>
            <a:endParaRPr lang="en-US" altLang="zh-CN" dirty="0">
              <a:latin typeface="Times New Roman" panose="02020603050405020304" pitchFamily="18" charset="0"/>
              <a:ea typeface="宋体" panose="02010600030101010101" pitchFamily="2" charset="-122"/>
              <a:cs typeface="+mn-cs"/>
            </a:endParaRPr>
          </a:p>
          <a:p>
            <a:pPr lvl="1">
              <a:lnSpc>
                <a:spcPct val="80000"/>
              </a:lnSpc>
              <a:buSzPct val="150000"/>
            </a:pPr>
            <a:r>
              <a:rPr lang="en-US" altLang="zh-CN" dirty="0">
                <a:latin typeface="Times New Roman" panose="02020603050405020304" pitchFamily="18" charset="0"/>
                <a:ea typeface="宋体" panose="02010600030101010101" pitchFamily="2" charset="-122"/>
              </a:rPr>
              <a:t>Table or View</a:t>
            </a:r>
            <a:endParaRPr lang="en-US" altLang="zh-CN" dirty="0">
              <a:latin typeface="Times New Roman" panose="02020603050405020304" pitchFamily="18" charset="0"/>
              <a:ea typeface="宋体" panose="02010600030101010101" pitchFamily="2" charset="-122"/>
            </a:endParaRPr>
          </a:p>
          <a:p>
            <a:pPr>
              <a:lnSpc>
                <a:spcPct val="80000"/>
              </a:lnSpc>
              <a:buSzPct val="100000"/>
            </a:pPr>
            <a:r>
              <a:rPr lang="en-US" altLang="zh-CN" dirty="0">
                <a:latin typeface="Times New Roman" panose="02020603050405020304" pitchFamily="18" charset="0"/>
                <a:ea typeface="宋体" panose="02010600030101010101" pitchFamily="2" charset="-122"/>
                <a:cs typeface="+mn-cs"/>
              </a:rPr>
              <a:t>The internal level will not be relational</a:t>
            </a:r>
            <a:endParaRPr lang="en-US" altLang="zh-CN" dirty="0">
              <a:latin typeface="Times New Roman" panose="02020603050405020304" pitchFamily="18" charset="0"/>
              <a:ea typeface="宋体" panose="02010600030101010101" pitchFamily="2" charset="-122"/>
              <a:cs typeface="+mn-cs"/>
            </a:endParaRPr>
          </a:p>
          <a:p>
            <a:pPr lvl="1">
              <a:lnSpc>
                <a:spcPct val="80000"/>
              </a:lnSpc>
              <a:buSzPct val="150000"/>
            </a:pPr>
            <a:r>
              <a:rPr lang="en-US" altLang="zh-CN" dirty="0">
                <a:latin typeface="Times New Roman" panose="02020603050405020304" pitchFamily="18" charset="0"/>
                <a:ea typeface="宋体" panose="02010600030101010101" pitchFamily="2" charset="-122"/>
              </a:rPr>
              <a:t>Stored records, Pointers </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指针</a:t>
            </a:r>
            <a:r>
              <a:rPr lang="en-US" altLang="zh-CN" dirty="0">
                <a:latin typeface="仿宋" panose="02010609060101010101" pitchFamily="49" charset="-122"/>
                <a:ea typeface="仿宋" panose="02010609060101010101" pitchFamily="49" charset="-122"/>
              </a:rPr>
              <a:t>)</a:t>
            </a:r>
            <a:endParaRPr lang="en-US" altLang="zh-CN" dirty="0">
              <a:latin typeface="仿宋" panose="02010609060101010101" pitchFamily="49" charset="-122"/>
              <a:ea typeface="仿宋" panose="02010609060101010101" pitchFamily="49"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Indexes </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索引</a:t>
            </a:r>
            <a:r>
              <a:rPr lang="en-US" altLang="zh-CN" dirty="0">
                <a:latin typeface="仿宋" panose="02010609060101010101" pitchFamily="49" charset="-122"/>
                <a:ea typeface="仿宋" panose="02010609060101010101" pitchFamily="49" charset="-122"/>
              </a:rPr>
              <a:t>)</a:t>
            </a:r>
            <a:r>
              <a:rPr lang="en-US" altLang="zh-CN" dirty="0">
                <a:latin typeface="Times New Roman" panose="02020603050405020304" pitchFamily="18" charset="0"/>
                <a:ea typeface="宋体" panose="02010600030101010101" pitchFamily="2" charset="-122"/>
              </a:rPr>
              <a:t> ,</a:t>
            </a:r>
            <a:r>
              <a:rPr lang="en-US" altLang="zh-CN" dirty="0">
                <a:latin typeface="仿宋" panose="02010609060101010101" pitchFamily="49" charset="-122"/>
                <a:ea typeface="仿宋" panose="02010609060101010101" pitchFamily="49" charset="-122"/>
              </a:rPr>
              <a:t> </a:t>
            </a:r>
            <a:r>
              <a:rPr lang="en-US" altLang="zh-CN" dirty="0">
                <a:latin typeface="Times New Roman" panose="02020603050405020304" pitchFamily="18" charset="0"/>
                <a:ea typeface="宋体" panose="02010600030101010101" pitchFamily="2" charset="-122"/>
              </a:rPr>
              <a:t>hashes </a:t>
            </a:r>
            <a:r>
              <a:rPr lang="en-US" altLang="zh-CN" dirty="0">
                <a:latin typeface="仿宋" panose="02010609060101010101" pitchFamily="49" charset="-122"/>
                <a:ea typeface="仿宋" panose="02010609060101010101" pitchFamily="49" charset="-122"/>
              </a:rPr>
              <a:t>(</a:t>
            </a:r>
            <a:r>
              <a:rPr lang="zh-CN" altLang="en-US" dirty="0">
                <a:latin typeface="仿宋" panose="02010609060101010101" pitchFamily="49" charset="-122"/>
                <a:ea typeface="仿宋" panose="02010609060101010101" pitchFamily="49" charset="-122"/>
              </a:rPr>
              <a:t>散列</a:t>
            </a:r>
            <a:r>
              <a:rPr lang="en-US" altLang="zh-CN" dirty="0">
                <a:latin typeface="仿宋" panose="02010609060101010101" pitchFamily="49" charset="-122"/>
                <a:ea typeface="仿宋" panose="02010609060101010101" pitchFamily="49" charset="-122"/>
              </a:rPr>
              <a:t>)</a:t>
            </a:r>
            <a:r>
              <a:rPr lang="en-US" altLang="zh-CN" dirty="0">
                <a:latin typeface="Times New Roman" panose="02020603050405020304" pitchFamily="18" charset="0"/>
                <a:ea typeface="宋体" panose="02010600030101010101" pitchFamily="2" charset="-122"/>
              </a:rPr>
              <a:t>, etc.</a:t>
            </a:r>
            <a:endParaRPr lang="en-US"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3"/>
          <p:cNvPicPr>
            <a:picLocks noChangeAspect="1"/>
          </p:cNvPicPr>
          <p:nvPr>
            <p:ph idx="1"/>
          </p:nvPr>
        </p:nvPicPr>
        <p:blipFill>
          <a:blip r:embed="rId1"/>
          <a:srcRect/>
          <a:stretch>
            <a:fillRect/>
          </a:stretch>
        </p:blipFill>
        <p:spPr>
          <a:xfrm>
            <a:off x="0" y="0"/>
            <a:ext cx="9906000" cy="6858000"/>
          </a:xfrm>
          <a:ln/>
        </p:spPr>
      </p:pic>
      <p:sp>
        <p:nvSpPr>
          <p:cNvPr id="48131"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48132" name="Text Box 4"/>
          <p:cNvSpPr txBox="1"/>
          <p:nvPr/>
        </p:nvSpPr>
        <p:spPr>
          <a:xfrm>
            <a:off x="2655888" y="6461125"/>
            <a:ext cx="5076825" cy="396875"/>
          </a:xfrm>
          <a:prstGeom prst="rect">
            <a:avLst/>
          </a:prstGeom>
          <a:noFill/>
          <a:ln w="9525">
            <a:noFill/>
          </a:ln>
        </p:spPr>
        <p:txBody>
          <a:bodyPr>
            <a:spAutoFit/>
          </a:bodyPr>
          <a:p>
            <a:pPr algn="ctr">
              <a:spcBef>
                <a:spcPct val="50000"/>
              </a:spcBef>
            </a:pPr>
            <a:r>
              <a:rPr lang="en-US" altLang="zh-CN" sz="2000" b="1" dirty="0">
                <a:solidFill>
                  <a:schemeClr val="tx1"/>
                </a:solidFill>
                <a:latin typeface="Arial" panose="020B0604020202020204" pitchFamily="34" charset="0"/>
                <a:ea typeface="宋体" panose="02010600030101010101" pitchFamily="2" charset="-122"/>
              </a:rPr>
              <a:t>Fig. 2.3 Detailed system architecture</a:t>
            </a:r>
            <a:endParaRPr lang="en-US" altLang="zh-CN" sz="2000" b="1"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50179" name="Rectangle 2"/>
          <p:cNvSpPr>
            <a:spLocks noGrp="1"/>
          </p:cNvSpPr>
          <p:nvPr>
            <p:ph type="title"/>
          </p:nvPr>
        </p:nvSpPr>
        <p:spPr>
          <a:ln/>
        </p:spPr>
        <p:txBody>
          <a:bodyPr vert="horz" wrap="square" lIns="90488" tIns="44450" rIns="90488" bIns="44450" anchor="ctr" anchorCtr="0"/>
          <a:p>
            <a:pPr/>
            <a:r>
              <a:rPr lang="en-US" altLang="zh-CN" dirty="0">
                <a:latin typeface="+mj-lt"/>
                <a:ea typeface="+mj-ea"/>
                <a:cs typeface="+mj-cs"/>
              </a:rPr>
              <a:t>1.5 Conceptual/Internal Mapping</a:t>
            </a:r>
            <a:endParaRPr lang="en-US" altLang="zh-CN" dirty="0">
              <a:latin typeface="+mj-lt"/>
              <a:ea typeface="+mj-ea"/>
              <a:cs typeface="+mj-cs"/>
            </a:endParaRPr>
          </a:p>
        </p:txBody>
      </p:sp>
      <p:sp>
        <p:nvSpPr>
          <p:cNvPr id="50180" name="Rectangle 3"/>
          <p:cNvSpPr>
            <a:spLocks noGrp="1"/>
          </p:cNvSpPr>
          <p:nvPr>
            <p:ph idx="1"/>
          </p:nvPr>
        </p:nvSpPr>
        <p:spPr>
          <a:xfrm>
            <a:off x="639763" y="2168525"/>
            <a:ext cx="8477250" cy="3479800"/>
          </a:xfrm>
          <a:ln/>
        </p:spPr>
        <p:txBody>
          <a:bodyPr vert="horz" wrap="square" lIns="90488" tIns="44450" rIns="90488" bIns="44450" anchor="t" anchorCtr="0"/>
          <a:p>
            <a:pPr algn="just">
              <a:lnSpc>
                <a:spcPct val="80000"/>
              </a:lnSpc>
              <a:buSzPct val="100000"/>
            </a:pPr>
            <a:r>
              <a:rPr lang="en-US" altLang="zh-CN" dirty="0">
                <a:latin typeface="Times New Roman" panose="02020603050405020304" pitchFamily="18" charset="0"/>
                <a:ea typeface="宋体" panose="02010600030101010101" pitchFamily="2" charset="-122"/>
                <a:cs typeface="+mn-cs"/>
              </a:rPr>
              <a:t>Defines the correspondence between the conceptual view and the stored database.</a:t>
            </a:r>
            <a:endParaRPr lang="en-US" altLang="zh-CN"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dirty="0">
                <a:latin typeface="Times New Roman" panose="02020603050405020304" pitchFamily="18" charset="0"/>
                <a:ea typeface="宋体" panose="02010600030101010101" pitchFamily="2" charset="-122"/>
                <a:cs typeface="+mn-cs"/>
              </a:rPr>
              <a:t>It specifies how conceptual records and fields are represented at the internal level. </a:t>
            </a:r>
            <a:endParaRPr lang="en-US" altLang="zh-CN"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dirty="0">
                <a:latin typeface="Times New Roman" panose="02020603050405020304" pitchFamily="18" charset="0"/>
                <a:ea typeface="宋体" panose="02010600030101010101" pitchFamily="2" charset="-122"/>
                <a:cs typeface="+mn-cs"/>
              </a:rPr>
              <a:t>It is the </a:t>
            </a:r>
            <a:r>
              <a:rPr lang="en-US" altLang="zh-CN" dirty="0">
                <a:solidFill>
                  <a:srgbClr val="FF3300"/>
                </a:solidFill>
                <a:latin typeface="Times New Roman" panose="02020603050405020304" pitchFamily="18" charset="0"/>
                <a:ea typeface="宋体" panose="02010600030101010101" pitchFamily="2" charset="-122"/>
                <a:cs typeface="+mn-cs"/>
              </a:rPr>
              <a:t>key to physical data independence</a:t>
            </a:r>
            <a:r>
              <a:rPr lang="en-US" altLang="zh-CN" dirty="0">
                <a:latin typeface="Times New Roman" panose="02020603050405020304" pitchFamily="18" charset="0"/>
                <a:ea typeface="宋体" panose="02010600030101010101" pitchFamily="2" charset="-122"/>
                <a:cs typeface="+mn-cs"/>
              </a:rPr>
              <a:t> :If the structure of the stored database is changed, the conceptual/internal mapping must be changed accordingly, so that the conceptual schema can remain invariant. </a:t>
            </a:r>
            <a:endParaRPr lang="en-US" altLang="zh-CN"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52227" name="Rectangle 2"/>
          <p:cNvSpPr>
            <a:spLocks noGrp="1"/>
          </p:cNvSpPr>
          <p:nvPr>
            <p:ph type="title"/>
          </p:nvPr>
        </p:nvSpPr>
        <p:spPr>
          <a:xfrm>
            <a:off x="1371600" y="990600"/>
            <a:ext cx="7162800" cy="838200"/>
          </a:xfrm>
          <a:ln/>
        </p:spPr>
        <p:txBody>
          <a:bodyPr vert="horz" wrap="square" lIns="90488" tIns="44450" rIns="90488" bIns="44450" anchor="ctr" anchorCtr="0"/>
          <a:p>
            <a:pPr/>
            <a:r>
              <a:rPr lang="en-US" altLang="zh-CN" dirty="0">
                <a:latin typeface="+mj-lt"/>
                <a:ea typeface="+mj-ea"/>
                <a:cs typeface="+mj-cs"/>
              </a:rPr>
              <a:t>1.6 External/Conceptual Mapping</a:t>
            </a:r>
            <a:endParaRPr lang="en-US" altLang="zh-CN" dirty="0">
              <a:latin typeface="+mj-lt"/>
              <a:ea typeface="+mj-ea"/>
              <a:cs typeface="+mj-cs"/>
            </a:endParaRPr>
          </a:p>
        </p:txBody>
      </p:sp>
      <p:sp>
        <p:nvSpPr>
          <p:cNvPr id="52228" name="Rectangle 3"/>
          <p:cNvSpPr>
            <a:spLocks noGrp="1"/>
          </p:cNvSpPr>
          <p:nvPr>
            <p:ph idx="1"/>
          </p:nvPr>
        </p:nvSpPr>
        <p:spPr>
          <a:xfrm>
            <a:off x="685800" y="1949450"/>
            <a:ext cx="8524875" cy="3981450"/>
          </a:xfrm>
          <a:ln/>
        </p:spPr>
        <p:txBody>
          <a:bodyPr vert="horz" wrap="square" lIns="90488" tIns="44450" rIns="90488" bIns="44450" anchor="t" anchorCtr="0"/>
          <a:p>
            <a:pPr>
              <a:lnSpc>
                <a:spcPct val="80000"/>
              </a:lnSpc>
              <a:buSzPct val="100000"/>
            </a:pPr>
            <a:r>
              <a:rPr lang="en-US" altLang="zh-CN" sz="2700" dirty="0">
                <a:latin typeface="Times New Roman" panose="02020603050405020304" pitchFamily="18" charset="0"/>
                <a:ea typeface="宋体" panose="02010600030101010101" pitchFamily="2" charset="-122"/>
                <a:cs typeface="+mn-cs"/>
              </a:rPr>
              <a:t>Defines the correspondence between a particular external view and the conceptual view. </a:t>
            </a:r>
            <a:endParaRPr lang="en-US" altLang="zh-CN" sz="2700"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sz="2700" dirty="0">
                <a:latin typeface="Times New Roman" panose="02020603050405020304" pitchFamily="18" charset="0"/>
                <a:ea typeface="宋体" panose="02010600030101010101" pitchFamily="2" charset="-122"/>
                <a:cs typeface="+mn-cs"/>
              </a:rPr>
              <a:t>Fields can have different data types; field and record names can be changed; several conceptual fields can be combined into a single (virtual) external field; </a:t>
            </a:r>
            <a:endParaRPr lang="en-US" altLang="zh-CN" sz="2700"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sz="2700" dirty="0">
                <a:latin typeface="Times New Roman" panose="02020603050405020304" pitchFamily="18" charset="0"/>
                <a:ea typeface="宋体" panose="02010600030101010101" pitchFamily="2" charset="-122"/>
                <a:cs typeface="+mn-cs"/>
              </a:rPr>
              <a:t>Any number of external views can exist at the same time;</a:t>
            </a:r>
            <a:endParaRPr lang="en-US" altLang="zh-CN" sz="2700"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sz="2700" dirty="0">
                <a:latin typeface="Times New Roman" panose="02020603050405020304" pitchFamily="18" charset="0"/>
                <a:ea typeface="宋体" panose="02010600030101010101" pitchFamily="2" charset="-122"/>
                <a:cs typeface="+mn-cs"/>
              </a:rPr>
              <a:t>Any number of users can share a given external view;</a:t>
            </a:r>
            <a:endParaRPr lang="en-US" altLang="zh-CN" sz="2700"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sz="2700" dirty="0">
                <a:latin typeface="Times New Roman" panose="02020603050405020304" pitchFamily="18" charset="0"/>
                <a:ea typeface="宋体" panose="02010600030101010101" pitchFamily="2" charset="-122"/>
                <a:cs typeface="+mn-cs"/>
              </a:rPr>
              <a:t>Different external views can overlap;</a:t>
            </a:r>
            <a:endParaRPr lang="en-US" altLang="zh-CN" sz="2700"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sz="2700" dirty="0">
                <a:latin typeface="Times New Roman" panose="02020603050405020304" pitchFamily="18" charset="0"/>
                <a:ea typeface="宋体" panose="02010600030101010101" pitchFamily="2" charset="-122"/>
                <a:cs typeface="+mn-cs"/>
              </a:rPr>
              <a:t>It is </a:t>
            </a:r>
            <a:r>
              <a:rPr lang="en-US" altLang="zh-CN" sz="2700" dirty="0">
                <a:solidFill>
                  <a:srgbClr val="FF3300"/>
                </a:solidFill>
                <a:latin typeface="Times New Roman" panose="02020603050405020304" pitchFamily="18" charset="0"/>
                <a:ea typeface="宋体" panose="02010600030101010101" pitchFamily="2" charset="-122"/>
                <a:cs typeface="+mn-cs"/>
              </a:rPr>
              <a:t>the key to logical data independence</a:t>
            </a:r>
            <a:r>
              <a:rPr lang="en-US" altLang="zh-CN" sz="2700" dirty="0">
                <a:latin typeface="Times New Roman" panose="02020603050405020304" pitchFamily="18" charset="0"/>
                <a:ea typeface="宋体" panose="02010600030101010101" pitchFamily="2" charset="-122"/>
                <a:cs typeface="+mn-cs"/>
              </a:rPr>
              <a:t>.</a:t>
            </a:r>
            <a:endParaRPr lang="en-US" altLang="zh-CN" sz="2700"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内容占位符 2"/>
          <p:cNvSpPr>
            <a:spLocks noGrp="1"/>
          </p:cNvSpPr>
          <p:nvPr>
            <p:ph idx="1"/>
          </p:nvPr>
        </p:nvSpPr>
        <p:spPr>
          <a:xfrm>
            <a:off x="371475" y="1811338"/>
            <a:ext cx="8915400" cy="3540125"/>
          </a:xfrm>
          <a:ln/>
        </p:spPr>
        <p:txBody>
          <a:bodyPr vert="horz" wrap="square" lIns="90488" tIns="44450" rIns="90488" bIns="44450" anchor="t" anchorCtr="0"/>
          <a:p>
            <a:pPr>
              <a:lnSpc>
                <a:spcPct val="150000"/>
              </a:lnSpc>
              <a:buSzPct val="100000"/>
            </a:pPr>
            <a:r>
              <a:rPr lang="zh-CN" altLang="en-US" dirty="0">
                <a:latin typeface="Times New Roman" panose="02020603050405020304" pitchFamily="18" charset="0"/>
                <a:ea typeface="宋体" panose="02010600030101010101" pitchFamily="2" charset="-122"/>
                <a:cs typeface="+mn-cs"/>
              </a:rPr>
              <a:t>将</a:t>
            </a:r>
            <a:r>
              <a:rPr lang="en-US" altLang="zh-CN" dirty="0">
                <a:latin typeface="Times New Roman" panose="02020603050405020304" pitchFamily="18" charset="0"/>
                <a:ea typeface="宋体" panose="02010600030101010101" pitchFamily="2" charset="-122"/>
                <a:cs typeface="+mn-cs"/>
              </a:rPr>
              <a:t>Customer</a:t>
            </a:r>
            <a:r>
              <a:rPr lang="zh-CN" altLang="en-US" dirty="0">
                <a:latin typeface="Times New Roman" panose="02020603050405020304" pitchFamily="18" charset="0"/>
                <a:ea typeface="宋体" panose="02010600030101010101" pitchFamily="2" charset="-122"/>
                <a:cs typeface="+mn-cs"/>
              </a:rPr>
              <a:t>表拆成</a:t>
            </a:r>
            <a:r>
              <a:rPr lang="en-US" altLang="zh-CN" dirty="0">
                <a:latin typeface="Times New Roman" panose="02020603050405020304" pitchFamily="18" charset="0"/>
                <a:ea typeface="宋体" panose="02010600030101010101" pitchFamily="2" charset="-122"/>
                <a:cs typeface="+mn-cs"/>
              </a:rPr>
              <a:t>2</a:t>
            </a:r>
            <a:r>
              <a:rPr lang="zh-CN" altLang="en-US" dirty="0">
                <a:latin typeface="Times New Roman" panose="02020603050405020304" pitchFamily="18" charset="0"/>
                <a:ea typeface="宋体" panose="02010600030101010101" pitchFamily="2" charset="-122"/>
                <a:cs typeface="+mn-cs"/>
              </a:rPr>
              <a:t>个表</a:t>
            </a:r>
            <a:endParaRPr lang="en-US" altLang="zh-CN" dirty="0">
              <a:latin typeface="Times New Roman" panose="02020603050405020304" pitchFamily="18" charset="0"/>
              <a:ea typeface="宋体" panose="02010600030101010101" pitchFamily="2" charset="-122"/>
              <a:cs typeface="+mn-cs"/>
            </a:endParaRPr>
          </a:p>
          <a:p>
            <a:pPr lvl="1">
              <a:lnSpc>
                <a:spcPct val="150000"/>
              </a:lnSpc>
              <a:buSzPct val="150000"/>
            </a:pPr>
            <a:r>
              <a:rPr lang="en-US" altLang="zh-CN" dirty="0">
                <a:latin typeface="Times New Roman" panose="02020603050405020304" pitchFamily="18" charset="0"/>
                <a:ea typeface="宋体" panose="02010600030101010101" pitchFamily="2" charset="-122"/>
              </a:rPr>
              <a:t>Customer1(Cno, CustomerName,Tel)</a:t>
            </a:r>
            <a:endParaRPr lang="en-US" altLang="zh-CN" dirty="0">
              <a:latin typeface="Times New Roman" panose="02020603050405020304" pitchFamily="18" charset="0"/>
              <a:ea typeface="宋体" panose="02010600030101010101" pitchFamily="2" charset="-122"/>
            </a:endParaRPr>
          </a:p>
          <a:p>
            <a:pPr lvl="1">
              <a:lnSpc>
                <a:spcPct val="150000"/>
              </a:lnSpc>
              <a:buSzPct val="150000"/>
            </a:pPr>
            <a:r>
              <a:rPr lang="en-US" altLang="zh-CN" dirty="0">
                <a:latin typeface="Times New Roman" panose="02020603050405020304" pitchFamily="18" charset="0"/>
                <a:ea typeface="宋体" panose="02010600030101010101" pitchFamily="2" charset="-122"/>
              </a:rPr>
              <a:t>Customer2(Cno, CompanyName,City)</a:t>
            </a:r>
            <a:endParaRPr lang="en-US" altLang="zh-CN" dirty="0">
              <a:latin typeface="Times New Roman" panose="02020603050405020304" pitchFamily="18" charset="0"/>
              <a:ea typeface="宋体" panose="02010600030101010101" pitchFamily="2" charset="-122"/>
            </a:endParaRPr>
          </a:p>
          <a:p>
            <a:pPr>
              <a:lnSpc>
                <a:spcPct val="150000"/>
              </a:lnSpc>
              <a:buSzPct val="100000"/>
            </a:pPr>
            <a:r>
              <a:rPr lang="zh-CN" altLang="en-US" dirty="0">
                <a:latin typeface="Times New Roman" panose="02020603050405020304" pitchFamily="18" charset="0"/>
                <a:ea typeface="宋体" panose="02010600030101010101" pitchFamily="2" charset="-122"/>
                <a:cs typeface="+mn-cs"/>
              </a:rPr>
              <a:t>通过创建视图</a:t>
            </a:r>
            <a:r>
              <a:rPr lang="en-US" altLang="zh-CN" dirty="0">
                <a:latin typeface="Times New Roman" panose="02020603050405020304" pitchFamily="18" charset="0"/>
                <a:ea typeface="宋体" panose="02010600030101010101" pitchFamily="2" charset="-122"/>
                <a:cs typeface="+mn-cs"/>
              </a:rPr>
              <a:t>Customer</a:t>
            </a:r>
            <a:r>
              <a:rPr lang="zh-CN" altLang="en-US" dirty="0">
                <a:latin typeface="Times New Roman" panose="02020603050405020304" pitchFamily="18" charset="0"/>
                <a:ea typeface="宋体" panose="02010600030101010101" pitchFamily="2" charset="-122"/>
                <a:cs typeface="+mn-cs"/>
              </a:rPr>
              <a:t>，使得当概念模式改变之后，外模式可以保持不变。</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endParaRPr lang="zh-CN" altLang="zh-CN" dirty="0">
              <a:latin typeface="Times New Roman" panose="02020603050405020304" pitchFamily="18" charset="0"/>
              <a:ea typeface="宋体" panose="02010600030101010101" pitchFamily="2" charset="-122"/>
              <a:cs typeface="+mn-cs"/>
            </a:endParaRPr>
          </a:p>
          <a:p>
            <a:pPr lvl="1">
              <a:lnSpc>
                <a:spcPct val="150000"/>
              </a:lnSpc>
              <a:buSzPct val="150000"/>
            </a:pPr>
            <a:endParaRPr lang="en-US" altLang="zh-CN" sz="2800" dirty="0">
              <a:latin typeface="Times New Roman" panose="02020603050405020304" pitchFamily="18" charset="0"/>
              <a:ea typeface="宋体" panose="02010600030101010101" pitchFamily="2" charset="-122"/>
            </a:endParaRPr>
          </a:p>
          <a:p>
            <a:pPr>
              <a:lnSpc>
                <a:spcPct val="150000"/>
              </a:lnSpc>
              <a:buSzPct val="100000"/>
            </a:pPr>
            <a:endParaRPr lang="zh-CN" altLang="zh-CN" dirty="0">
              <a:latin typeface="Times New Roman" panose="02020603050405020304" pitchFamily="18" charset="0"/>
              <a:ea typeface="宋体" panose="02010600030101010101" pitchFamily="2" charset="-122"/>
              <a:cs typeface="+mn-cs"/>
            </a:endParaRPr>
          </a:p>
          <a:p>
            <a:pPr>
              <a:lnSpc>
                <a:spcPct val="150000"/>
              </a:lnSpc>
              <a:buSzPct val="100000"/>
            </a:pPr>
            <a:endParaRPr lang="zh-CN" altLang="en-US" dirty="0">
              <a:latin typeface="Times New Roman" panose="02020603050405020304" pitchFamily="18" charset="0"/>
              <a:ea typeface="宋体" panose="02010600030101010101" pitchFamily="2" charset="-122"/>
              <a:cs typeface="+mn-cs"/>
            </a:endParaRPr>
          </a:p>
        </p:txBody>
      </p:sp>
      <p:sp>
        <p:nvSpPr>
          <p:cNvPr id="54275"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5" name="标题 1"/>
          <p:cNvSpPr txBox="1"/>
          <p:nvPr/>
        </p:nvSpPr>
        <p:spPr bwMode="auto">
          <a:xfrm>
            <a:off x="1778000" y="915988"/>
            <a:ext cx="6102350" cy="730250"/>
          </a:xfrm>
          <a:prstGeom prst="rect">
            <a:avLst/>
          </a:prstGeom>
        </p:spPr>
        <p:style>
          <a:lnRef idx="1">
            <a:schemeClr val="accent2"/>
          </a:lnRef>
          <a:fillRef idx="2">
            <a:schemeClr val="accent2"/>
          </a:fillRef>
          <a:effectRef idx="1">
            <a:schemeClr val="accent2"/>
          </a:effectRef>
          <a:fontRef idx="minor">
            <a:schemeClr val="dk1"/>
          </a:fontRef>
        </p:style>
        <p:txBody>
          <a:bodyPr lIns="90488" tIns="44450" rIns="90488" bIns="44450" anchor="ctr"/>
          <a:lstStyle>
            <a:lvl1pPr algn="ctr" rtl="0" eaLnBrk="0" fontAlgn="base" hangingPunct="0">
              <a:lnSpc>
                <a:spcPct val="90000"/>
              </a:lnSpc>
              <a:spcBef>
                <a:spcPct val="0"/>
              </a:spcBef>
              <a:spcAft>
                <a:spcPct val="0"/>
              </a:spcAft>
              <a:defRPr sz="3000" b="1">
                <a:solidFill>
                  <a:srgbClr val="005400"/>
                </a:solidFill>
                <a:latin typeface="+mj-lt"/>
                <a:ea typeface="+mj-ea"/>
                <a:cs typeface="+mj-cs"/>
              </a:defRPr>
            </a:lvl1pPr>
            <a:lvl2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2pPr>
            <a:lvl3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3pPr>
            <a:lvl4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4pPr>
            <a:lvl5pPr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5pPr>
            <a:lvl6pPr marL="4572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6pPr>
            <a:lvl7pPr marL="9144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7pPr>
            <a:lvl8pPr marL="13716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8pPr>
            <a:lvl9pPr marL="1828800" algn="ctr" rtl="0" eaLnBrk="0" fontAlgn="base" hangingPunct="0">
              <a:lnSpc>
                <a:spcPct val="90000"/>
              </a:lnSpc>
              <a:spcBef>
                <a:spcPct val="0"/>
              </a:spcBef>
              <a:spcAft>
                <a:spcPct val="0"/>
              </a:spcAft>
              <a:defRPr sz="2800" b="1">
                <a:solidFill>
                  <a:srgbClr val="005400"/>
                </a:solidFill>
                <a:latin typeface="Comic Sans MS" panose="030F0702030302020204" pitchFamily="66"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dirty="0">
                <a:ln>
                  <a:noFill/>
                </a:ln>
                <a:solidFill>
                  <a:srgbClr val="005400"/>
                </a:solidFill>
                <a:effectLst/>
                <a:uLnTx/>
                <a:uFillTx/>
                <a:latin typeface="+mj-lt"/>
                <a:ea typeface="+mj-ea"/>
                <a:cs typeface="+mj-cs"/>
              </a:rPr>
              <a:t>案例</a:t>
            </a:r>
            <a:r>
              <a:rPr kumimoji="0" lang="en-US" altLang="zh-CN" sz="3000" b="1" i="0" u="none" strike="noStrike" kern="0" cap="none" spc="0" normalizeH="0" baseline="0" noProof="0" dirty="0">
                <a:ln>
                  <a:noFill/>
                </a:ln>
                <a:solidFill>
                  <a:srgbClr val="005400"/>
                </a:solidFill>
                <a:effectLst/>
                <a:uLnTx/>
                <a:uFillTx/>
                <a:latin typeface="+mj-lt"/>
                <a:ea typeface="+mj-ea"/>
                <a:cs typeface="+mj-cs"/>
              </a:rPr>
              <a:t>3:</a:t>
            </a:r>
            <a:r>
              <a:rPr kumimoji="0" lang="zh-CN" altLang="en-US" sz="3000" b="1" i="0" u="none" strike="noStrike" kern="0" cap="none" spc="0" normalizeH="0" baseline="0" noProof="0" dirty="0">
                <a:ln>
                  <a:noFill/>
                </a:ln>
                <a:solidFill>
                  <a:srgbClr val="005400"/>
                </a:solidFill>
                <a:effectLst/>
                <a:uLnTx/>
                <a:uFillTx/>
                <a:latin typeface="+mj-lt"/>
                <a:ea typeface="+mj-ea"/>
                <a:cs typeface="+mj-cs"/>
              </a:rPr>
              <a:t>逻辑数据独立性</a:t>
            </a:r>
            <a:endParaRPr kumimoji="0" lang="zh-CN" altLang="en-US" sz="3000" b="1" i="0" u="none" strike="noStrike" kern="0" cap="none" spc="0" normalizeH="0" baseline="0" noProof="0" dirty="0" smtClean="0">
              <a:ln>
                <a:noFill/>
              </a:ln>
              <a:solidFill>
                <a:srgbClr val="005400"/>
              </a:solidFill>
              <a:effectLst/>
              <a:uLnTx/>
              <a:uFillTx/>
              <a:latin typeface="+mj-lt"/>
              <a:ea typeface="+mj-ea"/>
              <a:cs typeface="+mj-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55299" name="Picture 2"/>
          <p:cNvPicPr>
            <a:picLocks noChangeAspect="1"/>
          </p:cNvPicPr>
          <p:nvPr/>
        </p:nvPicPr>
        <p:blipFill>
          <a:blip r:embed="rId1"/>
          <a:stretch>
            <a:fillRect/>
          </a:stretch>
        </p:blipFill>
        <p:spPr>
          <a:xfrm>
            <a:off x="635000" y="1041400"/>
            <a:ext cx="8505825" cy="4808538"/>
          </a:xfrm>
          <a:prstGeom prst="rect">
            <a:avLst/>
          </a:prstGeom>
          <a:noFill/>
          <a:ln w="1270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56323" name="Picture 2"/>
          <p:cNvPicPr>
            <a:picLocks noGrp="1" noChangeAspect="1"/>
          </p:cNvPicPr>
          <p:nvPr>
            <p:ph idx="1"/>
          </p:nvPr>
        </p:nvPicPr>
        <p:blipFill>
          <a:blip r:embed="rId1"/>
          <a:srcRect/>
          <a:stretch>
            <a:fillRect/>
          </a:stretch>
        </p:blipFill>
        <p:spPr>
          <a:xfrm>
            <a:off x="1231900" y="1031875"/>
            <a:ext cx="7277100" cy="4786313"/>
          </a:xfr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57347" name="Picture 3"/>
          <p:cNvPicPr>
            <a:picLocks noChangeAspect="1"/>
          </p:cNvPicPr>
          <p:nvPr/>
        </p:nvPicPr>
        <p:blipFill>
          <a:blip r:embed="rId1"/>
          <a:stretch>
            <a:fillRect/>
          </a:stretch>
        </p:blipFill>
        <p:spPr>
          <a:xfrm>
            <a:off x="330200" y="812800"/>
            <a:ext cx="4318000" cy="5184775"/>
          </a:xfrm>
          <a:prstGeom prst="rect">
            <a:avLst/>
          </a:prstGeom>
          <a:noFill/>
          <a:ln w="12700">
            <a:noFill/>
          </a:ln>
        </p:spPr>
      </p:pic>
      <p:pic>
        <p:nvPicPr>
          <p:cNvPr id="57348" name="Picture 7"/>
          <p:cNvPicPr>
            <a:picLocks noChangeAspect="1"/>
          </p:cNvPicPr>
          <p:nvPr/>
        </p:nvPicPr>
        <p:blipFill>
          <a:blip r:embed="rId2"/>
          <a:stretch>
            <a:fillRect/>
          </a:stretch>
        </p:blipFill>
        <p:spPr>
          <a:xfrm>
            <a:off x="4062413" y="1589088"/>
            <a:ext cx="5405437" cy="4392612"/>
          </a:xfrm>
          <a:prstGeom prst="rect">
            <a:avLst/>
          </a:prstGeom>
          <a:noFill/>
          <a:ln w="12700">
            <a:noFill/>
          </a:ln>
        </p:spPr>
      </p:pic>
      <p:sp>
        <p:nvSpPr>
          <p:cNvPr id="57349" name="内容占位符 2"/>
          <p:cNvSpPr>
            <a:spLocks noGrp="1"/>
          </p:cNvSpPr>
          <p:nvPr>
            <p:ph idx="1"/>
          </p:nvPr>
        </p:nvSpPr>
        <p:spPr>
          <a:xfrm>
            <a:off x="1511300" y="5041900"/>
            <a:ext cx="2349500" cy="444500"/>
          </a:xfrm>
          <a:gradFill rotWithShape="1">
            <a:gsLst>
              <a:gs pos="0">
                <a:srgbClr val="127D12">
                  <a:alpha val="100000"/>
                </a:srgbClr>
              </a:gs>
              <a:gs pos="50000">
                <a:srgbClr val="1FB51F">
                  <a:alpha val="100000"/>
                </a:srgbClr>
              </a:gs>
              <a:gs pos="100000">
                <a:srgbClr val="28D728">
                  <a:alpha val="100000"/>
                </a:srgbClr>
              </a:gs>
            </a:gsLst>
            <a:lin ang="18900000" scaled="1"/>
            <a:tileRect/>
          </a:gradFill>
          <a:ln/>
        </p:spPr>
        <p:txBody>
          <a:bodyPr vert="horz" wrap="square" lIns="90488" tIns="44450" rIns="90488" bIns="44450" anchor="t" anchorCtr="0"/>
          <a:p>
            <a:pPr marL="0" indent="0">
              <a:buSzPct val="100000"/>
              <a:buFont typeface="Monotype Sorts" pitchFamily="2" charset="2"/>
              <a:buNone/>
            </a:pPr>
            <a:r>
              <a:rPr lang="zh-CN" altLang="en-US" dirty="0">
                <a:solidFill>
                  <a:srgbClr val="FF0000"/>
                </a:solidFill>
                <a:latin typeface="Times New Roman" panose="02020603050405020304" pitchFamily="18" charset="0"/>
                <a:ea typeface="宋体" panose="02010600030101010101" pitchFamily="2" charset="-122"/>
                <a:cs typeface="+mn-cs"/>
              </a:rPr>
              <a:t>表中没有数据</a:t>
            </a:r>
            <a:endParaRPr lang="zh-CN" altLang="en-US" dirty="0">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70" name="Picture 3"/>
          <p:cNvPicPr>
            <a:picLocks noChangeAspect="1"/>
          </p:cNvPicPr>
          <p:nvPr/>
        </p:nvPicPr>
        <p:blipFill>
          <a:blip r:embed="rId1"/>
          <a:stretch>
            <a:fillRect/>
          </a:stretch>
        </p:blipFill>
        <p:spPr>
          <a:xfrm>
            <a:off x="614363" y="820738"/>
            <a:ext cx="8529637" cy="5119687"/>
          </a:xfrm>
          <a:prstGeom prst="rect">
            <a:avLst/>
          </a:prstGeom>
          <a:noFill/>
          <a:ln w="12700">
            <a:noFill/>
          </a:ln>
        </p:spPr>
      </p:pic>
      <p:sp>
        <p:nvSpPr>
          <p:cNvPr id="58371"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58372" name="内容占位符 2"/>
          <p:cNvSpPr>
            <a:spLocks noGrp="1"/>
          </p:cNvSpPr>
          <p:nvPr>
            <p:ph idx="1"/>
          </p:nvPr>
        </p:nvSpPr>
        <p:spPr>
          <a:xfrm>
            <a:off x="2514600" y="3695700"/>
            <a:ext cx="5295900" cy="444500"/>
          </a:xfrm>
          <a:gradFill rotWithShape="1">
            <a:gsLst>
              <a:gs pos="0">
                <a:srgbClr val="127D12">
                  <a:alpha val="100000"/>
                </a:srgbClr>
              </a:gs>
              <a:gs pos="50000">
                <a:srgbClr val="1FB51F">
                  <a:alpha val="100000"/>
                </a:srgbClr>
              </a:gs>
              <a:gs pos="100000">
                <a:srgbClr val="28D728">
                  <a:alpha val="100000"/>
                </a:srgbClr>
              </a:gs>
            </a:gsLst>
            <a:lin ang="18900000" scaled="1"/>
            <a:tileRect/>
          </a:gradFill>
          <a:ln/>
        </p:spPr>
        <p:txBody>
          <a:bodyPr vert="horz" wrap="square" lIns="90488" tIns="44450" rIns="90488" bIns="44450" anchor="t" anchorCtr="0"/>
          <a:p>
            <a:pPr marL="0" indent="0">
              <a:buSzPct val="100000"/>
              <a:buFont typeface="Monotype Sorts" pitchFamily="2" charset="2"/>
              <a:buNone/>
            </a:pPr>
            <a:r>
              <a:rPr lang="zh-CN" altLang="en-US" dirty="0">
                <a:solidFill>
                  <a:srgbClr val="FF0000"/>
                </a:solidFill>
                <a:latin typeface="Times New Roman" panose="02020603050405020304" pitchFamily="18" charset="0"/>
                <a:ea typeface="宋体" panose="02010600030101010101" pitchFamily="2" charset="-122"/>
                <a:cs typeface="+mn-cs"/>
              </a:rPr>
              <a:t>表中包含了原</a:t>
            </a:r>
            <a:r>
              <a:rPr lang="en-US" altLang="zh-CN" dirty="0">
                <a:solidFill>
                  <a:srgbClr val="FF0000"/>
                </a:solidFill>
                <a:latin typeface="Times New Roman" panose="02020603050405020304" pitchFamily="18" charset="0"/>
                <a:ea typeface="宋体" panose="02010600030101010101" pitchFamily="2" charset="-122"/>
                <a:cs typeface="+mn-cs"/>
              </a:rPr>
              <a:t>Customer</a:t>
            </a:r>
            <a:r>
              <a:rPr lang="zh-CN" altLang="en-US" dirty="0">
                <a:solidFill>
                  <a:srgbClr val="FF0000"/>
                </a:solidFill>
                <a:latin typeface="Times New Roman" panose="02020603050405020304" pitchFamily="18" charset="0"/>
                <a:ea typeface="宋体" panose="02010600030101010101" pitchFamily="2" charset="-122"/>
                <a:cs typeface="+mn-cs"/>
              </a:rPr>
              <a:t>表的数据</a:t>
            </a:r>
            <a:endParaRPr lang="zh-CN" altLang="en-US" dirty="0">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59395" name="Picture 3"/>
          <p:cNvPicPr>
            <a:picLocks noChangeAspect="1"/>
          </p:cNvPicPr>
          <p:nvPr/>
        </p:nvPicPr>
        <p:blipFill>
          <a:blip r:embed="rId1"/>
          <a:stretch>
            <a:fillRect/>
          </a:stretch>
        </p:blipFill>
        <p:spPr>
          <a:xfrm>
            <a:off x="434975" y="0"/>
            <a:ext cx="8923338" cy="3074988"/>
          </a:xfrm>
          <a:prstGeom prst="rect">
            <a:avLst/>
          </a:prstGeom>
          <a:noFill/>
          <a:ln w="12700">
            <a:noFill/>
          </a:ln>
        </p:spPr>
      </p:pic>
      <p:pic>
        <p:nvPicPr>
          <p:cNvPr id="59396" name="Picture 4"/>
          <p:cNvPicPr>
            <a:picLocks noChangeAspect="1"/>
          </p:cNvPicPr>
          <p:nvPr/>
        </p:nvPicPr>
        <p:blipFill>
          <a:blip r:embed="rId2"/>
          <a:stretch>
            <a:fillRect/>
          </a:stretch>
        </p:blipFill>
        <p:spPr>
          <a:xfrm>
            <a:off x="2259013" y="1922463"/>
            <a:ext cx="5368925" cy="4935537"/>
          </a:xfrm>
          <a:prstGeom prst="rect">
            <a:avLst/>
          </a:prstGeom>
          <a:noFill/>
          <a:ln w="12700">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60419" name="Rectangle 2"/>
          <p:cNvSpPr>
            <a:spLocks noGrp="1"/>
          </p:cNvSpPr>
          <p:nvPr>
            <p:ph type="title"/>
          </p:nvPr>
        </p:nvSpPr>
        <p:spPr>
          <a:xfrm>
            <a:off x="766763" y="796925"/>
            <a:ext cx="5062537" cy="882650"/>
          </a:xfrm>
          <a:ln/>
        </p:spPr>
        <p:txBody>
          <a:bodyPr vert="horz" wrap="square" lIns="90488" tIns="44450" rIns="90488" bIns="44450" anchor="ctr" anchorCtr="0"/>
          <a:p>
            <a:pPr/>
            <a:r>
              <a:rPr lang="en-US" altLang="zh-CN" dirty="0">
                <a:latin typeface="+mj-lt"/>
                <a:ea typeface="+mj-ea"/>
                <a:cs typeface="+mj-cs"/>
              </a:rPr>
              <a:t>1.7 Data Independence</a:t>
            </a:r>
            <a:endParaRPr lang="zh-CN" altLang="en-US" dirty="0">
              <a:latin typeface="+mj-lt"/>
              <a:ea typeface="+mj-ea"/>
              <a:cs typeface="+mj-cs"/>
            </a:endParaRPr>
          </a:p>
        </p:txBody>
      </p:sp>
      <p:sp>
        <p:nvSpPr>
          <p:cNvPr id="60420" name="Rectangle 3"/>
          <p:cNvSpPr>
            <a:spLocks noGrp="1"/>
          </p:cNvSpPr>
          <p:nvPr>
            <p:ph idx="1"/>
          </p:nvPr>
        </p:nvSpPr>
        <p:spPr>
          <a:xfrm>
            <a:off x="646113" y="1747838"/>
            <a:ext cx="8659812" cy="4343400"/>
          </a:xfrm>
          <a:ln/>
        </p:spPr>
        <p:txBody>
          <a:bodyPr vert="horz" wrap="square" lIns="90488" tIns="44450" rIns="90488" bIns="44450" anchor="t" anchorCtr="0"/>
          <a:p>
            <a:pPr marL="342900" indent="-342900" algn="just">
              <a:lnSpc>
                <a:spcPct val="80000"/>
              </a:lnSpc>
              <a:buSzPct val="100000"/>
            </a:pPr>
            <a:r>
              <a:rPr lang="en-US" altLang="zh-CN" dirty="0">
                <a:solidFill>
                  <a:srgbClr val="FF3300"/>
                </a:solidFill>
                <a:latin typeface="Times New Roman" panose="02020603050405020304" pitchFamily="18" charset="0"/>
                <a:ea typeface="宋体" panose="02010600030101010101" pitchFamily="2" charset="-122"/>
                <a:cs typeface="+mn-cs"/>
              </a:rPr>
              <a:t>Data Independence</a:t>
            </a:r>
            <a:r>
              <a:rPr lang="en-US" altLang="zh-CN" dirty="0">
                <a:latin typeface="Times New Roman" panose="02020603050405020304" pitchFamily="18" charset="0"/>
                <a:ea typeface="宋体" panose="02010600030101010101" pitchFamily="2" charset="-122"/>
                <a:cs typeface="+mn-cs"/>
              </a:rPr>
              <a:t>: the ability to modify a schema definition in one level without affecting a schema definition in the next higher level </a:t>
            </a:r>
            <a:endParaRPr lang="en-US" altLang="zh-CN" dirty="0">
              <a:latin typeface="Times New Roman" panose="02020603050405020304" pitchFamily="18" charset="0"/>
              <a:ea typeface="宋体" panose="02010600030101010101" pitchFamily="2" charset="-122"/>
              <a:cs typeface="+mn-cs"/>
            </a:endParaRPr>
          </a:p>
          <a:p>
            <a:pPr marL="342900" indent="-342900" algn="just">
              <a:lnSpc>
                <a:spcPct val="80000"/>
              </a:lnSpc>
              <a:buSzPct val="100000"/>
            </a:pPr>
            <a:r>
              <a:rPr lang="en-US" altLang="zh-CN" dirty="0">
                <a:solidFill>
                  <a:srgbClr val="FF3300"/>
                </a:solidFill>
                <a:latin typeface="Times New Roman" panose="02020603050405020304" pitchFamily="18" charset="0"/>
                <a:ea typeface="宋体" panose="02010600030101010101" pitchFamily="2" charset="-122"/>
                <a:cs typeface="+mn-cs"/>
              </a:rPr>
              <a:t>Logical data independence</a:t>
            </a:r>
            <a:r>
              <a:rPr lang="en-US" altLang="zh-CN" dirty="0">
                <a:latin typeface="Times New Roman" panose="02020603050405020304" pitchFamily="18" charset="0"/>
                <a:ea typeface="宋体" panose="02010600030101010101" pitchFamily="2" charset="-122"/>
                <a:cs typeface="+mn-cs"/>
              </a:rPr>
              <a:t>: the capacity to change the conceptual schema without having to change external schemas or application programs.</a:t>
            </a:r>
            <a:endParaRPr lang="en-US" altLang="zh-CN" dirty="0">
              <a:latin typeface="Times New Roman" panose="02020603050405020304" pitchFamily="18" charset="0"/>
              <a:ea typeface="宋体" panose="02010600030101010101" pitchFamily="2" charset="-122"/>
              <a:cs typeface="+mn-cs"/>
            </a:endParaRPr>
          </a:p>
          <a:p>
            <a:pPr marL="342900" indent="-342900" algn="just">
              <a:lnSpc>
                <a:spcPct val="80000"/>
              </a:lnSpc>
              <a:buSzPct val="100000"/>
            </a:pPr>
            <a:r>
              <a:rPr lang="en-US" altLang="zh-CN" dirty="0">
                <a:solidFill>
                  <a:srgbClr val="FF3300"/>
                </a:solidFill>
                <a:latin typeface="Times New Roman" panose="02020603050405020304" pitchFamily="18" charset="0"/>
                <a:ea typeface="宋体" panose="02010600030101010101" pitchFamily="2" charset="-122"/>
                <a:cs typeface="+mn-cs"/>
              </a:rPr>
              <a:t>Physical data independence</a:t>
            </a:r>
            <a:r>
              <a:rPr lang="en-US" altLang="zh-CN" dirty="0">
                <a:latin typeface="Times New Roman" panose="02020603050405020304" pitchFamily="18" charset="0"/>
                <a:ea typeface="宋体" panose="02010600030101010101" pitchFamily="2" charset="-122"/>
                <a:cs typeface="+mn-cs"/>
              </a:rPr>
              <a:t>: the capacity to change the internal schema without having to change the conceptual (or external) schemas.</a:t>
            </a:r>
            <a:endParaRPr lang="en-US" altLang="zh-CN" dirty="0">
              <a:latin typeface="Times New Roman" panose="02020603050405020304" pitchFamily="18" charset="0"/>
              <a:ea typeface="宋体" panose="02010600030101010101" pitchFamily="2" charset="-122"/>
              <a:cs typeface="+mn-cs"/>
            </a:endParaRPr>
          </a:p>
          <a:p>
            <a:pPr marL="342900" indent="-342900" algn="just">
              <a:lnSpc>
                <a:spcPct val="80000"/>
              </a:lnSpc>
              <a:buSzPct val="100000"/>
            </a:pPr>
            <a:r>
              <a:rPr lang="en-US" altLang="zh-CN" dirty="0">
                <a:latin typeface="Times New Roman" panose="02020603050405020304" pitchFamily="18" charset="0"/>
                <a:ea typeface="宋体" panose="02010600030101010101" pitchFamily="2" charset="-122"/>
                <a:cs typeface="+mn-cs"/>
              </a:rPr>
              <a:t>The </a:t>
            </a:r>
            <a:r>
              <a:rPr lang="en-US" altLang="zh-CN" dirty="0">
                <a:solidFill>
                  <a:srgbClr val="FF3300"/>
                </a:solidFill>
                <a:latin typeface="Times New Roman" panose="02020603050405020304" pitchFamily="18" charset="0"/>
                <a:ea typeface="宋体" panose="02010600030101010101" pitchFamily="2" charset="-122"/>
                <a:cs typeface="+mn-cs"/>
              </a:rPr>
              <a:t>mapping</a:t>
            </a:r>
            <a:r>
              <a:rPr lang="en-US" altLang="zh-CN" dirty="0">
                <a:latin typeface="Times New Roman" panose="02020603050405020304" pitchFamily="18" charset="0"/>
                <a:ea typeface="宋体" panose="02010600030101010101" pitchFamily="2" charset="-122"/>
                <a:cs typeface="+mn-cs"/>
              </a:rPr>
              <a:t> of three-schema architecture can make it easier to have true data independence.</a:t>
            </a:r>
            <a:endParaRPr lang="zh-CN" altLang="en-US" dirty="0">
              <a:latin typeface="Times New Roman" panose="02020603050405020304" pitchFamily="18" charset="0"/>
              <a:ea typeface="宋体" panose="02010600030101010101" pitchFamily="2" charset="-122"/>
              <a:cs typeface="+mn-cs"/>
            </a:endParaRPr>
          </a:p>
        </p:txBody>
      </p:sp>
      <p:pic>
        <p:nvPicPr>
          <p:cNvPr id="60421" name="图片 4"/>
          <p:cNvPicPr>
            <a:picLocks noChangeAspect="1"/>
          </p:cNvPicPr>
          <p:nvPr/>
        </p:nvPicPr>
        <p:blipFill>
          <a:blip r:embed="rId1"/>
          <a:srcRect t="34174" r="32143" b="19525"/>
          <a:stretch>
            <a:fillRect/>
          </a:stretch>
        </p:blipFill>
        <p:spPr>
          <a:xfrm>
            <a:off x="6080125" y="0"/>
            <a:ext cx="3825875" cy="1801813"/>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62467" name="Rectangle 3"/>
          <p:cNvSpPr>
            <a:spLocks noGrp="1"/>
          </p:cNvSpPr>
          <p:nvPr>
            <p:ph idx="1"/>
          </p:nvPr>
        </p:nvSpPr>
        <p:spPr>
          <a:xfrm>
            <a:off x="523875" y="1947863"/>
            <a:ext cx="9224963" cy="3768725"/>
          </a:xfrm>
          <a:ln/>
        </p:spPr>
        <p:txBody>
          <a:bodyPr vert="horz" wrap="square" lIns="90488" tIns="44450" rIns="90488" bIns="44450" anchor="t" anchorCtr="0"/>
          <a:p>
            <a:pPr>
              <a:buSzPct val="100000"/>
            </a:pPr>
            <a:r>
              <a:rPr lang="en-US" altLang="zh-CN" dirty="0">
                <a:latin typeface="Times New Roman" panose="02020603050405020304" pitchFamily="18" charset="0"/>
                <a:ea typeface="宋体" panose="02010600030101010101" pitchFamily="2" charset="-122"/>
                <a:cs typeface="+mn-cs"/>
              </a:rPr>
              <a:t>Physical Data Independence </a:t>
            </a:r>
            <a:endParaRPr lang="en-US" altLang="zh-CN" dirty="0">
              <a:latin typeface="Times New Roman" panose="02020603050405020304" pitchFamily="18" charset="0"/>
              <a:ea typeface="宋体" panose="02010600030101010101" pitchFamily="2" charset="-122"/>
              <a:cs typeface="+mn-cs"/>
            </a:endParaRPr>
          </a:p>
          <a:p>
            <a:pPr lvl="1">
              <a:buSzPct val="150000"/>
            </a:pPr>
            <a:r>
              <a:rPr lang="en-US" altLang="zh-CN" dirty="0">
                <a:latin typeface="Times New Roman" panose="02020603050405020304" pitchFamily="18" charset="0"/>
                <a:ea typeface="宋体" panose="02010600030101010101" pitchFamily="2" charset="-122"/>
              </a:rPr>
              <a:t>Change </a:t>
            </a:r>
            <a:r>
              <a:rPr lang="en-US" altLang="zh-CN" dirty="0">
                <a:solidFill>
                  <a:srgbClr val="FF0000"/>
                </a:solidFill>
                <a:latin typeface="Times New Roman" panose="02020603050405020304" pitchFamily="18" charset="0"/>
                <a:ea typeface="宋体" panose="02010600030101010101" pitchFamily="2" charset="-122"/>
              </a:rPr>
              <a:t>the data physical representation </a:t>
            </a:r>
            <a:r>
              <a:rPr lang="en-US" altLang="zh-CN" dirty="0">
                <a:latin typeface="Times New Roman" panose="02020603050405020304" pitchFamily="18" charset="0"/>
                <a:ea typeface="宋体" panose="02010600030101010101" pitchFamily="2" charset="-122"/>
              </a:rPr>
              <a:t>and </a:t>
            </a:r>
            <a:r>
              <a:rPr lang="en-US" altLang="zh-CN" dirty="0">
                <a:solidFill>
                  <a:srgbClr val="009900"/>
                </a:solidFill>
                <a:latin typeface="Times New Roman" panose="02020603050405020304" pitchFamily="18" charset="0"/>
                <a:ea typeface="宋体" panose="02010600030101010101" pitchFamily="2" charset="-122"/>
              </a:rPr>
              <a:t>access technique </a:t>
            </a:r>
            <a:r>
              <a:rPr lang="en-US" altLang="zh-CN" dirty="0">
                <a:latin typeface="Times New Roman" panose="02020603050405020304" pitchFamily="18" charset="0"/>
                <a:ea typeface="宋体" panose="02010600030101010101" pitchFamily="2" charset="-122"/>
              </a:rPr>
              <a:t>without affecting the application.</a:t>
            </a:r>
            <a:endParaRPr lang="en-US" altLang="zh-CN" dirty="0">
              <a:latin typeface="Times New Roman" panose="02020603050405020304" pitchFamily="18" charset="0"/>
              <a:ea typeface="宋体" panose="02010600030101010101" pitchFamily="2" charset="-122"/>
            </a:endParaRPr>
          </a:p>
          <a:p>
            <a:pPr lvl="1">
              <a:buSzPct val="150000"/>
            </a:pPr>
            <a:r>
              <a:rPr lang="en-US" altLang="zh-CN" dirty="0">
                <a:solidFill>
                  <a:srgbClr val="FF0000"/>
                </a:solidFill>
                <a:latin typeface="Times New Roman" panose="02020603050405020304" pitchFamily="18" charset="0"/>
                <a:ea typeface="宋体" panose="02010600030101010101" pitchFamily="2" charset="-122"/>
              </a:rPr>
              <a:t>Data physical representation </a:t>
            </a:r>
            <a:r>
              <a:rPr lang="en-US" altLang="zh-CN" dirty="0">
                <a:latin typeface="Times New Roman" panose="02020603050405020304" pitchFamily="18" charset="0"/>
                <a:ea typeface="宋体" panose="02010600030101010101" pitchFamily="2" charset="-122"/>
              </a:rPr>
              <a:t>: how the data is physically represented in storage</a:t>
            </a:r>
            <a:endParaRPr lang="en-US" altLang="zh-CN" dirty="0">
              <a:latin typeface="Times New Roman" panose="02020603050405020304" pitchFamily="18" charset="0"/>
              <a:ea typeface="宋体" panose="02010600030101010101" pitchFamily="2" charset="-122"/>
            </a:endParaRPr>
          </a:p>
          <a:p>
            <a:pPr>
              <a:buSzPct val="100000"/>
              <a:buFont typeface="Monotype Sorts" pitchFamily="2" charset="2"/>
              <a:buNone/>
            </a:pPr>
            <a:r>
              <a:rPr lang="en-US" altLang="zh-CN" sz="2400" dirty="0">
                <a:solidFill>
                  <a:srgbClr val="000099"/>
                </a:solidFill>
                <a:latin typeface="Times New Roman" panose="02020603050405020304" pitchFamily="18" charset="0"/>
                <a:ea typeface="宋体" panose="02010600030101010101" pitchFamily="2" charset="-122"/>
                <a:cs typeface="+mn-cs"/>
              </a:rPr>
              <a:t>         E.g.1, EMPLOYEE file: indexed on its "employee name" field</a:t>
            </a:r>
            <a:endParaRPr lang="en-US" altLang="zh-CN" sz="2400" dirty="0">
              <a:solidFill>
                <a:srgbClr val="000099"/>
              </a:solidFill>
              <a:latin typeface="Times New Roman" panose="02020603050405020304" pitchFamily="18" charset="0"/>
              <a:ea typeface="宋体" panose="02010600030101010101" pitchFamily="2" charset="-122"/>
              <a:cs typeface="+mn-cs"/>
            </a:endParaRPr>
          </a:p>
          <a:p>
            <a:pPr>
              <a:buSzPct val="100000"/>
              <a:buFont typeface="Monotype Sorts" pitchFamily="2" charset="2"/>
              <a:buNone/>
            </a:pPr>
            <a:r>
              <a:rPr lang="en-US" altLang="zh-CN" sz="2400" dirty="0">
                <a:solidFill>
                  <a:srgbClr val="000099"/>
                </a:solidFill>
                <a:latin typeface="Times New Roman" panose="02020603050405020304" pitchFamily="18" charset="0"/>
                <a:ea typeface="宋体" panose="02010600030101010101" pitchFamily="2" charset="-122"/>
                <a:cs typeface="+mn-cs"/>
              </a:rPr>
              <a:t>         E.g.2, SALARY field of EMPLOYEE file: decimal or binary</a:t>
            </a:r>
            <a:endParaRPr lang="en-US" altLang="zh-CN" sz="2400" dirty="0">
              <a:solidFill>
                <a:srgbClr val="000099"/>
              </a:solidFill>
              <a:latin typeface="Times New Roman" panose="02020603050405020304" pitchFamily="18" charset="0"/>
              <a:ea typeface="宋体" panose="02010600030101010101" pitchFamily="2" charset="-122"/>
              <a:cs typeface="+mn-cs"/>
            </a:endParaRPr>
          </a:p>
          <a:p>
            <a:pPr lvl="1">
              <a:buSzPct val="150000"/>
            </a:pPr>
            <a:r>
              <a:rPr lang="en-US" altLang="zh-CN" dirty="0">
                <a:solidFill>
                  <a:srgbClr val="009900"/>
                </a:solidFill>
                <a:latin typeface="Times New Roman" panose="02020603050405020304" pitchFamily="18" charset="0"/>
                <a:ea typeface="宋体" panose="02010600030101010101" pitchFamily="2" charset="-122"/>
              </a:rPr>
              <a:t>Data access technique</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lvl="1">
              <a:buSzPct val="150000"/>
              <a:buFont typeface="Wingdings" panose="05000000000000000000" pitchFamily="2" charset="2"/>
              <a:buNone/>
            </a:pPr>
            <a:r>
              <a:rPr lang="en-US" altLang="zh-CN" dirty="0">
                <a:latin typeface="Times New Roman" panose="02020603050405020304" pitchFamily="18" charset="0"/>
                <a:ea typeface="宋体" panose="02010600030101010101" pitchFamily="2" charset="-122"/>
              </a:rPr>
              <a:t>   How the data is physically accessed </a:t>
            </a:r>
            <a:endParaRPr lang="zh-CN" altLang="en-US" dirty="0">
              <a:latin typeface="Times New Roman" panose="02020603050405020304" pitchFamily="18" charset="0"/>
              <a:ea typeface="宋体" panose="02010600030101010101" pitchFamily="2" charset="-122"/>
            </a:endParaRPr>
          </a:p>
        </p:txBody>
      </p:sp>
      <p:sp>
        <p:nvSpPr>
          <p:cNvPr id="62468" name="Rectangle 5"/>
          <p:cNvSpPr>
            <a:spLocks noGrp="1"/>
          </p:cNvSpPr>
          <p:nvPr>
            <p:ph type="title"/>
          </p:nvPr>
        </p:nvSpPr>
        <p:spPr>
          <a:ln/>
        </p:spPr>
        <p:txBody>
          <a:bodyPr vert="horz" wrap="square" lIns="90488" tIns="44450" rIns="90488" bIns="44450" anchor="ctr" anchorCtr="0"/>
          <a:p>
            <a:pPr/>
            <a:r>
              <a:rPr lang="en-US" altLang="zh-CN" dirty="0">
                <a:latin typeface="+mj-lt"/>
                <a:ea typeface="+mj-ea"/>
                <a:cs typeface="+mj-cs"/>
              </a:rPr>
              <a:t>1.7 Data Independence</a:t>
            </a:r>
            <a:r>
              <a:rPr lang="en-US" altLang="zh-CN" dirty="0">
                <a:latin typeface="Times New Roman" panose="02020603050405020304" pitchFamily="18" charset="0"/>
                <a:ea typeface="+mj-ea"/>
                <a:cs typeface="+mj-cs"/>
              </a:rPr>
              <a:t>…</a:t>
            </a:r>
            <a:endParaRPr lang="zh-CN" altLang="en-US" dirty="0">
              <a:latin typeface="+mj-lt"/>
              <a:ea typeface="+mj-ea"/>
              <a:cs typeface="+mj-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cxnSp>
        <p:nvCxnSpPr>
          <p:cNvPr id="64515" name="AutoShape 9"/>
          <p:cNvCxnSpPr/>
          <p:nvPr/>
        </p:nvCxnSpPr>
        <p:spPr>
          <a:xfrm flipH="1" flipV="1">
            <a:off x="2740025" y="2932113"/>
            <a:ext cx="0" cy="466725"/>
          </a:xfrm>
          <a:prstGeom prst="straightConnector1">
            <a:avLst/>
          </a:prstGeom>
          <a:ln w="38100" cap="flat" cmpd="sng">
            <a:solidFill>
              <a:srgbClr val="FF0000"/>
            </a:solidFill>
            <a:prstDash val="solid"/>
            <a:headEnd type="none" w="med" len="med"/>
            <a:tailEnd type="triangle" w="med" len="med"/>
          </a:ln>
          <a:effectLst>
            <a:outerShdw dist="35921" dir="2699999" algn="ctr" rotWithShape="0">
              <a:srgbClr val="333333"/>
            </a:outerShdw>
          </a:effectLst>
        </p:spPr>
      </p:cxnSp>
      <p:cxnSp>
        <p:nvCxnSpPr>
          <p:cNvPr id="64516" name="AutoShape 10"/>
          <p:cNvCxnSpPr/>
          <p:nvPr/>
        </p:nvCxnSpPr>
        <p:spPr>
          <a:xfrm flipV="1">
            <a:off x="2740025" y="1692275"/>
            <a:ext cx="0" cy="466725"/>
          </a:xfrm>
          <a:prstGeom prst="straightConnector1">
            <a:avLst/>
          </a:prstGeom>
          <a:ln w="38100" cap="flat" cmpd="sng">
            <a:solidFill>
              <a:srgbClr val="FF0000"/>
            </a:solidFill>
            <a:prstDash val="solid"/>
            <a:headEnd type="none" w="med" len="med"/>
            <a:tailEnd type="triangle" w="med" len="med"/>
          </a:ln>
          <a:effectLst>
            <a:outerShdw dist="35921" dir="2699999" algn="ctr" rotWithShape="0">
              <a:srgbClr val="333333"/>
            </a:outerShdw>
          </a:effectLst>
        </p:spPr>
      </p:cxnSp>
      <p:sp>
        <p:nvSpPr>
          <p:cNvPr id="162822" name="Rectangle 6"/>
          <p:cNvSpPr>
            <a:spLocks noChangeArrowheads="1"/>
          </p:cNvSpPr>
          <p:nvPr/>
        </p:nvSpPr>
        <p:spPr bwMode="auto">
          <a:xfrm>
            <a:off x="894382" y="4833046"/>
            <a:ext cx="3690937" cy="987425"/>
          </a:xfrm>
          <a:prstGeom prst="rect">
            <a:avLst/>
          </a:prstGeom>
          <a:solidFill>
            <a:srgbClr val="000099"/>
          </a:solidFill>
          <a:ln>
            <a:solidFill>
              <a:srgbClr val="000099"/>
            </a:solidFill>
          </a:ln>
        </p:spPr>
        <p:style>
          <a:lnRef idx="0">
            <a:schemeClr val="accent6"/>
          </a:lnRef>
          <a:fillRef idx="3">
            <a:schemeClr val="accent6"/>
          </a:fillRef>
          <a:effectRef idx="3">
            <a:schemeClr val="accent6"/>
          </a:effectRef>
          <a:fontRef idx="minor">
            <a:schemeClr val="lt1"/>
          </a:fontRef>
        </p:style>
        <p:txBody>
          <a:bodyPr/>
          <a:lstStyle/>
          <a:p>
            <a:pPr marL="285750" marR="0" lvl="0" indent="-285750" algn="l" defTabSz="914400" rtl="0" eaLnBrk="0" fontAlgn="base" latinLnBrk="0" hangingPunct="0">
              <a:lnSpc>
                <a:spcPct val="90000"/>
              </a:lnSpc>
              <a:spcBef>
                <a:spcPct val="30000"/>
              </a:spcBef>
              <a:spcAft>
                <a:spcPct val="0"/>
              </a:spcAft>
              <a:buClr>
                <a:srgbClr val="037C03"/>
              </a:buClr>
              <a:buSzPct val="100000"/>
              <a:buFontTx/>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Stored field: Type/instances</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Tx/>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Stored record : Type/instances</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Tx/>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Stored file</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p:txBody>
      </p:sp>
      <p:sp>
        <p:nvSpPr>
          <p:cNvPr id="162823" name="Rectangle 7"/>
          <p:cNvSpPr>
            <a:spLocks noChangeArrowheads="1"/>
          </p:cNvSpPr>
          <p:nvPr/>
        </p:nvSpPr>
        <p:spPr bwMode="auto">
          <a:xfrm>
            <a:off x="2217563" y="3399404"/>
            <a:ext cx="1044575" cy="966788"/>
          </a:xfrm>
          <a:prstGeom prst="rect">
            <a:avLst/>
          </a:prstGeom>
          <a:solidFill>
            <a:srgbClr val="000099"/>
          </a:solidFill>
          <a:ln>
            <a:solidFill>
              <a:srgbClr val="000099"/>
            </a:solidFill>
          </a:ln>
        </p:spPr>
        <p:style>
          <a:lnRef idx="0">
            <a:schemeClr val="accent6"/>
          </a:lnRef>
          <a:fillRef idx="3">
            <a:schemeClr val="accent6"/>
          </a:fillRef>
          <a:effectRef idx="3">
            <a:schemeClr val="accent6"/>
          </a:effectRef>
          <a:fontRef idx="minor">
            <a:schemeClr val="lt1"/>
          </a:fontRef>
        </p:style>
        <p:txBody>
          <a:bodyPr/>
          <a:lstStyle/>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Column</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Row</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Table</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p:txBody>
      </p:sp>
      <p:sp>
        <p:nvSpPr>
          <p:cNvPr id="162824" name="Text Box 8"/>
          <p:cNvSpPr txBox="1">
            <a:spLocks noChangeArrowheads="1"/>
          </p:cNvSpPr>
          <p:nvPr/>
        </p:nvSpPr>
        <p:spPr bwMode="auto">
          <a:xfrm>
            <a:off x="1825450" y="2159438"/>
            <a:ext cx="1828800" cy="773113"/>
          </a:xfrm>
          <a:prstGeom prst="rect">
            <a:avLst/>
          </a:prstGeom>
          <a:solidFill>
            <a:srgbClr val="000099"/>
          </a:solidFill>
          <a:ln>
            <a:solidFill>
              <a:srgbClr val="000099"/>
            </a:solidFill>
          </a:ln>
        </p:spPr>
        <p:style>
          <a:lnRef idx="0">
            <a:schemeClr val="accent6"/>
          </a:lnRef>
          <a:fillRef idx="3">
            <a:schemeClr val="accent6"/>
          </a:fillRef>
          <a:effectRef idx="3">
            <a:schemeClr val="accent6"/>
          </a:effectRef>
          <a:fontRef idx="minor">
            <a:schemeClr val="lt1"/>
          </a:fontRef>
        </p:style>
        <p:txBody>
          <a:bodyPr/>
          <a:lstStyle/>
          <a:p>
            <a:pPr marL="285750" marR="0" lvl="0" indent="-285750" algn="l" defTabSz="914400" rtl="0" eaLnBrk="0" fontAlgn="base" latinLnBrk="0" hangingPunct="0">
              <a:lnSpc>
                <a:spcPct val="90000"/>
              </a:lnSpc>
              <a:spcBef>
                <a:spcPct val="30000"/>
              </a:spcBef>
              <a:spcAft>
                <a:spcPct val="0"/>
              </a:spcAft>
              <a:buClr>
                <a:srgbClr val="037C03"/>
              </a:buClr>
              <a:buSzPct val="100000"/>
              <a:buFontTx/>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Logical field</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a:p>
            <a:pPr marL="285750" marR="0" lvl="0" indent="-285750" algn="l" defTabSz="914400" rtl="0" eaLnBrk="0" fontAlgn="base" latinLnBrk="0" hangingPunct="0">
              <a:lnSpc>
                <a:spcPct val="90000"/>
              </a:lnSpc>
              <a:spcBef>
                <a:spcPct val="30000"/>
              </a:spcBef>
              <a:spcAft>
                <a:spcPct val="0"/>
              </a:spcAft>
              <a:buClr>
                <a:srgbClr val="037C03"/>
              </a:buClr>
              <a:buSzPct val="100000"/>
              <a:buFontTx/>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Logical record</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p:txBody>
      </p:sp>
      <p:sp>
        <p:nvSpPr>
          <p:cNvPr id="162827" name="Text Box 11"/>
          <p:cNvSpPr txBox="1">
            <a:spLocks noChangeArrowheads="1"/>
          </p:cNvSpPr>
          <p:nvPr/>
        </p:nvSpPr>
        <p:spPr bwMode="auto">
          <a:xfrm>
            <a:off x="2015950" y="1311585"/>
            <a:ext cx="1447800" cy="381000"/>
          </a:xfrm>
          <a:prstGeom prst="rect">
            <a:avLst/>
          </a:prstGeom>
          <a:solidFill>
            <a:srgbClr val="000099"/>
          </a:solidFill>
          <a:ln>
            <a:solidFill>
              <a:srgbClr val="000099"/>
            </a:solidFill>
          </a:ln>
        </p:spPr>
        <p:style>
          <a:lnRef idx="0">
            <a:schemeClr val="accent6"/>
          </a:lnRef>
          <a:fillRef idx="3">
            <a:schemeClr val="accent6"/>
          </a:fillRef>
          <a:effectRef idx="3">
            <a:schemeClr val="accent6"/>
          </a:effectRef>
          <a:fontRef idx="minor">
            <a:schemeClr val="lt1"/>
          </a:fontRef>
        </p:style>
        <p:txBody>
          <a:bodyPr/>
          <a:lstStyle/>
          <a:p>
            <a:pPr marL="285750" marR="0" lvl="0" indent="-285750" algn="l" defTabSz="914400" rtl="0" eaLnBrk="0" fontAlgn="base" latinLnBrk="0" hangingPunct="0">
              <a:lnSpc>
                <a:spcPct val="90000"/>
              </a:lnSpc>
              <a:spcBef>
                <a:spcPct val="30000"/>
              </a:spcBef>
              <a:spcAft>
                <a:spcPct val="0"/>
              </a:spcAft>
              <a:buClr>
                <a:srgbClr val="037C03"/>
              </a:buClr>
              <a:buSzPct val="100000"/>
              <a:buFont typeface="Monotype Sorts" pitchFamily="2" charset="2"/>
              <a:buNone/>
              <a:defRPr/>
            </a:pPr>
            <a:r>
              <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rPr>
              <a:t>Application</a:t>
            </a:r>
            <a:endParaRPr kumimoji="0" lang="en-US" altLang="zh-CN" sz="1800" b="1" i="0" u="none" strike="noStrike" kern="1200" cap="none" spc="0" normalizeH="0" baseline="0" noProof="0" dirty="0">
              <a:ln>
                <a:noFill/>
              </a:ln>
              <a:solidFill>
                <a:schemeClr val="bg1"/>
              </a:solidFill>
              <a:effectLst/>
              <a:uLnTx/>
              <a:uFillTx/>
              <a:latin typeface="+mn-lt"/>
              <a:ea typeface="宋体" panose="02010600030101010101" pitchFamily="2" charset="-122"/>
              <a:cs typeface="+mn-cs"/>
            </a:endParaRPr>
          </a:p>
        </p:txBody>
      </p:sp>
      <p:cxnSp>
        <p:nvCxnSpPr>
          <p:cNvPr id="64529" name="AutoShape 12"/>
          <p:cNvCxnSpPr/>
          <p:nvPr/>
        </p:nvCxnSpPr>
        <p:spPr>
          <a:xfrm>
            <a:off x="2740025" y="4365625"/>
            <a:ext cx="0" cy="466725"/>
          </a:xfrm>
          <a:prstGeom prst="straightConnector1">
            <a:avLst/>
          </a:prstGeom>
          <a:ln w="38100" cap="flat" cmpd="sng">
            <a:solidFill>
              <a:srgbClr val="FF0000"/>
            </a:solidFill>
            <a:prstDash val="solid"/>
            <a:headEnd type="none" w="med" len="med"/>
            <a:tailEnd type="triangle" w="med" len="med"/>
          </a:ln>
          <a:effectLst>
            <a:outerShdw dist="35921" dir="2699999" algn="ctr" rotWithShape="0">
              <a:srgbClr val="333333"/>
            </a:outerShdw>
          </a:effectLst>
        </p:spPr>
      </p:cxnSp>
      <p:sp>
        <p:nvSpPr>
          <p:cNvPr id="64530" name="Rectangle 14"/>
          <p:cNvSpPr/>
          <p:nvPr/>
        </p:nvSpPr>
        <p:spPr>
          <a:xfrm>
            <a:off x="4657725" y="5886450"/>
            <a:ext cx="4572000" cy="301625"/>
          </a:xfrm>
          <a:prstGeom prst="rect">
            <a:avLst/>
          </a:prstGeom>
          <a:noFill/>
          <a:ln w="9525">
            <a:noFill/>
          </a:ln>
        </p:spPr>
        <p:txBody>
          <a:bodyPr/>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lgn="ctr">
              <a:buNone/>
            </a:pPr>
            <a:r>
              <a:rPr lang="en-US" altLang="zh-CN" sz="1600" b="1" dirty="0">
                <a:ea typeface="宋体" panose="02010600030101010101" pitchFamily="2" charset="-122"/>
              </a:rPr>
              <a:t>Fig.  1.7 Stored fields, records, and files</a:t>
            </a:r>
            <a:endParaRPr lang="en-US" altLang="zh-CN" sz="1600" b="1" dirty="0">
              <a:ea typeface="宋体" panose="02010600030101010101" pitchFamily="2" charset="-122"/>
            </a:endParaRPr>
          </a:p>
        </p:txBody>
      </p:sp>
      <p:grpSp>
        <p:nvGrpSpPr>
          <p:cNvPr id="64531" name="Group 23"/>
          <p:cNvGrpSpPr/>
          <p:nvPr/>
        </p:nvGrpSpPr>
        <p:grpSpPr>
          <a:xfrm>
            <a:off x="5000625" y="1157288"/>
            <a:ext cx="3957638" cy="4713287"/>
            <a:chOff x="3193" y="865"/>
            <a:chExt cx="2315" cy="2833"/>
          </a:xfrm>
        </p:grpSpPr>
        <p:graphicFrame>
          <p:nvGraphicFramePr>
            <p:cNvPr id="64533" name="Object 5"/>
            <p:cNvGraphicFramePr>
              <a:graphicFrameLocks noChangeAspect="1"/>
            </p:cNvGraphicFramePr>
            <p:nvPr/>
          </p:nvGraphicFramePr>
          <p:xfrm>
            <a:off x="3193" y="865"/>
            <a:ext cx="2315" cy="2833"/>
          </p:xfrm>
          <a:graphic>
            <a:graphicData uri="http://schemas.openxmlformats.org/presentationml/2006/ole">
              <mc:AlternateContent xmlns:mc="http://schemas.openxmlformats.org/markup-compatibility/2006">
                <mc:Choice xmlns:v="urn:schemas-microsoft-com:vml" Requires="v">
                  <p:oleObj spid="_x0000_s3076" name="" r:id="rId1" imgW="3695700" imgH="4752975" progId="Paint.Picture">
                    <p:embed/>
                  </p:oleObj>
                </mc:Choice>
                <mc:Fallback>
                  <p:oleObj name="" r:id="rId1" imgW="3695700" imgH="4752975" progId="Paint.Picture">
                    <p:embed/>
                    <p:pic>
                      <p:nvPicPr>
                        <p:cNvPr id="0" name="图片 3075"/>
                        <p:cNvPicPr/>
                        <p:nvPr/>
                      </p:nvPicPr>
                      <p:blipFill>
                        <a:blip r:embed="rId2"/>
                        <a:stretch>
                          <a:fillRect/>
                        </a:stretch>
                      </p:blipFill>
                      <p:spPr>
                        <a:xfrm>
                          <a:off x="3193" y="865"/>
                          <a:ext cx="2315" cy="2833"/>
                        </a:xfrm>
                        <a:prstGeom prst="rect">
                          <a:avLst/>
                        </a:prstGeom>
                        <a:noFill/>
                        <a:ln w="38100">
                          <a:noFill/>
                          <a:miter/>
                        </a:ln>
                      </p:spPr>
                    </p:pic>
                  </p:oleObj>
                </mc:Fallback>
              </mc:AlternateContent>
            </a:graphicData>
          </a:graphic>
        </p:graphicFrame>
        <p:sp>
          <p:nvSpPr>
            <p:cNvPr id="64534" name="Oval 18"/>
            <p:cNvSpPr/>
            <p:nvPr/>
          </p:nvSpPr>
          <p:spPr>
            <a:xfrm>
              <a:off x="3221" y="876"/>
              <a:ext cx="2248" cy="626"/>
            </a:xfrm>
            <a:prstGeom prst="ellipse">
              <a:avLst/>
            </a:prstGeom>
            <a:noFill/>
            <a:ln w="12700" cap="flat" cmpd="sng">
              <a:solidFill>
                <a:schemeClr val="tx1"/>
              </a:solidFill>
              <a:prstDash val="solid"/>
              <a:headEnd type="none" w="med" len="med"/>
              <a:tailEnd type="none" w="med" len="med"/>
            </a:ln>
          </p:spPr>
          <p:txBody>
            <a:bodyPr wrap="none" anchor="ctr" anchorCtr="0"/>
            <a:p>
              <a:pPr>
                <a:lnSpc>
                  <a:spcPct val="90000"/>
                </a:lnSpc>
              </a:pPr>
              <a:endParaRPr lang="zh-CN" altLang="en-US" dirty="0">
                <a:latin typeface="Times New Roman" panose="02020603050405020304" pitchFamily="18" charset="0"/>
                <a:ea typeface="宋体" panose="02010600030101010101" pitchFamily="2" charset="-122"/>
              </a:endParaRPr>
            </a:p>
          </p:txBody>
        </p:sp>
        <p:sp>
          <p:nvSpPr>
            <p:cNvPr id="64535" name="Line 19"/>
            <p:cNvSpPr/>
            <p:nvPr/>
          </p:nvSpPr>
          <p:spPr>
            <a:xfrm>
              <a:off x="3221" y="1193"/>
              <a:ext cx="0" cy="2206"/>
            </a:xfrm>
            <a:prstGeom prst="line">
              <a:avLst/>
            </a:prstGeom>
            <a:ln w="12700" cap="flat" cmpd="sng">
              <a:solidFill>
                <a:schemeClr val="tx1"/>
              </a:solidFill>
              <a:prstDash val="solid"/>
              <a:headEnd type="none" w="med" len="med"/>
              <a:tailEnd type="none" w="med" len="med"/>
            </a:ln>
          </p:spPr>
        </p:sp>
        <p:sp>
          <p:nvSpPr>
            <p:cNvPr id="64536" name="Line 21"/>
            <p:cNvSpPr/>
            <p:nvPr/>
          </p:nvSpPr>
          <p:spPr>
            <a:xfrm>
              <a:off x="5468" y="1193"/>
              <a:ext cx="0" cy="2206"/>
            </a:xfrm>
            <a:prstGeom prst="line">
              <a:avLst/>
            </a:prstGeom>
            <a:ln w="12700" cap="flat" cmpd="sng">
              <a:solidFill>
                <a:schemeClr val="tx1"/>
              </a:solidFill>
              <a:prstDash val="solid"/>
              <a:headEnd type="none" w="med" len="med"/>
              <a:tailEnd type="none" w="med" len="med"/>
            </a:ln>
          </p:spPr>
        </p:sp>
      </p:grpSp>
      <p:sp>
        <p:nvSpPr>
          <p:cNvPr id="64532" name="Rectangle 24"/>
          <p:cNvSpPr/>
          <p:nvPr/>
        </p:nvSpPr>
        <p:spPr>
          <a:xfrm>
            <a:off x="674688" y="781050"/>
            <a:ext cx="6399212" cy="479425"/>
          </a:xfrm>
          <a:prstGeom prst="rect">
            <a:avLst/>
          </a:prstGeom>
          <a:noFill/>
          <a:ln w="12700">
            <a:noFill/>
          </a:ln>
        </p:spPr>
        <p:txBody>
          <a:bodyPr>
            <a:spAutoFit/>
          </a:bodyPr>
          <a:p>
            <a:pPr>
              <a:lnSpc>
                <a:spcPct val="90000"/>
              </a:lnSpc>
              <a:spcBef>
                <a:spcPct val="30000"/>
              </a:spcBef>
              <a:buClr>
                <a:srgbClr val="037C03"/>
              </a:buClr>
              <a:buSzPct val="100000"/>
              <a:buFont typeface="Monotype Sorts" pitchFamily="2" charset="2"/>
              <a:buChar char="n"/>
            </a:pPr>
            <a:r>
              <a:rPr lang="en-US" altLang="zh-CN" sz="2800" b="1" dirty="0">
                <a:solidFill>
                  <a:schemeClr val="tx1"/>
                </a:solidFill>
                <a:latin typeface="Times New Roman" panose="02020603050405020304" pitchFamily="18" charset="0"/>
                <a:ea typeface="宋体" panose="02010600030101010101" pitchFamily="2" charset="-122"/>
              </a:rPr>
              <a:t> Stored fields, records, and files</a:t>
            </a:r>
            <a:endParaRPr lang="en-US" altLang="zh-CN" sz="2800" b="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66563" name="Rectangle 3"/>
          <p:cNvSpPr>
            <a:spLocks noGrp="1"/>
          </p:cNvSpPr>
          <p:nvPr>
            <p:ph idx="1"/>
          </p:nvPr>
        </p:nvSpPr>
        <p:spPr>
          <a:xfrm>
            <a:off x="577850" y="1249363"/>
            <a:ext cx="8888413" cy="4559300"/>
          </a:xfrm>
          <a:ln/>
        </p:spPr>
        <p:txBody>
          <a:bodyPr vert="horz" wrap="square" lIns="90488" tIns="44450" rIns="90488" bIns="44450" anchor="t" anchorCtr="0"/>
          <a:p>
            <a:pPr>
              <a:lnSpc>
                <a:spcPct val="80000"/>
              </a:lnSpc>
              <a:buSzPct val="100000"/>
            </a:pPr>
            <a:r>
              <a:rPr lang="en-US" altLang="zh-CN" dirty="0">
                <a:latin typeface="Times New Roman" panose="02020603050405020304" pitchFamily="18" charset="0"/>
                <a:ea typeface="宋体" panose="02010600030101010101" pitchFamily="2" charset="-122"/>
                <a:cs typeface="+mn-cs"/>
              </a:rPr>
              <a:t>Structure of stored files </a:t>
            </a:r>
            <a:endParaRPr lang="en-US" altLang="zh-CN" dirty="0">
              <a:latin typeface="Times New Roman" panose="02020603050405020304" pitchFamily="18" charset="0"/>
              <a:ea typeface="宋体" panose="02010600030101010101" pitchFamily="2" charset="-122"/>
              <a:cs typeface="+mn-cs"/>
            </a:endParaRPr>
          </a:p>
          <a:p>
            <a:pPr lvl="1">
              <a:lnSpc>
                <a:spcPct val="80000"/>
              </a:lnSpc>
              <a:buSzPct val="150000"/>
            </a:pPr>
            <a:r>
              <a:rPr lang="en-US" altLang="zh-CN" sz="2600" dirty="0">
                <a:latin typeface="Times New Roman" panose="02020603050405020304" pitchFamily="18" charset="0"/>
                <a:ea typeface="宋体" panose="02010600030101010101" pitchFamily="2" charset="-122"/>
              </a:rPr>
              <a:t>A given stored file can be physically implemented in storage in a wide variety of ways. </a:t>
            </a:r>
            <a:endParaRPr lang="en-US" altLang="zh-CN" sz="2600" dirty="0">
              <a:latin typeface="Times New Roman" panose="02020603050405020304" pitchFamily="18" charset="0"/>
              <a:ea typeface="宋体" panose="02010600030101010101" pitchFamily="2" charset="-122"/>
            </a:endParaRPr>
          </a:p>
          <a:p>
            <a:pPr lvl="2" algn="just">
              <a:lnSpc>
                <a:spcPct val="80000"/>
              </a:lnSpc>
            </a:pPr>
            <a:r>
              <a:rPr lang="en-US" altLang="zh-CN" sz="2600" dirty="0">
                <a:latin typeface="Times New Roman" panose="02020603050405020304" pitchFamily="18" charset="0"/>
                <a:ea typeface="宋体" panose="02010600030101010101" pitchFamily="2" charset="-122"/>
              </a:rPr>
              <a:t>A single disk </a:t>
            </a:r>
            <a:endParaRPr lang="en-US" altLang="zh-CN" sz="2600" dirty="0">
              <a:latin typeface="Times New Roman" panose="02020603050405020304" pitchFamily="18" charset="0"/>
              <a:ea typeface="宋体" panose="02010600030101010101" pitchFamily="2" charset="-122"/>
            </a:endParaRPr>
          </a:p>
          <a:p>
            <a:pPr lvl="2" algn="just">
              <a:lnSpc>
                <a:spcPct val="80000"/>
              </a:lnSpc>
            </a:pPr>
            <a:r>
              <a:rPr lang="en-US" altLang="zh-CN" sz="2600" dirty="0">
                <a:latin typeface="Times New Roman" panose="02020603050405020304" pitchFamily="18" charset="0"/>
                <a:ea typeface="宋体" panose="02010600030101010101" pitchFamily="2" charset="-122"/>
              </a:rPr>
              <a:t>Several different device</a:t>
            </a:r>
            <a:endParaRPr lang="en-US" altLang="zh-CN" sz="2600" dirty="0">
              <a:latin typeface="Times New Roman" panose="02020603050405020304" pitchFamily="18" charset="0"/>
              <a:ea typeface="宋体" panose="02010600030101010101" pitchFamily="2" charset="-122"/>
            </a:endParaRPr>
          </a:p>
          <a:p>
            <a:pPr lvl="2" algn="just">
              <a:lnSpc>
                <a:spcPct val="80000"/>
              </a:lnSpc>
            </a:pPr>
            <a:r>
              <a:rPr lang="en-US" altLang="zh-CN" sz="2600" dirty="0">
                <a:latin typeface="Times New Roman" panose="02020603050405020304" pitchFamily="18" charset="0"/>
                <a:ea typeface="宋体" panose="02010600030101010101" pitchFamily="2" charset="-122"/>
              </a:rPr>
              <a:t>One or more indexes ,one or more embedded pointer chains (or both)</a:t>
            </a:r>
            <a:endParaRPr lang="en-US" altLang="zh-CN" sz="2600" dirty="0">
              <a:latin typeface="Times New Roman" panose="02020603050405020304" pitchFamily="18" charset="0"/>
              <a:ea typeface="宋体" panose="02010600030101010101" pitchFamily="2" charset="-122"/>
            </a:endParaRPr>
          </a:p>
          <a:p>
            <a:pPr lvl="2" algn="just">
              <a:lnSpc>
                <a:spcPct val="80000"/>
              </a:lnSpc>
            </a:pPr>
            <a:r>
              <a:rPr lang="en-US" altLang="zh-CN" sz="2600" dirty="0">
                <a:latin typeface="Times New Roman" panose="02020603050405020304" pitchFamily="18" charset="0"/>
                <a:ea typeface="宋体" panose="02010600030101010101" pitchFamily="2" charset="-122"/>
              </a:rPr>
              <a:t>Some hashing scheme</a:t>
            </a:r>
            <a:endParaRPr lang="en-US" altLang="zh-CN" sz="2600" dirty="0">
              <a:latin typeface="Times New Roman" panose="02020603050405020304" pitchFamily="18" charset="0"/>
              <a:ea typeface="宋体" panose="02010600030101010101" pitchFamily="2" charset="-122"/>
            </a:endParaRPr>
          </a:p>
          <a:p>
            <a:pPr lvl="1" algn="just">
              <a:lnSpc>
                <a:spcPct val="80000"/>
              </a:lnSpc>
              <a:buSzPct val="150000"/>
            </a:pPr>
            <a:endParaRPr lang="en-US" altLang="zh-CN" sz="2600" dirty="0">
              <a:latin typeface="Times New Roman" panose="02020603050405020304" pitchFamily="18" charset="0"/>
              <a:ea typeface="宋体" panose="02010600030101010101" pitchFamily="2" charset="-122"/>
            </a:endParaRPr>
          </a:p>
          <a:p>
            <a:pPr fontAlgn="ctr">
              <a:lnSpc>
                <a:spcPct val="80000"/>
              </a:lnSpc>
              <a:buClr>
                <a:srgbClr val="FF0000"/>
              </a:buClr>
              <a:buSzPct val="200000"/>
              <a:buFont typeface="Wingdings" panose="05000000000000000000" pitchFamily="2" charset="2"/>
              <a:buChar char="F"/>
            </a:pPr>
            <a:r>
              <a:rPr lang="en-US" altLang="zh-CN" dirty="0">
                <a:solidFill>
                  <a:srgbClr val="FF0000"/>
                </a:solidFill>
                <a:latin typeface="Times New Roman" panose="02020603050405020304" pitchFamily="18" charset="0"/>
                <a:ea typeface="宋体" panose="02010600030101010101" pitchFamily="2" charset="-122"/>
                <a:cs typeface="+mn-cs"/>
              </a:rPr>
              <a:t>DBA choose the stored representation of data.</a:t>
            </a:r>
            <a:endParaRPr lang="zh-CN" altLang="en-US" dirty="0">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68611" name="Rectangle 2"/>
          <p:cNvSpPr>
            <a:spLocks noGrp="1"/>
          </p:cNvSpPr>
          <p:nvPr>
            <p:ph type="title"/>
          </p:nvPr>
        </p:nvSpPr>
        <p:spPr>
          <a:xfrm>
            <a:off x="1409700" y="739775"/>
            <a:ext cx="7429500" cy="604838"/>
          </a:xfrm>
          <a:ln/>
        </p:spPr>
        <p:txBody>
          <a:bodyPr vert="horz" wrap="square" lIns="90488" tIns="44450" rIns="90488" bIns="44450" anchor="ctr" anchorCtr="0"/>
          <a:p>
            <a:pPr/>
            <a:r>
              <a:rPr lang="zh-CN" altLang="en-US" dirty="0">
                <a:latin typeface="+mj-lt"/>
                <a:ea typeface="+mj-ea"/>
                <a:cs typeface="+mj-cs"/>
              </a:rPr>
              <a:t>2. </a:t>
            </a:r>
            <a:r>
              <a:rPr lang="en-US" altLang="zh-CN" dirty="0">
                <a:latin typeface="+mj-lt"/>
                <a:ea typeface="+mj-ea"/>
                <a:cs typeface="+mj-cs"/>
              </a:rPr>
              <a:t>The Database Administrator</a:t>
            </a:r>
            <a:endParaRPr lang="en-US" altLang="zh-CN" dirty="0">
              <a:latin typeface="+mj-lt"/>
              <a:ea typeface="+mj-ea"/>
              <a:cs typeface="+mj-cs"/>
            </a:endParaRPr>
          </a:p>
        </p:txBody>
      </p:sp>
      <p:sp>
        <p:nvSpPr>
          <p:cNvPr id="68612" name="Rectangle 3"/>
          <p:cNvSpPr>
            <a:spLocks noGrp="1"/>
          </p:cNvSpPr>
          <p:nvPr>
            <p:ph idx="1"/>
          </p:nvPr>
        </p:nvSpPr>
        <p:spPr>
          <a:xfrm>
            <a:off x="631825" y="1422400"/>
            <a:ext cx="8780463" cy="4656138"/>
          </a:xfrm>
          <a:ln/>
        </p:spPr>
        <p:txBody>
          <a:bodyPr vert="horz" wrap="square" lIns="90488" tIns="44450" rIns="90488" bIns="44450" anchor="t" anchorCtr="0"/>
          <a:p>
            <a:pPr>
              <a:lnSpc>
                <a:spcPct val="80000"/>
              </a:lnSpc>
              <a:buSzPct val="100000"/>
            </a:pPr>
            <a:r>
              <a:rPr lang="en-US" altLang="zh-CN" dirty="0">
                <a:solidFill>
                  <a:srgbClr val="FF3300"/>
                </a:solidFill>
                <a:latin typeface="Times New Roman" panose="02020603050405020304" pitchFamily="18" charset="0"/>
                <a:ea typeface="宋体" panose="02010600030101010101" pitchFamily="2" charset="-122"/>
                <a:cs typeface="+mn-cs"/>
              </a:rPr>
              <a:t>DA(data administrator)</a:t>
            </a:r>
            <a:r>
              <a:rPr lang="en-US" altLang="zh-CN" dirty="0">
                <a:latin typeface="Times New Roman" panose="02020603050405020304" pitchFamily="18" charset="0"/>
                <a:ea typeface="宋体" panose="02010600030101010101" pitchFamily="2" charset="-122"/>
                <a:cs typeface="+mn-cs"/>
              </a:rPr>
              <a:t> is the person who </a:t>
            </a:r>
            <a:r>
              <a:rPr lang="en-US" altLang="zh-CN" dirty="0">
                <a:solidFill>
                  <a:srgbClr val="FF3300"/>
                </a:solidFill>
                <a:latin typeface="Times New Roman" panose="02020603050405020304" pitchFamily="18" charset="0"/>
                <a:ea typeface="宋体" panose="02010600030101010101" pitchFamily="2" charset="-122"/>
                <a:cs typeface="+mn-cs"/>
              </a:rPr>
              <a:t>makes the strategic and policy decisions</a:t>
            </a:r>
            <a:r>
              <a:rPr lang="en-US" altLang="zh-CN" dirty="0">
                <a:latin typeface="Times New Roman" panose="02020603050405020304" pitchFamily="18" charset="0"/>
                <a:ea typeface="宋体" panose="02010600030101010101" pitchFamily="2" charset="-122"/>
                <a:cs typeface="+mn-cs"/>
              </a:rPr>
              <a:t> regarding the data of the enterprise.</a:t>
            </a:r>
            <a:endParaRPr lang="en-US" altLang="zh-CN" dirty="0">
              <a:latin typeface="Times New Roman" panose="02020603050405020304" pitchFamily="18" charset="0"/>
              <a:ea typeface="宋体" panose="02010600030101010101" pitchFamily="2" charset="-122"/>
              <a:cs typeface="+mn-cs"/>
            </a:endParaRPr>
          </a:p>
          <a:p>
            <a:pPr>
              <a:lnSpc>
                <a:spcPct val="80000"/>
              </a:lnSpc>
              <a:buSzPct val="100000"/>
            </a:pPr>
            <a:r>
              <a:rPr lang="en-US" altLang="zh-CN" dirty="0">
                <a:solidFill>
                  <a:srgbClr val="FF3300"/>
                </a:solidFill>
                <a:latin typeface="Times New Roman" panose="02020603050405020304" pitchFamily="18" charset="0"/>
                <a:ea typeface="宋体" panose="02010600030101010101" pitchFamily="2" charset="-122"/>
                <a:cs typeface="+mn-cs"/>
              </a:rPr>
              <a:t>DBA</a:t>
            </a:r>
            <a:r>
              <a:rPr lang="en-US" altLang="zh-CN" dirty="0">
                <a:latin typeface="Times New Roman" panose="02020603050405020304" pitchFamily="18" charset="0"/>
                <a:ea typeface="宋体" panose="02010600030101010101" pitchFamily="2" charset="-122"/>
                <a:cs typeface="+mn-cs"/>
              </a:rPr>
              <a:t> is the person who provides the necessary technical support for </a:t>
            </a:r>
            <a:r>
              <a:rPr lang="en-US" altLang="zh-CN" dirty="0">
                <a:solidFill>
                  <a:srgbClr val="FF3300"/>
                </a:solidFill>
                <a:latin typeface="Times New Roman" panose="02020603050405020304" pitchFamily="18" charset="0"/>
                <a:ea typeface="宋体" panose="02010600030101010101" pitchFamily="2" charset="-122"/>
                <a:cs typeface="+mn-cs"/>
              </a:rPr>
              <a:t>implementing those decisions</a:t>
            </a:r>
            <a:r>
              <a:rPr lang="en-US" altLang="zh-CN" dirty="0">
                <a:latin typeface="Times New Roman" panose="02020603050405020304" pitchFamily="18" charset="0"/>
                <a:ea typeface="宋体" panose="02010600030101010101" pitchFamily="2" charset="-122"/>
                <a:cs typeface="+mn-cs"/>
              </a:rPr>
              <a:t>. </a:t>
            </a:r>
            <a:endParaRPr lang="en-US" altLang="zh-CN" dirty="0">
              <a:latin typeface="Times New Roman" panose="02020603050405020304" pitchFamily="18" charset="0"/>
              <a:ea typeface="宋体" panose="02010600030101010101" pitchFamily="2" charset="-122"/>
              <a:cs typeface="+mn-cs"/>
            </a:endParaRPr>
          </a:p>
          <a:p>
            <a:pPr lvl="1">
              <a:lnSpc>
                <a:spcPct val="80000"/>
              </a:lnSpc>
              <a:buSzPct val="150000"/>
            </a:pPr>
            <a:r>
              <a:rPr lang="en-US" altLang="zh-CN" dirty="0">
                <a:latin typeface="Times New Roman" panose="02020603050405020304" pitchFamily="18" charset="0"/>
                <a:ea typeface="宋体" panose="02010600030101010101" pitchFamily="2" charset="-122"/>
              </a:rPr>
              <a:t>Defining the conceptual schema</a:t>
            </a:r>
            <a:endParaRPr lang="en-US" altLang="zh-CN" dirty="0">
              <a:latin typeface="Times New Roman" panose="02020603050405020304" pitchFamily="18" charset="0"/>
              <a:ea typeface="宋体" panose="02010600030101010101" pitchFamily="2"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Defining the internal schema</a:t>
            </a:r>
            <a:endParaRPr lang="en-US" altLang="zh-CN" dirty="0">
              <a:latin typeface="Times New Roman" panose="02020603050405020304" pitchFamily="18" charset="0"/>
              <a:ea typeface="宋体" panose="02010600030101010101" pitchFamily="2"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Defining the external schemas</a:t>
            </a:r>
            <a:endParaRPr lang="en-US" altLang="zh-CN" dirty="0">
              <a:latin typeface="Times New Roman" panose="02020603050405020304" pitchFamily="18" charset="0"/>
              <a:ea typeface="宋体" panose="02010600030101010101" pitchFamily="2"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Defining security and integrity constraints </a:t>
            </a:r>
            <a:endParaRPr lang="en-US" altLang="zh-CN" dirty="0">
              <a:latin typeface="Times New Roman" panose="02020603050405020304" pitchFamily="18" charset="0"/>
              <a:ea typeface="宋体" panose="02010600030101010101" pitchFamily="2"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Defining dump(</a:t>
            </a:r>
            <a:r>
              <a:rPr lang="zh-CN" altLang="en-US" dirty="0">
                <a:latin typeface="Times New Roman" panose="02020603050405020304" pitchFamily="18" charset="0"/>
                <a:ea typeface="宋体" panose="02010600030101010101" pitchFamily="2" charset="-122"/>
              </a:rPr>
              <a:t>数据转储) </a:t>
            </a:r>
            <a:r>
              <a:rPr lang="en-US" altLang="zh-CN" dirty="0">
                <a:latin typeface="Times New Roman" panose="02020603050405020304" pitchFamily="18" charset="0"/>
                <a:ea typeface="宋体" panose="02010600030101010101" pitchFamily="2" charset="-122"/>
              </a:rPr>
              <a:t>and reload policies </a:t>
            </a:r>
            <a:endParaRPr lang="en-US" altLang="zh-CN" dirty="0">
              <a:latin typeface="Times New Roman" panose="02020603050405020304" pitchFamily="18" charset="0"/>
              <a:ea typeface="宋体" panose="02010600030101010101" pitchFamily="2" charset="-122"/>
            </a:endParaRPr>
          </a:p>
          <a:p>
            <a:pPr lvl="1">
              <a:lnSpc>
                <a:spcPct val="80000"/>
              </a:lnSpc>
              <a:buSzPct val="150000"/>
            </a:pPr>
            <a:r>
              <a:rPr lang="en-US" altLang="zh-CN" dirty="0">
                <a:latin typeface="Times New Roman" panose="02020603050405020304" pitchFamily="18" charset="0"/>
                <a:ea typeface="宋体" panose="02010600030101010101" pitchFamily="2" charset="-122"/>
              </a:rPr>
              <a:t>Monitoring performance and responding to changing requirements</a:t>
            </a:r>
            <a:endParaRPr lang="en-US"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70659" name="Rectangle 2"/>
          <p:cNvSpPr>
            <a:spLocks noGrp="1"/>
          </p:cNvSpPr>
          <p:nvPr>
            <p:ph type="title"/>
          </p:nvPr>
        </p:nvSpPr>
        <p:spPr>
          <a:xfrm>
            <a:off x="1409700" y="901700"/>
            <a:ext cx="7429500" cy="711200"/>
          </a:xfrm>
          <a:ln/>
        </p:spPr>
        <p:txBody>
          <a:bodyPr vert="horz" wrap="square" lIns="90488" tIns="44450" rIns="90488" bIns="44450" anchor="ctr" anchorCtr="0"/>
          <a:p>
            <a:pPr/>
            <a:r>
              <a:rPr lang="en-US" altLang="zh-CN" dirty="0">
                <a:latin typeface="+mj-lt"/>
                <a:ea typeface="+mj-ea"/>
                <a:cs typeface="+mj-cs"/>
              </a:rPr>
              <a:t>Tasks of DBA</a:t>
            </a:r>
            <a:endParaRPr lang="zh-CN" altLang="en-US" dirty="0">
              <a:latin typeface="+mj-lt"/>
              <a:ea typeface="+mj-ea"/>
              <a:cs typeface="+mj-cs"/>
            </a:endParaRPr>
          </a:p>
        </p:txBody>
      </p:sp>
      <p:sp>
        <p:nvSpPr>
          <p:cNvPr id="25604" name="Rectangle 3"/>
          <p:cNvSpPr>
            <a:spLocks noGrp="1" noChangeArrowheads="1"/>
          </p:cNvSpPr>
          <p:nvPr>
            <p:ph idx="1"/>
          </p:nvPr>
        </p:nvSpPr>
        <p:spPr>
          <a:xfrm>
            <a:off x="496888" y="1828800"/>
            <a:ext cx="8875713" cy="4383088"/>
          </a:xfrm>
        </p:spPr>
        <p:txBody>
          <a:bodyPr vert="horz" wrap="square" lIns="90488" tIns="44450" rIns="90488" bIns="44450" numCol="1" anchor="t" anchorCtr="0" compatLnSpc="1"/>
          <a:lstStyle/>
          <a:p>
            <a:pPr marL="285750" marR="0" lvl="0" indent="-28575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8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Defining the conceptual schema</a:t>
            </a:r>
            <a:endParaRPr kumimoji="0" lang="en-US" altLang="zh-CN" sz="28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90000"/>
              </a:lnSpc>
              <a:spcBef>
                <a:spcPts val="600"/>
              </a:spcBef>
              <a:spcAft>
                <a:spcPct val="0"/>
              </a:spcAft>
              <a:buClr>
                <a:srgbClr val="037C03"/>
              </a:buClr>
              <a:buSzPct val="100000"/>
              <a:buFont typeface="Monotype Sorts" pitchFamily="2" charset="2"/>
              <a:buNone/>
              <a:defRPr/>
            </a:pP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(using conceptual DDL)</a:t>
            </a:r>
            <a:endParaRPr kumimoji="0" lang="en-US" altLang="zh-CN" sz="28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ts val="600"/>
              </a:spcBef>
              <a:spcAft>
                <a:spcPct val="0"/>
              </a:spcAft>
              <a:buClr>
                <a:srgbClr val="009900"/>
              </a:buClr>
              <a:buSzPct val="150000"/>
              <a:buFont typeface="Wingdings" panose="05000000000000000000" pitchFamily="2" charset="2"/>
              <a:buChar char="§"/>
              <a:defRPr/>
            </a:pP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DA :decide the content of the database at an abstract level (</a:t>
            </a:r>
            <a:r>
              <a:rPr kumimoji="0" lang="en-US" altLang="zh-CN" sz="2400" b="1" i="0" u="none" strike="noStrike" kern="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Logical DB design</a:t>
            </a: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ts val="600"/>
              </a:spcBef>
              <a:spcAft>
                <a:spcPct val="0"/>
              </a:spcAft>
              <a:buClr>
                <a:srgbClr val="009900"/>
              </a:buClr>
              <a:buSzPct val="150000"/>
              <a:buFont typeface="Wingdings" panose="05000000000000000000" pitchFamily="2" charset="2"/>
              <a:buChar char="§"/>
              <a:defRPr/>
            </a:pP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DBA create the corresponding </a:t>
            </a:r>
            <a:r>
              <a:rPr kumimoji="0" lang="en-US" altLang="zh-CN" sz="2400" b="1" i="0" u="none" strike="noStrike" kern="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conceptual schema</a:t>
            </a:r>
            <a:endParaRPr kumimoji="0" lang="en-US" altLang="zh-CN" sz="2400" b="1" i="0" u="none" strike="noStrike" kern="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ts val="600"/>
              </a:spcBef>
              <a:spcAft>
                <a:spcPct val="0"/>
              </a:spcAft>
              <a:buClr>
                <a:srgbClr val="009900"/>
              </a:buClr>
              <a:buSzPct val="150000"/>
              <a:buFont typeface="Wingdings" panose="05000000000000000000" pitchFamily="2" charset="2"/>
              <a:buChar char="§"/>
              <a:defRPr/>
            </a:pP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SQL: </a:t>
            </a:r>
            <a:r>
              <a:rPr kumimoji="0" lang="en-US" altLang="zh-CN" sz="2400" b="1" i="0" u="none" strike="noStrike" kern="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create table</a:t>
            </a:r>
            <a:endParaRPr kumimoji="0" lang="en-US" altLang="zh-CN" sz="2400" b="1" i="0" u="none" strike="noStrike" kern="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285750" marR="0" lvl="0" indent="-285750" algn="l" defTabSz="914400" rtl="0" eaLnBrk="0" fontAlgn="base" latinLnBrk="0" hangingPunct="0">
              <a:lnSpc>
                <a:spcPct val="90000"/>
              </a:lnSpc>
              <a:spcBef>
                <a:spcPts val="600"/>
              </a:spcBef>
              <a:spcAft>
                <a:spcPct val="0"/>
              </a:spcAft>
              <a:buClr>
                <a:srgbClr val="037C03"/>
              </a:buClr>
              <a:buSzPct val="100000"/>
              <a:buFont typeface="Monotype Sorts" pitchFamily="2" charset="2"/>
              <a:buChar char="n"/>
              <a:defRPr/>
            </a:pPr>
            <a:r>
              <a:rPr kumimoji="0" lang="en-US" altLang="zh-CN" sz="28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Defining the internal schema (using internal DDL)</a:t>
            </a:r>
            <a:endParaRPr kumimoji="0" lang="en-US" altLang="zh-CN" sz="28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685800" marR="0" lvl="1" indent="-228600" algn="l" defTabSz="914400" rtl="0" eaLnBrk="0" fontAlgn="ctr" latinLnBrk="0" hangingPunct="0">
              <a:lnSpc>
                <a:spcPct val="90000"/>
              </a:lnSpc>
              <a:spcBef>
                <a:spcPts val="600"/>
              </a:spcBef>
              <a:spcAft>
                <a:spcPct val="0"/>
              </a:spcAft>
              <a:buClr>
                <a:srgbClr val="009900"/>
              </a:buClr>
              <a:buSzPct val="150000"/>
              <a:buFont typeface="Wingdings" panose="05000000000000000000" pitchFamily="2" charset="2"/>
              <a:buChar char="§"/>
              <a:defRPr/>
            </a:pP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DBA must also decide how the data is to be represented in the stored database</a:t>
            </a:r>
            <a:endPar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457200" marR="0" lvl="1" indent="0" algn="l" defTabSz="914400" rtl="0" eaLnBrk="0" fontAlgn="ctr" latinLnBrk="0" hangingPunct="0">
              <a:lnSpc>
                <a:spcPct val="90000"/>
              </a:lnSpc>
              <a:spcBef>
                <a:spcPts val="600"/>
              </a:spcBef>
              <a:spcAft>
                <a:spcPct val="0"/>
              </a:spcAft>
              <a:buClr>
                <a:srgbClr val="009900"/>
              </a:buClr>
              <a:buSzPct val="150000"/>
              <a:buFont typeface="Wingdings" panose="05000000000000000000" pitchFamily="2" charset="2"/>
              <a:buNone/>
              <a:defRPr/>
            </a:pPr>
            <a:r>
              <a:rPr kumimoji="0" lang="en-US" altLang="zh-CN" sz="2400" b="1" i="0" u="none" strike="noStrike" kern="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0" u="none" strike="noStrike" kern="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Times New Roman" panose="02020603050405020304" pitchFamily="18" charset="0"/>
              </a:rPr>
              <a:t>physical database design</a:t>
            </a:r>
            <a:r>
              <a:rPr kumimoji="0" lang="en-US" altLang="zh-CN"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kern="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72707" name="Rectangle 2"/>
          <p:cNvSpPr>
            <a:spLocks noGrp="1"/>
          </p:cNvSpPr>
          <p:nvPr>
            <p:ph type="title"/>
          </p:nvPr>
        </p:nvSpPr>
        <p:spPr>
          <a:xfrm>
            <a:off x="1409700" y="796925"/>
            <a:ext cx="7429500" cy="523875"/>
          </a:xfrm>
          <a:ln/>
        </p:spPr>
        <p:txBody>
          <a:bodyPr vert="horz" wrap="square" lIns="90488" tIns="44450" rIns="90488" bIns="44450" anchor="ctr" anchorCtr="0"/>
          <a:p>
            <a:pPr/>
            <a:r>
              <a:rPr lang="en-US" altLang="zh-CN" dirty="0">
                <a:latin typeface="+mj-lt"/>
                <a:ea typeface="+mj-ea"/>
                <a:cs typeface="+mj-cs"/>
              </a:rPr>
              <a:t>Tasks of DBA(Cont.)</a:t>
            </a:r>
            <a:endParaRPr lang="zh-CN" altLang="en-US" dirty="0">
              <a:latin typeface="+mj-lt"/>
              <a:ea typeface="+mj-ea"/>
              <a:cs typeface="+mj-cs"/>
            </a:endParaRPr>
          </a:p>
        </p:txBody>
      </p:sp>
      <p:pic>
        <p:nvPicPr>
          <p:cNvPr id="72708" name="Picture 3"/>
          <p:cNvPicPr>
            <a:picLocks noChangeAspect="1"/>
          </p:cNvPicPr>
          <p:nvPr>
            <p:ph idx="1"/>
          </p:nvPr>
        </p:nvPicPr>
        <p:blipFill>
          <a:blip r:embed="rId1"/>
          <a:srcRect/>
          <a:stretch>
            <a:fillRect/>
          </a:stretch>
        </p:blipFill>
        <p:spPr>
          <a:xfrm>
            <a:off x="1433513" y="1390650"/>
            <a:ext cx="7208837" cy="4568825"/>
          </a:xfr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74755" name="Rectangle 2"/>
          <p:cNvSpPr>
            <a:spLocks noGrp="1"/>
          </p:cNvSpPr>
          <p:nvPr>
            <p:ph type="title"/>
          </p:nvPr>
        </p:nvSpPr>
        <p:spPr>
          <a:xfrm>
            <a:off x="1371600" y="762000"/>
            <a:ext cx="7429500" cy="609600"/>
          </a:xfrm>
          <a:ln/>
        </p:spPr>
        <p:txBody>
          <a:bodyPr vert="horz" wrap="square" lIns="90488" tIns="44450" rIns="90488" bIns="44450" anchor="ctr" anchorCtr="0"/>
          <a:p>
            <a:pPr/>
            <a:r>
              <a:rPr lang="zh-CN" altLang="en-US" dirty="0">
                <a:latin typeface="+mj-lt"/>
                <a:ea typeface="+mj-ea"/>
                <a:cs typeface="+mj-cs"/>
              </a:rPr>
              <a:t>10. </a:t>
            </a:r>
            <a:r>
              <a:rPr lang="en-US" altLang="zh-CN" dirty="0">
                <a:latin typeface="+mj-lt"/>
                <a:ea typeface="+mj-ea"/>
                <a:cs typeface="+mj-cs"/>
              </a:rPr>
              <a:t>Database Administrator(Cont.)</a:t>
            </a:r>
            <a:endParaRPr lang="zh-CN" altLang="en-US" dirty="0">
              <a:latin typeface="+mj-lt"/>
              <a:ea typeface="+mj-ea"/>
              <a:cs typeface="+mj-cs"/>
            </a:endParaRPr>
          </a:p>
        </p:txBody>
      </p:sp>
      <p:sp>
        <p:nvSpPr>
          <p:cNvPr id="74756" name="AutoShape 3"/>
          <p:cNvSpPr>
            <a:spLocks noChangeAspect="1"/>
          </p:cNvSpPr>
          <p:nvPr>
            <p:ph idx="1"/>
          </p:nvPr>
        </p:nvSpPr>
        <p:spPr>
          <a:xfrm>
            <a:off x="0" y="0"/>
            <a:ext cx="9906000" cy="304800"/>
          </a:xfrm>
          <a:solidFill>
            <a:srgbClr val="CC99FF">
              <a:alpha val="100000"/>
            </a:srgbClr>
          </a:solidFill>
          <a:ln/>
        </p:spPr>
        <p:txBody>
          <a:bodyPr vert="horz" wrap="square" lIns="90488" tIns="44450" rIns="90488" bIns="44450" anchor="t" anchorCtr="0"/>
          <a:p>
            <a:pPr algn="ctr">
              <a:lnSpc>
                <a:spcPct val="80000"/>
              </a:lnSpc>
              <a:buSzPct val="100000"/>
              <a:buFont typeface="Monotype Sorts" pitchFamily="2" charset="2"/>
              <a:buNone/>
            </a:pPr>
            <a:r>
              <a:rPr lang="en-US" altLang="zh-CN" sz="2000" dirty="0">
                <a:solidFill>
                  <a:srgbClr val="005400"/>
                </a:solidFill>
                <a:latin typeface="Times New Roman" panose="02020603050405020304" pitchFamily="18" charset="0"/>
                <a:ea typeface="宋体" panose="02010600030101010101" pitchFamily="2" charset="-122"/>
                <a:cs typeface="+mn-cs"/>
              </a:rPr>
              <a:t>Relation Scan</a:t>
            </a:r>
            <a:endParaRPr lang="en-US" altLang="zh-CN" sz="2000" dirty="0">
              <a:solidFill>
                <a:srgbClr val="005400"/>
              </a:solidFill>
              <a:latin typeface="Times New Roman" panose="02020603050405020304" pitchFamily="18" charset="0"/>
              <a:ea typeface="宋体" panose="02010600030101010101" pitchFamily="2" charset="-122"/>
              <a:cs typeface="+mn-cs"/>
            </a:endParaRPr>
          </a:p>
        </p:txBody>
      </p:sp>
      <p:pic>
        <p:nvPicPr>
          <p:cNvPr id="74757" name="Picture 4"/>
          <p:cNvPicPr>
            <a:picLocks noChangeAspect="1"/>
          </p:cNvPicPr>
          <p:nvPr/>
        </p:nvPicPr>
        <p:blipFill>
          <a:blip r:embed="rId1"/>
          <a:stretch>
            <a:fillRect/>
          </a:stretch>
        </p:blipFill>
        <p:spPr>
          <a:xfrm>
            <a:off x="0" y="304800"/>
            <a:ext cx="9906000" cy="6554788"/>
          </a:xfrm>
          <a:prstGeom prst="rect">
            <a:avLst/>
          </a:prstGeom>
          <a:noFill/>
          <a:ln w="12700">
            <a:noFill/>
          </a:ln>
        </p:spPr>
      </p:pic>
      <p:sp>
        <p:nvSpPr>
          <p:cNvPr id="74758" name="Slide Number Placeholder 3"/>
          <p:cNvSpPr txBox="1">
            <a:spLocks noGrp="1"/>
          </p:cNvSpPr>
          <p:nvPr/>
        </p:nvSpPr>
        <p:spPr>
          <a:xfrm>
            <a:off x="7429500" y="6375400"/>
            <a:ext cx="1828800" cy="304800"/>
          </a:xfrm>
          <a:prstGeom prst="rect">
            <a:avLst/>
          </a:prstGeom>
          <a:noFill/>
          <a:ln w="9525">
            <a:noFill/>
          </a:ln>
        </p:spPr>
        <p:txBody>
          <a:bodyPr/>
          <a:p>
            <a:pPr algn="ctr">
              <a:lnSpc>
                <a:spcPct val="90000"/>
              </a:lnSpc>
            </a:pPr>
            <a:r>
              <a:rPr lang="en-US" altLang="zh-CN" sz="1400" b="1" i="1" dirty="0">
                <a:solidFill>
                  <a:srgbClr val="005400"/>
                </a:solidFill>
                <a:latin typeface="Times New Roman" panose="02020603050405020304" pitchFamily="18" charset="0"/>
                <a:ea typeface="宋体" panose="02010600030101010101" pitchFamily="2" charset="-122"/>
              </a:rPr>
              <a:t>Page </a:t>
            </a:r>
            <a:fld id="{9A0DB2DC-4C9A-4742-B13C-FB6460FD3503}" type="slidenum">
              <a:rPr lang="en-US" altLang="zh-CN" sz="1400" b="1" i="1" dirty="0">
                <a:solidFill>
                  <a:srgbClr val="005400"/>
                </a:solidFill>
                <a:latin typeface="Times New Roman" panose="02020603050405020304" pitchFamily="18" charset="0"/>
                <a:ea typeface="宋体" panose="02010600030101010101" pitchFamily="2" charset="-122"/>
              </a:rPr>
            </a:fld>
            <a:endParaRPr lang="en-US" altLang="zh-CN" sz="1400" b="1" i="1" dirty="0">
              <a:solidFill>
                <a:srgbClr val="005400"/>
              </a:solidFill>
              <a:latin typeface="Times New Roman" panose="02020603050405020304" pitchFamily="18"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76803" name="Rectangle 2"/>
          <p:cNvSpPr>
            <a:spLocks noGrp="1"/>
          </p:cNvSpPr>
          <p:nvPr>
            <p:ph idx="1"/>
          </p:nvPr>
        </p:nvSpPr>
        <p:spPr>
          <a:xfrm>
            <a:off x="873125" y="1627188"/>
            <a:ext cx="8432800" cy="4292600"/>
          </a:xfrm>
          <a:ln/>
        </p:spPr>
        <p:txBody>
          <a:bodyPr vert="horz" wrap="square" lIns="90488" tIns="44450" rIns="90488" bIns="44450" anchor="t" anchorCtr="0"/>
          <a:p>
            <a:pPr marL="342900" indent="-342900">
              <a:buSzPct val="100000"/>
            </a:pPr>
            <a:r>
              <a:rPr lang="en-US" altLang="zh-CN" dirty="0">
                <a:latin typeface="Times New Roman" panose="02020603050405020304" pitchFamily="18" charset="0"/>
                <a:ea typeface="宋体" panose="02010600030101010101" pitchFamily="2" charset="-122"/>
                <a:cs typeface="+mn-cs"/>
              </a:rPr>
              <a:t>Defining the external schemas(using external DDL)</a:t>
            </a:r>
            <a:endParaRPr lang="en-US" altLang="zh-CN" dirty="0">
              <a:latin typeface="Times New Roman" panose="02020603050405020304" pitchFamily="18" charset="0"/>
              <a:ea typeface="宋体" panose="02010600030101010101" pitchFamily="2" charset="-122"/>
              <a:cs typeface="+mn-cs"/>
            </a:endParaRPr>
          </a:p>
          <a:p>
            <a:pPr marL="742950" lvl="1" indent="-285750" algn="just">
              <a:buSzPct val="150000"/>
            </a:pPr>
            <a:r>
              <a:rPr lang="en-US" altLang="zh-CN" dirty="0">
                <a:latin typeface="Times New Roman" panose="02020603050405020304" pitchFamily="18" charset="0"/>
                <a:ea typeface="宋体" panose="02010600030101010101" pitchFamily="2" charset="-122"/>
              </a:rPr>
              <a:t>Liaising with users, ensure that the data they need is available.</a:t>
            </a:r>
            <a:endParaRPr lang="en-US" altLang="zh-CN" dirty="0">
              <a:latin typeface="Times New Roman" panose="02020603050405020304" pitchFamily="18" charset="0"/>
              <a:ea typeface="宋体" panose="02010600030101010101" pitchFamily="2" charset="-122"/>
            </a:endParaRPr>
          </a:p>
          <a:p>
            <a:pPr marL="742950" lvl="1" indent="-285750" algn="just">
              <a:buSzPct val="150000"/>
            </a:pPr>
            <a:r>
              <a:rPr lang="en-US" altLang="zh-CN" dirty="0">
                <a:latin typeface="Times New Roman" panose="02020603050405020304" pitchFamily="18" charset="0"/>
                <a:ea typeface="宋体" panose="02010600030101010101" pitchFamily="2" charset="-122"/>
              </a:rPr>
              <a:t>Write the necessary external schemas and the corresponding external/conceptual mappings.</a:t>
            </a:r>
            <a:endParaRPr lang="en-US" altLang="zh-CN" dirty="0">
              <a:latin typeface="Times New Roman" panose="02020603050405020304" pitchFamily="18" charset="0"/>
              <a:ea typeface="宋体" panose="02010600030101010101" pitchFamily="2" charset="-122"/>
            </a:endParaRPr>
          </a:p>
          <a:p>
            <a:pPr marL="742950" lvl="1" indent="-285750" algn="just">
              <a:buSzPct val="150000"/>
            </a:pPr>
            <a:r>
              <a:rPr lang="en-US" altLang="zh-CN" dirty="0">
                <a:latin typeface="Times New Roman" panose="02020603050405020304" pitchFamily="18" charset="0"/>
                <a:ea typeface="宋体" panose="02010600030101010101" pitchFamily="2" charset="-122"/>
              </a:rPr>
              <a:t>SQL: Create View, GRANT, REVOKE</a:t>
            </a:r>
            <a:endParaRPr lang="en-US" altLang="zh-CN" dirty="0">
              <a:latin typeface="Times New Roman" panose="02020603050405020304" pitchFamily="18" charset="0"/>
              <a:ea typeface="宋体" panose="02010600030101010101" pitchFamily="2" charset="-122"/>
            </a:endParaRPr>
          </a:p>
          <a:p>
            <a:pPr marL="342900" indent="-342900">
              <a:buSzPct val="100000"/>
            </a:pPr>
            <a:r>
              <a:rPr lang="en-US" altLang="zh-CN" dirty="0">
                <a:latin typeface="Times New Roman" panose="02020603050405020304" pitchFamily="18" charset="0"/>
                <a:ea typeface="宋体" panose="02010600030101010101" pitchFamily="2" charset="-122"/>
                <a:cs typeface="+mn-cs"/>
              </a:rPr>
              <a:t>Defining security and integrity constraints </a:t>
            </a:r>
            <a:endParaRPr lang="en-US" altLang="zh-CN" dirty="0">
              <a:latin typeface="Times New Roman" panose="02020603050405020304" pitchFamily="18" charset="0"/>
              <a:ea typeface="宋体" panose="02010600030101010101" pitchFamily="2" charset="-122"/>
              <a:cs typeface="+mn-cs"/>
            </a:endParaRPr>
          </a:p>
          <a:p>
            <a:pPr marL="342900" indent="-342900">
              <a:buSzPct val="100000"/>
            </a:pPr>
            <a:r>
              <a:rPr lang="en-US" altLang="zh-CN" dirty="0">
                <a:latin typeface="Times New Roman" panose="02020603050405020304" pitchFamily="18" charset="0"/>
                <a:ea typeface="宋体" panose="02010600030101010101" pitchFamily="2" charset="-122"/>
                <a:cs typeface="+mn-cs"/>
              </a:rPr>
              <a:t>Defining dump(</a:t>
            </a:r>
            <a:r>
              <a:rPr lang="zh-CN" altLang="en-US" dirty="0">
                <a:latin typeface="Times New Roman" panose="02020603050405020304" pitchFamily="18" charset="0"/>
                <a:ea typeface="宋体" panose="02010600030101010101" pitchFamily="2" charset="-122"/>
                <a:cs typeface="+mn-cs"/>
              </a:rPr>
              <a:t>数据转储) </a:t>
            </a:r>
            <a:r>
              <a:rPr lang="en-US" altLang="zh-CN" dirty="0">
                <a:latin typeface="Times New Roman" panose="02020603050405020304" pitchFamily="18" charset="0"/>
                <a:ea typeface="宋体" panose="02010600030101010101" pitchFamily="2" charset="-122"/>
                <a:cs typeface="+mn-cs"/>
              </a:rPr>
              <a:t>and reload policies </a:t>
            </a:r>
            <a:endParaRPr lang="en-US" altLang="zh-CN" dirty="0">
              <a:latin typeface="Times New Roman" panose="02020603050405020304" pitchFamily="18" charset="0"/>
              <a:ea typeface="宋体" panose="02010600030101010101" pitchFamily="2" charset="-122"/>
              <a:cs typeface="+mn-cs"/>
            </a:endParaRPr>
          </a:p>
          <a:p>
            <a:pPr marL="342900" indent="-342900">
              <a:buSzPct val="100000"/>
            </a:pPr>
            <a:r>
              <a:rPr lang="en-US" altLang="zh-CN" dirty="0">
                <a:latin typeface="Times New Roman" panose="02020603050405020304" pitchFamily="18" charset="0"/>
                <a:ea typeface="宋体" panose="02010600030101010101" pitchFamily="2" charset="-122"/>
                <a:cs typeface="+mn-cs"/>
              </a:rPr>
              <a:t>Monitoring performance and responding to changing requirements</a:t>
            </a:r>
            <a:endParaRPr lang="en-US" altLang="zh-CN" dirty="0">
              <a:latin typeface="Times New Roman" panose="02020603050405020304" pitchFamily="18" charset="0"/>
              <a:ea typeface="宋体" panose="02010600030101010101" pitchFamily="2" charset="-122"/>
              <a:cs typeface="+mn-cs"/>
            </a:endParaRPr>
          </a:p>
        </p:txBody>
      </p:sp>
      <p:sp>
        <p:nvSpPr>
          <p:cNvPr id="76804" name="Rectangle 5"/>
          <p:cNvSpPr>
            <a:spLocks noGrp="1"/>
          </p:cNvSpPr>
          <p:nvPr>
            <p:ph type="title"/>
          </p:nvPr>
        </p:nvSpPr>
        <p:spPr>
          <a:xfrm>
            <a:off x="1409700" y="793750"/>
            <a:ext cx="7429500" cy="752475"/>
          </a:xfrm>
          <a:ln/>
        </p:spPr>
        <p:txBody>
          <a:bodyPr vert="horz" wrap="square" lIns="90488" tIns="44450" rIns="90488" bIns="44450" anchor="ctr" anchorCtr="0"/>
          <a:p>
            <a:pPr/>
            <a:r>
              <a:rPr lang="en-US" altLang="zh-CN" dirty="0">
                <a:latin typeface="+mj-lt"/>
                <a:ea typeface="+mj-ea"/>
                <a:cs typeface="+mj-cs"/>
              </a:rPr>
              <a:t>Tasks of DBA</a:t>
            </a:r>
            <a:endParaRPr lang="zh-CN" altLang="en-US" dirty="0">
              <a:latin typeface="+mj-lt"/>
              <a:ea typeface="+mj-ea"/>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78851" name="Rectangle 2"/>
          <p:cNvSpPr>
            <a:spLocks noGrp="1"/>
          </p:cNvSpPr>
          <p:nvPr>
            <p:ph type="title"/>
          </p:nvPr>
        </p:nvSpPr>
        <p:spPr>
          <a:xfrm>
            <a:off x="3689350" y="365125"/>
            <a:ext cx="5518150" cy="508000"/>
          </a:xfrm>
          <a:ln/>
        </p:spPr>
        <p:txBody>
          <a:bodyPr vert="horz" wrap="square" lIns="90488" tIns="44450" rIns="90488" bIns="44450" anchor="ctr" anchorCtr="0"/>
          <a:p>
            <a:pPr/>
            <a:r>
              <a:rPr lang="en-US" altLang="zh-CN" sz="2800" dirty="0">
                <a:latin typeface="+mj-lt"/>
                <a:ea typeface="+mj-ea"/>
                <a:cs typeface="+mj-cs"/>
              </a:rPr>
              <a:t>Tasks of DBA</a:t>
            </a:r>
            <a:r>
              <a:rPr lang="en-US" altLang="zh-CN" sz="2800" dirty="0">
                <a:latin typeface="Times New Roman" panose="02020603050405020304" pitchFamily="18" charset="0"/>
                <a:ea typeface="+mj-ea"/>
                <a:cs typeface="+mj-cs"/>
              </a:rPr>
              <a:t>—</a:t>
            </a:r>
            <a:r>
              <a:rPr lang="zh-CN" altLang="en-US" sz="2800" dirty="0">
                <a:latin typeface="+mj-lt"/>
                <a:ea typeface="+mj-ea"/>
                <a:cs typeface="+mj-cs"/>
              </a:rPr>
              <a:t>数据转储</a:t>
            </a:r>
            <a:r>
              <a:rPr lang="en-US" altLang="zh-CN" sz="2800" dirty="0">
                <a:latin typeface="+mj-lt"/>
                <a:ea typeface="+mj-ea"/>
                <a:cs typeface="+mj-cs"/>
              </a:rPr>
              <a:t>(</a:t>
            </a:r>
            <a:r>
              <a:rPr lang="zh-CN" altLang="en-US" sz="2800" dirty="0">
                <a:latin typeface="新宋体" panose="02010609030101010101" pitchFamily="49" charset="-122"/>
                <a:ea typeface="新宋体" panose="02010609030101010101" pitchFamily="49" charset="-122"/>
                <a:cs typeface="+mj-cs"/>
              </a:rPr>
              <a:t>备份</a:t>
            </a:r>
            <a:r>
              <a:rPr lang="en-US" altLang="zh-CN" sz="2800" dirty="0">
                <a:latin typeface="+mj-lt"/>
                <a:ea typeface="+mj-ea"/>
                <a:cs typeface="+mj-cs"/>
              </a:rPr>
              <a:t>)</a:t>
            </a:r>
            <a:r>
              <a:rPr lang="zh-CN" altLang="en-US" sz="2800" dirty="0">
                <a:latin typeface="+mj-lt"/>
                <a:ea typeface="+mj-ea"/>
                <a:cs typeface="+mj-cs"/>
              </a:rPr>
              <a:t> </a:t>
            </a:r>
            <a:endParaRPr lang="en-US" altLang="zh-CN" sz="2800" dirty="0">
              <a:latin typeface="+mj-lt"/>
              <a:ea typeface="+mj-ea"/>
              <a:cs typeface="+mj-cs"/>
            </a:endParaRPr>
          </a:p>
        </p:txBody>
      </p:sp>
      <p:pic>
        <p:nvPicPr>
          <p:cNvPr id="78852" name="Picture 4" descr="显示增量备份的图"/>
          <p:cNvPicPr>
            <a:picLocks noChangeAspect="1"/>
          </p:cNvPicPr>
          <p:nvPr/>
        </p:nvPicPr>
        <p:blipFill>
          <a:blip r:embed="rId1"/>
          <a:stretch>
            <a:fillRect/>
          </a:stretch>
        </p:blipFill>
        <p:spPr>
          <a:xfrm>
            <a:off x="1069975" y="2065338"/>
            <a:ext cx="7727950" cy="2811462"/>
          </a:xfrm>
          <a:prstGeom prst="rect">
            <a:avLst/>
          </a:prstGeom>
          <a:noFill/>
          <a:ln w="9525" cap="flat" cmpd="sng">
            <a:solidFill>
              <a:srgbClr val="008000"/>
            </a:solidFill>
            <a:prstDash val="solid"/>
            <a:miter/>
            <a:headEnd type="none" w="med" len="med"/>
            <a:tailEnd type="none" w="med" len="med"/>
          </a:ln>
        </p:spPr>
      </p:pic>
      <p:sp>
        <p:nvSpPr>
          <p:cNvPr id="8" name="Rectangle 3"/>
          <p:cNvSpPr txBox="1">
            <a:spLocks noChangeArrowheads="1"/>
          </p:cNvSpPr>
          <p:nvPr/>
        </p:nvSpPr>
        <p:spPr bwMode="auto">
          <a:xfrm>
            <a:off x="609600" y="987425"/>
            <a:ext cx="8667750" cy="1009650"/>
          </a:xfrm>
          <a:prstGeom prst="rect">
            <a:avLst/>
          </a:prstGeom>
          <a:noFill/>
          <a:ln w="12700">
            <a:noFill/>
            <a:miter lim="800000"/>
          </a:ln>
          <a:effectLst/>
        </p:spPr>
        <p:txBody>
          <a:bodyPr lIns="90488" tIns="44450" rIns="90488" bIns="44450"/>
          <a:lstStyle/>
          <a:p>
            <a:pPr marL="342900" marR="0" indent="-342900" defTabSz="914400">
              <a:lnSpc>
                <a:spcPct val="80000"/>
              </a:lnSpc>
              <a:spcBef>
                <a:spcPct val="30000"/>
              </a:spcBef>
              <a:buClr>
                <a:srgbClr val="037C03"/>
              </a:buClr>
              <a:buSzPct val="100000"/>
              <a:buFont typeface="Monotype Sorts" pitchFamily="2" charset="2"/>
              <a:buChar char="n"/>
              <a:defRPr/>
            </a:pPr>
            <a:r>
              <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rPr>
              <a:t>累积增量备份</a:t>
            </a:r>
            <a:r>
              <a:rPr kumimoji="0" lang="en-US" altLang="zh-CN" sz="1800" b="1" kern="0" cap="none" spc="0" normalizeH="0" baseline="0" noProof="0" dirty="0">
                <a:solidFill>
                  <a:schemeClr val="tx1"/>
                </a:solidFill>
                <a:latin typeface="宋体" panose="02010600030101010101" pitchFamily="2" charset="-122"/>
                <a:ea typeface="宋体" panose="02010600030101010101" pitchFamily="2" charset="-122"/>
                <a:cs typeface="+mn-cs"/>
              </a:rPr>
              <a:t>(Cumulative backup)</a:t>
            </a:r>
            <a:r>
              <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rPr>
              <a:t>：</a:t>
            </a:r>
            <a:r>
              <a:rPr kumimoji="0" lang="en-US" altLang="zh-CN" sz="1800" b="1" kern="0" cap="none" spc="0" normalizeH="0" baseline="0" noProof="0" dirty="0">
                <a:solidFill>
                  <a:schemeClr val="tx1"/>
                </a:solidFill>
                <a:latin typeface="宋体" panose="02010600030101010101" pitchFamily="2" charset="-122"/>
                <a:ea typeface="宋体" panose="02010600030101010101" pitchFamily="2" charset="-122"/>
                <a:cs typeface="+mn-cs"/>
              </a:rPr>
              <a:t>DB2 </a:t>
            </a:r>
            <a:r>
              <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rPr>
              <a:t>备份自上次完全数据库备份以来所更改的所有数据。 </a:t>
            </a:r>
            <a:endPar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endParaRPr>
          </a:p>
          <a:p>
            <a:pPr marL="342900" marR="0" indent="-342900" defTabSz="914400">
              <a:lnSpc>
                <a:spcPct val="80000"/>
              </a:lnSpc>
              <a:spcBef>
                <a:spcPct val="30000"/>
              </a:spcBef>
              <a:buClr>
                <a:srgbClr val="037C03"/>
              </a:buClr>
              <a:buSzPct val="100000"/>
              <a:buFont typeface="Monotype Sorts" pitchFamily="2" charset="2"/>
              <a:buChar char="n"/>
              <a:defRPr/>
            </a:pPr>
            <a:r>
              <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rPr>
              <a:t>差异增量备份</a:t>
            </a:r>
            <a:r>
              <a:rPr kumimoji="0" lang="en-US" altLang="zh-CN" sz="1800" b="1" kern="0" cap="none" spc="0" normalizeH="0" baseline="0" noProof="0" dirty="0">
                <a:solidFill>
                  <a:schemeClr val="tx1"/>
                </a:solidFill>
                <a:latin typeface="宋体" panose="02010600030101010101" pitchFamily="2" charset="-122"/>
                <a:ea typeface="宋体" panose="02010600030101010101" pitchFamily="2" charset="-122"/>
                <a:cs typeface="+mn-cs"/>
              </a:rPr>
              <a:t>(Delta backup)：DB2 </a:t>
            </a:r>
            <a:r>
              <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rPr>
              <a:t>将只备份自上一次成功的完全、累积增量或差异增量备份以来所更改的数据。 </a:t>
            </a:r>
            <a:endParaRPr kumimoji="0" lang="zh-CN" altLang="en-US" sz="1800" b="1" kern="0" cap="none" spc="0" normalizeH="0" baseline="0" noProof="0" dirty="0">
              <a:solidFill>
                <a:schemeClr val="tx1"/>
              </a:solidFill>
              <a:latin typeface="宋体" panose="02010600030101010101" pitchFamily="2" charset="-122"/>
              <a:ea typeface="宋体" panose="02010600030101010101" pitchFamily="2" charset="-122"/>
              <a:cs typeface="+mn-cs"/>
            </a:endParaRPr>
          </a:p>
        </p:txBody>
      </p:sp>
      <p:sp>
        <p:nvSpPr>
          <p:cNvPr id="9" name="Rectangle 6"/>
          <p:cNvSpPr>
            <a:spLocks noChangeArrowheads="1"/>
          </p:cNvSpPr>
          <p:nvPr/>
        </p:nvSpPr>
        <p:spPr bwMode="auto">
          <a:xfrm>
            <a:off x="609600" y="4953000"/>
            <a:ext cx="8667750" cy="1017588"/>
          </a:xfrm>
          <a:prstGeom prst="rect">
            <a:avLst/>
          </a:prstGeom>
          <a:noFill/>
          <a:ln w="12700">
            <a:noFill/>
            <a:miter lim="800000"/>
          </a:ln>
        </p:spPr>
        <p:txBody>
          <a:bodyPr lIns="90488" tIns="44450" rIns="90488" bIns="44450"/>
          <a:lstStyle/>
          <a:p>
            <a:pPr marL="342900" marR="0" lvl="0" indent="-342900" algn="l" defTabSz="914400" rtl="0" eaLnBrk="0" fontAlgn="base" latinLnBrk="0" hangingPunct="0">
              <a:lnSpc>
                <a:spcPct val="80000"/>
              </a:lnSpc>
              <a:spcBef>
                <a:spcPct val="30000"/>
              </a:spcBef>
              <a:spcAft>
                <a:spcPct val="0"/>
              </a:spcAft>
              <a:buClr>
                <a:srgbClr val="037C03"/>
              </a:buClr>
              <a:buSzPct val="100000"/>
              <a:buFont typeface="Monotype Sorts" pitchFamily="2" charset="2"/>
              <a:buChar char="n"/>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如果星期五进行累积增量备份之后发生崩溃，那么可以先恢复第一个星期日的完全备份，然后恢复星期五进行的累积增量备份。 </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80000"/>
              </a:lnSpc>
              <a:spcBef>
                <a:spcPct val="30000"/>
              </a:spcBef>
              <a:spcAft>
                <a:spcPct val="0"/>
              </a:spcAft>
              <a:buClr>
                <a:srgbClr val="037C03"/>
              </a:buClr>
              <a:buSzPct val="100000"/>
              <a:buFont typeface="Monotype Sorts" pitchFamily="2" charset="2"/>
              <a:buChar char="n"/>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如果星期五进行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delta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备份之后发生崩溃，那么可以先恢复第一个星期日的完全备份，然后恢复从星期一到星期五（包括星期五）所进行的每次 </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delta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备份。 </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80899" name="Rectangle 2"/>
          <p:cNvSpPr>
            <a:spLocks noGrp="1"/>
          </p:cNvSpPr>
          <p:nvPr>
            <p:ph type="title"/>
          </p:nvPr>
        </p:nvSpPr>
        <p:spPr>
          <a:xfrm>
            <a:off x="1411288" y="998538"/>
            <a:ext cx="7429500" cy="719137"/>
          </a:xfrm>
          <a:ln/>
        </p:spPr>
        <p:txBody>
          <a:bodyPr vert="horz" wrap="square" lIns="90488" tIns="44450" rIns="90488" bIns="44450" anchor="ctr" anchorCtr="0"/>
          <a:p>
            <a:pPr/>
            <a:r>
              <a:rPr lang="zh-CN" altLang="en-US" dirty="0">
                <a:latin typeface="+mj-lt"/>
                <a:ea typeface="+mj-ea"/>
                <a:cs typeface="+mj-cs"/>
              </a:rPr>
              <a:t>3. </a:t>
            </a:r>
            <a:r>
              <a:rPr lang="en-US" altLang="zh-CN" dirty="0">
                <a:latin typeface="+mj-lt"/>
                <a:ea typeface="+mj-ea"/>
                <a:cs typeface="+mj-cs"/>
              </a:rPr>
              <a:t>DBMS</a:t>
            </a:r>
            <a:endParaRPr lang="en-US" altLang="zh-CN" dirty="0">
              <a:latin typeface="+mj-lt"/>
              <a:ea typeface="+mj-ea"/>
              <a:cs typeface="+mj-cs"/>
            </a:endParaRPr>
          </a:p>
        </p:txBody>
      </p:sp>
      <p:sp>
        <p:nvSpPr>
          <p:cNvPr id="80900" name="Rectangle 3"/>
          <p:cNvSpPr>
            <a:spLocks noGrp="1"/>
          </p:cNvSpPr>
          <p:nvPr>
            <p:ph idx="1"/>
          </p:nvPr>
        </p:nvSpPr>
        <p:spPr>
          <a:xfrm>
            <a:off x="727075" y="2141538"/>
            <a:ext cx="8191500" cy="3260725"/>
          </a:xfrm>
          <a:ln/>
        </p:spPr>
        <p:txBody>
          <a:bodyPr vert="horz" wrap="square" lIns="90488" tIns="44450" rIns="90488" bIns="44450" anchor="t" anchorCtr="0"/>
          <a:p>
            <a:pPr>
              <a:lnSpc>
                <a:spcPct val="150000"/>
              </a:lnSpc>
              <a:buSzPct val="100000"/>
            </a:pPr>
            <a:r>
              <a:rPr lang="en-US" altLang="zh-CN" dirty="0">
                <a:latin typeface="Times New Roman" panose="02020603050405020304" pitchFamily="18" charset="0"/>
                <a:ea typeface="宋体" panose="02010600030101010101" pitchFamily="2" charset="-122"/>
                <a:cs typeface="+mn-cs"/>
              </a:rPr>
              <a:t>Definition </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r>
              <a:rPr lang="en-US" altLang="zh-CN" dirty="0">
                <a:latin typeface="Times New Roman" panose="02020603050405020304" pitchFamily="18" charset="0"/>
                <a:ea typeface="宋体" panose="02010600030101010101" pitchFamily="2" charset="-122"/>
                <a:cs typeface="+mn-cs"/>
              </a:rPr>
              <a:t>How DB2 Handles an Request ?</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r>
              <a:rPr lang="en-US" altLang="zh-CN" dirty="0">
                <a:latin typeface="Times New Roman" panose="02020603050405020304" pitchFamily="18" charset="0"/>
                <a:ea typeface="宋体" panose="02010600030101010101" pitchFamily="2" charset="-122"/>
                <a:cs typeface="+mn-cs"/>
              </a:rPr>
              <a:t>Functions of DBMS</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r>
              <a:rPr lang="en-US" altLang="zh-CN" dirty="0">
                <a:latin typeface="Times New Roman" panose="02020603050405020304" pitchFamily="18" charset="0"/>
                <a:ea typeface="宋体" panose="02010600030101010101" pitchFamily="2" charset="-122"/>
                <a:cs typeface="+mn-cs"/>
              </a:rPr>
              <a:t>Major DBMS functions and components</a:t>
            </a:r>
            <a:endParaRPr lang="en-US" altLang="zh-CN" dirty="0">
              <a:latin typeface="Times New Roman" panose="02020603050405020304" pitchFamily="18" charset="0"/>
              <a:ea typeface="宋体" panose="02010600030101010101" pitchFamily="2" charset="-122"/>
              <a:cs typeface="+mn-cs"/>
            </a:endParaRPr>
          </a:p>
          <a:p>
            <a:pPr>
              <a:lnSpc>
                <a:spcPct val="150000"/>
              </a:lnSpc>
              <a:buSzPct val="100000"/>
            </a:pPr>
            <a:endParaRPr lang="en-US" altLang="zh-CN"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82947" name="Rectangle 2"/>
          <p:cNvSpPr>
            <a:spLocks noGrp="1"/>
          </p:cNvSpPr>
          <p:nvPr>
            <p:ph type="title"/>
          </p:nvPr>
        </p:nvSpPr>
        <p:spPr>
          <a:xfrm>
            <a:off x="1411288" y="998538"/>
            <a:ext cx="7429500" cy="719137"/>
          </a:xfrm>
          <a:ln/>
        </p:spPr>
        <p:txBody>
          <a:bodyPr vert="horz" wrap="square" lIns="90488" tIns="44450" rIns="90488" bIns="44450" anchor="ctr" anchorCtr="0"/>
          <a:p>
            <a:pPr/>
            <a:r>
              <a:rPr lang="en-US" altLang="zh-CN" dirty="0">
                <a:latin typeface="+mj-lt"/>
                <a:ea typeface="+mj-ea"/>
                <a:cs typeface="+mj-cs"/>
              </a:rPr>
              <a:t>3.1 Definition</a:t>
            </a:r>
            <a:endParaRPr lang="en-US" altLang="zh-CN" dirty="0">
              <a:latin typeface="+mj-lt"/>
              <a:ea typeface="+mj-ea"/>
              <a:cs typeface="+mj-cs"/>
            </a:endParaRPr>
          </a:p>
        </p:txBody>
      </p:sp>
      <p:sp>
        <p:nvSpPr>
          <p:cNvPr id="82948" name="Rectangle 3"/>
          <p:cNvSpPr>
            <a:spLocks noGrp="1"/>
          </p:cNvSpPr>
          <p:nvPr>
            <p:ph idx="1"/>
          </p:nvPr>
        </p:nvSpPr>
        <p:spPr>
          <a:xfrm>
            <a:off x="698500" y="2055813"/>
            <a:ext cx="8821738" cy="2271712"/>
          </a:xfrm>
          <a:ln/>
        </p:spPr>
        <p:txBody>
          <a:bodyPr vert="horz" wrap="square" lIns="90488" tIns="44450" rIns="90488" bIns="44450" anchor="t" anchorCtr="0"/>
          <a:p>
            <a:pPr>
              <a:buSzPct val="100000"/>
            </a:pPr>
            <a:r>
              <a:rPr lang="en-US" altLang="zh-CN" dirty="0">
                <a:latin typeface="Times New Roman" panose="02020603050405020304" pitchFamily="18" charset="0"/>
                <a:ea typeface="宋体" panose="02010600030101010101" pitchFamily="2" charset="-122"/>
                <a:cs typeface="+mn-cs"/>
              </a:rPr>
              <a:t>Database management system (</a:t>
            </a:r>
            <a:r>
              <a:rPr lang="en-US" altLang="zh-CN" dirty="0">
                <a:solidFill>
                  <a:srgbClr val="FF3300"/>
                </a:solidFill>
                <a:latin typeface="Times New Roman" panose="02020603050405020304" pitchFamily="18" charset="0"/>
                <a:ea typeface="宋体" panose="02010600030101010101" pitchFamily="2" charset="-122"/>
                <a:cs typeface="+mn-cs"/>
              </a:rPr>
              <a:t>DBMS</a:t>
            </a:r>
            <a:r>
              <a:rPr lang="en-US" altLang="zh-CN" dirty="0">
                <a:latin typeface="Times New Roman" panose="02020603050405020304" pitchFamily="18" charset="0"/>
                <a:ea typeface="宋体" panose="02010600030101010101" pitchFamily="2" charset="-122"/>
                <a:cs typeface="+mn-cs"/>
              </a:rPr>
              <a:t>) is the software that handles all access to the database. </a:t>
            </a:r>
            <a:endParaRPr lang="en-US" altLang="zh-CN"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84995" name="Rectangle 2"/>
          <p:cNvSpPr>
            <a:spLocks noGrp="1"/>
          </p:cNvSpPr>
          <p:nvPr>
            <p:ph type="title"/>
          </p:nvPr>
        </p:nvSpPr>
        <p:spPr>
          <a:xfrm>
            <a:off x="1411288" y="998538"/>
            <a:ext cx="7429500" cy="719137"/>
          </a:xfrm>
          <a:ln/>
        </p:spPr>
        <p:txBody>
          <a:bodyPr vert="horz" wrap="square" lIns="90488" tIns="44450" rIns="90488" bIns="44450" anchor="ctr" anchorCtr="0"/>
          <a:p>
            <a:pPr/>
            <a:r>
              <a:rPr lang="en-US" altLang="zh-CN" dirty="0">
                <a:latin typeface="+mj-lt"/>
                <a:ea typeface="+mj-ea"/>
                <a:cs typeface="+mj-cs"/>
              </a:rPr>
              <a:t>3.2 How DB2 Handles an Request ?</a:t>
            </a:r>
            <a:endParaRPr lang="en-US" altLang="zh-CN" dirty="0">
              <a:latin typeface="+mj-lt"/>
              <a:ea typeface="+mj-ea"/>
              <a:cs typeface="+mj-cs"/>
            </a:endParaRPr>
          </a:p>
        </p:txBody>
      </p:sp>
      <p:sp>
        <p:nvSpPr>
          <p:cNvPr id="84996" name="Rectangle 3"/>
          <p:cNvSpPr>
            <a:spLocks noGrp="1"/>
          </p:cNvSpPr>
          <p:nvPr>
            <p:ph idx="1"/>
          </p:nvPr>
        </p:nvSpPr>
        <p:spPr>
          <a:xfrm>
            <a:off x="550863" y="1981200"/>
            <a:ext cx="8955087" cy="4064000"/>
          </a:xfrm>
          <a:ln/>
        </p:spPr>
        <p:txBody>
          <a:bodyPr vert="horz" wrap="square" lIns="90488" tIns="44450" rIns="90488" bIns="44450" anchor="t" anchorCtr="0"/>
          <a:p>
            <a:pPr algn="just">
              <a:buSzPct val="100000"/>
            </a:pPr>
            <a:r>
              <a:rPr lang="en-US" altLang="zh-CN" sz="2600" dirty="0">
                <a:latin typeface="Times New Roman" panose="02020603050405020304" pitchFamily="18" charset="0"/>
                <a:ea typeface="宋体" panose="02010600030101010101" pitchFamily="2" charset="-122"/>
                <a:cs typeface="+mn-cs"/>
              </a:rPr>
              <a:t>A user issues an access request, using some particular data sublanguage (typically SQL). </a:t>
            </a:r>
            <a:endParaRPr lang="en-US" altLang="zh-CN" sz="2600" dirty="0">
              <a:latin typeface="Times New Roman" panose="02020603050405020304" pitchFamily="18" charset="0"/>
              <a:ea typeface="宋体" panose="02010600030101010101" pitchFamily="2" charset="-122"/>
              <a:cs typeface="+mn-cs"/>
            </a:endParaRPr>
          </a:p>
          <a:p>
            <a:pPr algn="just">
              <a:buSzPct val="100000"/>
            </a:pPr>
            <a:r>
              <a:rPr lang="en-US" altLang="zh-CN" sz="2600" dirty="0">
                <a:latin typeface="Times New Roman" panose="02020603050405020304" pitchFamily="18" charset="0"/>
                <a:ea typeface="宋体" panose="02010600030101010101" pitchFamily="2" charset="-122"/>
                <a:cs typeface="+mn-cs"/>
              </a:rPr>
              <a:t>The DBMS intercepts that request and analyzes it. </a:t>
            </a:r>
            <a:endParaRPr lang="en-US" altLang="zh-CN" sz="2600" dirty="0">
              <a:latin typeface="Times New Roman" panose="02020603050405020304" pitchFamily="18" charset="0"/>
              <a:ea typeface="宋体" panose="02010600030101010101" pitchFamily="2" charset="-122"/>
              <a:cs typeface="+mn-cs"/>
            </a:endParaRPr>
          </a:p>
          <a:p>
            <a:pPr algn="just">
              <a:buSzPct val="100000"/>
            </a:pPr>
            <a:r>
              <a:rPr lang="en-US" altLang="zh-CN" sz="2600" dirty="0">
                <a:latin typeface="Times New Roman" panose="02020603050405020304" pitchFamily="18" charset="0"/>
                <a:ea typeface="宋体" panose="02010600030101010101" pitchFamily="2" charset="-122"/>
                <a:cs typeface="+mn-cs"/>
              </a:rPr>
              <a:t>The DBMS inspects the external schema for that user, the corresponding external /conceptual mapping, the conceptual schema, the conceptual/internal mapping, and the storage structure definition. </a:t>
            </a:r>
            <a:endParaRPr lang="en-US" altLang="zh-CN" sz="2600" dirty="0">
              <a:latin typeface="Times New Roman" panose="02020603050405020304" pitchFamily="18" charset="0"/>
              <a:ea typeface="宋体" panose="02010600030101010101" pitchFamily="2" charset="-122"/>
              <a:cs typeface="+mn-cs"/>
            </a:endParaRPr>
          </a:p>
          <a:p>
            <a:pPr algn="just">
              <a:buSzPct val="100000"/>
            </a:pPr>
            <a:r>
              <a:rPr lang="en-US" altLang="zh-CN" sz="2600" dirty="0">
                <a:latin typeface="Times New Roman" panose="02020603050405020304" pitchFamily="18" charset="0"/>
                <a:ea typeface="宋体" panose="02010600030101010101" pitchFamily="2" charset="-122"/>
                <a:cs typeface="+mn-cs"/>
              </a:rPr>
              <a:t>The DBMS executes the necessary operations on the stored database. </a:t>
            </a:r>
            <a:endParaRPr lang="en-US" altLang="zh-CN" sz="2600"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87043" name="Picture 7"/>
          <p:cNvPicPr>
            <a:picLocks noChangeAspect="1"/>
          </p:cNvPicPr>
          <p:nvPr/>
        </p:nvPicPr>
        <p:blipFill>
          <a:blip r:embed="rId1"/>
          <a:stretch>
            <a:fillRect/>
          </a:stretch>
        </p:blipFill>
        <p:spPr>
          <a:xfrm>
            <a:off x="1098550" y="1444625"/>
            <a:ext cx="7512050" cy="4498975"/>
          </a:xfrm>
          <a:prstGeom prst="rect">
            <a:avLst/>
          </a:prstGeom>
          <a:noFill/>
          <a:ln w="12700">
            <a:noFill/>
          </a:ln>
        </p:spPr>
      </p:pic>
      <p:sp>
        <p:nvSpPr>
          <p:cNvPr id="37892" name="Rectangle 8"/>
          <p:cNvSpPr>
            <a:spLocks noChangeArrowheads="1"/>
          </p:cNvSpPr>
          <p:nvPr/>
        </p:nvSpPr>
        <p:spPr bwMode="auto">
          <a:xfrm>
            <a:off x="1006850" y="4953747"/>
            <a:ext cx="3067610" cy="867930"/>
          </a:xfrm>
          <a:prstGeom prst="rect">
            <a:avLst/>
          </a:prstGeom>
          <a:gradFill flip="none" rotWithShape="1">
            <a:gsLst>
              <a:gs pos="0">
                <a:schemeClr val="accent1">
                  <a:lumMod val="25000"/>
                </a:schemeClr>
              </a:gs>
              <a:gs pos="66000">
                <a:schemeClr val="accent1">
                  <a:lumMod val="50000"/>
                </a:schemeClr>
              </a:gs>
              <a:gs pos="100000">
                <a:schemeClr val="accent1"/>
              </a:gs>
            </a:gsLst>
            <a:lin ang="18900000" scaled="1"/>
            <a:tileRect/>
          </a:gradFill>
        </p:spPr>
        <p:style>
          <a:lnRef idx="0">
            <a:schemeClr val="accent6"/>
          </a:lnRef>
          <a:fillRef idx="3">
            <a:schemeClr val="accent6"/>
          </a:fillRef>
          <a:effectRef idx="3">
            <a:schemeClr val="accent6"/>
          </a:effectRef>
          <a:fontRef idx="minor">
            <a:schemeClr val="lt1"/>
          </a:fontRef>
        </p:style>
        <p:txBody>
          <a:bodyPr>
            <a:spAutoFit/>
          </a:bodyPr>
          <a:lstStyle>
            <a:lvl1pPr>
              <a:defRPr sz="1600">
                <a:solidFill>
                  <a:srgbClr val="00279F"/>
                </a:solidFill>
                <a:latin typeface="Times New Roman" panose="02020603050405020304" pitchFamily="18" charset="0"/>
              </a:defRPr>
            </a:lvl1pPr>
            <a:lvl2pPr marL="742950" indent="-285750">
              <a:defRPr sz="1600">
                <a:solidFill>
                  <a:srgbClr val="00279F"/>
                </a:solidFill>
                <a:latin typeface="Times New Roman" panose="02020603050405020304" pitchFamily="18" charset="0"/>
              </a:defRPr>
            </a:lvl2pPr>
            <a:lvl3pPr marL="1143000" indent="-228600">
              <a:defRPr sz="1600">
                <a:solidFill>
                  <a:srgbClr val="00279F"/>
                </a:solidFill>
                <a:latin typeface="Times New Roman" panose="02020603050405020304" pitchFamily="18" charset="0"/>
              </a:defRPr>
            </a:lvl3pPr>
            <a:lvl4pPr marL="1600200" indent="-228600">
              <a:defRPr sz="1600">
                <a:solidFill>
                  <a:srgbClr val="00279F"/>
                </a:solidFill>
                <a:latin typeface="Times New Roman" panose="02020603050405020304" pitchFamily="18" charset="0"/>
              </a:defRPr>
            </a:lvl4pPr>
            <a:lvl5pPr marL="2057400" indent="-228600">
              <a:defRPr sz="1600">
                <a:solidFill>
                  <a:srgbClr val="00279F"/>
                </a:solidFill>
                <a:latin typeface="Times New Roman" panose="02020603050405020304" pitchFamily="18" charset="0"/>
              </a:defRPr>
            </a:lvl5pPr>
            <a:lvl6pPr marL="25146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6pPr>
            <a:lvl7pPr marL="29718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7pPr>
            <a:lvl8pPr marL="34290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8pPr>
            <a:lvl9pPr marL="3886200" indent="-228600" eaLnBrk="0" fontAlgn="base" hangingPunct="0">
              <a:lnSpc>
                <a:spcPct val="90000"/>
              </a:lnSpc>
              <a:spcBef>
                <a:spcPct val="0"/>
              </a:spcBef>
              <a:spcAft>
                <a:spcPct val="0"/>
              </a:spcAft>
              <a:defRPr sz="1600">
                <a:solidFill>
                  <a:srgbClr val="00279F"/>
                </a:solidFill>
                <a:latin typeface="Times New Roman" panose="02020603050405020304" pitchFamily="18" charset="0"/>
              </a:defRPr>
            </a:lvl9pPr>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rPr>
              <a:t>User wants to change a SALARY</a:t>
            </a:r>
            <a:endParaRPr kumimoji="0" lang="en-US" altLang="zh-CN" sz="2800" b="1" i="0" u="none" strike="noStrike" kern="1200" cap="none" spc="0" normalizeH="0" baseline="0" noProof="0" smtClean="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87047" name="Rectangle 9"/>
          <p:cNvSpPr/>
          <p:nvPr/>
        </p:nvSpPr>
        <p:spPr>
          <a:xfrm>
            <a:off x="695325" y="1020763"/>
            <a:ext cx="7856538" cy="436562"/>
          </a:xfrm>
          <a:prstGeom prst="rect">
            <a:avLst/>
          </a:prstGeom>
          <a:noFill/>
          <a:ln w="12700">
            <a:noFill/>
          </a:ln>
        </p:spPr>
        <p:txBody>
          <a:bodyPr wrap="none">
            <a:spAutoFit/>
          </a:bodyPr>
          <a:p>
            <a:pPr>
              <a:lnSpc>
                <a:spcPct val="80000"/>
              </a:lnSpc>
              <a:spcBef>
                <a:spcPct val="30000"/>
              </a:spcBef>
              <a:buClr>
                <a:srgbClr val="037C03"/>
              </a:buClr>
              <a:buSzPct val="100000"/>
              <a:buFont typeface="Monotype Sorts" pitchFamily="2" charset="2"/>
              <a:buChar char="n"/>
            </a:pPr>
            <a:r>
              <a:rPr lang="en-US" altLang="zh-CN" sz="2800" b="1" dirty="0">
                <a:solidFill>
                  <a:schemeClr val="tx1"/>
                </a:solidFill>
                <a:latin typeface="Times New Roman" panose="02020603050405020304" pitchFamily="18" charset="0"/>
                <a:ea typeface="宋体" panose="02010600030101010101" pitchFamily="2" charset="-122"/>
              </a:rPr>
              <a:t> How DB2 Handles an SQL “Change” Request ?</a:t>
            </a:r>
            <a:endParaRPr lang="en-US" altLang="zh-CN" sz="2800" b="1" dirty="0">
              <a:solidFill>
                <a:schemeClr val="tx1"/>
              </a:solidFill>
              <a:latin typeface="Times New Roman" panose="02020603050405020304" pitchFamily="18" charset="0"/>
              <a:ea typeface="宋体" panose="02010600030101010101" pitchFamily="2" charset="-122"/>
            </a:endParaRPr>
          </a:p>
        </p:txBody>
      </p:sp>
      <p:sp>
        <p:nvSpPr>
          <p:cNvPr id="87048" name="Rectangle 10"/>
          <p:cNvSpPr>
            <a:spLocks noGrp="1"/>
          </p:cNvSpPr>
          <p:nvPr>
            <p:ph type="title"/>
          </p:nvPr>
        </p:nvSpPr>
        <p:spPr>
          <a:xfrm>
            <a:off x="3584575" y="168275"/>
            <a:ext cx="5903913" cy="719138"/>
          </a:xfrm>
          <a:ln/>
        </p:spPr>
        <p:txBody>
          <a:bodyPr vert="horz" wrap="square" lIns="90488" tIns="44450" rIns="90488" bIns="44450" anchor="ctr" anchorCtr="0"/>
          <a:p>
            <a:pPr/>
            <a:r>
              <a:rPr lang="en-US" altLang="zh-CN" sz="2400" dirty="0">
                <a:latin typeface="+mj-lt"/>
                <a:ea typeface="+mj-ea"/>
                <a:cs typeface="+mj-cs"/>
              </a:rPr>
              <a:t>3.2 How DB2 Handles an Request ?...</a:t>
            </a:r>
            <a:endParaRPr lang="en-US" altLang="zh-CN" sz="2400" dirty="0">
              <a:latin typeface="+mj-lt"/>
              <a:ea typeface="+mj-ea"/>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89091" name="Picture 5"/>
          <p:cNvPicPr>
            <a:picLocks noChangeAspect="1"/>
          </p:cNvPicPr>
          <p:nvPr/>
        </p:nvPicPr>
        <p:blipFill>
          <a:blip r:embed="rId1"/>
          <a:stretch>
            <a:fillRect/>
          </a:stretch>
        </p:blipFill>
        <p:spPr>
          <a:xfrm>
            <a:off x="941388" y="1370013"/>
            <a:ext cx="7910512" cy="4570412"/>
          </a:xfrm>
          <a:prstGeom prst="rect">
            <a:avLst/>
          </a:prstGeom>
          <a:noFill/>
          <a:ln w="12700">
            <a:noFill/>
          </a:ln>
        </p:spPr>
      </p:pic>
      <p:sp>
        <p:nvSpPr>
          <p:cNvPr id="38916" name="Rectangle 6"/>
          <p:cNvSpPr>
            <a:spLocks noChangeArrowheads="1"/>
          </p:cNvSpPr>
          <p:nvPr/>
        </p:nvSpPr>
        <p:spPr bwMode="auto">
          <a:xfrm>
            <a:off x="1008716" y="5069541"/>
            <a:ext cx="3200213" cy="480131"/>
          </a:xfrm>
          <a:prstGeom prst="rect">
            <a:avLst/>
          </a:prstGeom>
          <a:gradFill flip="none" rotWithShape="1">
            <a:gsLst>
              <a:gs pos="0">
                <a:schemeClr val="accent1">
                  <a:lumMod val="25000"/>
                </a:schemeClr>
              </a:gs>
              <a:gs pos="66000">
                <a:schemeClr val="accent1">
                  <a:lumMod val="50000"/>
                </a:schemeClr>
              </a:gs>
              <a:gs pos="100000">
                <a:schemeClr val="accent1"/>
              </a:gs>
            </a:gsLst>
            <a:lin ang="18900000" scaled="1"/>
            <a:tileRect/>
          </a:gradFill>
        </p:spPr>
        <p:style>
          <a:lnRef idx="0">
            <a:schemeClr val="accent6"/>
          </a:lnRef>
          <a:fillRef idx="3">
            <a:schemeClr val="accent6"/>
          </a:fillRef>
          <a:effectRef idx="3">
            <a:schemeClr val="accent6"/>
          </a:effectRef>
          <a:fontRef idx="minor">
            <a:schemeClr val="lt1"/>
          </a:fontRef>
        </p:style>
        <p:txBody>
          <a:bodyPr>
            <a:spAutoFit/>
          </a:body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uLnTx/>
                <a:uFillTx/>
                <a:latin typeface="+mn-lt"/>
                <a:ea typeface="宋体" panose="02010600030101010101" pitchFamily="2" charset="-122"/>
                <a:cs typeface="+mn-cs"/>
              </a:rPr>
              <a:t>After the update</a:t>
            </a:r>
            <a:endParaRPr kumimoji="0" lang="en-US" altLang="zh-CN" sz="2800" b="1" i="0"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
        <p:nvSpPr>
          <p:cNvPr id="89095" name="Rectangle 7"/>
          <p:cNvSpPr/>
          <p:nvPr/>
        </p:nvSpPr>
        <p:spPr>
          <a:xfrm>
            <a:off x="830263" y="962025"/>
            <a:ext cx="4456112" cy="436563"/>
          </a:xfrm>
          <a:prstGeom prst="rect">
            <a:avLst/>
          </a:prstGeom>
          <a:noFill/>
          <a:ln w="12700">
            <a:noFill/>
          </a:ln>
        </p:spPr>
        <p:txBody>
          <a:bodyPr wrap="none">
            <a:spAutoFit/>
          </a:bodyPr>
          <a:p>
            <a:pPr>
              <a:lnSpc>
                <a:spcPct val="80000"/>
              </a:lnSpc>
              <a:spcBef>
                <a:spcPct val="30000"/>
              </a:spcBef>
              <a:buClr>
                <a:srgbClr val="037C03"/>
              </a:buClr>
              <a:buSzPct val="100000"/>
              <a:buFont typeface="Monotype Sorts" pitchFamily="2" charset="2"/>
              <a:buChar char="n"/>
            </a:pPr>
            <a:r>
              <a:rPr lang="en-US" altLang="zh-CN" sz="2800" b="1" dirty="0">
                <a:solidFill>
                  <a:schemeClr val="tx1"/>
                </a:solidFill>
                <a:latin typeface="Times New Roman" panose="02020603050405020304" pitchFamily="18" charset="0"/>
                <a:ea typeface="宋体" panose="02010600030101010101" pitchFamily="2" charset="-122"/>
              </a:rPr>
              <a:t> Finish the change request</a:t>
            </a:r>
            <a:endParaRPr lang="en-US" altLang="zh-CN" sz="2800" b="1" dirty="0">
              <a:solidFill>
                <a:schemeClr val="tx1"/>
              </a:solidFill>
              <a:latin typeface="Times New Roman" panose="02020603050405020304" pitchFamily="18" charset="0"/>
              <a:ea typeface="宋体" panose="02010600030101010101" pitchFamily="2" charset="-122"/>
            </a:endParaRPr>
          </a:p>
        </p:txBody>
      </p:sp>
      <p:sp>
        <p:nvSpPr>
          <p:cNvPr id="89096" name="Rectangle 8"/>
          <p:cNvSpPr>
            <a:spLocks noGrp="1"/>
          </p:cNvSpPr>
          <p:nvPr>
            <p:ph type="title"/>
          </p:nvPr>
        </p:nvSpPr>
        <p:spPr>
          <a:xfrm>
            <a:off x="3584575" y="168275"/>
            <a:ext cx="5903913" cy="719138"/>
          </a:xfrm>
          <a:ln/>
        </p:spPr>
        <p:txBody>
          <a:bodyPr vert="horz" wrap="square" lIns="90488" tIns="44450" rIns="90488" bIns="44450" anchor="ctr" anchorCtr="0"/>
          <a:p>
            <a:pPr/>
            <a:r>
              <a:rPr lang="en-US" altLang="zh-CN" sz="2400" dirty="0">
                <a:latin typeface="+mj-lt"/>
                <a:ea typeface="+mj-ea"/>
                <a:cs typeface="+mj-cs"/>
              </a:rPr>
              <a:t>3.2 How DB2 Handles an Request ?...</a:t>
            </a:r>
            <a:endParaRPr lang="en-US" altLang="zh-CN" sz="2400" dirty="0">
              <a:latin typeface="+mj-lt"/>
              <a:ea typeface="+mj-ea"/>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91139" name="Rectangle 2"/>
          <p:cNvSpPr>
            <a:spLocks noGrp="1"/>
          </p:cNvSpPr>
          <p:nvPr>
            <p:ph type="title"/>
          </p:nvPr>
        </p:nvSpPr>
        <p:spPr>
          <a:ln/>
        </p:spPr>
        <p:txBody>
          <a:bodyPr vert="horz" wrap="square" lIns="90488" tIns="44450" rIns="90488" bIns="44450" anchor="ctr" anchorCtr="0"/>
          <a:p>
            <a:pPr/>
            <a:r>
              <a:rPr lang="en-US" altLang="zh-CN" dirty="0">
                <a:latin typeface="+mj-lt"/>
                <a:ea typeface="+mj-ea"/>
                <a:cs typeface="+mj-cs"/>
              </a:rPr>
              <a:t>3.3 Functions of DBMS</a:t>
            </a:r>
            <a:endParaRPr lang="zh-CN" altLang="en-US" dirty="0">
              <a:latin typeface="+mj-lt"/>
              <a:ea typeface="+mj-ea"/>
              <a:cs typeface="+mj-cs"/>
            </a:endParaRPr>
          </a:p>
        </p:txBody>
      </p:sp>
      <p:sp>
        <p:nvSpPr>
          <p:cNvPr id="91140" name="Rectangle 3"/>
          <p:cNvSpPr>
            <a:spLocks noGrp="1"/>
          </p:cNvSpPr>
          <p:nvPr>
            <p:ph idx="1"/>
          </p:nvPr>
        </p:nvSpPr>
        <p:spPr>
          <a:xfrm>
            <a:off x="785813" y="2044700"/>
            <a:ext cx="8115300" cy="3556000"/>
          </a:xfrm>
          <a:ln/>
        </p:spPr>
        <p:txBody>
          <a:bodyPr vert="horz" wrap="square" lIns="90488" tIns="44450" rIns="90488" bIns="44450" anchor="t" anchorCtr="0"/>
          <a:p>
            <a:pPr>
              <a:buSzPct val="100000"/>
            </a:pPr>
            <a:r>
              <a:rPr lang="en-US" altLang="zh-CN" dirty="0">
                <a:latin typeface="Times New Roman" panose="02020603050405020304" pitchFamily="18" charset="0"/>
                <a:ea typeface="宋体" panose="02010600030101010101" pitchFamily="2" charset="-122"/>
                <a:cs typeface="+mn-cs"/>
              </a:rPr>
              <a:t>Data definitions</a:t>
            </a:r>
            <a:endParaRPr lang="en-US" altLang="zh-CN" dirty="0">
              <a:latin typeface="Times New Roman" panose="02020603050405020304" pitchFamily="18" charset="0"/>
              <a:ea typeface="宋体" panose="02010600030101010101" pitchFamily="2" charset="-122"/>
              <a:cs typeface="+mn-cs"/>
            </a:endParaRPr>
          </a:p>
          <a:p>
            <a:pPr lvl="1" algn="just">
              <a:buSzPct val="150000"/>
            </a:pPr>
            <a:r>
              <a:rPr lang="en-US" altLang="zh-CN" sz="2600" dirty="0">
                <a:latin typeface="Times New Roman" panose="02020603050405020304" pitchFamily="18" charset="0"/>
                <a:ea typeface="宋体" panose="02010600030101010101" pitchFamily="2" charset="-122"/>
              </a:rPr>
              <a:t>Definition external schemas, the conceptual schema, the internal schema and all associated mappings.</a:t>
            </a:r>
            <a:endParaRPr lang="en-US" altLang="zh-CN" sz="2600" dirty="0">
              <a:latin typeface="Times New Roman" panose="02020603050405020304" pitchFamily="18" charset="0"/>
              <a:ea typeface="宋体" panose="02010600030101010101" pitchFamily="2" charset="-122"/>
            </a:endParaRPr>
          </a:p>
          <a:p>
            <a:pPr lvl="1" algn="just">
              <a:buSzPct val="150000"/>
            </a:pPr>
            <a:r>
              <a:rPr lang="en-US" altLang="zh-CN" sz="2600" dirty="0">
                <a:latin typeface="Times New Roman" panose="02020603050405020304" pitchFamily="18" charset="0"/>
                <a:ea typeface="宋体" panose="02010600030101010101" pitchFamily="2" charset="-122"/>
              </a:rPr>
              <a:t>Convert </a:t>
            </a:r>
            <a:r>
              <a:rPr lang="en-US" altLang="zh-CN" sz="2600" dirty="0">
                <a:solidFill>
                  <a:srgbClr val="FF0000"/>
                </a:solidFill>
                <a:latin typeface="Times New Roman" panose="02020603050405020304" pitchFamily="18" charset="0"/>
                <a:ea typeface="宋体" panose="02010600030101010101" pitchFamily="2" charset="-122"/>
              </a:rPr>
              <a:t>source form schema </a:t>
            </a:r>
            <a:r>
              <a:rPr lang="en-US" altLang="zh-CN" sz="2600" dirty="0">
                <a:latin typeface="Times New Roman" panose="02020603050405020304" pitchFamily="18" charset="0"/>
                <a:ea typeface="宋体" panose="02010600030101010101" pitchFamily="2" charset="-122"/>
              </a:rPr>
              <a:t>to the appropriate </a:t>
            </a:r>
            <a:r>
              <a:rPr lang="en-US" altLang="zh-CN" sz="2600" dirty="0">
                <a:solidFill>
                  <a:srgbClr val="FF0000"/>
                </a:solidFill>
                <a:latin typeface="Times New Roman" panose="02020603050405020304" pitchFamily="18" charset="0"/>
                <a:ea typeface="宋体" panose="02010600030101010101" pitchFamily="2" charset="-122"/>
              </a:rPr>
              <a:t>object form</a:t>
            </a:r>
            <a:r>
              <a:rPr lang="en-US" altLang="zh-CN" sz="2600" dirty="0">
                <a:latin typeface="Times New Roman" panose="02020603050405020304" pitchFamily="18" charset="0"/>
                <a:ea typeface="宋体" panose="02010600030101010101" pitchFamily="2" charset="-122"/>
              </a:rPr>
              <a:t>. </a:t>
            </a:r>
            <a:endParaRPr lang="en-US" altLang="zh-CN" sz="2600" dirty="0">
              <a:latin typeface="Times New Roman" panose="02020603050405020304" pitchFamily="18" charset="0"/>
              <a:ea typeface="宋体" panose="02010600030101010101" pitchFamily="2" charset="-122"/>
            </a:endParaRPr>
          </a:p>
          <a:p>
            <a:pPr lvl="1">
              <a:buSzPct val="150000"/>
            </a:pPr>
            <a:r>
              <a:rPr lang="en-US" altLang="zh-CN" sz="2600" dirty="0">
                <a:latin typeface="Times New Roman" panose="02020603050405020304" pitchFamily="18" charset="0"/>
                <a:ea typeface="宋体" panose="02010600030101010101" pitchFamily="2" charset="-122"/>
              </a:rPr>
              <a:t>Include DDL processor or DDL compiler</a:t>
            </a:r>
            <a:endParaRPr lang="zh-CN" altLang="en-US" sz="2600" dirty="0">
              <a:latin typeface="Times New Roman" panose="02020603050405020304" pitchFamily="18"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094288" y="296863"/>
            <a:ext cx="2597150" cy="617538"/>
          </a:xfrm>
          <a:gradFill flip="none" rotWithShape="1">
            <a:gsLst>
              <a:gs pos="0">
                <a:srgbClr val="009900"/>
              </a:gs>
              <a:gs pos="42000">
                <a:schemeClr val="accent1">
                  <a:lumMod val="75000"/>
                </a:schemeClr>
              </a:gs>
              <a:gs pos="100000">
                <a:srgbClr val="DBFFB8">
                  <a:shade val="100000"/>
                  <a:satMod val="115000"/>
                </a:srgbClr>
              </a:gs>
            </a:gsLst>
            <a:lin ang="18900000" scaled="1"/>
            <a:tileRect/>
          </a:gradFill>
        </p:spPr>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rPr>
              <a:t>创建索引</a:t>
            </a:r>
            <a:endPar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endParaRPr>
          </a:p>
        </p:txBody>
      </p:sp>
      <p:sp>
        <p:nvSpPr>
          <p:cNvPr id="93187"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93188" name="图片 4"/>
          <p:cNvPicPr>
            <a:picLocks noChangeAspect="1"/>
          </p:cNvPicPr>
          <p:nvPr/>
        </p:nvPicPr>
        <p:blipFill>
          <a:blip r:embed="rId1"/>
          <a:stretch>
            <a:fillRect/>
          </a:stretch>
        </p:blipFill>
        <p:spPr>
          <a:xfrm>
            <a:off x="534988" y="987425"/>
            <a:ext cx="8899525" cy="2947988"/>
          </a:xfrm>
          <a:prstGeom prst="rect">
            <a:avLst/>
          </a:prstGeom>
          <a:noFill/>
          <a:ln w="9525">
            <a:noFill/>
          </a:ln>
        </p:spPr>
      </p:pic>
      <p:pic>
        <p:nvPicPr>
          <p:cNvPr id="93189" name="Picture 2"/>
          <p:cNvPicPr>
            <a:picLocks noChangeAspect="1"/>
          </p:cNvPicPr>
          <p:nvPr/>
        </p:nvPicPr>
        <p:blipFill>
          <a:blip r:embed="rId2"/>
          <a:stretch>
            <a:fillRect/>
          </a:stretch>
        </p:blipFill>
        <p:spPr>
          <a:xfrm>
            <a:off x="2185988" y="2717800"/>
            <a:ext cx="7275512" cy="3252788"/>
          </a:xfrm>
          <a:prstGeom prst="rect">
            <a:avLst/>
          </a:prstGeom>
          <a:noFill/>
          <a:ln w="12700">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02150" y="161925"/>
            <a:ext cx="3835400" cy="846138"/>
          </a:xfrm>
          <a:gradFill flip="none" rotWithShape="1">
            <a:gsLst>
              <a:gs pos="0">
                <a:srgbClr val="009900"/>
              </a:gs>
              <a:gs pos="42000">
                <a:schemeClr val="accent1">
                  <a:lumMod val="75000"/>
                </a:schemeClr>
              </a:gs>
              <a:gs pos="100000">
                <a:srgbClr val="DBFFB8">
                  <a:shade val="100000"/>
                  <a:satMod val="115000"/>
                </a:srgbClr>
              </a:gs>
            </a:gsLst>
            <a:lin ang="18900000" scaled="1"/>
            <a:tileRect/>
          </a:gradFill>
        </p:spPr>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rPr>
              <a:t>惟一性索引的作用</a:t>
            </a:r>
            <a:endPar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endParaRPr>
          </a:p>
        </p:txBody>
      </p:sp>
      <p:sp>
        <p:nvSpPr>
          <p:cNvPr id="94211"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94212" name="内容占位符 4"/>
          <p:cNvPicPr>
            <a:picLocks noGrp="1"/>
          </p:cNvPicPr>
          <p:nvPr>
            <p:ph idx="1"/>
          </p:nvPr>
        </p:nvPicPr>
        <p:blipFill>
          <a:blip r:embed="rId1"/>
          <a:srcRect/>
          <a:stretch>
            <a:fillRect/>
          </a:stretch>
        </p:blipFill>
        <p:spPr>
          <a:xfrm>
            <a:off x="469900" y="1274763"/>
            <a:ext cx="9050338" cy="3970337"/>
          </a:xfrm>
          <a:ln/>
        </p:spPr>
      </p:pic>
      <p:sp>
        <p:nvSpPr>
          <p:cNvPr id="94213" name="矩形 5"/>
          <p:cNvSpPr/>
          <p:nvPr/>
        </p:nvSpPr>
        <p:spPr>
          <a:xfrm>
            <a:off x="550863" y="5367338"/>
            <a:ext cx="8794750" cy="479425"/>
          </a:xfrm>
          <a:prstGeom prst="rect">
            <a:avLst/>
          </a:prstGeom>
          <a:noFill/>
          <a:ln w="9525">
            <a:noFill/>
          </a:ln>
        </p:spPr>
        <p:txBody>
          <a:bodyPr>
            <a:spAutoFit/>
          </a:bodyPr>
          <a:p>
            <a:pPr>
              <a:lnSpc>
                <a:spcPct val="90000"/>
              </a:lnSpc>
            </a:pPr>
            <a:r>
              <a:rPr lang="en-US" altLang="zh-CN" sz="2800" b="1" dirty="0">
                <a:latin typeface="仿宋" panose="02010609060101010101" pitchFamily="49" charset="-122"/>
                <a:ea typeface="仿宋" panose="02010609060101010101" pitchFamily="49" charset="-122"/>
              </a:rPr>
              <a:t>Customer</a:t>
            </a:r>
            <a:r>
              <a:rPr lang="zh-CN" altLang="zh-CN" sz="2800" b="1" dirty="0">
                <a:latin typeface="仿宋" panose="02010609060101010101" pitchFamily="49" charset="-122"/>
                <a:ea typeface="仿宋" panose="02010609060101010101" pitchFamily="49" charset="-122"/>
              </a:rPr>
              <a:t>表中原先就有一个姓名为“</a:t>
            </a:r>
            <a:r>
              <a:rPr lang="en-US" altLang="zh-CN" sz="2800" b="1" dirty="0">
                <a:latin typeface="仿宋" panose="02010609060101010101" pitchFamily="49" charset="-122"/>
                <a:ea typeface="仿宋" panose="02010609060101010101" pitchFamily="49" charset="-122"/>
              </a:rPr>
              <a:t>Du Wei</a:t>
            </a:r>
            <a:r>
              <a:rPr lang="zh-CN" altLang="zh-CN" sz="2800" b="1" dirty="0">
                <a:latin typeface="仿宋" panose="02010609060101010101" pitchFamily="49" charset="-122"/>
                <a:ea typeface="仿宋" panose="02010609060101010101" pitchFamily="49" charset="-122"/>
              </a:rPr>
              <a:t>”的客户</a:t>
            </a:r>
            <a:r>
              <a:rPr lang="zh-CN" altLang="en-US" sz="2800" b="1" dirty="0">
                <a:latin typeface="仿宋" panose="02010609060101010101" pitchFamily="49" charset="-122"/>
                <a:ea typeface="仿宋" panose="02010609060101010101" pitchFamily="49" charset="-122"/>
              </a:rPr>
              <a:t>！</a:t>
            </a:r>
            <a:endParaRPr lang="zh-CN" altLang="en-US" sz="2800" b="1" dirty="0">
              <a:latin typeface="仿宋" panose="02010609060101010101" pitchFamily="49" charset="-122"/>
              <a:ea typeface="仿宋"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gradFill flip="none" rotWithShape="1">
            <a:gsLst>
              <a:gs pos="0">
                <a:srgbClr val="009900"/>
              </a:gs>
              <a:gs pos="42000">
                <a:schemeClr val="accent1">
                  <a:lumMod val="75000"/>
                </a:schemeClr>
              </a:gs>
              <a:gs pos="100000">
                <a:srgbClr val="DBFFB8">
                  <a:shade val="100000"/>
                  <a:satMod val="115000"/>
                </a:srgbClr>
              </a:gs>
            </a:gsLst>
            <a:lin ang="18900000" scaled="1"/>
            <a:tileRect/>
          </a:gradFill>
        </p:spPr>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rPr>
              <a:t>查看索引</a:t>
            </a:r>
            <a:r>
              <a:rPr kumimoji="0" lang="en-US" altLang="zh-CN"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rPr>
              <a:t> user_indexes</a:t>
            </a:r>
            <a:endPar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endParaRPr>
          </a:p>
        </p:txBody>
      </p:sp>
      <p:sp>
        <p:nvSpPr>
          <p:cNvPr id="95235"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95236" name="内容占位符 4"/>
          <p:cNvPicPr>
            <a:picLocks noGrp="1"/>
          </p:cNvPicPr>
          <p:nvPr>
            <p:ph idx="1"/>
          </p:nvPr>
        </p:nvPicPr>
        <p:blipFill>
          <a:blip r:embed="rId1"/>
          <a:srcRect/>
          <a:stretch>
            <a:fillRect/>
          </a:stretch>
        </p:blipFill>
        <p:spPr>
          <a:xfrm>
            <a:off x="742950" y="2027238"/>
            <a:ext cx="8118475" cy="3795712"/>
          </a:xfrm>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gradFill flip="none" rotWithShape="1">
            <a:gsLst>
              <a:gs pos="0">
                <a:srgbClr val="009900"/>
              </a:gs>
              <a:gs pos="42000">
                <a:schemeClr val="accent1">
                  <a:lumMod val="75000"/>
                </a:schemeClr>
              </a:gs>
              <a:gs pos="100000">
                <a:srgbClr val="DBFFB8">
                  <a:shade val="100000"/>
                  <a:satMod val="115000"/>
                </a:srgbClr>
              </a:gs>
            </a:gsLst>
            <a:lin ang="18900000" scaled="1"/>
            <a:tileRect/>
          </a:gradFill>
        </p:spPr>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rPr>
              <a:t>查看索引</a:t>
            </a:r>
            <a:r>
              <a:rPr kumimoji="0" lang="en-US" altLang="zh-CN"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rPr>
              <a:t> user_ind_columns</a:t>
            </a:r>
            <a:endPar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endParaRPr>
          </a:p>
        </p:txBody>
      </p:sp>
      <p:sp>
        <p:nvSpPr>
          <p:cNvPr id="96259"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96260" name="内容占位符 4"/>
          <p:cNvPicPr>
            <a:picLocks noGrp="1"/>
          </p:cNvPicPr>
          <p:nvPr>
            <p:ph idx="1"/>
          </p:nvPr>
        </p:nvPicPr>
        <p:blipFill>
          <a:blip r:embed="rId1"/>
          <a:srcRect/>
          <a:stretch>
            <a:fillRect/>
          </a:stretch>
        </p:blipFill>
        <p:spPr>
          <a:xfrm>
            <a:off x="836613" y="2068513"/>
            <a:ext cx="8118475" cy="3821112"/>
          </a:xfrm>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7282" name="内容占位符 4"/>
          <p:cNvPicPr>
            <a:picLocks noGrp="1"/>
          </p:cNvPicPr>
          <p:nvPr>
            <p:ph idx="1"/>
          </p:nvPr>
        </p:nvPicPr>
        <p:blipFill>
          <a:blip r:embed="rId1"/>
          <a:srcRect/>
          <a:stretch>
            <a:fillRect/>
          </a:stretch>
        </p:blipFill>
        <p:spPr>
          <a:xfrm>
            <a:off x="0" y="0"/>
            <a:ext cx="9906000" cy="6858000"/>
          </a:xfrm>
          <a:ln/>
        </p:spPr>
      </p:pic>
      <p:sp>
        <p:nvSpPr>
          <p:cNvPr id="2" name="标题 1"/>
          <p:cNvSpPr>
            <a:spLocks noGrp="1"/>
          </p:cNvSpPr>
          <p:nvPr>
            <p:ph type="title"/>
          </p:nvPr>
        </p:nvSpPr>
        <p:spPr>
          <a:xfrm>
            <a:off x="2325688" y="5648325"/>
            <a:ext cx="4868863" cy="658813"/>
          </a:xfrm>
          <a:gradFill flip="none" rotWithShape="1">
            <a:gsLst>
              <a:gs pos="0">
                <a:srgbClr val="009900"/>
              </a:gs>
              <a:gs pos="42000">
                <a:schemeClr val="accent1">
                  <a:lumMod val="75000"/>
                </a:schemeClr>
              </a:gs>
              <a:gs pos="100000">
                <a:srgbClr val="DBFFB8">
                  <a:shade val="100000"/>
                  <a:satMod val="115000"/>
                </a:srgbClr>
              </a:gs>
            </a:gsLst>
            <a:lin ang="18900000" scaled="1"/>
            <a:tileRect/>
          </a:gradFill>
        </p:spPr>
        <p:txBody>
          <a:bodyPr vert="horz" wrap="square" lIns="90488" tIns="44450" rIns="90488" bIns="44450" numCol="1" anchor="ctr"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3000" b="1" i="0" u="none" strike="noStrike" kern="0" cap="none" spc="0" normalizeH="0" baseline="0" noProof="0" smtClean="0">
                <a:ln>
                  <a:noFill/>
                </a:ln>
                <a:solidFill>
                  <a:srgbClr val="FF0000"/>
                </a:solidFill>
                <a:effectLst/>
                <a:uLnTx/>
                <a:uFillTx/>
                <a:latin typeface="仿宋" panose="02010609060101010101" pitchFamily="49" charset="-122"/>
                <a:ea typeface="仿宋" panose="02010609060101010101" pitchFamily="49" charset="-122"/>
                <a:cs typeface="+mj-cs"/>
              </a:rPr>
              <a:t>查看用户权限</a:t>
            </a:r>
            <a:endParaRPr kumimoji="0" lang="zh-CN" altLang="en-US" sz="3000" b="1" i="0" u="none" strike="noStrike" kern="0" cap="none" spc="0" normalizeH="0" baseline="0" noProof="0">
              <a:ln>
                <a:noFill/>
              </a:ln>
              <a:solidFill>
                <a:srgbClr val="FF0000"/>
              </a:solidFill>
              <a:effectLst/>
              <a:uLnTx/>
              <a:uFillTx/>
              <a:latin typeface="仿宋" panose="02010609060101010101" pitchFamily="49" charset="-122"/>
              <a:ea typeface="仿宋" panose="02010609060101010101" pitchFamily="49" charset="-122"/>
              <a:cs typeface="+mj-cs"/>
            </a:endParaRPr>
          </a:p>
        </p:txBody>
      </p:sp>
      <p:sp>
        <p:nvSpPr>
          <p:cNvPr id="97284" name="灯片编号占位符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98307" name="Rectangle 2"/>
          <p:cNvSpPr>
            <a:spLocks noGrp="1"/>
          </p:cNvSpPr>
          <p:nvPr>
            <p:ph type="title"/>
          </p:nvPr>
        </p:nvSpPr>
        <p:spPr>
          <a:ln/>
        </p:spPr>
        <p:txBody>
          <a:bodyPr vert="horz" wrap="square" lIns="90488" tIns="44450" rIns="90488" bIns="44450" anchor="ctr" anchorCtr="0"/>
          <a:p>
            <a:pPr/>
            <a:r>
              <a:rPr lang="en-US" altLang="zh-CN" dirty="0">
                <a:latin typeface="+mj-lt"/>
                <a:ea typeface="+mj-ea"/>
                <a:cs typeface="+mj-cs"/>
              </a:rPr>
              <a:t>3.3 Functions of DBMS</a:t>
            </a:r>
            <a:r>
              <a:rPr lang="en-US" altLang="zh-CN" dirty="0">
                <a:latin typeface="Arial" panose="020B0604020202020204" pitchFamily="34" charset="0"/>
                <a:ea typeface="+mj-ea"/>
                <a:cs typeface="+mj-cs"/>
              </a:rPr>
              <a:t>…</a:t>
            </a:r>
            <a:endParaRPr lang="zh-CN" altLang="en-US" dirty="0">
              <a:latin typeface="+mj-lt"/>
              <a:ea typeface="+mj-ea"/>
              <a:cs typeface="+mj-cs"/>
            </a:endParaRPr>
          </a:p>
        </p:txBody>
      </p:sp>
      <p:sp>
        <p:nvSpPr>
          <p:cNvPr id="98308" name="Rectangle 3"/>
          <p:cNvSpPr>
            <a:spLocks noGrp="1"/>
          </p:cNvSpPr>
          <p:nvPr>
            <p:ph idx="1"/>
          </p:nvPr>
        </p:nvSpPr>
        <p:spPr>
          <a:xfrm>
            <a:off x="739775" y="2057400"/>
            <a:ext cx="8442325" cy="3556000"/>
          </a:xfrm>
          <a:ln/>
        </p:spPr>
        <p:txBody>
          <a:bodyPr vert="horz" wrap="square" lIns="90488" tIns="44450" rIns="90488" bIns="44450" anchor="t" anchorCtr="0"/>
          <a:p>
            <a:pPr>
              <a:buSzPct val="100000"/>
            </a:pPr>
            <a:r>
              <a:rPr lang="en-US" altLang="zh-CN" sz="2600" dirty="0">
                <a:latin typeface="Times New Roman" panose="02020603050405020304" pitchFamily="18" charset="0"/>
                <a:ea typeface="宋体" panose="02010600030101010101" pitchFamily="2" charset="-122"/>
                <a:cs typeface="+mn-cs"/>
              </a:rPr>
              <a:t>Data manipulation:</a:t>
            </a:r>
            <a:endParaRPr lang="en-US" altLang="zh-CN" sz="2600" dirty="0">
              <a:latin typeface="Times New Roman" panose="02020603050405020304" pitchFamily="18" charset="0"/>
              <a:ea typeface="宋体" panose="02010600030101010101" pitchFamily="2" charset="-122"/>
              <a:cs typeface="+mn-cs"/>
            </a:endParaRPr>
          </a:p>
          <a:p>
            <a:pPr lvl="1">
              <a:buSzPct val="150000"/>
            </a:pPr>
            <a:r>
              <a:rPr lang="en-US" altLang="zh-CN" sz="2600" dirty="0">
                <a:latin typeface="Times New Roman" panose="02020603050405020304" pitchFamily="18" charset="0"/>
                <a:ea typeface="宋体" panose="02010600030101010101" pitchFamily="2" charset="-122"/>
              </a:rPr>
              <a:t>retrieve, update, delete ,insert data to the database</a:t>
            </a:r>
            <a:endParaRPr lang="en-US" altLang="zh-CN" sz="2600" dirty="0">
              <a:latin typeface="Times New Roman" panose="02020603050405020304" pitchFamily="18" charset="0"/>
              <a:ea typeface="宋体" panose="02010600030101010101" pitchFamily="2" charset="-122"/>
            </a:endParaRPr>
          </a:p>
          <a:p>
            <a:pPr lvl="1">
              <a:buSzPct val="150000"/>
            </a:pPr>
            <a:r>
              <a:rPr lang="en-US" altLang="zh-CN" sz="2600" dirty="0">
                <a:latin typeface="Times New Roman" panose="02020603050405020304" pitchFamily="18" charset="0"/>
                <a:ea typeface="宋体" panose="02010600030101010101" pitchFamily="2" charset="-122"/>
              </a:rPr>
              <a:t>Include DML processor or DML compiler</a:t>
            </a:r>
            <a:endParaRPr lang="en-US" altLang="zh-CN" sz="2600" dirty="0">
              <a:latin typeface="Times New Roman" panose="02020603050405020304" pitchFamily="18" charset="0"/>
              <a:ea typeface="宋体" panose="02010600030101010101" pitchFamily="2" charset="-122"/>
            </a:endParaRPr>
          </a:p>
          <a:p>
            <a:pPr lvl="1">
              <a:buSzPct val="150000"/>
            </a:pPr>
            <a:r>
              <a:rPr lang="en-US" altLang="zh-CN" sz="2600" dirty="0">
                <a:latin typeface="Times New Roman" panose="02020603050405020304" pitchFamily="18" charset="0"/>
                <a:ea typeface="宋体" panose="02010600030101010101" pitchFamily="2" charset="-122"/>
              </a:rPr>
              <a:t>DML requests:</a:t>
            </a:r>
            <a:endParaRPr lang="en-US" altLang="zh-CN" sz="2600" dirty="0">
              <a:latin typeface="Times New Roman" panose="02020603050405020304" pitchFamily="18" charset="0"/>
              <a:ea typeface="宋体" panose="02010600030101010101" pitchFamily="2" charset="-122"/>
            </a:endParaRPr>
          </a:p>
          <a:p>
            <a:pPr lvl="2"/>
            <a:r>
              <a:rPr lang="en-US" altLang="zh-CN" sz="2600" dirty="0">
                <a:latin typeface="Times New Roman" panose="02020603050405020304" pitchFamily="18" charset="0"/>
                <a:ea typeface="宋体" panose="02010600030101010101" pitchFamily="2" charset="-122"/>
              </a:rPr>
              <a:t>planned request</a:t>
            </a:r>
            <a:endParaRPr lang="en-US" altLang="zh-CN" sz="2600" dirty="0">
              <a:latin typeface="Times New Roman" panose="02020603050405020304" pitchFamily="18" charset="0"/>
              <a:ea typeface="宋体" panose="02010600030101010101" pitchFamily="2" charset="-122"/>
            </a:endParaRPr>
          </a:p>
          <a:p>
            <a:pPr lvl="2"/>
            <a:r>
              <a:rPr lang="en-US" altLang="zh-CN" sz="2600" dirty="0">
                <a:latin typeface="Times New Roman" panose="02020603050405020304" pitchFamily="18" charset="0"/>
                <a:ea typeface="宋体" panose="02010600030101010101" pitchFamily="2" charset="-122"/>
              </a:rPr>
              <a:t>unplanned request:  issued interactively via some query language processor. </a:t>
            </a:r>
            <a:endParaRPr lang="en-US" altLang="zh-CN" sz="2600" dirty="0">
              <a:latin typeface="Times New Roman" panose="02020603050405020304" pitchFamily="18"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00355" name="Rectangle 2"/>
          <p:cNvSpPr>
            <a:spLocks noGrp="1"/>
          </p:cNvSpPr>
          <p:nvPr>
            <p:ph type="title"/>
          </p:nvPr>
        </p:nvSpPr>
        <p:spPr>
          <a:ln/>
        </p:spPr>
        <p:txBody>
          <a:bodyPr vert="horz" wrap="square" lIns="90488" tIns="44450" rIns="90488" bIns="44450" anchor="ctr" anchorCtr="0"/>
          <a:p>
            <a:pPr/>
            <a:r>
              <a:rPr lang="en-US" altLang="zh-CN" dirty="0">
                <a:latin typeface="+mj-lt"/>
                <a:ea typeface="+mj-ea"/>
                <a:cs typeface="+mj-cs"/>
              </a:rPr>
              <a:t>3.3 Functions of DBMS</a:t>
            </a:r>
            <a:r>
              <a:rPr lang="en-US" altLang="zh-CN" dirty="0">
                <a:latin typeface="Arial" panose="020B0604020202020204" pitchFamily="34" charset="0"/>
                <a:ea typeface="+mj-ea"/>
                <a:cs typeface="+mj-cs"/>
              </a:rPr>
              <a:t>…</a:t>
            </a:r>
            <a:endParaRPr lang="zh-CN" altLang="en-US" dirty="0">
              <a:latin typeface="+mj-lt"/>
              <a:ea typeface="+mj-ea"/>
              <a:cs typeface="+mj-cs"/>
            </a:endParaRPr>
          </a:p>
        </p:txBody>
      </p:sp>
      <p:sp>
        <p:nvSpPr>
          <p:cNvPr id="100356" name="Rectangle 3"/>
          <p:cNvSpPr>
            <a:spLocks noGrp="1"/>
          </p:cNvSpPr>
          <p:nvPr>
            <p:ph idx="1"/>
          </p:nvPr>
        </p:nvSpPr>
        <p:spPr>
          <a:xfrm>
            <a:off x="884238" y="2057400"/>
            <a:ext cx="8675687" cy="3921125"/>
          </a:xfrm>
          <a:ln/>
        </p:spPr>
        <p:txBody>
          <a:bodyPr vert="horz" wrap="square" lIns="90488" tIns="44450" rIns="90488" bIns="44450" anchor="t" anchorCtr="0"/>
          <a:p>
            <a:pPr>
              <a:buSzPct val="100000"/>
            </a:pPr>
            <a:r>
              <a:rPr lang="en-US" altLang="zh-CN" dirty="0">
                <a:latin typeface="Times New Roman" panose="02020603050405020304" pitchFamily="18" charset="0"/>
                <a:ea typeface="宋体" panose="02010600030101010101" pitchFamily="2" charset="-122"/>
                <a:cs typeface="+mn-cs"/>
              </a:rPr>
              <a:t> Optimization and execution :</a:t>
            </a:r>
            <a:endParaRPr lang="en-US" altLang="zh-CN" dirty="0">
              <a:latin typeface="Times New Roman" panose="02020603050405020304" pitchFamily="18" charset="0"/>
              <a:ea typeface="宋体" panose="02010600030101010101" pitchFamily="2" charset="-122"/>
              <a:cs typeface="+mn-cs"/>
            </a:endParaRPr>
          </a:p>
          <a:p>
            <a:pPr lvl="1">
              <a:buSzPct val="150000"/>
            </a:pPr>
            <a:r>
              <a:rPr lang="en-US" altLang="zh-CN" sz="2800" dirty="0">
                <a:latin typeface="Times New Roman" panose="02020603050405020304" pitchFamily="18" charset="0"/>
                <a:ea typeface="宋体" panose="02010600030101010101" pitchFamily="2" charset="-122"/>
              </a:rPr>
              <a:t>optimizer, run-time manager</a:t>
            </a:r>
            <a:endParaRPr lang="en-US" altLang="zh-CN" sz="2800" dirty="0">
              <a:latin typeface="Times New Roman" panose="02020603050405020304" pitchFamily="18" charset="0"/>
              <a:ea typeface="宋体" panose="02010600030101010101" pitchFamily="2" charset="-122"/>
            </a:endParaRPr>
          </a:p>
          <a:p>
            <a:pPr>
              <a:buSzPct val="100000"/>
            </a:pPr>
            <a:r>
              <a:rPr lang="en-US" altLang="zh-CN" dirty="0">
                <a:latin typeface="Times New Roman" panose="02020603050405020304" pitchFamily="18" charset="0"/>
                <a:ea typeface="宋体" panose="02010600030101010101" pitchFamily="2" charset="-122"/>
                <a:cs typeface="+mn-cs"/>
              </a:rPr>
              <a:t> Data security and integrity </a:t>
            </a:r>
            <a:endParaRPr lang="en-US" altLang="zh-CN" dirty="0">
              <a:latin typeface="Times New Roman" panose="02020603050405020304" pitchFamily="18" charset="0"/>
              <a:ea typeface="宋体" panose="02010600030101010101" pitchFamily="2" charset="-122"/>
              <a:cs typeface="+mn-cs"/>
            </a:endParaRPr>
          </a:p>
          <a:p>
            <a:pPr>
              <a:buSzPct val="100000"/>
            </a:pPr>
            <a:r>
              <a:rPr lang="en-US" altLang="zh-CN" dirty="0">
                <a:latin typeface="Times New Roman" panose="02020603050405020304" pitchFamily="18" charset="0"/>
                <a:ea typeface="宋体" panose="02010600030101010101" pitchFamily="2" charset="-122"/>
                <a:cs typeface="+mn-cs"/>
              </a:rPr>
              <a:t> Data recovery and concurrency:</a:t>
            </a:r>
            <a:endParaRPr lang="en-US" altLang="zh-CN" dirty="0">
              <a:latin typeface="Times New Roman" panose="02020603050405020304" pitchFamily="18" charset="0"/>
              <a:ea typeface="宋体" panose="02010600030101010101" pitchFamily="2" charset="-122"/>
              <a:cs typeface="+mn-cs"/>
            </a:endParaRPr>
          </a:p>
          <a:p>
            <a:pPr lvl="1">
              <a:buSzPct val="150000"/>
            </a:pPr>
            <a:r>
              <a:rPr lang="en-US" altLang="zh-CN" sz="2800" dirty="0">
                <a:latin typeface="Times New Roman" panose="02020603050405020304" pitchFamily="18" charset="0"/>
                <a:ea typeface="宋体" panose="02010600030101010101" pitchFamily="2" charset="-122"/>
              </a:rPr>
              <a:t>transaction manager or transaction processing monitor  </a:t>
            </a:r>
            <a:endParaRPr lang="en-US" altLang="zh-CN" sz="2800" dirty="0">
              <a:latin typeface="Times New Roman" panose="02020603050405020304" pitchFamily="18" charset="0"/>
              <a:ea typeface="宋体" panose="02010600030101010101" pitchFamily="2" charset="-122"/>
            </a:endParaRPr>
          </a:p>
          <a:p>
            <a:pPr>
              <a:buSzPct val="100000"/>
            </a:pPr>
            <a:r>
              <a:rPr lang="en-US" altLang="zh-CN" dirty="0">
                <a:latin typeface="Times New Roman" panose="02020603050405020304" pitchFamily="18" charset="0"/>
                <a:ea typeface="宋体" panose="02010600030101010101" pitchFamily="2" charset="-122"/>
                <a:cs typeface="+mn-cs"/>
              </a:rPr>
              <a:t> Data dictionary</a:t>
            </a:r>
            <a:endParaRPr lang="en-US" altLang="zh-CN" dirty="0">
              <a:latin typeface="Times New Roman" panose="02020603050405020304" pitchFamily="18" charset="0"/>
              <a:ea typeface="宋体" panose="02010600030101010101" pitchFamily="2" charset="-122"/>
              <a:cs typeface="+mn-cs"/>
            </a:endParaRPr>
          </a:p>
          <a:p>
            <a:pPr>
              <a:buSzPct val="100000"/>
            </a:pPr>
            <a:r>
              <a:rPr lang="en-US" altLang="zh-CN" dirty="0">
                <a:latin typeface="Times New Roman" panose="02020603050405020304" pitchFamily="18" charset="0"/>
                <a:ea typeface="宋体" panose="02010600030101010101" pitchFamily="2" charset="-122"/>
                <a:cs typeface="+mn-cs"/>
              </a:rPr>
              <a:t> Performance: efficiently  </a:t>
            </a:r>
            <a:endParaRPr lang="zh-CN" altLang="en-US"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02403" name="Rectangle 2"/>
          <p:cNvSpPr>
            <a:spLocks noGrp="1"/>
          </p:cNvSpPr>
          <p:nvPr>
            <p:ph type="title"/>
          </p:nvPr>
        </p:nvSpPr>
        <p:spPr>
          <a:xfrm>
            <a:off x="1371600" y="823913"/>
            <a:ext cx="7429500" cy="749300"/>
          </a:xfrm>
          <a:ln/>
        </p:spPr>
        <p:txBody>
          <a:bodyPr vert="horz" wrap="square" lIns="90488" tIns="44450" rIns="90488" bIns="44450" anchor="ctr" anchorCtr="0"/>
          <a:p>
            <a:pPr/>
            <a:r>
              <a:rPr lang="en-US" altLang="zh-CN" dirty="0">
                <a:latin typeface="+mj-lt"/>
                <a:ea typeface="+mj-ea"/>
                <a:cs typeface="+mj-cs"/>
              </a:rPr>
              <a:t>3.3 Functions of DBMS</a:t>
            </a:r>
            <a:r>
              <a:rPr lang="en-US" altLang="zh-CN" dirty="0">
                <a:latin typeface="Arial" panose="020B0604020202020204" pitchFamily="34" charset="0"/>
                <a:ea typeface="+mj-ea"/>
                <a:cs typeface="+mj-cs"/>
              </a:rPr>
              <a:t>…</a:t>
            </a:r>
            <a:endParaRPr lang="zh-CN" altLang="en-US" dirty="0">
              <a:latin typeface="+mj-lt"/>
              <a:ea typeface="+mj-ea"/>
              <a:cs typeface="+mj-cs"/>
            </a:endParaRPr>
          </a:p>
        </p:txBody>
      </p:sp>
      <p:pic>
        <p:nvPicPr>
          <p:cNvPr id="102404" name="Picture 3"/>
          <p:cNvPicPr>
            <a:picLocks noChangeAspect="1"/>
          </p:cNvPicPr>
          <p:nvPr>
            <p:ph idx="1"/>
          </p:nvPr>
        </p:nvPicPr>
        <p:blipFill>
          <a:blip r:embed="rId1"/>
          <a:srcRect/>
          <a:stretch>
            <a:fillRect/>
          </a:stretch>
        </p:blipFill>
        <p:spPr>
          <a:xfrm>
            <a:off x="1724025" y="2098675"/>
            <a:ext cx="6451600" cy="3840163"/>
          </a:xfrm>
          <a:ln/>
        </p:spPr>
      </p:pic>
      <p:sp>
        <p:nvSpPr>
          <p:cNvPr id="102405" name="Rectangle 5"/>
          <p:cNvSpPr/>
          <p:nvPr/>
        </p:nvSpPr>
        <p:spPr>
          <a:xfrm>
            <a:off x="942975" y="1624013"/>
            <a:ext cx="8115300" cy="515937"/>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r>
              <a:rPr lang="en-US" altLang="zh-CN" sz="2800" b="1" dirty="0">
                <a:latin typeface="Times New Roman" panose="02020603050405020304" pitchFamily="18" charset="0"/>
                <a:ea typeface="宋体" panose="02010600030101010101" pitchFamily="2" charset="-122"/>
              </a:rPr>
              <a:t> Optimization and execution </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104451" name="Picture 5"/>
          <p:cNvPicPr>
            <a:picLocks noChangeAspect="1"/>
          </p:cNvPicPr>
          <p:nvPr>
            <p:ph idx="1"/>
          </p:nvPr>
        </p:nvPicPr>
        <p:blipFill>
          <a:blip r:embed="rId1"/>
          <a:srcRect/>
          <a:stretch>
            <a:fillRect/>
          </a:stretch>
        </p:blipFill>
        <p:spPr>
          <a:xfrm>
            <a:off x="1720850" y="2003425"/>
            <a:ext cx="6761163" cy="3919538"/>
          </a:xfrm>
          <a:ln/>
        </p:spPr>
      </p:pic>
      <p:sp>
        <p:nvSpPr>
          <p:cNvPr id="104452" name="Rectangle 6"/>
          <p:cNvSpPr/>
          <p:nvPr/>
        </p:nvSpPr>
        <p:spPr>
          <a:xfrm>
            <a:off x="1162050" y="773113"/>
            <a:ext cx="7429500" cy="74930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Comic Sans MS" panose="030F0702030302020204" pitchFamily="66" charset="0"/>
                <a:ea typeface="宋体" panose="02010600030101010101" pitchFamily="2" charset="-122"/>
              </a:rPr>
              <a:t>3.3 Functions of DBMS</a:t>
            </a:r>
            <a:r>
              <a:rPr lang="en-US" altLang="zh-CN" sz="2800" b="1" dirty="0">
                <a:solidFill>
                  <a:srgbClr val="005400"/>
                </a:solidFill>
                <a:latin typeface="Arial" panose="020B0604020202020204" pitchFamily="34" charset="0"/>
                <a:ea typeface="宋体" panose="02010600030101010101" pitchFamily="2" charset="-122"/>
              </a:rPr>
              <a:t>…</a:t>
            </a:r>
            <a:endParaRPr lang="zh-CN" altLang="en-US" sz="2800" b="1" dirty="0">
              <a:solidFill>
                <a:srgbClr val="005400"/>
              </a:solidFill>
              <a:latin typeface="Comic Sans MS" panose="030F0702030302020204" pitchFamily="66" charset="0"/>
              <a:ea typeface="宋体" panose="02010600030101010101" pitchFamily="2" charset="-122"/>
            </a:endParaRPr>
          </a:p>
        </p:txBody>
      </p:sp>
      <p:sp>
        <p:nvSpPr>
          <p:cNvPr id="104453" name="Rectangle 7"/>
          <p:cNvSpPr/>
          <p:nvPr/>
        </p:nvSpPr>
        <p:spPr>
          <a:xfrm>
            <a:off x="1116013" y="1624013"/>
            <a:ext cx="8115300" cy="515937"/>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Security</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pic>
        <p:nvPicPr>
          <p:cNvPr id="106499" name="Picture 6"/>
          <p:cNvPicPr>
            <a:picLocks noChangeAspect="1"/>
          </p:cNvPicPr>
          <p:nvPr/>
        </p:nvPicPr>
        <p:blipFill>
          <a:blip r:embed="rId1"/>
          <a:stretch>
            <a:fillRect/>
          </a:stretch>
        </p:blipFill>
        <p:spPr>
          <a:xfrm>
            <a:off x="1568450" y="1998663"/>
            <a:ext cx="6429375" cy="3986212"/>
          </a:xfrm>
          <a:prstGeom prst="rect">
            <a:avLst/>
          </a:prstGeom>
          <a:noFill/>
          <a:ln w="12700">
            <a:noFill/>
          </a:ln>
        </p:spPr>
      </p:pic>
      <p:sp>
        <p:nvSpPr>
          <p:cNvPr id="106500" name="Rectangle 7"/>
          <p:cNvSpPr/>
          <p:nvPr/>
        </p:nvSpPr>
        <p:spPr>
          <a:xfrm>
            <a:off x="1162050" y="800100"/>
            <a:ext cx="7429500" cy="74930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Comic Sans MS" panose="030F0702030302020204" pitchFamily="66" charset="0"/>
                <a:ea typeface="宋体" panose="02010600030101010101" pitchFamily="2" charset="-122"/>
              </a:rPr>
              <a:t>3.3 Functions of DBMS</a:t>
            </a:r>
            <a:r>
              <a:rPr lang="en-US" altLang="zh-CN" sz="2800" b="1" dirty="0">
                <a:solidFill>
                  <a:srgbClr val="005400"/>
                </a:solidFill>
                <a:latin typeface="Arial" panose="020B0604020202020204" pitchFamily="34" charset="0"/>
                <a:ea typeface="宋体" panose="02010600030101010101" pitchFamily="2" charset="-122"/>
              </a:rPr>
              <a:t>…</a:t>
            </a:r>
            <a:endParaRPr lang="zh-CN" altLang="en-US" sz="2800" b="1" dirty="0">
              <a:solidFill>
                <a:srgbClr val="005400"/>
              </a:solidFill>
              <a:latin typeface="Comic Sans MS" panose="030F0702030302020204" pitchFamily="66" charset="0"/>
              <a:ea typeface="宋体" panose="02010600030101010101" pitchFamily="2" charset="-122"/>
            </a:endParaRPr>
          </a:p>
        </p:txBody>
      </p:sp>
      <p:sp>
        <p:nvSpPr>
          <p:cNvPr id="106501" name="Rectangle 8"/>
          <p:cNvSpPr/>
          <p:nvPr/>
        </p:nvSpPr>
        <p:spPr>
          <a:xfrm>
            <a:off x="1090613" y="1576388"/>
            <a:ext cx="8115300" cy="515937"/>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r>
              <a:rPr lang="en-US" altLang="zh-CN" sz="2800" b="1" dirty="0">
                <a:latin typeface="Times New Roman" panose="02020603050405020304" pitchFamily="18" charset="0"/>
                <a:ea typeface="宋体" panose="02010600030101010101" pitchFamily="2" charset="-122"/>
              </a:rPr>
              <a:t> </a:t>
            </a:r>
            <a:r>
              <a:rPr lang="en-US" altLang="en-US" sz="2800" b="1" dirty="0">
                <a:latin typeface="Times New Roman" panose="02020603050405020304" pitchFamily="18" charset="0"/>
                <a:ea typeface="宋体" panose="02010600030101010101" pitchFamily="2" charset="-122"/>
              </a:rPr>
              <a:t>Concurrency—Down to the Row Level</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8546" name="Group 3"/>
          <p:cNvGrpSpPr/>
          <p:nvPr/>
        </p:nvGrpSpPr>
        <p:grpSpPr>
          <a:xfrm>
            <a:off x="-207962" y="0"/>
            <a:ext cx="7651750" cy="6858000"/>
            <a:chOff x="768" y="0"/>
            <a:chExt cx="3888" cy="3888"/>
          </a:xfrm>
        </p:grpSpPr>
        <p:pic>
          <p:nvPicPr>
            <p:cNvPr id="108553" name="Picture 4"/>
            <p:cNvPicPr>
              <a:picLocks noChangeAspect="1"/>
            </p:cNvPicPr>
            <p:nvPr/>
          </p:nvPicPr>
          <p:blipFill>
            <a:blip r:embed="rId1"/>
            <a:stretch>
              <a:fillRect/>
            </a:stretch>
          </p:blipFill>
          <p:spPr>
            <a:xfrm>
              <a:off x="916" y="120"/>
              <a:ext cx="3593" cy="3648"/>
            </a:xfrm>
            <a:prstGeom prst="rect">
              <a:avLst/>
            </a:prstGeom>
            <a:noFill/>
            <a:ln w="9525">
              <a:noFill/>
            </a:ln>
          </p:spPr>
        </p:pic>
        <p:sp>
          <p:nvSpPr>
            <p:cNvPr id="108554" name="Rectangle 5"/>
            <p:cNvSpPr/>
            <p:nvPr/>
          </p:nvSpPr>
          <p:spPr>
            <a:xfrm>
              <a:off x="768" y="0"/>
              <a:ext cx="3888" cy="3888"/>
            </a:xfrm>
            <a:prstGeom prst="rect">
              <a:avLst/>
            </a:prstGeom>
            <a:noFill/>
            <a:ln w="57150">
              <a:noFill/>
            </a:ln>
            <a:effectLst>
              <a:outerShdw dist="35921" dir="2699999" algn="ctr" rotWithShape="0">
                <a:schemeClr val="bg2"/>
              </a:outerShdw>
            </a:effectLst>
          </p:spPr>
          <p:txBody>
            <a:bodyPr wrap="none" anchor="ctr" anchorCtr="0"/>
            <a:p>
              <a:pPr>
                <a:lnSpc>
                  <a:spcPct val="90000"/>
                </a:lnSpc>
              </a:pPr>
              <a:endParaRPr lang="zh-CN" altLang="en-US" dirty="0">
                <a:latin typeface="Times New Roman" panose="02020603050405020304" pitchFamily="18" charset="0"/>
                <a:ea typeface="宋体" panose="02010600030101010101" pitchFamily="2" charset="-122"/>
              </a:endParaRPr>
            </a:p>
          </p:txBody>
        </p:sp>
      </p:grpSp>
      <p:sp>
        <p:nvSpPr>
          <p:cNvPr id="108547"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08548" name="Rectangle 2"/>
          <p:cNvSpPr>
            <a:spLocks noGrp="1"/>
          </p:cNvSpPr>
          <p:nvPr>
            <p:ph type="title"/>
          </p:nvPr>
        </p:nvSpPr>
        <p:spPr>
          <a:xfrm>
            <a:off x="0" y="6570663"/>
            <a:ext cx="6781800" cy="287337"/>
          </a:xfrm>
          <a:noFill/>
          <a:ln>
            <a:noFill/>
          </a:ln>
        </p:spPr>
        <p:txBody>
          <a:bodyPr vert="horz" wrap="square" lIns="90488" tIns="44450" rIns="90488" bIns="44450" anchor="ctr" anchorCtr="0"/>
          <a:p>
            <a:pPr/>
            <a:r>
              <a:rPr lang="en-US" altLang="zh-CN" sz="2000" dirty="0">
                <a:solidFill>
                  <a:schemeClr val="tx1"/>
                </a:solidFill>
                <a:latin typeface="+mj-lt"/>
                <a:ea typeface="+mj-ea"/>
                <a:cs typeface="+mj-cs"/>
              </a:rPr>
              <a:t>Fig. 2.4 Major DBMS functions and components</a:t>
            </a:r>
            <a:endParaRPr lang="en-US" altLang="zh-CN" sz="2000" dirty="0">
              <a:solidFill>
                <a:schemeClr val="tx1"/>
              </a:solidFill>
              <a:latin typeface="+mj-lt"/>
              <a:ea typeface="+mj-ea"/>
              <a:cs typeface="+mj-cs"/>
            </a:endParaRPr>
          </a:p>
        </p:txBody>
      </p:sp>
      <p:sp>
        <p:nvSpPr>
          <p:cNvPr id="151558" name="Text Box 6"/>
          <p:cNvSpPr txBox="1">
            <a:spLocks noChangeArrowheads="1"/>
          </p:cNvSpPr>
          <p:nvPr/>
        </p:nvSpPr>
        <p:spPr bwMode="auto">
          <a:xfrm>
            <a:off x="7181850" y="1820863"/>
            <a:ext cx="2305050" cy="3625850"/>
          </a:xfrm>
          <a:prstGeom prst="rect">
            <a:avLst/>
          </a:prstGeom>
          <a:solidFill>
            <a:srgbClr val="0033CC"/>
          </a:solidFill>
        </p:spPr>
        <p:style>
          <a:lnRef idx="0">
            <a:schemeClr val="accent2"/>
          </a:lnRef>
          <a:fillRef idx="3">
            <a:schemeClr val="accent2"/>
          </a:fillRef>
          <a:effectRef idx="3">
            <a:schemeClr val="accent2"/>
          </a:effectRef>
          <a:fontRef idx="minor">
            <a:schemeClr val="lt1"/>
          </a:fontRef>
        </p:style>
        <p:txBody>
          <a:bodyPr>
            <a:spAutoFit/>
          </a:bodyPr>
          <a:lstStyle/>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rPr>
              <a:t>Data definition</a:t>
            </a:r>
            <a:endParaRPr kumimoji="0" lang="en-US" altLang="zh-CN" sz="2000" b="0"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Data manipulation</a:t>
            </a:r>
            <a:endParaRPr kumimoji="0" lang="en-US" altLang="zh-CN" sz="2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rPr>
              <a:t>Optimization and execution</a:t>
            </a:r>
            <a:endParaRPr kumimoji="0" lang="en-US" altLang="zh-CN" sz="2000" b="0"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Data security and integrity</a:t>
            </a:r>
            <a:endParaRPr kumimoji="0" lang="en-US" altLang="zh-CN" sz="2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rPr>
              <a:t>Data recovery and concurrency</a:t>
            </a:r>
            <a:endParaRPr kumimoji="0" lang="en-US" altLang="zh-CN" sz="2000" b="0"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rPr>
              <a:t>Data dictionary</a:t>
            </a:r>
            <a:endParaRPr kumimoji="0" lang="en-US" altLang="zh-CN" sz="2000" b="0" i="0" u="none" strike="noStrike" kern="1200" cap="none" spc="0" normalizeH="0" baseline="0" noProof="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108552" name="Rectangle 7"/>
          <p:cNvSpPr/>
          <p:nvPr/>
        </p:nvSpPr>
        <p:spPr>
          <a:xfrm>
            <a:off x="5676900" y="0"/>
            <a:ext cx="4229100" cy="950913"/>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400" b="1" dirty="0">
                <a:solidFill>
                  <a:srgbClr val="005400"/>
                </a:solidFill>
                <a:latin typeface="Comic Sans MS" panose="030F0702030302020204" pitchFamily="66" charset="0"/>
                <a:ea typeface="宋体" panose="02010600030101010101" pitchFamily="2" charset="-122"/>
              </a:rPr>
              <a:t>3.4 Major DBMS functions and components</a:t>
            </a:r>
            <a:endParaRPr lang="zh-CN" altLang="en-US" sz="2400" b="1" dirty="0">
              <a:solidFill>
                <a:srgbClr val="005400"/>
              </a:solidFill>
              <a:latin typeface="Comic Sans MS" panose="030F0702030302020204" pitchFamily="66"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10595" name="Rectangle 2"/>
          <p:cNvSpPr>
            <a:spLocks noGrp="1"/>
          </p:cNvSpPr>
          <p:nvPr>
            <p:ph type="title"/>
          </p:nvPr>
        </p:nvSpPr>
        <p:spPr>
          <a:xfrm>
            <a:off x="1143000" y="838200"/>
            <a:ext cx="7239000" cy="788988"/>
          </a:xfrm>
          <a:ln/>
        </p:spPr>
        <p:txBody>
          <a:bodyPr vert="horz" wrap="square" lIns="90488" tIns="44450" rIns="90488" bIns="44450" anchor="ctr" anchorCtr="0"/>
          <a:p>
            <a:pPr/>
            <a:r>
              <a:rPr lang="zh-CN" altLang="en-US" dirty="0">
                <a:latin typeface="+mj-lt"/>
                <a:ea typeface="+mj-ea"/>
                <a:cs typeface="+mj-cs"/>
              </a:rPr>
              <a:t>4. </a:t>
            </a:r>
            <a:r>
              <a:rPr lang="en-US" altLang="zh-CN" dirty="0">
                <a:latin typeface="+mj-lt"/>
                <a:ea typeface="+mj-ea"/>
                <a:cs typeface="+mj-cs"/>
              </a:rPr>
              <a:t>Client/Server Architecture</a:t>
            </a:r>
            <a:endParaRPr lang="zh-CN" altLang="en-US" dirty="0">
              <a:latin typeface="+mj-lt"/>
              <a:ea typeface="+mj-ea"/>
              <a:cs typeface="+mj-cs"/>
            </a:endParaRPr>
          </a:p>
        </p:txBody>
      </p:sp>
      <p:pic>
        <p:nvPicPr>
          <p:cNvPr id="110596" name="Picture 4"/>
          <p:cNvPicPr>
            <a:picLocks noChangeAspect="1"/>
          </p:cNvPicPr>
          <p:nvPr>
            <p:ph idx="1"/>
          </p:nvPr>
        </p:nvPicPr>
        <p:blipFill>
          <a:blip r:embed="rId1"/>
          <a:srcRect/>
          <a:stretch>
            <a:fillRect/>
          </a:stretch>
        </p:blipFill>
        <p:spPr>
          <a:xfrm>
            <a:off x="6381750" y="2082800"/>
            <a:ext cx="2587625" cy="3192463"/>
          </a:xfrm>
          <a:ln/>
        </p:spPr>
      </p:pic>
      <p:sp>
        <p:nvSpPr>
          <p:cNvPr id="110597" name="Rectangle 5"/>
          <p:cNvSpPr/>
          <p:nvPr/>
        </p:nvSpPr>
        <p:spPr>
          <a:xfrm>
            <a:off x="6059488" y="1773238"/>
            <a:ext cx="3219450" cy="3768725"/>
          </a:xfrm>
          <a:prstGeom prst="rect">
            <a:avLst/>
          </a:prstGeom>
          <a:noFill/>
          <a:ln w="38100" cap="flat" cmpd="sng">
            <a:solidFill>
              <a:srgbClr val="009900"/>
            </a:solidFill>
            <a:prstDash val="solid"/>
            <a:miter/>
            <a:headEnd type="none" w="med" len="med"/>
            <a:tailEnd type="none" w="med" len="med"/>
          </a:ln>
          <a:effectLst>
            <a:outerShdw dist="35921" dir="2699999" algn="ctr" rotWithShape="0">
              <a:schemeClr val="bg2"/>
            </a:outerShdw>
          </a:effectLst>
        </p:spPr>
        <p:txBody>
          <a:bodyPr wrap="none" anchor="ctr" anchorCtr="0"/>
          <a:p>
            <a:pPr>
              <a:lnSpc>
                <a:spcPct val="90000"/>
              </a:lnSpc>
            </a:pPr>
            <a:endParaRPr lang="zh-CN" altLang="en-US" dirty="0">
              <a:latin typeface="Times New Roman" panose="02020603050405020304" pitchFamily="18" charset="0"/>
              <a:ea typeface="宋体" panose="02010600030101010101" pitchFamily="2" charset="-122"/>
            </a:endParaRPr>
          </a:p>
        </p:txBody>
      </p:sp>
      <p:sp>
        <p:nvSpPr>
          <p:cNvPr id="110598" name="Text Box 6"/>
          <p:cNvSpPr txBox="1"/>
          <p:nvPr/>
        </p:nvSpPr>
        <p:spPr>
          <a:xfrm>
            <a:off x="5459413" y="5654675"/>
            <a:ext cx="4151312" cy="369888"/>
          </a:xfrm>
          <a:prstGeom prst="rect">
            <a:avLst/>
          </a:prstGeom>
          <a:noFill/>
          <a:ln w="9525">
            <a:noFill/>
          </a:ln>
        </p:spPr>
        <p:txBody>
          <a:bodyPr>
            <a:spAutoFit/>
          </a:bodyPr>
          <a:p>
            <a:pPr>
              <a:spcBef>
                <a:spcPct val="50000"/>
              </a:spcBef>
            </a:pPr>
            <a:r>
              <a:rPr lang="en-US" altLang="zh-CN" sz="1800" b="1" dirty="0">
                <a:solidFill>
                  <a:schemeClr val="tx1"/>
                </a:solidFill>
                <a:latin typeface="Tahoma" panose="020B0604030504040204" pitchFamily="34" charset="0"/>
                <a:ea typeface="宋体" panose="02010600030101010101" pitchFamily="2" charset="-122"/>
              </a:rPr>
              <a:t>Fig. 2.5 Client/server architecture</a:t>
            </a:r>
            <a:endParaRPr lang="en-US" altLang="zh-CN" sz="1800" b="1" dirty="0">
              <a:solidFill>
                <a:schemeClr val="tx1"/>
              </a:solidFill>
              <a:latin typeface="Tahoma" panose="020B0604030504040204" pitchFamily="34" charset="0"/>
              <a:ea typeface="宋体" panose="02010600030101010101" pitchFamily="2" charset="-122"/>
            </a:endParaRPr>
          </a:p>
        </p:txBody>
      </p:sp>
      <p:sp>
        <p:nvSpPr>
          <p:cNvPr id="152583" name="Text Box 7"/>
          <p:cNvSpPr txBox="1">
            <a:spLocks noChangeArrowheads="1"/>
          </p:cNvSpPr>
          <p:nvPr/>
        </p:nvSpPr>
        <p:spPr bwMode="auto">
          <a:xfrm>
            <a:off x="506413" y="2112963"/>
            <a:ext cx="5292725" cy="882650"/>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Server:</a:t>
            </a:r>
            <a:r>
              <a:rPr kumimoji="0" lang="en-US" altLang="zh-CN" sz="20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en-US" altLang="zh-CN" sz="20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supports all of the basic DBMS functions.</a:t>
            </a:r>
            <a:endParaRPr kumimoji="0" lang="en-US" altLang="zh-CN"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2584" name="Text Box 8"/>
          <p:cNvSpPr txBox="1">
            <a:spLocks noChangeArrowheads="1"/>
          </p:cNvSpPr>
          <p:nvPr/>
        </p:nvSpPr>
        <p:spPr bwMode="auto">
          <a:xfrm>
            <a:off x="506413" y="3200400"/>
            <a:ext cx="5292725" cy="2152650"/>
          </a:xfrm>
          <a:prstGeom prst="rect">
            <a:avLst/>
          </a:prstGeom>
          <a:solidFill>
            <a:srgbClr val="CCFF99"/>
          </a:solidFill>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Client:</a:t>
            </a:r>
            <a:r>
              <a:rPr kumimoji="0" lang="en-US" altLang="zh-CN"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en-US" altLang="zh-CN"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50000"/>
              </a:spcBef>
              <a:spcAft>
                <a:spcPct val="0"/>
              </a:spcAft>
              <a:buClr>
                <a:srgbClr val="FF9933"/>
              </a:buClr>
              <a:buSzTx/>
              <a:buFont typeface="Wingdings" panose="05000000000000000000" pitchFamily="2" charset="2"/>
              <a:buNone/>
              <a:defRPr/>
            </a:pPr>
            <a:r>
              <a:rPr kumimoji="0" lang="en-US" altLang="zh-CN"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clients are the various applications that run on top of the DBMS—both user-written applications and built-in applications, i.e., applications provided by the DBMS vendor or by some third party.</a:t>
            </a:r>
            <a:endParaRPr kumimoji="0" lang="en-US" altLang="zh-CN"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12643" name="Rectangle 2"/>
          <p:cNvSpPr>
            <a:spLocks noGrp="1"/>
          </p:cNvSpPr>
          <p:nvPr>
            <p:ph idx="1"/>
          </p:nvPr>
        </p:nvSpPr>
        <p:spPr>
          <a:xfrm>
            <a:off x="742950" y="1917700"/>
            <a:ext cx="8512175" cy="3746500"/>
          </a:xfrm>
          <a:ln/>
        </p:spPr>
        <p:txBody>
          <a:bodyPr vert="horz" wrap="square" lIns="90488" tIns="44450" rIns="90488" bIns="44450" anchor="t" anchorCtr="0"/>
          <a:p>
            <a:pPr>
              <a:buSzPct val="100000"/>
            </a:pPr>
            <a:r>
              <a:rPr lang="en-US" altLang="zh-CN" dirty="0">
                <a:solidFill>
                  <a:srgbClr val="FF3300"/>
                </a:solidFill>
                <a:latin typeface="Times New Roman" panose="02020603050405020304" pitchFamily="18" charset="0"/>
                <a:ea typeface="宋体" panose="02010600030101010101" pitchFamily="2" charset="-122"/>
                <a:cs typeface="+mn-cs"/>
              </a:rPr>
              <a:t>User-written applications</a:t>
            </a:r>
            <a:r>
              <a:rPr lang="en-US" altLang="zh-CN" dirty="0">
                <a:solidFill>
                  <a:srgbClr val="FF9900"/>
                </a:solidFill>
                <a:latin typeface="Times New Roman" panose="02020603050405020304" pitchFamily="18" charset="0"/>
                <a:ea typeface="宋体" panose="02010600030101010101" pitchFamily="2" charset="-122"/>
                <a:cs typeface="+mn-cs"/>
              </a:rPr>
              <a:t>:</a:t>
            </a:r>
            <a:endParaRPr lang="en-US" altLang="zh-CN" dirty="0">
              <a:solidFill>
                <a:srgbClr val="FF9900"/>
              </a:solidFill>
              <a:latin typeface="Times New Roman" panose="02020603050405020304" pitchFamily="18" charset="0"/>
              <a:ea typeface="宋体" panose="02010600030101010101" pitchFamily="2" charset="-122"/>
              <a:cs typeface="+mn-cs"/>
            </a:endParaRPr>
          </a:p>
          <a:p>
            <a:pPr lvl="1">
              <a:buSzPct val="150000"/>
            </a:pPr>
            <a:r>
              <a:rPr lang="en-US" altLang="zh-CN" dirty="0">
                <a:latin typeface="Times New Roman" panose="02020603050405020304" pitchFamily="18" charset="0"/>
                <a:ea typeface="宋体" panose="02010600030101010101" pitchFamily="2" charset="-122"/>
              </a:rPr>
              <a:t>regular application programs</a:t>
            </a:r>
            <a:endParaRPr lang="en-US" altLang="zh-CN" dirty="0">
              <a:latin typeface="Times New Roman" panose="02020603050405020304" pitchFamily="18" charset="0"/>
              <a:ea typeface="宋体" panose="02010600030101010101" pitchFamily="2" charset="-122"/>
            </a:endParaRPr>
          </a:p>
          <a:p>
            <a:pPr lvl="1">
              <a:buSzPct val="150000"/>
            </a:pPr>
            <a:r>
              <a:rPr lang="en-US" altLang="zh-CN" dirty="0">
                <a:latin typeface="Times New Roman" panose="02020603050405020304" pitchFamily="18" charset="0"/>
                <a:ea typeface="宋体" panose="02010600030101010101" pitchFamily="2" charset="-122"/>
              </a:rPr>
              <a:t>written in C ,COBOL ,Java,…</a:t>
            </a:r>
            <a:endParaRPr lang="en-US" altLang="zh-CN" dirty="0">
              <a:latin typeface="Times New Roman" panose="02020603050405020304" pitchFamily="18" charset="0"/>
              <a:ea typeface="宋体" panose="02010600030101010101" pitchFamily="2" charset="-122"/>
            </a:endParaRPr>
          </a:p>
          <a:p>
            <a:pPr>
              <a:buSzPct val="100000"/>
            </a:pPr>
            <a:r>
              <a:rPr lang="en-US" altLang="zh-CN" dirty="0">
                <a:solidFill>
                  <a:srgbClr val="FF3300"/>
                </a:solidFill>
                <a:latin typeface="Times New Roman" panose="02020603050405020304" pitchFamily="18" charset="0"/>
                <a:ea typeface="宋体" panose="02010600030101010101" pitchFamily="2" charset="-122"/>
                <a:cs typeface="+mn-cs"/>
              </a:rPr>
              <a:t>Vendor-provided applications(tools):</a:t>
            </a:r>
            <a:endParaRPr lang="en-US" altLang="zh-CN" dirty="0">
              <a:solidFill>
                <a:srgbClr val="FF3300"/>
              </a:solidFill>
              <a:latin typeface="Times New Roman" panose="02020603050405020304" pitchFamily="18" charset="0"/>
              <a:ea typeface="宋体" panose="02010600030101010101" pitchFamily="2" charset="-122"/>
              <a:cs typeface="+mn-cs"/>
            </a:endParaRPr>
          </a:p>
          <a:p>
            <a:pPr lvl="1">
              <a:buSzPct val="150000"/>
            </a:pPr>
            <a:r>
              <a:rPr lang="en-US" altLang="zh-CN" dirty="0">
                <a:latin typeface="Times New Roman" panose="02020603050405020304" pitchFamily="18" charset="0"/>
                <a:ea typeface="宋体" panose="02010600030101010101" pitchFamily="2" charset="-122"/>
              </a:rPr>
              <a:t>assist in the creation and execution of other applications</a:t>
            </a:r>
            <a:endParaRPr lang="en-US" altLang="zh-CN" dirty="0">
              <a:latin typeface="Times New Roman" panose="02020603050405020304" pitchFamily="18" charset="0"/>
              <a:ea typeface="宋体" panose="02010600030101010101" pitchFamily="2" charset="-122"/>
            </a:endParaRPr>
          </a:p>
          <a:p>
            <a:pPr lvl="1">
              <a:buSzPct val="150000"/>
            </a:pPr>
            <a:r>
              <a:rPr lang="en-US" altLang="zh-CN" dirty="0">
                <a:latin typeface="Times New Roman" panose="02020603050405020304" pitchFamily="18" charset="0"/>
                <a:ea typeface="宋体" panose="02010600030101010101" pitchFamily="2" charset="-122"/>
              </a:rPr>
              <a:t>E.g., </a:t>
            </a:r>
            <a:r>
              <a:rPr lang="en-US" altLang="zh-CN" i="1" dirty="0">
                <a:solidFill>
                  <a:srgbClr val="1B28A1"/>
                </a:solidFill>
                <a:latin typeface="Times New Roman" panose="02020603050405020304" pitchFamily="18" charset="0"/>
                <a:ea typeface="宋体" panose="02010600030101010101" pitchFamily="2" charset="-122"/>
              </a:rPr>
              <a:t>report writer</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1">
              <a:buSzPct val="150000"/>
              <a:buFont typeface="Wingdings" panose="05000000000000000000" pitchFamily="2" charset="2"/>
              <a:buNone/>
            </a:pPr>
            <a:r>
              <a:rPr lang="en-US" altLang="zh-CN" dirty="0">
                <a:latin typeface="Times New Roman" panose="02020603050405020304" pitchFamily="18" charset="0"/>
                <a:ea typeface="宋体" panose="02010600030101010101" pitchFamily="2" charset="-122"/>
              </a:rPr>
              <a:t>   allow user to obtain formatted reports through </a:t>
            </a:r>
            <a:r>
              <a:rPr lang="en-US" altLang="zh-CN" i="1" dirty="0">
                <a:solidFill>
                  <a:srgbClr val="1B28A1"/>
                </a:solidFill>
                <a:latin typeface="Times New Roman" panose="02020603050405020304" pitchFamily="18" charset="0"/>
                <a:ea typeface="宋体" panose="02010600030101010101" pitchFamily="2" charset="-122"/>
              </a:rPr>
              <a:t>report writer language.</a:t>
            </a:r>
            <a:endParaRPr lang="en-US" altLang="zh-CN" i="1" dirty="0">
              <a:solidFill>
                <a:srgbClr val="1B28A1"/>
              </a:solidFill>
              <a:latin typeface="Times New Roman" panose="02020603050405020304" pitchFamily="18" charset="0"/>
              <a:ea typeface="宋体" panose="02010600030101010101" pitchFamily="2" charset="-122"/>
            </a:endParaRPr>
          </a:p>
        </p:txBody>
      </p:sp>
      <p:sp>
        <p:nvSpPr>
          <p:cNvPr id="112644" name="Rectangle 4"/>
          <p:cNvSpPr>
            <a:spLocks noGrp="1"/>
          </p:cNvSpPr>
          <p:nvPr>
            <p:ph type="title"/>
          </p:nvPr>
        </p:nvSpPr>
        <p:spPr>
          <a:xfrm>
            <a:off x="1143000" y="838200"/>
            <a:ext cx="7239000" cy="788988"/>
          </a:xfrm>
          <a:ln/>
        </p:spPr>
        <p:txBody>
          <a:bodyPr vert="horz" wrap="square" lIns="90488" tIns="44450" rIns="90488" bIns="44450" anchor="ctr" anchorCtr="0"/>
          <a:p>
            <a:pPr/>
            <a:r>
              <a:rPr lang="zh-CN" altLang="en-US" dirty="0">
                <a:latin typeface="+mj-lt"/>
                <a:ea typeface="+mj-ea"/>
                <a:cs typeface="+mj-cs"/>
              </a:rPr>
              <a:t>4. </a:t>
            </a:r>
            <a:r>
              <a:rPr lang="en-US" altLang="zh-CN" dirty="0">
                <a:latin typeface="+mj-lt"/>
                <a:ea typeface="+mj-ea"/>
                <a:cs typeface="+mj-cs"/>
              </a:rPr>
              <a:t>Client/Server Architecture(Cont.)</a:t>
            </a:r>
            <a:endParaRPr lang="zh-CN" altLang="en-US" dirty="0">
              <a:latin typeface="+mj-lt"/>
              <a:ea typeface="+mj-ea"/>
              <a:cs typeface="+mj-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14691" name="Rectangle 2"/>
          <p:cNvSpPr>
            <a:spLocks noGrp="1"/>
          </p:cNvSpPr>
          <p:nvPr>
            <p:ph type="title"/>
          </p:nvPr>
        </p:nvSpPr>
        <p:spPr>
          <a:xfrm>
            <a:off x="1409700" y="901700"/>
            <a:ext cx="7048500" cy="509588"/>
          </a:xfrm>
          <a:ln/>
        </p:spPr>
        <p:txBody>
          <a:bodyPr vert="horz" wrap="square" lIns="90488" tIns="44450" rIns="90488" bIns="44450" anchor="ctr" anchorCtr="0"/>
          <a:p>
            <a:pPr/>
            <a:r>
              <a:rPr lang="en-US" altLang="zh-CN" dirty="0">
                <a:latin typeface="+mj-lt"/>
                <a:ea typeface="+mj-ea"/>
                <a:cs typeface="+mj-cs"/>
              </a:rPr>
              <a:t>Vendor-provided tools</a:t>
            </a:r>
            <a:endParaRPr lang="zh-CN" altLang="en-US" dirty="0">
              <a:latin typeface="+mj-lt"/>
              <a:ea typeface="+mj-ea"/>
              <a:cs typeface="+mj-cs"/>
            </a:endParaRPr>
          </a:p>
        </p:txBody>
      </p:sp>
      <p:sp>
        <p:nvSpPr>
          <p:cNvPr id="114692" name="Rectangle 3"/>
          <p:cNvSpPr>
            <a:spLocks noGrp="1"/>
          </p:cNvSpPr>
          <p:nvPr>
            <p:ph idx="1"/>
          </p:nvPr>
        </p:nvSpPr>
        <p:spPr>
          <a:xfrm>
            <a:off x="766763" y="1533525"/>
            <a:ext cx="8497887" cy="4298950"/>
          </a:xfrm>
          <a:ln/>
        </p:spPr>
        <p:txBody>
          <a:bodyPr vert="horz" wrap="square" lIns="90488" tIns="44450" rIns="90488" bIns="44450" anchor="t" anchorCtr="0"/>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Query language processors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Report writers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Business graphics subsystems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Spreadsheets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Natural language processors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Statistical packages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Copy management or "data extract" tools</a:t>
            </a:r>
            <a:endParaRPr lang="en-US" altLang="zh-CN" dirty="0">
              <a:latin typeface="Times New Roman" panose="02020603050405020304" pitchFamily="18" charset="0"/>
              <a:ea typeface="宋体" panose="02010600030101010101" pitchFamily="2" charset="-122"/>
              <a:cs typeface="+mn-cs"/>
            </a:endParaRPr>
          </a:p>
          <a:p>
            <a:pPr>
              <a:spcBef>
                <a:spcPts val="600"/>
              </a:spcBef>
              <a:buClr>
                <a:srgbClr val="009900"/>
              </a:buClr>
              <a:buSzPct val="100000"/>
            </a:pPr>
            <a:r>
              <a:rPr lang="en-US" altLang="zh-CN" dirty="0">
                <a:latin typeface="Times New Roman" panose="02020603050405020304" pitchFamily="18" charset="0"/>
                <a:ea typeface="宋体" panose="02010600030101010101" pitchFamily="2" charset="-122"/>
                <a:cs typeface="+mn-cs"/>
              </a:rPr>
              <a:t>Other application development tools, including computer-aided software engineering (CASE) products; </a:t>
            </a:r>
            <a:endParaRPr lang="zh-CN" altLang="en-US" dirty="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6738" name="Picture 4"/>
          <p:cNvPicPr>
            <a:picLocks noChangeAspect="1"/>
          </p:cNvPicPr>
          <p:nvPr>
            <p:ph idx="1"/>
          </p:nvPr>
        </p:nvPicPr>
        <p:blipFill>
          <a:blip r:embed="rId1"/>
          <a:srcRect/>
          <a:stretch>
            <a:fillRect/>
          </a:stretch>
        </p:blipFill>
        <p:spPr>
          <a:xfrm>
            <a:off x="5191125" y="727075"/>
            <a:ext cx="3549650" cy="4968875"/>
          </a:xfrm>
          <a:ln/>
        </p:spPr>
      </p:pic>
      <p:sp>
        <p:nvSpPr>
          <p:cNvPr id="116739"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16740" name="Rectangle 2"/>
          <p:cNvSpPr>
            <a:spLocks noGrp="1"/>
          </p:cNvSpPr>
          <p:nvPr>
            <p:ph type="title"/>
          </p:nvPr>
        </p:nvSpPr>
        <p:spPr>
          <a:xfrm>
            <a:off x="615950" y="941388"/>
            <a:ext cx="3498850" cy="995362"/>
          </a:xfrm>
          <a:ln/>
        </p:spPr>
        <p:txBody>
          <a:bodyPr vert="horz" wrap="square" lIns="90488" tIns="44450" rIns="90488" bIns="44450" anchor="ctr" anchorCtr="0"/>
          <a:p>
            <a:pPr/>
            <a:r>
              <a:rPr lang="zh-CN" altLang="en-US" dirty="0">
                <a:latin typeface="+mj-lt"/>
                <a:ea typeface="+mj-ea"/>
                <a:cs typeface="+mj-cs"/>
              </a:rPr>
              <a:t>5. </a:t>
            </a:r>
            <a:r>
              <a:rPr lang="en-US" altLang="zh-CN" dirty="0">
                <a:latin typeface="+mj-lt"/>
                <a:ea typeface="+mj-ea"/>
                <a:cs typeface="+mj-cs"/>
              </a:rPr>
              <a:t>Distributed Processing</a:t>
            </a:r>
            <a:endParaRPr lang="en-US" altLang="zh-CN" dirty="0">
              <a:latin typeface="+mj-lt"/>
              <a:ea typeface="+mj-ea"/>
              <a:cs typeface="+mj-cs"/>
            </a:endParaRPr>
          </a:p>
        </p:txBody>
      </p:sp>
      <p:sp>
        <p:nvSpPr>
          <p:cNvPr id="116741" name="Text Box 6"/>
          <p:cNvSpPr txBox="1"/>
          <p:nvPr/>
        </p:nvSpPr>
        <p:spPr>
          <a:xfrm>
            <a:off x="2622550" y="5611813"/>
            <a:ext cx="6911975" cy="381000"/>
          </a:xfrm>
          <a:prstGeom prst="rect">
            <a:avLst/>
          </a:prstGeom>
          <a:noFill/>
          <a:ln w="9525">
            <a:noFill/>
          </a:ln>
        </p:spPr>
        <p:txBody>
          <a:bodyPr anchor="ctr" anchorCtr="0"/>
          <a:p>
            <a:pPr algn="just" eaLnBrk="1" hangingPunct="1"/>
            <a:r>
              <a:rPr lang="en-US" altLang="zh-CN" sz="2000" dirty="0">
                <a:solidFill>
                  <a:schemeClr val="tx1"/>
                </a:solidFill>
                <a:latin typeface="Tahoma" panose="020B0604030504040204" pitchFamily="34" charset="0"/>
                <a:ea typeface="宋体" panose="02010600030101010101" pitchFamily="2" charset="-122"/>
              </a:rPr>
              <a:t>Fig. 2.6 Client (s) and server running on different machines</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116742" name="Rectangle 8"/>
          <p:cNvSpPr/>
          <p:nvPr/>
        </p:nvSpPr>
        <p:spPr>
          <a:xfrm>
            <a:off x="469900" y="2208213"/>
            <a:ext cx="4276725" cy="1839912"/>
          </a:xfrm>
          <a:prstGeom prst="rect">
            <a:avLst/>
          </a:prstGeom>
          <a:noFill/>
          <a:ln w="12700">
            <a:noFill/>
          </a:ln>
        </p:spPr>
        <p:txBody>
          <a:bodyPr lIns="90488" tIns="44450" rIns="90488" bIns="44450"/>
          <a:lstStyle>
            <a:lvl1pPr marL="285750" indent="-285750" algn="l" rtl="0" eaLnBrk="0" fontAlgn="base" hangingPunct="0">
              <a:lnSpc>
                <a:spcPct val="90000"/>
              </a:lnSpc>
              <a:spcBef>
                <a:spcPct val="30000"/>
              </a:spcBef>
              <a:spcAft>
                <a:spcPct val="0"/>
              </a:spcAft>
              <a:buClr>
                <a:srgbClr val="037C03"/>
              </a:buClr>
              <a:buSzPct val="100000"/>
              <a:buFont typeface="Monotype Sorts" pitchFamily="2" charset="2"/>
              <a:buChar char="n"/>
              <a:defRPr sz="2400">
                <a:solidFill>
                  <a:schemeClr val="tx1"/>
                </a:solidFill>
                <a:latin typeface="+mn-lt"/>
                <a:ea typeface="+mn-ea"/>
                <a:cs typeface="+mn-cs"/>
              </a:defRPr>
            </a:lvl1pPr>
            <a:lvl2pPr marL="685800" indent="-228600" algn="l" rtl="0" eaLnBrk="0" fontAlgn="ctr" hangingPunct="0">
              <a:lnSpc>
                <a:spcPct val="90000"/>
              </a:lnSpc>
              <a:spcBef>
                <a:spcPct val="30000"/>
              </a:spcBef>
              <a:spcAft>
                <a:spcPct val="0"/>
              </a:spcAft>
              <a:buClr>
                <a:srgbClr val="009900"/>
              </a:buClr>
              <a:buSzPct val="150000"/>
              <a:buFont typeface="Wingdings" panose="05000000000000000000" pitchFamily="2" charset="2"/>
              <a:buChar char="§"/>
              <a:defRPr sz="2200">
                <a:solidFill>
                  <a:schemeClr val="tx1"/>
                </a:solidFill>
                <a:latin typeface="+mn-lt"/>
              </a:defRPr>
            </a:lvl2pPr>
            <a:lvl3pPr marL="1143000" indent="-228600" algn="l" rtl="0" eaLnBrk="0" fontAlgn="base" hangingPunct="0">
              <a:lnSpc>
                <a:spcPct val="90000"/>
              </a:lnSpc>
              <a:spcBef>
                <a:spcPct val="30000"/>
              </a:spcBef>
              <a:spcAft>
                <a:spcPct val="0"/>
              </a:spcAft>
              <a:buClr>
                <a:srgbClr val="1B28A1"/>
              </a:buClr>
              <a:buFont typeface="Wingdings" panose="05000000000000000000" pitchFamily="2" charset="2"/>
              <a:buChar char="§"/>
              <a:defRPr sz="2000">
                <a:solidFill>
                  <a:schemeClr val="tx1"/>
                </a:solidFill>
                <a:latin typeface="+mn-lt"/>
              </a:defRPr>
            </a:lvl3pPr>
            <a:lvl4pPr marL="15430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4pPr>
            <a:lvl5pPr marL="2000250" indent="-171450" algn="l" rtl="0" eaLnBrk="0" fontAlgn="base" hangingPunct="0">
              <a:lnSpc>
                <a:spcPct val="90000"/>
              </a:lnSpc>
              <a:spcBef>
                <a:spcPct val="30000"/>
              </a:spcBef>
              <a:spcAft>
                <a:spcPct val="0"/>
              </a:spcAft>
              <a:buClr>
                <a:srgbClr val="009900"/>
              </a:buClr>
              <a:buFont typeface="Wingdings" panose="05000000000000000000" pitchFamily="2" charset="2"/>
              <a:buChar char="§"/>
              <a:defRPr sz="1400">
                <a:solidFill>
                  <a:schemeClr val="tx1"/>
                </a:solidFill>
                <a:latin typeface="+mn-lt"/>
              </a:defRPr>
            </a:lvl5pPr>
          </a:lstStyle>
          <a:p>
            <a:pPr marL="285750" lvl="0" indent="-285750">
              <a:buClr>
                <a:srgbClr val="009900"/>
              </a:buClr>
            </a:pPr>
            <a:r>
              <a:rPr lang="en-US" altLang="zh-CN" sz="2800" b="1" dirty="0">
                <a:latin typeface="Times New Roman" panose="02020603050405020304" pitchFamily="18" charset="0"/>
                <a:ea typeface="宋体" panose="02010600030101010101" pitchFamily="2" charset="-122"/>
              </a:rPr>
              <a:t>a single data-processing task can be spread across several machines in the network. </a:t>
            </a:r>
            <a:endParaRPr lang="en-US" altLang="zh-CN"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18787" name="Rectangle 2"/>
          <p:cNvSpPr>
            <a:spLocks noGrp="1"/>
          </p:cNvSpPr>
          <p:nvPr>
            <p:ph idx="1"/>
          </p:nvPr>
        </p:nvSpPr>
        <p:spPr>
          <a:xfrm>
            <a:off x="696913" y="2030413"/>
            <a:ext cx="8715375" cy="3968750"/>
          </a:xfrm>
          <a:ln/>
        </p:spPr>
        <p:txBody>
          <a:bodyPr vert="horz" wrap="square" lIns="90488" tIns="44450" rIns="90488" bIns="44450" anchor="t" anchorCtr="0"/>
          <a:p>
            <a:pPr>
              <a:lnSpc>
                <a:spcPct val="80000"/>
              </a:lnSpc>
              <a:buSzPct val="100000"/>
            </a:pPr>
            <a:r>
              <a:rPr lang="en-US" altLang="zh-CN" sz="2300" dirty="0">
                <a:latin typeface="Times New Roman" panose="02020603050405020304" pitchFamily="18" charset="0"/>
                <a:ea typeface="宋体" panose="02010600030101010101" pitchFamily="2" charset="-122"/>
                <a:cs typeface="+mn-cs"/>
              </a:rPr>
              <a:t>Server (database) and client (application) processing are being done in parallel. Response time and throughput should thus be improved. </a:t>
            </a:r>
            <a:endParaRPr lang="en-US" altLang="zh-CN" sz="2300" dirty="0">
              <a:latin typeface="Times New Roman" panose="02020603050405020304" pitchFamily="18" charset="0"/>
              <a:ea typeface="宋体" panose="02010600030101010101" pitchFamily="2" charset="-122"/>
              <a:cs typeface="+mn-cs"/>
            </a:endParaRPr>
          </a:p>
          <a:p>
            <a:pPr>
              <a:lnSpc>
                <a:spcPct val="80000"/>
              </a:lnSpc>
              <a:buSzPct val="100000"/>
            </a:pPr>
            <a:r>
              <a:rPr lang="en-US" altLang="zh-CN" sz="2300" dirty="0">
                <a:latin typeface="Times New Roman" panose="02020603050405020304" pitchFamily="18" charset="0"/>
                <a:ea typeface="宋体" panose="02010600030101010101" pitchFamily="2" charset="-122"/>
                <a:cs typeface="+mn-cs"/>
              </a:rPr>
              <a:t>The server machine might be a custom-built machine that is tailored to the DBMS function (a "database machine") and might thus provide better DBMS performance. </a:t>
            </a:r>
            <a:endParaRPr lang="en-US" altLang="zh-CN" sz="2300" dirty="0">
              <a:latin typeface="Times New Roman" panose="02020603050405020304" pitchFamily="18" charset="0"/>
              <a:ea typeface="宋体" panose="02010600030101010101" pitchFamily="2" charset="-122"/>
              <a:cs typeface="+mn-cs"/>
            </a:endParaRPr>
          </a:p>
          <a:p>
            <a:pPr>
              <a:lnSpc>
                <a:spcPct val="80000"/>
              </a:lnSpc>
              <a:buSzPct val="100000"/>
            </a:pPr>
            <a:r>
              <a:rPr lang="en-US" altLang="zh-CN" sz="2300" dirty="0">
                <a:latin typeface="Times New Roman" panose="02020603050405020304" pitchFamily="18" charset="0"/>
                <a:ea typeface="宋体" panose="02010600030101010101" pitchFamily="2" charset="-122"/>
                <a:cs typeface="+mn-cs"/>
              </a:rPr>
              <a:t>The client machine might be a personal workstation, tailored to the needs of the end user and thus able to provide better interfaces, faster responses, and overall improved ease of use to the user. </a:t>
            </a:r>
            <a:endParaRPr lang="en-US" altLang="zh-CN" sz="2300" dirty="0">
              <a:latin typeface="Times New Roman" panose="02020603050405020304" pitchFamily="18" charset="0"/>
              <a:ea typeface="宋体" panose="02010600030101010101" pitchFamily="2" charset="-122"/>
              <a:cs typeface="+mn-cs"/>
            </a:endParaRPr>
          </a:p>
          <a:p>
            <a:pPr>
              <a:lnSpc>
                <a:spcPct val="80000"/>
              </a:lnSpc>
              <a:buSzPct val="100000"/>
            </a:pPr>
            <a:r>
              <a:rPr lang="en-US" altLang="zh-CN" sz="2300" dirty="0">
                <a:latin typeface="Times New Roman" panose="02020603050405020304" pitchFamily="18" charset="0"/>
                <a:ea typeface="宋体" panose="02010600030101010101" pitchFamily="2" charset="-122"/>
                <a:cs typeface="+mn-cs"/>
              </a:rPr>
              <a:t>Several different client machines might be able (in fact, typically will be able) to access the same server machine. </a:t>
            </a:r>
            <a:endParaRPr lang="en-US" altLang="zh-CN" sz="2300" dirty="0">
              <a:latin typeface="Times New Roman" panose="02020603050405020304" pitchFamily="18" charset="0"/>
              <a:ea typeface="宋体" panose="02010600030101010101" pitchFamily="2" charset="-122"/>
              <a:cs typeface="+mn-cs"/>
            </a:endParaRPr>
          </a:p>
        </p:txBody>
      </p:sp>
      <p:sp>
        <p:nvSpPr>
          <p:cNvPr id="118788" name="Rectangle 4"/>
          <p:cNvSpPr/>
          <p:nvPr/>
        </p:nvSpPr>
        <p:spPr>
          <a:xfrm>
            <a:off x="534988" y="746125"/>
            <a:ext cx="8731250" cy="1058863"/>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Times New Roman" panose="02020603050405020304" pitchFamily="18" charset="0"/>
                <a:ea typeface="宋体" panose="02010600030101010101" pitchFamily="2" charset="-122"/>
              </a:rPr>
              <a:t>Client (s) and server running on different machines</a:t>
            </a:r>
            <a:r>
              <a:rPr lang="en-US" altLang="zh-CN" sz="2800" b="1" dirty="0">
                <a:solidFill>
                  <a:srgbClr val="005400"/>
                </a:solidFill>
                <a:latin typeface="Tahoma" panose="020B0604030504040204" pitchFamily="34" charset="0"/>
                <a:ea typeface="宋体" panose="02010600030101010101" pitchFamily="2" charset="-122"/>
              </a:rPr>
              <a:t>—</a:t>
            </a:r>
            <a:r>
              <a:rPr lang="en-US" altLang="zh-CN" sz="2800" b="1" dirty="0">
                <a:solidFill>
                  <a:srgbClr val="005400"/>
                </a:solidFill>
                <a:latin typeface="Times New Roman" panose="02020603050405020304" pitchFamily="18" charset="0"/>
                <a:ea typeface="宋体" panose="02010600030101010101" pitchFamily="2" charset="-122"/>
              </a:rPr>
              <a:t>Benefit</a:t>
            </a:r>
            <a:endParaRPr lang="en-US" altLang="zh-CN" sz="2800" b="1" dirty="0">
              <a:solidFill>
                <a:srgbClr val="005400"/>
              </a:solidFill>
              <a:latin typeface="Times New Roman" panose="02020603050405020304" pitchFamily="18"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20835" name="Rectangle 2"/>
          <p:cNvSpPr>
            <a:spLocks noGrp="1"/>
          </p:cNvSpPr>
          <p:nvPr>
            <p:ph type="title"/>
          </p:nvPr>
        </p:nvSpPr>
        <p:spPr>
          <a:xfrm>
            <a:off x="1676400" y="5486400"/>
            <a:ext cx="6686550" cy="457200"/>
          </a:xfrm>
          <a:noFill/>
          <a:ln>
            <a:noFill/>
          </a:ln>
        </p:spPr>
        <p:txBody>
          <a:bodyPr vert="horz" wrap="square" lIns="90488" tIns="44450" rIns="90488" bIns="44450" anchor="ctr" anchorCtr="0"/>
          <a:p>
            <a:pPr/>
            <a:r>
              <a:rPr lang="en-US" altLang="zh-CN" sz="2000" b="0" dirty="0">
                <a:solidFill>
                  <a:schemeClr val="tx1"/>
                </a:solidFill>
                <a:latin typeface="+mj-lt"/>
                <a:ea typeface="+mj-ea"/>
                <a:cs typeface="+mj-cs"/>
              </a:rPr>
              <a:t>Fig. 2.7 one server machine, many client machines</a:t>
            </a:r>
            <a:endParaRPr lang="en-US" altLang="zh-CN" sz="2000" b="0" dirty="0">
              <a:solidFill>
                <a:schemeClr val="tx1"/>
              </a:solidFill>
              <a:latin typeface="+mj-lt"/>
              <a:ea typeface="+mj-ea"/>
              <a:cs typeface="+mj-cs"/>
            </a:endParaRPr>
          </a:p>
        </p:txBody>
      </p:sp>
      <p:graphicFrame>
        <p:nvGraphicFramePr>
          <p:cNvPr id="120836" name="Object 3"/>
          <p:cNvGraphicFramePr>
            <a:graphicFrameLocks noChangeAspect="1"/>
          </p:cNvGraphicFramePr>
          <p:nvPr>
            <p:ph idx="1"/>
          </p:nvPr>
        </p:nvGraphicFramePr>
        <p:xfrm>
          <a:off x="1828800" y="1752600"/>
          <a:ext cx="6248400" cy="3725863"/>
        </p:xfrm>
        <a:graphic>
          <a:graphicData uri="http://schemas.openxmlformats.org/presentationml/2006/ole">
            <mc:AlternateContent xmlns:mc="http://schemas.openxmlformats.org/markup-compatibility/2006">
              <mc:Choice xmlns:v="urn:schemas-microsoft-com:vml" Requires="v">
                <p:oleObj spid="_x0000_s3077" name="" r:id="rId1" imgW="6419850" imgH="5133975" progId="Paint.Picture">
                  <p:embed/>
                </p:oleObj>
              </mc:Choice>
              <mc:Fallback>
                <p:oleObj name="" r:id="rId1" imgW="6419850" imgH="5133975" progId="Paint.Picture">
                  <p:embed/>
                  <p:pic>
                    <p:nvPicPr>
                      <p:cNvPr id="0" name="图片 3076"/>
                      <p:cNvPicPr/>
                      <p:nvPr/>
                    </p:nvPicPr>
                    <p:blipFill>
                      <a:blip r:embed="rId2"/>
                      <a:srcRect/>
                      <a:stretch>
                        <a:fillRect/>
                      </a:stretch>
                    </p:blipFill>
                    <p:spPr>
                      <a:xfrm>
                        <a:off x="1828800" y="1752600"/>
                        <a:ext cx="6248400" cy="3725863"/>
                      </a:xfrm>
                      <a:prstGeom prst="rect">
                        <a:avLst/>
                      </a:prstGeom>
                      <a:noFill/>
                      <a:ln w="38100">
                        <a:miter/>
                      </a:ln>
                    </p:spPr>
                  </p:pic>
                </p:oleObj>
              </mc:Fallback>
            </mc:AlternateContent>
          </a:graphicData>
        </a:graphic>
      </p:graphicFrame>
      <p:sp>
        <p:nvSpPr>
          <p:cNvPr id="120837" name="Rectangle 6"/>
          <p:cNvSpPr/>
          <p:nvPr/>
        </p:nvSpPr>
        <p:spPr>
          <a:xfrm>
            <a:off x="1295400" y="914400"/>
            <a:ext cx="7429500" cy="76200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Times New Roman" panose="02020603050405020304" pitchFamily="18" charset="0"/>
                <a:ea typeface="宋体" panose="02010600030101010101" pitchFamily="2" charset="-122"/>
              </a:rPr>
              <a:t>One server machine, many client machines</a:t>
            </a:r>
            <a:endParaRPr lang="en-US" altLang="zh-CN" sz="2800" b="1" dirty="0">
              <a:solidFill>
                <a:srgbClr val="005400"/>
              </a:solidFill>
              <a:latin typeface="Times New Roman" panose="02020603050405020304" pitchFamily="18"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22883" name="Rectangle 3"/>
          <p:cNvSpPr>
            <a:spLocks noGrp="1"/>
          </p:cNvSpPr>
          <p:nvPr>
            <p:ph idx="1"/>
          </p:nvPr>
        </p:nvSpPr>
        <p:spPr>
          <a:xfrm>
            <a:off x="390525" y="1917700"/>
            <a:ext cx="8969375" cy="4065588"/>
          </a:xfrm>
          <a:ln/>
        </p:spPr>
        <p:txBody>
          <a:bodyPr vert="horz" wrap="square" lIns="90488" tIns="44450" rIns="90488" bIns="44450" anchor="t" anchorCtr="0"/>
          <a:p>
            <a:pPr algn="just">
              <a:lnSpc>
                <a:spcPct val="80000"/>
              </a:lnSpc>
              <a:buSzPct val="100000"/>
            </a:pPr>
            <a:r>
              <a:rPr lang="en-US" altLang="zh-CN" sz="2400" dirty="0">
                <a:latin typeface="Times New Roman" panose="02020603050405020304" pitchFamily="18" charset="0"/>
                <a:ea typeface="宋体" panose="02010600030101010101" pitchFamily="2" charset="-122"/>
                <a:cs typeface="+mn-cs"/>
              </a:rPr>
              <a:t>A given client might be able to access any number of servers, but only one at a time (i.e., each individual database request must be directed to just one server). In such a system it is not possible, within a single request, to combine data from two or more different servers. Furthermore, the user in such a system has to know which particular machine holds which pieces of data. </a:t>
            </a:r>
            <a:endParaRPr lang="en-US" altLang="zh-CN" sz="2400" dirty="0">
              <a:latin typeface="Times New Roman" panose="02020603050405020304" pitchFamily="18" charset="0"/>
              <a:ea typeface="宋体" panose="02010600030101010101" pitchFamily="2" charset="-122"/>
              <a:cs typeface="+mn-cs"/>
            </a:endParaRPr>
          </a:p>
          <a:p>
            <a:pPr algn="just">
              <a:lnSpc>
                <a:spcPct val="80000"/>
              </a:lnSpc>
              <a:buSzPct val="100000"/>
            </a:pPr>
            <a:r>
              <a:rPr lang="en-US" altLang="zh-CN" sz="2400" dirty="0">
                <a:latin typeface="Times New Roman" panose="02020603050405020304" pitchFamily="18" charset="0"/>
                <a:ea typeface="宋体" panose="02010600030101010101" pitchFamily="2" charset="-122"/>
                <a:cs typeface="+mn-cs"/>
              </a:rPr>
              <a:t>The client might be able to access many servers simultaneously (i.e., a single database request might be able to combine data from several servers). In this case, the servers look to the client</a:t>
            </a:r>
            <a:r>
              <a:rPr lang="en-US" altLang="zh-CN" sz="2400" dirty="0">
                <a:latin typeface="Tahoma" panose="020B0604030504040204" pitchFamily="34" charset="0"/>
                <a:ea typeface="宋体" panose="02010600030101010101" pitchFamily="2" charset="-122"/>
                <a:cs typeface="+mn-cs"/>
              </a:rPr>
              <a:t>—</a:t>
            </a:r>
            <a:r>
              <a:rPr lang="en-US" altLang="zh-CN" sz="2400" dirty="0">
                <a:latin typeface="Times New Roman" panose="02020603050405020304" pitchFamily="18" charset="0"/>
                <a:ea typeface="宋体" panose="02010600030101010101" pitchFamily="2" charset="-122"/>
                <a:cs typeface="+mn-cs"/>
              </a:rPr>
              <a:t>from a logical point of view</a:t>
            </a:r>
            <a:r>
              <a:rPr lang="en-US" altLang="zh-CN" sz="2400" dirty="0">
                <a:latin typeface="Tahoma" panose="020B0604030504040204" pitchFamily="34" charset="0"/>
                <a:ea typeface="宋体" panose="02010600030101010101" pitchFamily="2" charset="-122"/>
                <a:cs typeface="+mn-cs"/>
              </a:rPr>
              <a:t>—</a:t>
            </a:r>
            <a:r>
              <a:rPr lang="en-US" altLang="zh-CN" sz="2400" dirty="0">
                <a:latin typeface="Times New Roman" panose="02020603050405020304" pitchFamily="18" charset="0"/>
                <a:ea typeface="宋体" panose="02010600030101010101" pitchFamily="2" charset="-122"/>
                <a:cs typeface="+mn-cs"/>
              </a:rPr>
              <a:t>as if they were really a single server, and the user does not have to know which machines hold which pieces of data. -- </a:t>
            </a:r>
            <a:r>
              <a:rPr lang="en-US" altLang="zh-CN" sz="2400" dirty="0">
                <a:solidFill>
                  <a:srgbClr val="FF3300"/>
                </a:solidFill>
                <a:latin typeface="Times New Roman" panose="02020603050405020304" pitchFamily="18" charset="0"/>
                <a:ea typeface="宋体" panose="02010600030101010101" pitchFamily="2" charset="-122"/>
                <a:cs typeface="+mn-cs"/>
              </a:rPr>
              <a:t>distributed database system</a:t>
            </a:r>
            <a:r>
              <a:rPr lang="en-US" altLang="zh-CN" sz="2400" dirty="0">
                <a:latin typeface="Times New Roman" panose="02020603050405020304" pitchFamily="18" charset="0"/>
                <a:ea typeface="宋体" panose="02010600030101010101" pitchFamily="2" charset="-122"/>
                <a:cs typeface="+mn-cs"/>
              </a:rPr>
              <a:t>.</a:t>
            </a:r>
            <a:endParaRPr lang="en-US" altLang="zh-CN" sz="2400" dirty="0">
              <a:latin typeface="Times New Roman" panose="02020603050405020304" pitchFamily="18" charset="0"/>
              <a:ea typeface="宋体" panose="02010600030101010101" pitchFamily="2" charset="-122"/>
              <a:cs typeface="+mn-cs"/>
            </a:endParaRPr>
          </a:p>
        </p:txBody>
      </p:sp>
      <p:sp>
        <p:nvSpPr>
          <p:cNvPr id="122884" name="Rectangle 4"/>
          <p:cNvSpPr/>
          <p:nvPr/>
        </p:nvSpPr>
        <p:spPr>
          <a:xfrm>
            <a:off x="1295400" y="914400"/>
            <a:ext cx="7429500" cy="76200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Times New Roman" panose="02020603050405020304" pitchFamily="18" charset="0"/>
                <a:ea typeface="宋体" panose="02010600030101010101" pitchFamily="2" charset="-122"/>
              </a:rPr>
              <a:t>Each machine runs both client (s) and server</a:t>
            </a:r>
            <a:endParaRPr lang="en-US" altLang="zh-CN" sz="2800" b="1" dirty="0">
              <a:solidFill>
                <a:srgbClr val="005400"/>
              </a:solidFill>
              <a:latin typeface="Times New Roman" panose="02020603050405020304" pitchFamily="18" charset="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24931" name="Rectangle 2"/>
          <p:cNvSpPr/>
          <p:nvPr/>
        </p:nvSpPr>
        <p:spPr>
          <a:xfrm>
            <a:off x="1600200" y="5638800"/>
            <a:ext cx="6769100" cy="457200"/>
          </a:xfrm>
          <a:prstGeom prst="rect">
            <a:avLst/>
          </a:prstGeom>
          <a:noFill/>
          <a:ln w="9525">
            <a:noFill/>
          </a:ln>
        </p:spPr>
        <p:txBody>
          <a:bodyPr anchor="ctr" anchorCtr="0"/>
          <a:p>
            <a:pPr algn="ctr">
              <a:lnSpc>
                <a:spcPct val="90000"/>
              </a:lnSpc>
            </a:pPr>
            <a:r>
              <a:rPr lang="en-US" altLang="zh-CN" sz="2000" dirty="0">
                <a:solidFill>
                  <a:schemeClr val="tx1"/>
                </a:solidFill>
                <a:latin typeface="Comic Sans MS" panose="030F0702030302020204" pitchFamily="66" charset="0"/>
                <a:ea typeface="宋体" panose="02010600030101010101" pitchFamily="2" charset="-122"/>
              </a:rPr>
              <a:t>Fig. 2.8 Each machine runs both client (s) and server</a:t>
            </a:r>
            <a:endParaRPr lang="en-US" altLang="zh-CN" sz="2000" dirty="0">
              <a:solidFill>
                <a:schemeClr val="tx1"/>
              </a:solidFill>
              <a:latin typeface="Comic Sans MS" panose="030F0702030302020204" pitchFamily="66" charset="0"/>
              <a:ea typeface="宋体" panose="02010600030101010101" pitchFamily="2" charset="-122"/>
            </a:endParaRPr>
          </a:p>
        </p:txBody>
      </p:sp>
      <p:pic>
        <p:nvPicPr>
          <p:cNvPr id="124932" name="Picture 3"/>
          <p:cNvPicPr>
            <a:picLocks noChangeAspect="1"/>
          </p:cNvPicPr>
          <p:nvPr>
            <p:ph idx="1"/>
          </p:nvPr>
        </p:nvPicPr>
        <p:blipFill>
          <a:blip r:embed="rId1"/>
          <a:srcRect/>
          <a:stretch>
            <a:fillRect/>
          </a:stretch>
        </p:blipFill>
        <p:spPr>
          <a:xfrm>
            <a:off x="2209800" y="1752600"/>
            <a:ext cx="6019800" cy="3984625"/>
          </a:xfrm>
          <a:ln/>
        </p:spPr>
      </p:pic>
      <p:sp>
        <p:nvSpPr>
          <p:cNvPr id="124933" name="Rectangle 7"/>
          <p:cNvSpPr/>
          <p:nvPr/>
        </p:nvSpPr>
        <p:spPr>
          <a:xfrm>
            <a:off x="1295400" y="914400"/>
            <a:ext cx="7429500" cy="762000"/>
          </a:xfrm>
          <a:prstGeom prst="rect">
            <a:avLst/>
          </a:prstGeom>
          <a:solidFill>
            <a:srgbClr val="DBFFB8"/>
          </a:solidFill>
          <a:ln w="12700" cap="flat" cmpd="sng">
            <a:solidFill>
              <a:srgbClr val="005400"/>
            </a:solidFill>
            <a:prstDash val="solid"/>
            <a:miter/>
            <a:headEnd type="none" w="med" len="med"/>
            <a:tailEnd type="none" w="med" len="med"/>
          </a:ln>
        </p:spPr>
        <p:txBody>
          <a:bodyPr lIns="90488" tIns="44450" rIns="90488" bIns="44450" anchor="ctr" anchorCtr="0"/>
          <a:p>
            <a:pPr algn="ctr">
              <a:lnSpc>
                <a:spcPct val="90000"/>
              </a:lnSpc>
            </a:pPr>
            <a:r>
              <a:rPr lang="en-US" altLang="zh-CN" sz="2800" b="1" dirty="0">
                <a:solidFill>
                  <a:srgbClr val="005400"/>
                </a:solidFill>
                <a:latin typeface="Times New Roman" panose="02020603050405020304" pitchFamily="18" charset="0"/>
                <a:ea typeface="宋体" panose="02010600030101010101" pitchFamily="2" charset="-122"/>
              </a:rPr>
              <a:t>Each machine runs both client (s) and server</a:t>
            </a:r>
            <a:endParaRPr lang="en-US" altLang="zh-CN" sz="2800" b="1" dirty="0">
              <a:solidFill>
                <a:srgbClr val="005400"/>
              </a:solidFill>
              <a:latin typeface="Times New Roman" panose="02020603050405020304" pitchFamily="18"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Slide Number Placeholder 3"/>
          <p:cNvSpPr txBox="1">
            <a:spLocks noGrp="1"/>
          </p:cNvSpPr>
          <p:nvPr>
            <p:ph type="sldNum"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rgbClr val="00279F"/>
                </a:solidFill>
                <a:latin typeface="Times New Roman" panose="02020603050405020304" pitchFamily="18" charset="0"/>
                <a:ea typeface="+mn-ea"/>
                <a:cs typeface="+mn-cs"/>
              </a:defRPr>
            </a:lvl5pPr>
          </a:lstStyle>
          <a:p>
            <a:pPr lvl="0" algn="ctr">
              <a:lnSpc>
                <a:spcPct val="90000"/>
              </a:lnSpc>
            </a:pPr>
            <a:r>
              <a:rPr lang="en-US" altLang="zh-CN" sz="1400" b="1" i="1" dirty="0">
                <a:solidFill>
                  <a:srgbClr val="005400"/>
                </a:solidFill>
                <a:ea typeface="宋体" panose="02010600030101010101" pitchFamily="2" charset="-122"/>
              </a:rPr>
              <a:t>Page </a:t>
            </a:r>
            <a:fld id="{9A0DB2DC-4C9A-4742-B13C-FB6460FD3503}" type="slidenum">
              <a:rPr lang="en-US" altLang="zh-CN" sz="1400" b="1" i="1" dirty="0">
                <a:solidFill>
                  <a:srgbClr val="005400"/>
                </a:solidFill>
                <a:ea typeface="宋体" panose="02010600030101010101" pitchFamily="2" charset="-122"/>
              </a:rPr>
            </a:fld>
            <a:endParaRPr lang="en-US" altLang="zh-CN" sz="1400" b="1" i="1" dirty="0">
              <a:solidFill>
                <a:srgbClr val="005400"/>
              </a:solidFill>
              <a:ea typeface="宋体" panose="02010600030101010101" pitchFamily="2" charset="-122"/>
            </a:endParaRPr>
          </a:p>
        </p:txBody>
      </p:sp>
      <p:sp>
        <p:nvSpPr>
          <p:cNvPr id="126979" name="Rectangle 2"/>
          <p:cNvSpPr/>
          <p:nvPr/>
        </p:nvSpPr>
        <p:spPr>
          <a:xfrm>
            <a:off x="6908800" y="5664200"/>
            <a:ext cx="2438400" cy="1193800"/>
          </a:xfrm>
          <a:prstGeom prst="rect">
            <a:avLst/>
          </a:prstGeom>
          <a:solidFill>
            <a:schemeClr val="bg1"/>
          </a:solidFill>
          <a:ln w="12700">
            <a:noFill/>
          </a:ln>
        </p:spPr>
        <p:txBody>
          <a:bodyPr wrap="none" anchor="ctr" anchorCtr="0"/>
          <a:p>
            <a:pPr>
              <a:lnSpc>
                <a:spcPct val="90000"/>
              </a:lnSpc>
            </a:pPr>
            <a:endParaRPr lang="zh-CN" altLang="en-US" dirty="0">
              <a:latin typeface="Times New Roman" panose="02020603050405020304" pitchFamily="18" charset="0"/>
              <a:ea typeface="宋体" panose="02010600030101010101" pitchFamily="2" charset="-122"/>
            </a:endParaRPr>
          </a:p>
        </p:txBody>
      </p:sp>
      <p:pic>
        <p:nvPicPr>
          <p:cNvPr id="126980" name="Picture 3" descr="E:\数据库\精品课程建设\图片及模板\sakurac10.gif"/>
          <p:cNvPicPr>
            <a:picLocks noChangeAspect="1"/>
          </p:cNvPicPr>
          <p:nvPr/>
        </p:nvPicPr>
        <p:blipFill>
          <a:blip r:embed="rId1"/>
          <a:stretch>
            <a:fillRect/>
          </a:stretch>
        </p:blipFill>
        <p:spPr>
          <a:xfrm>
            <a:off x="6662738" y="5581650"/>
            <a:ext cx="2674937" cy="1096963"/>
          </a:xfrm>
          <a:prstGeom prst="rect">
            <a:avLst/>
          </a:prstGeom>
          <a:noFill/>
          <a:ln w="9525">
            <a:noFill/>
          </a:ln>
        </p:spPr>
      </p:pic>
      <p:sp>
        <p:nvSpPr>
          <p:cNvPr id="126981" name="AutoShape 4"/>
          <p:cNvSpPr/>
          <p:nvPr/>
        </p:nvSpPr>
        <p:spPr>
          <a:xfrm>
            <a:off x="4241800" y="1930400"/>
            <a:ext cx="3365500" cy="1511300"/>
          </a:xfrm>
          <a:prstGeom prst="cloudCallout">
            <a:avLst>
              <a:gd name="adj1" fmla="val -72028"/>
              <a:gd name="adj2" fmla="val 106093"/>
            </a:avLst>
          </a:prstGeom>
          <a:gradFill rotWithShape="0">
            <a:gsLst>
              <a:gs pos="0">
                <a:srgbClr val="067018"/>
              </a:gs>
              <a:gs pos="50000">
                <a:srgbClr val="0DF133"/>
              </a:gs>
              <a:gs pos="100000">
                <a:srgbClr val="067018"/>
              </a:gs>
            </a:gsLst>
            <a:lin ang="5400000" scaled="1"/>
            <a:tileRect/>
          </a:gradFill>
          <a:ln w="12700" cap="flat" cmpd="sng">
            <a:solidFill>
              <a:schemeClr val="accent2"/>
            </a:solidFill>
            <a:prstDash val="solid"/>
            <a:headEnd type="none" w="med" len="med"/>
            <a:tailEnd type="none" w="med" len="med"/>
          </a:ln>
          <a:effectLst>
            <a:outerShdw dist="35921" dir="2699999" algn="ctr" rotWithShape="0">
              <a:srgbClr val="996633"/>
            </a:outerShdw>
          </a:effectLst>
        </p:spPr>
        <p:txBody>
          <a:bodyPr/>
          <a:p>
            <a:pPr algn="ctr">
              <a:lnSpc>
                <a:spcPct val="90000"/>
              </a:lnSpc>
            </a:pPr>
            <a:endParaRPr lang="zh-CN" altLang="en-US" sz="9600" dirty="0">
              <a:latin typeface="Times New Roman" panose="02020603050405020304" pitchFamily="18" charset="0"/>
              <a:ea typeface="宋体" panose="02010600030101010101" pitchFamily="2" charset="-122"/>
            </a:endParaRPr>
          </a:p>
        </p:txBody>
      </p:sp>
      <p:sp>
        <p:nvSpPr>
          <p:cNvPr id="181253" name="Rectangle 5"/>
          <p:cNvSpPr>
            <a:spLocks noChangeArrowheads="1"/>
          </p:cNvSpPr>
          <p:nvPr/>
        </p:nvSpPr>
        <p:spPr bwMode="auto">
          <a:xfrm>
            <a:off x="4470400" y="2387600"/>
            <a:ext cx="3032125" cy="641350"/>
          </a:xfrm>
          <a:prstGeom prst="rect">
            <a:avLst/>
          </a:prstGeom>
          <a:noFill/>
          <a:ln w="12700">
            <a:noFill/>
            <a:miter lim="800000"/>
          </a:ln>
          <a:effectLst/>
        </p:spPr>
        <p:txBody>
          <a:bodyPr>
            <a:spAutoFit/>
          </a:bodyPr>
          <a:lstStyle/>
          <a:p>
            <a:pPr marL="0" marR="0" lvl="0" indent="0" algn="l" defTabSz="914400" rtl="0" eaLnBrk="0" fontAlgn="base" latinLnBrk="0" hangingPunct="0">
              <a:lnSpc>
                <a:spcPct val="90000"/>
              </a:lnSpc>
              <a:spcBef>
                <a:spcPct val="0"/>
              </a:spcBef>
              <a:spcAft>
                <a:spcPct val="0"/>
              </a:spcAft>
              <a:buClrTx/>
              <a:buSzTx/>
              <a:buFontTx/>
              <a:buNone/>
              <a:defRPr/>
            </a:pPr>
            <a:r>
              <a:rPr kumimoji="1" lang="en-US" altLang="zh-CN" sz="4000" b="1" i="0" u="none" strike="noStrike" kern="1200" cap="none" spc="0" normalizeH="0" baseline="0" noProof="0">
                <a:ln>
                  <a:noFill/>
                </a:ln>
                <a:solidFill>
                  <a:srgbClr val="FC0128"/>
                </a:solidFill>
                <a:effectLst>
                  <a:outerShdw blurRad="38100" dist="38100" dir="2700000" algn="tl">
                    <a:srgbClr val="C0C0C0"/>
                  </a:outerShdw>
                </a:effectLst>
                <a:uLnTx/>
                <a:uFillTx/>
                <a:latin typeface="Comic Sans MS" panose="030F0702030302020204" pitchFamily="66" charset="0"/>
                <a:ea typeface="BatangChe" pitchFamily="49" charset="-127"/>
                <a:cs typeface="+mn-cs"/>
              </a:rPr>
              <a:t>Thank You!</a:t>
            </a:r>
            <a:endParaRPr kumimoji="1" lang="zh-CN" altLang="en-US" sz="4000" b="1" i="0" u="none" strike="noStrike" kern="1200" cap="none" spc="0" normalizeH="0" baseline="0" noProof="0">
              <a:ln>
                <a:noFill/>
              </a:ln>
              <a:solidFill>
                <a:srgbClr val="FC0128"/>
              </a:solidFill>
              <a:effectLst>
                <a:outerShdw blurRad="38100" dist="38100" dir="2700000" algn="tl">
                  <a:srgbClr val="C0C0C0"/>
                </a:outerShdw>
              </a:effectLst>
              <a:uLnTx/>
              <a:uFillTx/>
              <a:latin typeface="Comic Sans MS" panose="030F0702030302020204" pitchFamily="66" charset="0"/>
              <a:ea typeface="BatangChe" pitchFamily="49" charset="-127"/>
              <a:cs typeface="+mn-cs"/>
            </a:endParaRPr>
          </a:p>
        </p:txBody>
      </p:sp>
      <p:pic>
        <p:nvPicPr>
          <p:cNvPr id="126983" name="Picture 6" descr="E:\数据库\精品课程建设\图片及模板\mouse22.gif"/>
          <p:cNvPicPr>
            <a:picLocks noChangeAspect="1"/>
          </p:cNvPicPr>
          <p:nvPr/>
        </p:nvPicPr>
        <p:blipFill>
          <a:blip r:embed="rId2"/>
          <a:stretch>
            <a:fillRect/>
          </a:stretch>
        </p:blipFill>
        <p:spPr>
          <a:xfrm>
            <a:off x="2711450" y="4195763"/>
            <a:ext cx="468313" cy="5492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181253"/>
                                        </p:tgtEl>
                                        <p:attrNameLst>
                                          <p:attrName>style.visibility</p:attrName>
                                        </p:attrNameLst>
                                      </p:cBhvr>
                                      <p:to>
                                        <p:strVal val="visible"/>
                                      </p:to>
                                    </p:set>
                                    <p:animEffect transition="in" filter="dissolve">
                                      <p:cBhvr>
                                        <p:cTn id="7" dur="500"/>
                                        <p:tgtEl>
                                          <p:spTgt spid="181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3" grpId="0"/>
    </p:bldLst>
  </p:timing>
</p:sld>
</file>

<file path=ppt/theme/theme1.xml><?xml version="1.0" encoding="utf-8"?>
<a:theme xmlns:a="http://schemas.openxmlformats.org/drawingml/2006/main" name="sample4dbs">
  <a:themeElements>
    <a:clrScheme name="">
      <a:dk1>
        <a:srgbClr val="000000"/>
      </a:dk1>
      <a:lt1>
        <a:srgbClr val="FFFFFF"/>
      </a:lt1>
      <a:dk2>
        <a:srgbClr val="FAFD00"/>
      </a:dk2>
      <a:lt2>
        <a:srgbClr val="CECECE"/>
      </a:lt2>
      <a:accent1>
        <a:srgbClr val="DBFFB8"/>
      </a:accent1>
      <a:accent2>
        <a:srgbClr val="009688"/>
      </a:accent2>
      <a:accent3>
        <a:srgbClr val="FFFFFF"/>
      </a:accent3>
      <a:accent4>
        <a:srgbClr val="000000"/>
      </a:accent4>
      <a:accent5>
        <a:srgbClr val="EAFFD8"/>
      </a:accent5>
      <a:accent6>
        <a:srgbClr val="00877B"/>
      </a:accent6>
      <a:hlink>
        <a:srgbClr val="BC3700"/>
      </a:hlink>
      <a:folHlink>
        <a:srgbClr val="DADADA"/>
      </a:folHlink>
    </a:clrScheme>
    <a:fontScheme name="sample4dbs">
      <a:majorFont>
        <a:latin typeface="Comic Sans MS"/>
        <a:ea typeface="宋体"/>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BFFB8"/>
        </a:solidFill>
        <a:ln w="12700" cap="flat" cmpd="sng" algn="ctr">
          <a:solidFill>
            <a:schemeClr val="accent2"/>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90000"/>
          </a:lnSpc>
          <a:spcBef>
            <a:spcPct val="0"/>
          </a:spcBef>
          <a:spcAft>
            <a:spcPct val="0"/>
          </a:spcAft>
          <a:buClrTx/>
          <a:buSzTx/>
          <a:buFontTx/>
          <a:buNone/>
          <a:defRPr kumimoji="0" lang="en-GB" sz="1600" b="0" i="0" u="none" strike="noStrike" cap="none" normalizeH="0" baseline="0" smtClean="0">
            <a:ln>
              <a:noFill/>
            </a:ln>
            <a:solidFill>
              <a:srgbClr val="00279F"/>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rgbClr val="DBFFB8"/>
        </a:solidFill>
        <a:ln w="12700" cap="flat" cmpd="sng" algn="ctr">
          <a:solidFill>
            <a:schemeClr val="accent2"/>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90000"/>
          </a:lnSpc>
          <a:spcBef>
            <a:spcPct val="0"/>
          </a:spcBef>
          <a:spcAft>
            <a:spcPct val="0"/>
          </a:spcAft>
          <a:buClrTx/>
          <a:buSzTx/>
          <a:buFontTx/>
          <a:buNone/>
          <a:defRPr kumimoji="0" lang="en-GB" sz="1600" b="0" i="0" u="none" strike="noStrike" cap="none" normalizeH="0" baseline="0" smtClean="0">
            <a:ln>
              <a:noFill/>
            </a:ln>
            <a:solidFill>
              <a:srgbClr val="00279F"/>
            </a:solidFill>
            <a:effectLst/>
            <a:latin typeface="Times New Roman" panose="02020603050405020304" pitchFamily="18" charset="0"/>
          </a:defRPr>
        </a:defPPr>
      </a:lstStyle>
    </a:lnDef>
  </a:objectDefaults>
  <a:extraClrSchemeLst>
    <a:extraClrScheme>
      <a:clrScheme name="sample4db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ample4db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ample4db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ample4db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ample4db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ample4db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ample4db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000000"/>
      </a:lt2>
      <a:accent1>
        <a:srgbClr val="000000"/>
      </a:accent1>
      <a:accent2>
        <a:srgbClr val="000000"/>
      </a:accent2>
      <a:accent3>
        <a:srgbClr val="FFFFFF"/>
      </a:accent3>
      <a:accent4>
        <a:srgbClr val="000000"/>
      </a:accent4>
      <a:accent5>
        <a:srgbClr val="AAAAAA"/>
      </a:accent5>
      <a:accent6>
        <a:srgbClr val="000000"/>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000000"/>
      </a:lt2>
      <a:accent1>
        <a:srgbClr val="000000"/>
      </a:accent1>
      <a:accent2>
        <a:srgbClr val="000000"/>
      </a:accent2>
      <a:accent3>
        <a:srgbClr val="FFFFFF"/>
      </a:accent3>
      <a:accent4>
        <a:srgbClr val="000000"/>
      </a:accent4>
      <a:accent5>
        <a:srgbClr val="AAAAAA"/>
      </a:accent5>
      <a:accent6>
        <a:srgbClr val="000000"/>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D:\Documents and Settings\Administrator\Application Data\Microsoft\Templates\sample4dbs.pot</Template>
  <TotalTime>0</TotalTime>
  <Words>13460</Words>
  <Application>WPS 演示</Application>
  <PresentationFormat>A4 纸张(210x297 毫米)</PresentationFormat>
  <Paragraphs>650</Paragraphs>
  <Slides>76</Slides>
  <Notes>46</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3</vt:i4>
      </vt:variant>
      <vt:variant>
        <vt:lpstr>幻灯片标题</vt:lpstr>
      </vt:variant>
      <vt:variant>
        <vt:i4>76</vt:i4>
      </vt:variant>
    </vt:vector>
  </HeadingPairs>
  <TitlesOfParts>
    <vt:vector size="100" baseType="lpstr">
      <vt:lpstr>Arial</vt:lpstr>
      <vt:lpstr>宋体</vt:lpstr>
      <vt:lpstr>Wingdings</vt:lpstr>
      <vt:lpstr>Times New Roman</vt:lpstr>
      <vt:lpstr>Comic Sans MS</vt:lpstr>
      <vt:lpstr>Monotype Sorts</vt:lpstr>
      <vt:lpstr>Wingdings</vt:lpstr>
      <vt:lpstr>Courier New</vt:lpstr>
      <vt:lpstr>仿宋</vt:lpstr>
      <vt:lpstr>Tahoma</vt:lpstr>
      <vt:lpstr>华文仿宋</vt:lpstr>
      <vt:lpstr>新宋体</vt:lpstr>
      <vt:lpstr>BatangChe</vt:lpstr>
      <vt:lpstr>Yu Gothic</vt:lpstr>
      <vt:lpstr>微软雅黑</vt:lpstr>
      <vt:lpstr>Arial Unicode MS</vt:lpstr>
      <vt:lpstr>BatangChe</vt:lpstr>
      <vt:lpstr>Malgun Gothic</vt:lpstr>
      <vt:lpstr>Toots Regular</vt:lpstr>
      <vt:lpstr>Harrington</vt:lpstr>
      <vt:lpstr>sample4dbs</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ZXF</dc:creator>
  <cp:lastModifiedBy>WPS_1644672902</cp:lastModifiedBy>
  <cp:revision>246</cp:revision>
  <dcterms:created xsi:type="dcterms:W3CDTF">1999-01-23T14:21:54Z</dcterms:created>
  <dcterms:modified xsi:type="dcterms:W3CDTF">2025-09-15T08:40:07Z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1</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3</vt:i4>
  </property>
  <property fmtid="{D5CDD505-2E9C-101B-9397-08002B2CF9AE}" pid="21" name="OutputDir">
    <vt:lpwstr>C:\Webpages</vt:lpwstr>
  </property>
  <property fmtid="{D5CDD505-2E9C-101B-9397-08002B2CF9AE}" pid="22" name="ICV">
    <vt:lpwstr>A35073A7CFED4A0F9F53EF59D5378671_12</vt:lpwstr>
  </property>
  <property fmtid="{D5CDD505-2E9C-101B-9397-08002B2CF9AE}" pid="23" name="KSOProductBuildVer">
    <vt:lpwstr>2052-12.1.0.22529</vt:lpwstr>
  </property>
</Properties>
</file>