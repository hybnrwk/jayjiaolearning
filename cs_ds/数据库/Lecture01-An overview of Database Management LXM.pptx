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70"/>
  </p:handoutMasterIdLst>
  <p:sldIdLst>
    <p:sldId id="352" r:id="rId3"/>
    <p:sldId id="264" r:id="rId5"/>
    <p:sldId id="353" r:id="rId6"/>
    <p:sldId id="265" r:id="rId7"/>
    <p:sldId id="266" r:id="rId8"/>
    <p:sldId id="267" r:id="rId9"/>
    <p:sldId id="355" r:id="rId10"/>
    <p:sldId id="342" r:id="rId11"/>
    <p:sldId id="299" r:id="rId12"/>
    <p:sldId id="268" r:id="rId13"/>
    <p:sldId id="288" r:id="rId14"/>
    <p:sldId id="337" r:id="rId15"/>
    <p:sldId id="338" r:id="rId16"/>
    <p:sldId id="347" r:id="rId17"/>
    <p:sldId id="269" r:id="rId18"/>
    <p:sldId id="327" r:id="rId19"/>
    <p:sldId id="332" r:id="rId20"/>
    <p:sldId id="328" r:id="rId21"/>
    <p:sldId id="329" r:id="rId22"/>
    <p:sldId id="343" r:id="rId23"/>
    <p:sldId id="359" r:id="rId24"/>
    <p:sldId id="358" r:id="rId25"/>
    <p:sldId id="333" r:id="rId26"/>
    <p:sldId id="334" r:id="rId27"/>
    <p:sldId id="27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60" r:id="rId39"/>
    <p:sldId id="335" r:id="rId40"/>
    <p:sldId id="271" r:id="rId41"/>
    <p:sldId id="290" r:id="rId42"/>
    <p:sldId id="291" r:id="rId43"/>
    <p:sldId id="292" r:id="rId44"/>
    <p:sldId id="293" r:id="rId45"/>
    <p:sldId id="275" r:id="rId46"/>
    <p:sldId id="357" r:id="rId47"/>
    <p:sldId id="276" r:id="rId48"/>
    <p:sldId id="277" r:id="rId49"/>
    <p:sldId id="278" r:id="rId50"/>
    <p:sldId id="322" r:id="rId51"/>
    <p:sldId id="321" r:id="rId52"/>
    <p:sldId id="323" r:id="rId53"/>
    <p:sldId id="324" r:id="rId54"/>
    <p:sldId id="279" r:id="rId55"/>
    <p:sldId id="280" r:id="rId56"/>
    <p:sldId id="294" r:id="rId57"/>
    <p:sldId id="349" r:id="rId58"/>
    <p:sldId id="351" r:id="rId59"/>
    <p:sldId id="281" r:id="rId60"/>
    <p:sldId id="296" r:id="rId61"/>
    <p:sldId id="297" r:id="rId62"/>
    <p:sldId id="298" r:id="rId63"/>
    <p:sldId id="339" r:id="rId64"/>
    <p:sldId id="282" r:id="rId65"/>
    <p:sldId id="340" r:id="rId66"/>
    <p:sldId id="341" r:id="rId67"/>
    <p:sldId id="295" r:id="rId68"/>
    <p:sldId id="346" r:id="rId69"/>
  </p:sldIdLst>
  <p:sldSz cx="9906000" cy="6858000" type="A4"/>
  <p:notesSz cx="6642100" cy="9779000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rgbClr val="00279F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33CC33"/>
    <a:srgbClr val="FFCCCC"/>
    <a:srgbClr val="3333FF"/>
    <a:srgbClr val="FF9900"/>
    <a:srgbClr val="A8FCF8"/>
    <a:srgbClr val="FEE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/>
    <p:restoredTop sz="94659"/>
  </p:normalViewPr>
  <p:slideViewPr>
    <p:cSldViewPr snapToGrid="0" showGuides="1">
      <p:cViewPr varScale="1">
        <p:scale>
          <a:sx n="64" d="100"/>
          <a:sy n="64" d="100"/>
        </p:scale>
        <p:origin x="1188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2238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348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2992438" y="9259888"/>
            <a:ext cx="7715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52A8CB-8336-4F80-98FC-374983357C4F}" type="slidenum">
              <a:rPr kumimoji="0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GB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TextEdit="1"/>
          </p:cNvSpPr>
          <p:nvPr>
            <p:ph type="sldImg"/>
          </p:nvPr>
        </p:nvSpPr>
        <p:spPr>
          <a:xfrm>
            <a:off x="857250" y="755650"/>
            <a:ext cx="4940300" cy="3397250"/>
          </a:xfrm>
          <a:prstGeom prst="rect">
            <a:avLst/>
          </a:prstGeom>
          <a:noFill/>
          <a:ln w="12700"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12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17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21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26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331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536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741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945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2150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2355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2560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2765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2969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3174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3379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3584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3789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3993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4198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4403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4608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017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3074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2226" name="Rectangle 3075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427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632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5837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6041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6963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168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3074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3730" name="Rectangle 3075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577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782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7987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81922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8397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8601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8806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011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216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4210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6258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9830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Rectangle 2050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00354" name="Rectangle 2051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0240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04450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0649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08546" name="备注占位符 2"/>
          <p:cNvSpPr>
            <a:spLocks noGrp="1"/>
          </p:cNvSpPr>
          <p:nvPr>
            <p:ph type="body"/>
          </p:nvPr>
        </p:nvSpPr>
        <p:spPr>
          <a:xfrm>
            <a:off x="663575" y="4706938"/>
            <a:ext cx="5314950" cy="3849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161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3666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571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Rectangle 1026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7762" name="Rectangle 1027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1981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21858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23906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25954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28002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Rectangle 2"/>
          <p:cNvSpPr>
            <a:spLocks noTextEdit="1"/>
          </p:cNvSpPr>
          <p:nvPr>
            <p:ph type="sldImg"/>
          </p:nvPr>
        </p:nvSpPr>
        <p:spPr>
          <a:xfrm>
            <a:off x="873125" y="755650"/>
            <a:ext cx="4908550" cy="3397250"/>
          </a:xfrm>
          <a:ln/>
        </p:spPr>
      </p:sp>
      <p:sp>
        <p:nvSpPr>
          <p:cNvPr id="130050" name="Rectangle 3"/>
          <p:cNvSpPr>
            <a:spLocks noGrp="1"/>
          </p:cNvSpPr>
          <p:nvPr>
            <p:ph type="body"/>
          </p:nvPr>
        </p:nvSpPr>
        <p:spPr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2057400"/>
            <a:ext cx="3981450" cy="355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0650" y="2057400"/>
            <a:ext cx="3981450" cy="355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0488" tIns="44450" rIns="90488" bIns="4445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Pct val="100000"/>
              <a:buFont typeface="Monotype Sorts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53275" y="914400"/>
            <a:ext cx="2028825" cy="4699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914400"/>
            <a:ext cx="5934075" cy="4699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9700" y="914400"/>
            <a:ext cx="7429500" cy="8826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6800" y="2057400"/>
            <a:ext cx="3981450" cy="3556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0650" y="2057400"/>
            <a:ext cx="3981450" cy="3556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ctr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ctr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ctr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1"/>
          <p:cNvSpPr>
            <a:spLocks noChangeArrowheads="1"/>
          </p:cNvSpPr>
          <p:nvPr/>
        </p:nvSpPr>
        <p:spPr bwMode="auto">
          <a:xfrm>
            <a:off x="7162800" y="6148388"/>
            <a:ext cx="1931988" cy="328613"/>
          </a:xfrm>
          <a:prstGeom prst="rect">
            <a:avLst/>
          </a:prstGeom>
          <a:solidFill>
            <a:srgbClr val="A3F25F"/>
          </a:solidFill>
          <a:ln w="12700">
            <a:solidFill>
              <a:srgbClr val="005400"/>
            </a:solidFill>
            <a:miter lim="800000"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1409700" y="914400"/>
            <a:ext cx="7429500" cy="882650"/>
          </a:xfrm>
          <a:prstGeom prst="rect">
            <a:avLst/>
          </a:prstGeom>
          <a:solidFill>
            <a:srgbClr val="DBFFB8"/>
          </a:solidFill>
          <a:ln w="12700" cap="flat" cmpd="sng">
            <a:solidFill>
              <a:srgbClr val="0054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 anchor="ctr" anchorCtr="0"/>
          <a:p>
            <a:pPr lvl="0"/>
            <a:r>
              <a:rPr lang="en-GB" altLang="zh-CN" dirty="0"/>
              <a:t>Slide Title</a:t>
            </a:r>
            <a:endParaRPr lang="en-GB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1066800" y="2057400"/>
            <a:ext cx="8115300" cy="3556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/>
          <a:p>
            <a:pPr lvl="0"/>
            <a:r>
              <a:rPr lang="en-GB" altLang="zh-CN" dirty="0"/>
              <a:t>Body Text</a:t>
            </a:r>
            <a:endParaRPr lang="en-GB" altLang="zh-CN" dirty="0"/>
          </a:p>
          <a:p>
            <a:pPr lvl="1"/>
            <a:r>
              <a:rPr lang="en-GB" altLang="zh-CN" dirty="0"/>
              <a:t>Second Level</a:t>
            </a:r>
            <a:endParaRPr lang="en-GB" altLang="zh-CN" dirty="0"/>
          </a:p>
          <a:p>
            <a:pPr lvl="2"/>
            <a:r>
              <a:rPr lang="en-GB" altLang="zh-CN" dirty="0"/>
              <a:t>Third Level</a:t>
            </a:r>
            <a:endParaRPr lang="en-GB" altLang="zh-CN" dirty="0"/>
          </a:p>
          <a:p>
            <a:pPr lvl="3"/>
            <a:r>
              <a:rPr lang="en-GB" altLang="zh-CN" dirty="0"/>
              <a:t>Fourth Level</a:t>
            </a:r>
            <a:endParaRPr lang="en-GB" altLang="zh-CN" dirty="0"/>
          </a:p>
          <a:p>
            <a:pPr lvl="4"/>
            <a:r>
              <a:rPr lang="en-GB" altLang="zh-CN" dirty="0"/>
              <a:t>Fifth Level</a:t>
            </a:r>
            <a:endParaRPr lang="en-GB" altLang="zh-CN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019175" y="6002338"/>
            <a:ext cx="2693988" cy="557213"/>
          </a:xfrm>
          <a:prstGeom prst="rect">
            <a:avLst/>
          </a:prstGeom>
          <a:solidFill>
            <a:srgbClr val="A3F25F"/>
          </a:solidFill>
          <a:ln w="12700">
            <a:solidFill>
              <a:srgbClr val="005400"/>
            </a:solidFill>
            <a:miter lim="800000"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949325" y="6045200"/>
            <a:ext cx="28098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School of Information Management &amp; Engineering</a:t>
            </a:r>
            <a:endParaRPr kumimoji="0" lang="en-GB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2"/>
          <p:cNvSpPr/>
          <p:nvPr userDrawn="1"/>
        </p:nvSpPr>
        <p:spPr>
          <a:xfrm>
            <a:off x="260350" y="6343650"/>
            <a:ext cx="514350" cy="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2" name="Line 7"/>
          <p:cNvSpPr/>
          <p:nvPr userDrawn="1"/>
        </p:nvSpPr>
        <p:spPr>
          <a:xfrm>
            <a:off x="180975" y="698500"/>
            <a:ext cx="0" cy="558800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3" name="Line 8"/>
          <p:cNvSpPr/>
          <p:nvPr userDrawn="1"/>
        </p:nvSpPr>
        <p:spPr>
          <a:xfrm>
            <a:off x="254000" y="619125"/>
            <a:ext cx="76200" cy="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4" name="Line 9"/>
          <p:cNvSpPr/>
          <p:nvPr userDrawn="1"/>
        </p:nvSpPr>
        <p:spPr>
          <a:xfrm>
            <a:off x="9632950" y="698500"/>
            <a:ext cx="0" cy="5589588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5" name="Line 10"/>
          <p:cNvSpPr/>
          <p:nvPr userDrawn="1"/>
        </p:nvSpPr>
        <p:spPr>
          <a:xfrm>
            <a:off x="3390900" y="619125"/>
            <a:ext cx="6178550" cy="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6" name="Oval 11"/>
          <p:cNvSpPr>
            <a:spLocks noChangeArrowheads="1"/>
          </p:cNvSpPr>
          <p:nvPr/>
        </p:nvSpPr>
        <p:spPr bwMode="auto">
          <a:xfrm>
            <a:off x="342900" y="574675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7" name="Oval 12"/>
          <p:cNvSpPr>
            <a:spLocks noChangeArrowheads="1"/>
          </p:cNvSpPr>
          <p:nvPr/>
        </p:nvSpPr>
        <p:spPr bwMode="auto">
          <a:xfrm>
            <a:off x="136525" y="574675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8" name="Oval 13"/>
          <p:cNvSpPr>
            <a:spLocks noChangeArrowheads="1"/>
          </p:cNvSpPr>
          <p:nvPr/>
        </p:nvSpPr>
        <p:spPr bwMode="auto">
          <a:xfrm>
            <a:off x="136525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9" name="Oval 14"/>
          <p:cNvSpPr>
            <a:spLocks noChangeArrowheads="1"/>
          </p:cNvSpPr>
          <p:nvPr/>
        </p:nvSpPr>
        <p:spPr bwMode="auto">
          <a:xfrm>
            <a:off x="9588500" y="574675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0" name="Oval 15"/>
          <p:cNvSpPr>
            <a:spLocks noChangeArrowheads="1"/>
          </p:cNvSpPr>
          <p:nvPr/>
        </p:nvSpPr>
        <p:spPr bwMode="auto">
          <a:xfrm>
            <a:off x="793750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1" name="Oval 16"/>
          <p:cNvSpPr>
            <a:spLocks noChangeArrowheads="1"/>
          </p:cNvSpPr>
          <p:nvPr/>
        </p:nvSpPr>
        <p:spPr bwMode="auto">
          <a:xfrm>
            <a:off x="3276600" y="574675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2" name="Line 19"/>
          <p:cNvSpPr/>
          <p:nvPr userDrawn="1"/>
        </p:nvSpPr>
        <p:spPr>
          <a:xfrm>
            <a:off x="3943350" y="6343650"/>
            <a:ext cx="3009900" cy="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3" name="Line 20"/>
          <p:cNvSpPr/>
          <p:nvPr userDrawn="1"/>
        </p:nvSpPr>
        <p:spPr>
          <a:xfrm>
            <a:off x="9359900" y="6343650"/>
            <a:ext cx="196850" cy="0"/>
          </a:xfrm>
          <a:prstGeom prst="line">
            <a:avLst/>
          </a:prstGeom>
          <a:ln w="38100" cap="flat" cmpd="dbl">
            <a:solidFill>
              <a:srgbClr val="0054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4" name="Oval 21"/>
          <p:cNvSpPr>
            <a:spLocks noChangeArrowheads="1"/>
          </p:cNvSpPr>
          <p:nvPr/>
        </p:nvSpPr>
        <p:spPr bwMode="auto">
          <a:xfrm>
            <a:off x="6985000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" name="Oval 22"/>
          <p:cNvSpPr>
            <a:spLocks noChangeArrowheads="1"/>
          </p:cNvSpPr>
          <p:nvPr/>
        </p:nvSpPr>
        <p:spPr bwMode="auto">
          <a:xfrm>
            <a:off x="9232900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6" name="Oval 25"/>
          <p:cNvSpPr>
            <a:spLocks noChangeArrowheads="1"/>
          </p:cNvSpPr>
          <p:nvPr/>
        </p:nvSpPr>
        <p:spPr bwMode="auto">
          <a:xfrm>
            <a:off x="9588500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7" name="Oval 26"/>
          <p:cNvSpPr>
            <a:spLocks noChangeArrowheads="1"/>
          </p:cNvSpPr>
          <p:nvPr/>
        </p:nvSpPr>
        <p:spPr bwMode="auto">
          <a:xfrm>
            <a:off x="3816350" y="6299200"/>
            <a:ext cx="88900" cy="88900"/>
          </a:xfrm>
          <a:prstGeom prst="ellipse">
            <a:avLst/>
          </a:prstGeom>
          <a:solidFill>
            <a:srgbClr val="A3F25F"/>
          </a:solidFill>
          <a:ln w="12700">
            <a:solidFill>
              <a:srgbClr val="037C03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" name="Rectangle 27"/>
          <p:cNvSpPr>
            <a:spLocks noChangeArrowheads="1"/>
          </p:cNvSpPr>
          <p:nvPr/>
        </p:nvSpPr>
        <p:spPr bwMode="auto">
          <a:xfrm>
            <a:off x="606425" y="457200"/>
            <a:ext cx="2365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00279F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Database Systems</a:t>
            </a:r>
            <a:endParaRPr kumimoji="0" lang="en-GB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804" name="Rectangle 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3600" y="6159500"/>
            <a:ext cx="18288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lnSpc>
                <a:spcPct val="90000"/>
              </a:lnSpc>
              <a:defRPr sz="1400" b="1" i="1">
                <a:solidFill>
                  <a:srgbClr val="0054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 </a:t>
            </a:r>
            <a:fld id="{55EF9F37-1922-4286-8C74-863A57F3F9CE}" type="slidenum"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1" u="none" strike="noStrike" kern="1200" cap="none" spc="0" normalizeH="0" baseline="0" noProof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5400"/>
          </a:solidFill>
          <a:latin typeface="Comic Sans MS" panose="030F0702030302020204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37C03"/>
        </a:buClr>
        <a:buSzPct val="100000"/>
        <a:buFont typeface="Monotype Sort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ctr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SzPct val="150000"/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ctr" hangingPunct="0">
        <a:lnSpc>
          <a:spcPct val="90000"/>
        </a:lnSpc>
        <a:spcBef>
          <a:spcPct val="30000"/>
        </a:spcBef>
        <a:spcAft>
          <a:spcPct val="0"/>
        </a:spcAft>
        <a:buClr>
          <a:srgbClr val="1B28A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3pPr>
      <a:lvl4pPr marL="1543050" indent="-171450" algn="l" rtl="0" eaLnBrk="0" fontAlgn="ctr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GIF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wmf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7.GIF"/><Relationship Id="rId1" Type="http://schemas.openxmlformats.org/officeDocument/2006/relationships/image" Target="../media/image52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GIF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GIF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GIF"/><Relationship Id="rId1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4098" name="Rectangle 3"/>
          <p:cNvSpPr/>
          <p:nvPr/>
        </p:nvSpPr>
        <p:spPr>
          <a:xfrm>
            <a:off x="1257300" y="1816100"/>
            <a:ext cx="8145463" cy="38814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p>
            <a:pPr marL="457200" indent="-457200" eaLnBrk="0" hangingPunct="0">
              <a:lnSpc>
                <a:spcPct val="90000"/>
              </a:lnSpc>
              <a:buNone/>
            </a:pPr>
            <a:r>
              <a:rPr lang="en-GB" altLang="zh-CN" sz="2800" b="1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you will learn from this lecture:</a:t>
            </a:r>
            <a:endParaRPr lang="en-GB" altLang="zh-CN" sz="2800" b="1" u="sng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70000"/>
              </a:lnSpc>
              <a:buNone/>
            </a:pP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Introduction</a:t>
            </a: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is a Database System</a:t>
            </a: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is Database</a:t>
            </a: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Database Systems and File Systems</a:t>
            </a:r>
            <a:endParaRPr lang="en-GB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Models </a:t>
            </a: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Definition Language</a:t>
            </a:r>
            <a:endParaRPr lang="en-GB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Manipulation Language </a:t>
            </a:r>
            <a:endParaRPr lang="en-GB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 eaLnBrk="0" hangingPunct="0">
              <a:lnSpc>
                <a:spcPct val="90000"/>
              </a:lnSpc>
              <a:buAutoNum type="arabicPeriod"/>
            </a:pPr>
            <a:r>
              <a:rPr lang="en-GB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en-GB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Rectangle 4"/>
          <p:cNvSpPr>
            <a:spLocks noGrp="1"/>
          </p:cNvSpPr>
          <p:nvPr>
            <p:ph type="title"/>
          </p:nvPr>
        </p:nvSpPr>
        <p:spPr>
          <a:xfrm>
            <a:off x="1295400" y="787400"/>
            <a:ext cx="7086600" cy="9779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GB" altLang="zh-CN" dirty="0">
                <a:latin typeface="+mj-lt"/>
                <a:ea typeface="宋体" panose="02010600030101010101" pitchFamily="2" charset="-122"/>
                <a:cs typeface="+mj-cs"/>
              </a:rPr>
              <a:t>Lecture One: An overview of Database Management</a:t>
            </a:r>
            <a:endParaRPr lang="en-GB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4100" name="Picture 5" descr="SQL_peopl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0" y="5092700"/>
            <a:ext cx="962025" cy="79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400175" y="736600"/>
            <a:ext cx="7429500" cy="655638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1.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Introduction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27038" y="1392238"/>
            <a:ext cx="8994775" cy="3968750"/>
          </a:xfrm>
          <a:ln/>
        </p:spPr>
        <p:txBody>
          <a:bodyPr vert="horz" wrap="square" lIns="90488" tIns="44450" rIns="90488" bIns="44450" anchor="t" anchorCtr="0"/>
          <a:p>
            <a:pPr>
              <a:buSzPct val="10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人工管理（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世纪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年代中期以前）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数据不进行电子保存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数据由应用程序管理，不具有共享性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数据查询、插入、修改、更新等操作困难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举例：人工填写的表格、传统档案等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0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文件系统阶段（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世纪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年代后期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-60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年代中期）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数据保存在数据文件中，可以进行查询、插入、更新等操作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数据由文件系统进行管理，但程序与数据的独立性仍较差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数据文件面向应用，相互之间缺乏联系，共享性差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00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数据库系统阶段（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世纪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年代末至今）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1.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Introduction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1066800" y="1905000"/>
            <a:ext cx="8116888" cy="558800"/>
          </a:xfrm>
          <a:ln/>
        </p:spPr>
        <p:txBody>
          <a:bodyPr vert="horz" wrap="square" lIns="90488" tIns="44450" rIns="90488" bIns="44450" anchor="t" anchorCtr="0"/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Computerless Data Storage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0" y="2463800"/>
            <a:ext cx="6400800" cy="3484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1024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025" y="1841500"/>
            <a:ext cx="7029450" cy="4164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927100" y="850900"/>
            <a:ext cx="8089900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Relational Database Management System</a:t>
            </a:r>
            <a:b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关系数据库管理系统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Computerless Data Retrieval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229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963" y="1824038"/>
            <a:ext cx="7018337" cy="4141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0" y="823913"/>
            <a:ext cx="7299325" cy="4649787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4338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3581400" y="139700"/>
            <a:ext cx="5892800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Asking for Information-RDBMS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4340" name="Picture 5" descr="SQL_peopl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3355975"/>
            <a:ext cx="1760538" cy="1703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9334" name="AutoShape 6"/>
          <p:cNvSpPr>
            <a:spLocks noChangeArrowheads="1"/>
          </p:cNvSpPr>
          <p:nvPr/>
        </p:nvSpPr>
        <p:spPr bwMode="auto">
          <a:xfrm>
            <a:off x="317500" y="1158875"/>
            <a:ext cx="4098925" cy="1685925"/>
          </a:xfrm>
          <a:prstGeom prst="cloudCallout">
            <a:avLst>
              <a:gd name="adj1" fmla="val -34119"/>
              <a:gd name="adj2" fmla="val 76901"/>
            </a:avLst>
          </a:prstGeom>
          <a:gradFill flip="none" rotWithShape="1">
            <a:gsLst>
              <a:gs pos="0">
                <a:srgbClr val="00B0F0"/>
              </a:gs>
              <a:gs pos="73000">
                <a:srgbClr val="A8FCF8"/>
              </a:gs>
              <a:gs pos="100000">
                <a:schemeClr val="accent5"/>
              </a:gs>
            </a:gsLst>
            <a:lin ang="18900000" scaled="1"/>
            <a:tileRect/>
          </a:gra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180000" tIns="0" rIns="0" b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need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listing of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department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D11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sorted by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last name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2" name="Picture 7" descr="SQL_peo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924300"/>
            <a:ext cx="2019300" cy="1939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标注 2"/>
          <p:cNvSpPr/>
          <p:nvPr/>
        </p:nvSpPr>
        <p:spPr bwMode="auto">
          <a:xfrm>
            <a:off x="990600" y="5195888"/>
            <a:ext cx="4356100" cy="1573213"/>
          </a:xfrm>
          <a:prstGeom prst="wedgeRoundRectCallout">
            <a:avLst>
              <a:gd name="adj1" fmla="val -2118"/>
              <a:gd name="adj2" fmla="val -73696"/>
              <a:gd name="adj3" fmla="val 16667"/>
            </a:avLst>
          </a:prstGeom>
          <a:gradFill flip="none" rotWithShape="1">
            <a:gsLst>
              <a:gs pos="0">
                <a:schemeClr val="accent1">
                  <a:lumMod val="25000"/>
                </a:schemeClr>
              </a:gs>
              <a:gs pos="17000">
                <a:schemeClr val="accent1">
                  <a:lumMod val="50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18900000" scaled="1"/>
            <a:tileRect/>
          </a:gradFill>
          <a:ln>
            <a:solidFill>
              <a:srgbClr val="FF99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SELECT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*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FROM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EMPLOYEE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WHERE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WORKDEPT=‘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D11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’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ORDER BY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LASTNAME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00175" y="736600"/>
            <a:ext cx="7429500" cy="655638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1.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Introduction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27038" y="1660525"/>
            <a:ext cx="8994775" cy="3700463"/>
          </a:xfrm>
        </p:spPr>
        <p:txBody>
          <a:bodyPr vert="horz" wrap="square" lIns="90488" tIns="44450" rIns="90488" bIns="44450" numCol="1" anchor="t" anchorCtr="0" compatLnSpc="1"/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数据库系统阶段（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年代末至今）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数据存放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在数据库中，并用数据模型来描述数据本身以及数据之间的联系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数据是面向系统的，冗余度低，可以共享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的数据的查询、插入、修改、更新等操作方便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数据具有安全性、一致性、持久性、共享性等特性，以及操作的并行性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2.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What is a Database System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901700" y="2171700"/>
            <a:ext cx="8674100" cy="3556000"/>
          </a:xfrm>
          <a:ln/>
        </p:spPr>
        <p:txBody>
          <a:bodyPr vert="horz" wrap="square" lIns="90488" tIns="44450" rIns="90488" bIns="44450" anchor="t" anchorCtr="0"/>
          <a:p>
            <a:pPr>
              <a:spcAft>
                <a:spcPts val="6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Definition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Operations on the data (file)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spcAft>
                <a:spcPts val="600"/>
              </a:spcAft>
              <a:buSzPct val="15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</a:t>
            </a:r>
            <a:endParaRPr lang="en-US" altLang="zh-CN" sz="28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spcAft>
                <a:spcPts val="600"/>
              </a:spcAft>
              <a:buSzPct val="150000"/>
            </a:pPr>
            <a:r>
              <a:rPr lang="en-US" altLang="zh-CN" sz="28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Retrieving data from existing files</a:t>
            </a:r>
            <a:endParaRPr lang="en-US" altLang="zh-CN" sz="28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spcAft>
                <a:spcPts val="600"/>
              </a:spcAft>
              <a:buSzPct val="150000"/>
            </a:pPr>
            <a:r>
              <a:rPr lang="en-US" altLang="zh-CN" sz="28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Inserting data into existing files</a:t>
            </a:r>
            <a:endParaRPr lang="en-US" altLang="zh-CN" sz="28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 major components of a Database System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835400" y="279400"/>
            <a:ext cx="5359400" cy="6731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2.1 Definition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93700" y="977900"/>
            <a:ext cx="9512300" cy="12319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Computerized record-keeping system</a:t>
            </a:r>
            <a:endParaRPr lang="en-US" altLang="zh-CN" sz="25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Store information </a:t>
            </a:r>
            <a:endParaRPr lang="en-US" altLang="zh-CN" sz="25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Allow users to retrieve and update information on demand </a:t>
            </a:r>
            <a:endParaRPr lang="zh-CN" altLang="en-US" sz="25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484" name="组合 1"/>
          <p:cNvGrpSpPr/>
          <p:nvPr/>
        </p:nvGrpSpPr>
        <p:grpSpPr>
          <a:xfrm>
            <a:off x="1016000" y="2174875"/>
            <a:ext cx="8242300" cy="4683125"/>
            <a:chOff x="2292622" y="2349500"/>
            <a:chExt cx="5441678" cy="4493527"/>
          </a:xfrm>
        </p:grpSpPr>
        <p:pic>
          <p:nvPicPr>
            <p:cNvPr id="2048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92622" y="2349500"/>
              <a:ext cx="5428978" cy="42291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6" name="Text Box 5"/>
            <p:cNvSpPr txBox="1"/>
            <p:nvPr/>
          </p:nvSpPr>
          <p:spPr>
            <a:xfrm>
              <a:off x="2311400" y="6488668"/>
              <a:ext cx="5422900" cy="35435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Fig. 1.4 Simplified picture of a database system</a:t>
              </a:r>
              <a:endPara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云形标注 1"/>
          <p:cNvSpPr/>
          <p:nvPr/>
        </p:nvSpPr>
        <p:spPr>
          <a:xfrm>
            <a:off x="7493000" y="2273300"/>
            <a:ext cx="1003300" cy="431800"/>
          </a:xfrm>
          <a:prstGeom prst="cloudCallout">
            <a:avLst>
              <a:gd name="adj1" fmla="val -90421"/>
              <a:gd name="adj2" fmla="val 155319"/>
            </a:avLst>
          </a:prstGeom>
          <a:solidFill>
            <a:srgbClr val="DBFFB8"/>
          </a:solidFill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权限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云形标注 8"/>
          <p:cNvSpPr/>
          <p:nvPr/>
        </p:nvSpPr>
        <p:spPr>
          <a:xfrm>
            <a:off x="1562100" y="6045200"/>
            <a:ext cx="1003300" cy="431800"/>
          </a:xfrm>
          <a:prstGeom prst="cloudCallout">
            <a:avLst>
              <a:gd name="adj1" fmla="val 205782"/>
              <a:gd name="adj2" fmla="val -232917"/>
            </a:avLst>
          </a:prstGeom>
          <a:solidFill>
            <a:srgbClr val="DBFFB8"/>
          </a:solidFill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共享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2253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1257300"/>
            <a:ext cx="8229600" cy="433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Rectangle 4"/>
          <p:cNvSpPr/>
          <p:nvPr/>
        </p:nvSpPr>
        <p:spPr>
          <a:xfrm>
            <a:off x="2057400" y="5586413"/>
            <a:ext cx="6045200" cy="4000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Fig. 1.1  The wine cellar database (file CELLAR)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6"/>
          <p:cNvSpPr/>
          <p:nvPr/>
        </p:nvSpPr>
        <p:spPr>
          <a:xfrm>
            <a:off x="2559050" y="784225"/>
            <a:ext cx="4762500" cy="42545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Collection of interrelated data</a:t>
            </a:r>
            <a:endParaRPr lang="zh-CN" altLang="en-US" sz="2400" b="1" dirty="0">
              <a:solidFill>
                <a:schemeClr val="tx1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2.2 Operations on the data (file)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1092200" y="2006600"/>
            <a:ext cx="8001000" cy="3594100"/>
          </a:xfrm>
          <a:ln/>
        </p:spPr>
        <p:txBody>
          <a:bodyPr vert="horz" wrap="square" lIns="90488" tIns="44450" rIns="90488" bIns="44450" anchor="t" anchorCtr="0"/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Adding new, empty files to the database;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Inserting data into existing files;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Retrieving(</a:t>
            </a:r>
            <a:r>
              <a:rPr lang="zh-CN" altLang="en-US" sz="24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data from existing files;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Changing data in existing files;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Deleting data from existing files;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Removing existing files from the database.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Aft>
                <a:spcPts val="800"/>
              </a:spcAft>
              <a:buSzPct val="100000"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17920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913" y="1384300"/>
            <a:ext cx="3436937" cy="35147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7920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50" y="3703638"/>
            <a:ext cx="6745288" cy="20796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79212" name="AutoShape 12"/>
          <p:cNvSpPr/>
          <p:nvPr/>
        </p:nvSpPr>
        <p:spPr>
          <a:xfrm>
            <a:off x="5372100" y="2641600"/>
            <a:ext cx="304800" cy="1231900"/>
          </a:xfrm>
          <a:prstGeom prst="downArrow">
            <a:avLst>
              <a:gd name="adj1" fmla="val 50000"/>
              <a:gd name="adj2" fmla="val 101022"/>
            </a:avLst>
          </a:prstGeom>
          <a:gradFill rotWithShape="0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757BB3"/>
            </a:outerShdw>
          </a:effectLst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9" name="Rectangle 13"/>
          <p:cNvSpPr/>
          <p:nvPr/>
        </p:nvSpPr>
        <p:spPr>
          <a:xfrm>
            <a:off x="622300" y="898525"/>
            <a:ext cx="7113588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800" b="1" dirty="0">
                <a:solidFill>
                  <a:srgbClr val="0054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E.g. Retrieving data from existing files</a:t>
            </a:r>
            <a:endParaRPr lang="zh-CN" altLang="en-US" sz="2800" b="1" dirty="0">
              <a:solidFill>
                <a:srgbClr val="0054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073525" y="1282700"/>
            <a:ext cx="5281613" cy="1676400"/>
            <a:chOff x="4073525" y="1282700"/>
            <a:chExt cx="5281613" cy="1676400"/>
          </a:xfrm>
        </p:grpSpPr>
        <p:grpSp>
          <p:nvGrpSpPr>
            <p:cNvPr id="26631" name="Group 8"/>
            <p:cNvGrpSpPr/>
            <p:nvPr/>
          </p:nvGrpSpPr>
          <p:grpSpPr>
            <a:xfrm>
              <a:off x="4073525" y="1282700"/>
              <a:ext cx="5281613" cy="1676400"/>
              <a:chOff x="2742" y="1264"/>
              <a:chExt cx="2911" cy="864"/>
            </a:xfrm>
          </p:grpSpPr>
          <p:pic>
            <p:nvPicPr>
              <p:cNvPr id="26632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2" y="1422"/>
                <a:ext cx="1812" cy="468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26633" name="Picture 7" descr="SQL_peopl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6" y="1264"/>
                <a:ext cx="1037" cy="86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6634" name="TextBox 2"/>
            <p:cNvSpPr txBox="1"/>
            <p:nvPr/>
          </p:nvSpPr>
          <p:spPr>
            <a:xfrm>
              <a:off x="7188200" y="2032000"/>
              <a:ext cx="355600" cy="4254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;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2867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0" y="1493838"/>
            <a:ext cx="7980363" cy="17780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8022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724400"/>
            <a:ext cx="8686800" cy="11239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80230" name="AutoShape 6"/>
          <p:cNvSpPr/>
          <p:nvPr/>
        </p:nvSpPr>
        <p:spPr>
          <a:xfrm>
            <a:off x="5016500" y="3441700"/>
            <a:ext cx="304800" cy="1143000"/>
          </a:xfrm>
          <a:prstGeom prst="downArrow">
            <a:avLst>
              <a:gd name="adj1" fmla="val 50000"/>
              <a:gd name="adj2" fmla="val 93750"/>
            </a:avLst>
          </a:prstGeom>
          <a:gradFill rotWithShape="0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757BB3"/>
            </a:outerShdw>
          </a:effectLst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8677" name="Picture 7" descr="SQL_peopl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2514600"/>
            <a:ext cx="1928813" cy="1768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8" name="Rectangle 8"/>
          <p:cNvSpPr/>
          <p:nvPr/>
        </p:nvSpPr>
        <p:spPr>
          <a:xfrm>
            <a:off x="592138" y="873125"/>
            <a:ext cx="6789737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800" b="1" dirty="0">
                <a:solidFill>
                  <a:srgbClr val="0054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E.g. Inserting data into existing files</a:t>
            </a:r>
            <a:endParaRPr lang="zh-CN" altLang="en-US" sz="2800" b="1" dirty="0">
              <a:solidFill>
                <a:srgbClr val="0054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30722" name="Rectangle 1026"/>
          <p:cNvSpPr>
            <a:spLocks noGrp="1"/>
          </p:cNvSpPr>
          <p:nvPr>
            <p:ph type="title"/>
          </p:nvPr>
        </p:nvSpPr>
        <p:spPr>
          <a:xfrm>
            <a:off x="1104900" y="914400"/>
            <a:ext cx="7543800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2.3 Four major components of </a:t>
            </a:r>
            <a:b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a Database System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0723" name="Rectangle 1027"/>
          <p:cNvSpPr>
            <a:spLocks noGrp="1"/>
          </p:cNvSpPr>
          <p:nvPr>
            <p:ph idx="1"/>
          </p:nvPr>
        </p:nvSpPr>
        <p:spPr>
          <a:xfrm>
            <a:off x="736600" y="1854200"/>
            <a:ext cx="8115300" cy="38608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Hardware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Software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Users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32770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063" y="1047750"/>
            <a:ext cx="7640637" cy="5203825"/>
          </a:xfrm>
          <a:ln/>
        </p:spPr>
      </p:pic>
      <p:sp>
        <p:nvSpPr>
          <p:cNvPr id="32771" name="Text Box 4"/>
          <p:cNvSpPr txBox="1"/>
          <p:nvPr/>
        </p:nvSpPr>
        <p:spPr>
          <a:xfrm>
            <a:off x="7175500" y="5346700"/>
            <a:ext cx="838200" cy="3397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Text Box 5"/>
          <p:cNvSpPr txBox="1"/>
          <p:nvPr/>
        </p:nvSpPr>
        <p:spPr>
          <a:xfrm>
            <a:off x="6502400" y="3009900"/>
            <a:ext cx="1524000" cy="58737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SOFTWARE (DBMS)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3" name="Text Box 6"/>
          <p:cNvSpPr txBox="1"/>
          <p:nvPr/>
        </p:nvSpPr>
        <p:spPr>
          <a:xfrm>
            <a:off x="7099300" y="1095375"/>
            <a:ext cx="952500" cy="3397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USERS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4" name="AutoShape 7"/>
          <p:cNvSpPr/>
          <p:nvPr/>
        </p:nvSpPr>
        <p:spPr>
          <a:xfrm>
            <a:off x="8013700" y="1549400"/>
            <a:ext cx="368300" cy="3962400"/>
          </a:xfrm>
          <a:prstGeom prst="rightBrace">
            <a:avLst>
              <a:gd name="adj1" fmla="val 104000"/>
              <a:gd name="adj2" fmla="val 50000"/>
            </a:avLst>
          </a:pr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5" name="Text Box 8"/>
          <p:cNvSpPr txBox="1"/>
          <p:nvPr/>
        </p:nvSpPr>
        <p:spPr>
          <a:xfrm>
            <a:off x="8420100" y="2946400"/>
            <a:ext cx="1219200" cy="8350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Supported by hardware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6" name="Rectangle 14"/>
          <p:cNvSpPr/>
          <p:nvPr/>
        </p:nvSpPr>
        <p:spPr>
          <a:xfrm>
            <a:off x="533400" y="1676400"/>
            <a:ext cx="8534400" cy="381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Line 16"/>
          <p:cNvSpPr/>
          <p:nvPr/>
        </p:nvSpPr>
        <p:spPr>
          <a:xfrm flipH="1">
            <a:off x="5513388" y="1239838"/>
            <a:ext cx="1473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</p:spPr>
      </p:sp>
      <p:sp>
        <p:nvSpPr>
          <p:cNvPr id="32778" name="Line 17"/>
          <p:cNvSpPr/>
          <p:nvPr/>
        </p:nvSpPr>
        <p:spPr>
          <a:xfrm flipH="1">
            <a:off x="5943600" y="5511800"/>
            <a:ext cx="1168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</p:spPr>
      </p:sp>
      <p:sp>
        <p:nvSpPr>
          <p:cNvPr id="32779" name="Line 18"/>
          <p:cNvSpPr/>
          <p:nvPr/>
        </p:nvSpPr>
        <p:spPr>
          <a:xfrm flipH="1">
            <a:off x="5905500" y="3416300"/>
            <a:ext cx="889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</p:spPr>
      </p:sp>
      <p:sp>
        <p:nvSpPr>
          <p:cNvPr id="32780" name="Rectangle 3"/>
          <p:cNvSpPr>
            <a:spLocks noGrp="1"/>
          </p:cNvSpPr>
          <p:nvPr>
            <p:ph type="title"/>
          </p:nvPr>
        </p:nvSpPr>
        <p:spPr>
          <a:xfrm>
            <a:off x="3060700" y="460375"/>
            <a:ext cx="5067300" cy="454025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四部分之间的关系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4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r>
              <a:rPr lang="en-US" altLang="zh-CN" dirty="0">
                <a:ea typeface="宋体" panose="02010600030101010101" pitchFamily="2" charset="-122"/>
              </a:rPr>
              <a:t>Data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19" name="Rectangle 5"/>
          <p:cNvSpPr>
            <a:spLocks noGrp="1"/>
          </p:cNvSpPr>
          <p:nvPr>
            <p:ph type="body" sz="half" idx="1"/>
          </p:nvPr>
        </p:nvSpPr>
        <p:spPr>
          <a:xfrm>
            <a:off x="762000" y="2133600"/>
            <a:ext cx="8572500" cy="3797300"/>
          </a:xfrm>
          <a:ln/>
        </p:spPr>
        <p:txBody>
          <a:bodyPr vert="horz" wrap="square" lIns="90488" tIns="44450" rIns="90488" bIns="44450" anchor="t" anchorCtr="0"/>
          <a:p>
            <a:pPr marL="342900" indent="-342900">
              <a:buClr>
                <a:srgbClr val="037C03"/>
              </a:buClr>
              <a:buSzPct val="100000"/>
              <a:buFont typeface="Monotype Sorts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Data refer to what is actually stored in the database.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Clr>
                <a:srgbClr val="037C03"/>
              </a:buClr>
              <a:buSzPct val="100000"/>
              <a:buFont typeface="Monotype Sorts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Information: refer to the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meaning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 that data as understood by some user.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Clr>
                <a:srgbClr val="037C03"/>
              </a:buClr>
              <a:buSzPct val="100000"/>
              <a:buFont typeface="Monotype Sorts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The terms “data” and “information” are treated as synonymous(</a:t>
            </a:r>
            <a:r>
              <a:rPr lang="zh-CN" altLang="en-US" b="1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同义的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in this book.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Clr>
                <a:srgbClr val="009900"/>
              </a:buClr>
              <a:buSzPct val="100000"/>
              <a:buFont typeface="Monotype Sorts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 is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integrated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Clr>
                <a:srgbClr val="009900"/>
              </a:buClr>
              <a:buSzPct val="100000"/>
              <a:buFont typeface="Monotype Sorts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 is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shared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4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36866" name="Rectangle 3"/>
          <p:cNvSpPr>
            <a:spLocks noGrp="1"/>
          </p:cNvSpPr>
          <p:nvPr>
            <p:ph type="body" sz="half" idx="1"/>
          </p:nvPr>
        </p:nvSpPr>
        <p:spPr>
          <a:xfrm>
            <a:off x="1295400" y="2057400"/>
            <a:ext cx="3981450" cy="3556000"/>
          </a:xfrm>
          <a:ln/>
        </p:spPr>
        <p:txBody>
          <a:bodyPr vert="horz" wrap="square" lIns="90488" tIns="44450" rIns="90488" bIns="44450" anchor="t" anchorCtr="0"/>
          <a:p>
            <a:pPr>
              <a:buClr>
                <a:srgbClr val="037C03"/>
              </a:buClr>
              <a:buSzPct val="100000"/>
              <a:buFont typeface="Monotype Sorts" pitchFamily="2" charset="2"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36867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47800"/>
            <a:ext cx="5943600" cy="4357688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6868" name="Text Box 9"/>
          <p:cNvSpPr txBox="1"/>
          <p:nvPr/>
        </p:nvSpPr>
        <p:spPr>
          <a:xfrm>
            <a:off x="5257800" y="1371600"/>
            <a:ext cx="1981200" cy="1400175"/>
          </a:xfrm>
          <a:prstGeom prst="rect">
            <a:avLst/>
          </a:prstGeom>
          <a:solidFill>
            <a:srgbClr val="FFCCCC">
              <a:alpha val="50195"/>
            </a:srgbClr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u="sng" dirty="0">
                <a:solidFill>
                  <a:schemeClr val="tx1"/>
                </a:solidFill>
                <a:latin typeface="GungsuhChe" pitchFamily="49" charset="-128"/>
                <a:ea typeface="GungsuhChe" pitchFamily="49" charset="-128"/>
              </a:rPr>
              <a:t>ENROLLMENT</a:t>
            </a:r>
            <a:endParaRPr lang="en-US" altLang="zh-CN" sz="1800" u="sng" dirty="0">
              <a:solidFill>
                <a:schemeClr val="tx1"/>
              </a:solidFill>
              <a:latin typeface="GungsuhChe" pitchFamily="49" charset="-128"/>
              <a:ea typeface="GungsuhChe" pitchFamily="49" charset="-128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  <a:ea typeface="Gulim" pitchFamily="34" charset="-127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Arial Narrow" panose="020B0606020202030204" pitchFamily="34" charset="0"/>
                <a:ea typeface="Gulim" pitchFamily="34" charset="-127"/>
              </a:rPr>
              <a:t>PID </a:t>
            </a:r>
            <a:r>
              <a:rPr lang="en-US" altLang="zh-CN" b="1" dirty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solidFill>
                  <a:srgbClr val="9900CC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PK</a:t>
            </a:r>
            <a:endParaRPr lang="en-US" altLang="zh-CN" b="1" dirty="0">
              <a:solidFill>
                <a:srgbClr val="9900CC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 Narrow" panose="020B0606020202030204" pitchFamily="34" charset="0"/>
                <a:ea typeface="Gulim" pitchFamily="34" charset="-127"/>
              </a:rPr>
              <a:t>       COURSE ,</a:t>
            </a:r>
            <a:r>
              <a:rPr lang="en-US" altLang="zh-CN" b="1" dirty="0">
                <a:solidFill>
                  <a:srgbClr val="9900CC"/>
                </a:solidFill>
                <a:latin typeface="Arial Narrow" panose="020B0606020202030204" pitchFamily="34" charset="0"/>
                <a:ea typeface="Gulim" pitchFamily="34" charset="-127"/>
              </a:rPr>
              <a:t>PK</a:t>
            </a:r>
            <a:endParaRPr lang="en-US" altLang="zh-CN" b="1" dirty="0">
              <a:solidFill>
                <a:srgbClr val="9900CC"/>
              </a:solidFill>
              <a:latin typeface="Arial Narrow" panose="020B0606020202030204" pitchFamily="34" charset="0"/>
              <a:ea typeface="Gulim" pitchFamily="34" charset="-127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  <a:ea typeface="Gulim" pitchFamily="34" charset="-127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Arial Narrow" panose="020B0606020202030204" pitchFamily="34" charset="0"/>
                <a:ea typeface="Gulim" pitchFamily="34" charset="-127"/>
              </a:rPr>
              <a:t>…</a:t>
            </a:r>
            <a:endParaRPr lang="en-US" altLang="zh-CN" b="1" dirty="0">
              <a:solidFill>
                <a:schemeClr val="tx1"/>
              </a:solidFill>
              <a:latin typeface="Arial Narrow" panose="020B0606020202030204" pitchFamily="34" charset="0"/>
              <a:ea typeface="Gulim" pitchFamily="34" charset="-127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endParaRPr lang="en-US" altLang="zh-CN" sz="1800" dirty="0">
              <a:solidFill>
                <a:schemeClr val="tx1"/>
              </a:solidFill>
              <a:latin typeface="Arial Narrow" panose="020B0606020202030204" pitchFamily="34" charset="0"/>
              <a:ea typeface="Gulim" pitchFamily="34" charset="-127"/>
            </a:endParaRPr>
          </a:p>
        </p:txBody>
      </p:sp>
      <p:pic>
        <p:nvPicPr>
          <p:cNvPr id="3686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419600"/>
            <a:ext cx="2371725" cy="11811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6870" name="Rectangle 13"/>
          <p:cNvSpPr/>
          <p:nvPr/>
        </p:nvSpPr>
        <p:spPr>
          <a:xfrm>
            <a:off x="1066800" y="5181600"/>
            <a:ext cx="1371600" cy="198438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6871" name="AutoShape 14"/>
          <p:cNvCxnSpPr>
            <a:stCxn id="36870" idx="2"/>
          </p:cNvCxnSpPr>
          <p:nvPr/>
        </p:nvCxnSpPr>
        <p:spPr>
          <a:xfrm rot="-5400000" flipH="1">
            <a:off x="4792663" y="2349500"/>
            <a:ext cx="206375" cy="6291263"/>
          </a:xfrm>
          <a:prstGeom prst="bentConnector3">
            <a:avLst>
              <a:gd name="adj1" fmla="val 210769"/>
            </a:avLst>
          </a:prstGeom>
          <a:ln w="28575" cap="flat" cmpd="sng">
            <a:solidFill>
              <a:srgbClr val="FF3300"/>
            </a:solidFill>
            <a:prstDash val="sysDot"/>
            <a:miter/>
            <a:headEnd type="none" w="med" len="med"/>
            <a:tailEnd type="triangle" w="med" len="med"/>
          </a:ln>
        </p:spPr>
      </p:cxnSp>
      <p:sp>
        <p:nvSpPr>
          <p:cNvPr id="36872" name="Line 15"/>
          <p:cNvSpPr/>
          <p:nvPr/>
        </p:nvSpPr>
        <p:spPr>
          <a:xfrm>
            <a:off x="1752600" y="1828800"/>
            <a:ext cx="35052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triangle" w="med" len="med"/>
          </a:ln>
        </p:spPr>
      </p:sp>
      <p:sp>
        <p:nvSpPr>
          <p:cNvPr id="36873" name="Text Box 16"/>
          <p:cNvSpPr txBox="1"/>
          <p:nvPr/>
        </p:nvSpPr>
        <p:spPr>
          <a:xfrm>
            <a:off x="7721600" y="3111500"/>
            <a:ext cx="1422400" cy="654050"/>
          </a:xfrm>
          <a:prstGeom prst="rect">
            <a:avLst/>
          </a:prstGeom>
          <a:solidFill>
            <a:srgbClr val="9900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Personnel Department </a:t>
            </a:r>
            <a:endParaRPr lang="zh-CN" altLang="en-US" sz="20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Text Box 19"/>
          <p:cNvSpPr txBox="1"/>
          <p:nvPr/>
        </p:nvSpPr>
        <p:spPr>
          <a:xfrm>
            <a:off x="7721600" y="1739900"/>
            <a:ext cx="1422400" cy="646113"/>
          </a:xfrm>
          <a:prstGeom prst="rect">
            <a:avLst/>
          </a:prstGeom>
          <a:solidFill>
            <a:srgbClr val="0033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Training Department</a:t>
            </a:r>
            <a:endParaRPr lang="zh-CN" altLang="en-US" sz="20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6875" name="AutoShape 20"/>
          <p:cNvCxnSpPr>
            <a:stCxn id="36873" idx="3"/>
          </p:cNvCxnSpPr>
          <p:nvPr/>
        </p:nvCxnSpPr>
        <p:spPr>
          <a:xfrm>
            <a:off x="9144000" y="3438525"/>
            <a:ext cx="85725" cy="1571625"/>
          </a:xfrm>
          <a:prstGeom prst="bentConnector3">
            <a:avLst>
              <a:gd name="adj1" fmla="val 366667"/>
            </a:avLst>
          </a:prstGeom>
          <a:ln w="38100" cap="flat" cmpd="sng">
            <a:solidFill>
              <a:srgbClr val="9900CC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36876" name="AutoShape 21"/>
          <p:cNvCxnSpPr/>
          <p:nvPr/>
        </p:nvCxnSpPr>
        <p:spPr>
          <a:xfrm rot="-10800000" flipV="1">
            <a:off x="533400" y="3476625"/>
            <a:ext cx="8585200" cy="150813"/>
          </a:xfrm>
          <a:prstGeom prst="bentConnector5">
            <a:avLst>
              <a:gd name="adj1" fmla="val -3995"/>
              <a:gd name="adj2" fmla="val 1624208"/>
              <a:gd name="adj3" fmla="val 102662"/>
            </a:avLst>
          </a:prstGeom>
          <a:ln w="38100" cap="flat" cmpd="sng">
            <a:solidFill>
              <a:srgbClr val="9900CC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36877" name="AutoShape 22"/>
          <p:cNvCxnSpPr>
            <a:stCxn id="36874" idx="3"/>
          </p:cNvCxnSpPr>
          <p:nvPr/>
        </p:nvCxnSpPr>
        <p:spPr>
          <a:xfrm flipH="1" flipV="1">
            <a:off x="3505200" y="1447800"/>
            <a:ext cx="5638800" cy="619125"/>
          </a:xfrm>
          <a:prstGeom prst="bentConnector4">
            <a:avLst>
              <a:gd name="adj1" fmla="val -4056"/>
              <a:gd name="adj2" fmla="val 136921"/>
            </a:avLst>
          </a:prstGeom>
          <a:ln w="38100" cap="flat" cmpd="sng">
            <a:solidFill>
              <a:srgbClr val="003399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36878" name="AutoShape 23"/>
          <p:cNvCxnSpPr>
            <a:stCxn id="36874" idx="1"/>
            <a:endCxn id="36868" idx="3"/>
          </p:cNvCxnSpPr>
          <p:nvPr/>
        </p:nvCxnSpPr>
        <p:spPr>
          <a:xfrm flipH="1">
            <a:off x="7239000" y="2066925"/>
            <a:ext cx="482600" cy="4763"/>
          </a:xfrm>
          <a:prstGeom prst="straightConnector1">
            <a:avLst/>
          </a:prstGeom>
          <a:ln w="38100" cap="flat" cmpd="sng">
            <a:solidFill>
              <a:srgbClr val="0033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79" name="Rectangle 25"/>
          <p:cNvSpPr/>
          <p:nvPr/>
        </p:nvSpPr>
        <p:spPr>
          <a:xfrm>
            <a:off x="504825" y="768350"/>
            <a:ext cx="5065713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30000"/>
              </a:spcBef>
              <a:buClr>
                <a:srgbClr val="009900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is integrated and shared.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6880" name="AutoShape 26"/>
          <p:cNvCxnSpPr>
            <a:stCxn id="36874" idx="2"/>
          </p:cNvCxnSpPr>
          <p:nvPr/>
        </p:nvCxnSpPr>
        <p:spPr>
          <a:xfrm rot="5400000">
            <a:off x="6337300" y="2914650"/>
            <a:ext cx="2616200" cy="1574800"/>
          </a:xfrm>
          <a:prstGeom prst="bentConnector4">
            <a:avLst>
              <a:gd name="adj1" fmla="val 20630"/>
              <a:gd name="adj2" fmla="val 114514"/>
            </a:avLst>
          </a:prstGeom>
          <a:ln w="38100" cap="flat" cmpd="sng">
            <a:solidFill>
              <a:srgbClr val="003399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723900" y="1995488"/>
            <a:ext cx="8572500" cy="3859213"/>
          </a:xfrm>
        </p:spPr>
        <p:txBody>
          <a:bodyPr vert="horz" wrap="square" lIns="90488" tIns="44450" rIns="90488" bIns="4445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Hardware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Magnetic Disks, disk drives: store information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Hardware Processor(s) and Associated Main Memory: running DBS software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Software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Database Management System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(DMBS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数据库管理系统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E.g.,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Oracle, DB2, SQL Server, Access, MySQL, …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Hardware and Software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40962" name="Rectangle 2"/>
          <p:cNvSpPr>
            <a:spLocks noGrp="1"/>
          </p:cNvSpPr>
          <p:nvPr>
            <p:ph idx="1"/>
          </p:nvPr>
        </p:nvSpPr>
        <p:spPr>
          <a:xfrm>
            <a:off x="655638" y="915988"/>
            <a:ext cx="8420100" cy="5040312"/>
          </a:xfrm>
          <a:ln/>
        </p:spPr>
        <p:txBody>
          <a:bodyPr vert="horz" wrap="square" lIns="90488" tIns="44450" rIns="90488" bIns="44450" anchor="t" anchorCtr="0"/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Application Programmers</a:t>
            </a: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User</a:t>
            </a: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Administrator (DA,</a:t>
            </a:r>
            <a:r>
              <a:rPr lang="zh-CN" altLang="en-US" sz="24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数据管理员</a:t>
            </a:r>
            <a:r>
              <a:rPr lang="zh-CN" altLang="en-US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): </a:t>
            </a:r>
            <a:endParaRPr lang="zh-CN" altLang="en-US" sz="23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Decide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data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should be stored in the database in the first place.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Establish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policies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for maintaining and dealing with that data once it has been stored.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E.G., data security policy</a:t>
            </a:r>
            <a:endParaRPr lang="en-US" altLang="zh-CN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Database Administrator (DBA,</a:t>
            </a:r>
            <a:r>
              <a:rPr lang="zh-CN" altLang="en-US" sz="24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数据库管理员</a:t>
            </a:r>
            <a:r>
              <a:rPr lang="zh-CN" altLang="en-US" sz="23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):</a:t>
            </a:r>
            <a:endParaRPr lang="zh-CN" altLang="en-US" sz="23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lvl="1" indent="-285750" algn="just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IT technical person responsible for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implementing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the data administrator's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decisions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 algn="just">
              <a:lnSpc>
                <a:spcPct val="80000"/>
              </a:lnSpc>
              <a:buSzPct val="15000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Create the actual database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and  implement the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technical controls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needed to enforce the various policy decisions made by the data administrator.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/>
          <p:nvPr/>
        </p:nvSpPr>
        <p:spPr>
          <a:xfrm>
            <a:off x="495300" y="0"/>
            <a:ext cx="90805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algn="just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4"/>
            </a:pP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5"/>
          <p:cNvSpPr>
            <a:spLocks noGrp="1"/>
          </p:cNvSpPr>
          <p:nvPr>
            <p:ph type="title"/>
          </p:nvPr>
        </p:nvSpPr>
        <p:spPr>
          <a:xfrm>
            <a:off x="4152900" y="177800"/>
            <a:ext cx="4597400" cy="6731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User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43010" name="Rectangle 6"/>
          <p:cNvSpPr/>
          <p:nvPr/>
        </p:nvSpPr>
        <p:spPr>
          <a:xfrm>
            <a:off x="771525" y="819150"/>
            <a:ext cx="4533900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30000"/>
              </a:spcBef>
              <a:buClr>
                <a:srgbClr val="009900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Application Programmers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011" name="组合 2"/>
          <p:cNvGrpSpPr/>
          <p:nvPr/>
        </p:nvGrpSpPr>
        <p:grpSpPr>
          <a:xfrm>
            <a:off x="787400" y="1381125"/>
            <a:ext cx="8115300" cy="4630738"/>
            <a:chOff x="787400" y="1381125"/>
            <a:chExt cx="8115300" cy="4630738"/>
          </a:xfrm>
        </p:grpSpPr>
        <p:pic>
          <p:nvPicPr>
            <p:cNvPr id="43012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7400" y="1381125"/>
              <a:ext cx="8115300" cy="4630738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43013" name="矩形 1"/>
            <p:cNvSpPr/>
            <p:nvPr/>
          </p:nvSpPr>
          <p:spPr>
            <a:xfrm>
              <a:off x="6311900" y="4013200"/>
              <a:ext cx="1816100" cy="13081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>
                <a:lnSpc>
                  <a:spcPct val="90000"/>
                </a:lnSpc>
              </a:pPr>
              <a:endPara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endPara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4505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747713"/>
            <a:ext cx="8324850" cy="52482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5059" name="Rectangle 5"/>
          <p:cNvSpPr/>
          <p:nvPr/>
        </p:nvSpPr>
        <p:spPr>
          <a:xfrm>
            <a:off x="771525" y="946150"/>
            <a:ext cx="1987550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30000"/>
              </a:spcBef>
              <a:buClr>
                <a:srgbClr val="009900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End User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矩形 4"/>
          <p:cNvSpPr/>
          <p:nvPr/>
        </p:nvSpPr>
        <p:spPr>
          <a:xfrm>
            <a:off x="1784350" y="4708525"/>
            <a:ext cx="1363663" cy="75723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 eaLnBrk="0" hangingPunct="0">
              <a:lnSpc>
                <a:spcPct val="90000"/>
              </a:lnSpc>
            </a:pPr>
            <a:r>
              <a:rPr lang="en-US" altLang="zh-CN" sz="5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sz="5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106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47107" name="Rectangle 6"/>
          <p:cNvSpPr/>
          <p:nvPr/>
        </p:nvSpPr>
        <p:spPr>
          <a:xfrm>
            <a:off x="758825" y="984250"/>
            <a:ext cx="4244975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30000"/>
              </a:spcBef>
              <a:buClr>
                <a:srgbClr val="009900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Database Administrator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710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025" y="1562100"/>
            <a:ext cx="4718050" cy="4052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9" name="云形标注 2"/>
          <p:cNvSpPr/>
          <p:nvPr/>
        </p:nvSpPr>
        <p:spPr>
          <a:xfrm>
            <a:off x="1212850" y="1660525"/>
            <a:ext cx="3240088" cy="2333625"/>
          </a:xfrm>
          <a:prstGeom prst="cloudCallout">
            <a:avLst>
              <a:gd name="adj1" fmla="val 47810"/>
              <a:gd name="adj2" fmla="val 42773"/>
            </a:avLst>
          </a:prstGeom>
          <a:noFill/>
          <a:ln w="31750" cap="flat" cmpd="sng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CODING AND CREATING OBJECTS, TABLES, INDEXES, VIEWS, ETC.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云形标注 3"/>
          <p:cNvSpPr/>
          <p:nvPr/>
        </p:nvSpPr>
        <p:spPr>
          <a:xfrm>
            <a:off x="1460500" y="4210050"/>
            <a:ext cx="2724150" cy="1473200"/>
          </a:xfrm>
          <a:prstGeom prst="cloudCallout">
            <a:avLst>
              <a:gd name="adj1" fmla="val 49241"/>
              <a:gd name="adj2" fmla="val -61046"/>
            </a:avLst>
          </a:prstGeom>
          <a:noFill/>
          <a:ln w="412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609600" y="1873250"/>
            <a:ext cx="8655050" cy="401955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Database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A collection of persistent data that is used by the application systems of some given enterprise.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Persistent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Be removed from the database only by some explicit request to the DBMS.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examples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Product data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Customer data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Student data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Account data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915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0" y="4000500"/>
            <a:ext cx="5200650" cy="1819275"/>
          </a:xfrm>
          <a:prstGeom prst="rect">
            <a:avLst/>
          </a:prstGeom>
          <a:solidFill>
            <a:srgbClr val="FFCCFF"/>
          </a:solidFill>
          <a:ln w="9525">
            <a:noFill/>
          </a:ln>
          <a:effectLst>
            <a:outerShdw dist="53882" dir="2699999" algn="ctr" rotWithShape="0">
              <a:schemeClr val="tx1"/>
            </a:outerShdw>
          </a:effectLst>
        </p:spPr>
      </p:pic>
      <p:sp>
        <p:nvSpPr>
          <p:cNvPr id="49156" name="Rectangle 6"/>
          <p:cNvSpPr/>
          <p:nvPr/>
        </p:nvSpPr>
        <p:spPr>
          <a:xfrm>
            <a:off x="1409700" y="914400"/>
            <a:ext cx="7429500" cy="857250"/>
          </a:xfrm>
          <a:prstGeom prst="rect">
            <a:avLst/>
          </a:prstGeom>
          <a:solidFill>
            <a:srgbClr val="DBFFB8"/>
          </a:solidFill>
          <a:ln w="12700" cap="flat" cmpd="sng">
            <a:solidFill>
              <a:srgbClr val="0054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 anchor="ctr" anchorCtr="0"/>
          <a:p>
            <a:pPr algn="ctr" eaLnBrk="0" hangingPunct="0">
              <a:lnSpc>
                <a:spcPct val="90000"/>
              </a:lnSpc>
            </a:pPr>
            <a:r>
              <a:rPr lang="zh-CN" altLang="en-US" sz="2800" b="1" dirty="0">
                <a:solidFill>
                  <a:srgbClr val="0054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3. </a:t>
            </a:r>
            <a:r>
              <a:rPr lang="en-US" altLang="zh-CN" sz="2800" b="1" dirty="0">
                <a:solidFill>
                  <a:srgbClr val="0054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What is a Database?</a:t>
            </a:r>
            <a:endParaRPr lang="en-US" altLang="zh-CN" sz="2800" b="1" dirty="0">
              <a:solidFill>
                <a:srgbClr val="0054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3187700" y="4978400"/>
            <a:ext cx="59690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51202" name="Rectangle 2"/>
          <p:cNvSpPr>
            <a:spLocks noGrp="1"/>
          </p:cNvSpPr>
          <p:nvPr>
            <p:ph idx="1"/>
          </p:nvPr>
        </p:nvSpPr>
        <p:spPr>
          <a:xfrm>
            <a:off x="419100" y="755650"/>
            <a:ext cx="9144000" cy="5251450"/>
          </a:xfrm>
          <a:ln/>
        </p:spPr>
        <p:txBody>
          <a:bodyPr vert="horz" wrap="square" lIns="90488" tIns="44450" rIns="90488" bIns="44450" anchor="t" anchorCtr="0"/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Enterprise examples: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 manufacturing company : production, inventory, orders, supply chain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 bank : all transactions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 university : student, course, grades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 hospital: patients, doctors, medicine, prescription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Airlines: reservations, schedules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Sales: customers, products, purchases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Human resources: emp records, salaries, tax deductions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 single individual with a small personal database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E.g., Northwind.mdb</a:t>
            </a:r>
            <a:endParaRPr lang="en-US" altLang="zh-CN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0000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Databases touch all aspects of our lives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5325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2463"/>
            <a:ext cx="9906000" cy="593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5529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63" y="654050"/>
            <a:ext cx="9393237" cy="5399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299" name="矩形 4"/>
          <p:cNvSpPr/>
          <p:nvPr/>
        </p:nvSpPr>
        <p:spPr>
          <a:xfrm>
            <a:off x="2495550" y="76200"/>
            <a:ext cx="58039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客户、雇员、运货商和订单表间的联系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57346" name="矩形 4"/>
          <p:cNvSpPr/>
          <p:nvPr/>
        </p:nvSpPr>
        <p:spPr>
          <a:xfrm>
            <a:off x="2495550" y="76200"/>
            <a:ext cx="58039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订单、订单明细和产品表间的联系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7347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617538"/>
            <a:ext cx="8482013" cy="5926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59394" name="矩形 4"/>
          <p:cNvSpPr/>
          <p:nvPr/>
        </p:nvSpPr>
        <p:spPr>
          <a:xfrm>
            <a:off x="2495550" y="76200"/>
            <a:ext cx="58039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产品、类别和供应商表间的联系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939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88" y="614363"/>
            <a:ext cx="7643812" cy="5726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标题 1"/>
          <p:cNvSpPr>
            <a:spLocks noGrp="1"/>
          </p:cNvSpPr>
          <p:nvPr>
            <p:ph type="title"/>
          </p:nvPr>
        </p:nvSpPr>
        <p:spPr>
          <a:xfrm>
            <a:off x="1370013" y="706438"/>
            <a:ext cx="7429500" cy="714375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数据库的单表查询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1442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144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013" y="1243013"/>
            <a:ext cx="6065837" cy="5614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1"/>
          <p:cNvSpPr>
            <a:spLocks noGrp="1"/>
          </p:cNvSpPr>
          <p:nvPr>
            <p:ph type="title"/>
          </p:nvPr>
        </p:nvSpPr>
        <p:spPr>
          <a:xfrm>
            <a:off x="1360488" y="625475"/>
            <a:ext cx="7429500" cy="715963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数据库的多表查询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——</a:t>
            </a:r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连接查询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2466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246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688" y="1122363"/>
            <a:ext cx="5740400" cy="573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8" name="文本框 6"/>
          <p:cNvSpPr txBox="1"/>
          <p:nvPr/>
        </p:nvSpPr>
        <p:spPr>
          <a:xfrm>
            <a:off x="284163" y="1557338"/>
            <a:ext cx="1416050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eaLnBrk="0" hangingPunct="0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查询显示库存量小于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的产品的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、名称、单价、库存量和供应商的公司名称、联系人姓名和电话等信息。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1"/>
          <p:cNvSpPr>
            <a:spLocks noGrp="1"/>
          </p:cNvSpPr>
          <p:nvPr>
            <p:ph type="title"/>
          </p:nvPr>
        </p:nvSpPr>
        <p:spPr>
          <a:xfrm>
            <a:off x="1370013" y="615950"/>
            <a:ext cx="7429500" cy="715963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数据库的多表查询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——</a:t>
            </a:r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连接查询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3490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349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1082675"/>
            <a:ext cx="7318375" cy="5775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2" name="文本框 6"/>
          <p:cNvSpPr txBox="1"/>
          <p:nvPr/>
        </p:nvSpPr>
        <p:spPr>
          <a:xfrm>
            <a:off x="284163" y="1557338"/>
            <a:ext cx="1455737" cy="2554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eaLnBrk="0" hangingPunct="0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查询“高上补习班”这个客户在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1996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年至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1997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年购买饮料的订单信息及运货商名称。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64514" name="文本框 6"/>
          <p:cNvSpPr txBox="1"/>
          <p:nvPr/>
        </p:nvSpPr>
        <p:spPr>
          <a:xfrm>
            <a:off x="284163" y="1557338"/>
            <a:ext cx="1673225" cy="3170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 eaLnBrk="0" hangingPunct="0"/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查询雇员的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、姓氏、名字、职务以及其上司的姓氏、名字和职务，查询和了解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Northwind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公司人员的上下级关系。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4515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388" y="566738"/>
            <a:ext cx="7643812" cy="6291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标题 1"/>
          <p:cNvSpPr>
            <a:spLocks noGrp="1"/>
          </p:cNvSpPr>
          <p:nvPr>
            <p:ph type="title"/>
          </p:nvPr>
        </p:nvSpPr>
        <p:spPr>
          <a:xfrm>
            <a:off x="781050" y="596900"/>
            <a:ext cx="8261350" cy="714375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通过一定的计算，查询数据库表中没有的属性值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5538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553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750" y="1158875"/>
            <a:ext cx="6804025" cy="5699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标题 1"/>
          <p:cNvSpPr>
            <a:spLocks noGrp="1"/>
          </p:cNvSpPr>
          <p:nvPr>
            <p:ph type="title"/>
          </p:nvPr>
        </p:nvSpPr>
        <p:spPr>
          <a:xfrm>
            <a:off x="781050" y="750888"/>
            <a:ext cx="8261350" cy="715962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通过分类汇总，查询数据库表中没有的属性值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6562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656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630363"/>
            <a:ext cx="8566150" cy="4202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1"/>
          <p:cNvSpPr>
            <a:spLocks noGrp="1"/>
          </p:cNvSpPr>
          <p:nvPr>
            <p:ph type="title"/>
          </p:nvPr>
        </p:nvSpPr>
        <p:spPr>
          <a:xfrm>
            <a:off x="781050" y="750888"/>
            <a:ext cx="8261350" cy="715962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通过分类汇总，查询数据库表中没有的属性值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7586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67587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97050"/>
            <a:ext cx="4502150" cy="4032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1797050"/>
            <a:ext cx="5324475" cy="4032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889000" y="1917700"/>
            <a:ext cx="8267700" cy="3556000"/>
          </a:xfrm>
          <a:ln/>
        </p:spPr>
        <p:txBody>
          <a:bodyPr vert="horz" wrap="square" lIns="90488" tIns="44450" rIns="90488" bIns="44450" anchor="t" anchorCtr="0"/>
          <a:p>
            <a:pPr marL="342900" indent="-342900"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Drawbacks of using file systems to store data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Benefits of the Database Approach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20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When not to use a database system?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200000"/>
              </a:lnSpc>
              <a:buSzPct val="100000"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200000"/>
              </a:lnSpc>
              <a:buSzPct val="100000"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079500" y="914400"/>
            <a:ext cx="7962900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4.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Database Systems and File Systems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533400" y="1676400"/>
            <a:ext cx="9372600" cy="4749800"/>
          </a:xfrm>
          <a:ln/>
        </p:spPr>
        <p:txBody>
          <a:bodyPr vert="horz" wrap="square" lIns="90488" tIns="44450" rIns="90488" bIns="44450" anchor="t" anchorCtr="0"/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redundancy(</a:t>
            </a:r>
            <a:r>
              <a:rPr lang="zh-CN" altLang="en-US" sz="20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冗余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and inconsistency(</a:t>
            </a:r>
            <a:r>
              <a:rPr lang="zh-CN" altLang="en-US" sz="20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不一致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Multiple file formats, duplication of information in different files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Difficulty in accessing data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Need to write a new program to carry out each new task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 , get the balance of accounts whose balance are less than 1000.</a:t>
            </a:r>
            <a:endParaRPr lang="en-US" altLang="zh-CN" sz="20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isolation — multiple files and formats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indent="-342900">
              <a:lnSpc>
                <a:spcPct val="80000"/>
              </a:lnSpc>
              <a:buSzPct val="10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Integrity(</a:t>
            </a:r>
            <a:r>
              <a:rPr lang="zh-CN" altLang="en-US" sz="2000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完整性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problems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Integrity constraints  (e.g. account balance &gt; 0) become part of program code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80000"/>
              </a:lnSpc>
              <a:buSzPct val="150000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Hard to add new constraints or change existing ones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0659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2371725"/>
            <a:ext cx="8170863" cy="12096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0660" name="Rectangle 2"/>
          <p:cNvSpPr>
            <a:spLocks noGrp="1"/>
          </p:cNvSpPr>
          <p:nvPr>
            <p:ph type="title"/>
          </p:nvPr>
        </p:nvSpPr>
        <p:spPr>
          <a:xfrm>
            <a:off x="863600" y="711200"/>
            <a:ext cx="8013700" cy="8636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4.1 Drawbacks of using file systems </a:t>
            </a:r>
            <a:b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to store data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863600" y="711200"/>
            <a:ext cx="8013700" cy="8636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4.1 Drawbacks of using file systems </a:t>
            </a:r>
            <a:b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to store data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j-cs"/>
              </a:rPr>
              <a:t>…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612900"/>
            <a:ext cx="8864600" cy="4381500"/>
          </a:xfrm>
        </p:spPr>
        <p:txBody>
          <a:bodyPr vert="horz" wrap="square" lIns="90488" tIns="44450" rIns="90488" bIns="4445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Atomicity(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原子性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of updates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Failures may leave database in an inconsistent state with partial updates carried out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E.g. , transfer of funds from one account to another should either complete or not happen at all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Concurrent access by multiple users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Concurrent access needed for performance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ctr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Uncontrolled concurrent accesses can lead to inconsistencies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ctr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E.g. , two people reading a balance and updating it at the same time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Security problems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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DBS offer solutions to all the above problems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772400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4.2 Benefits of the Database Approach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1066800" y="2057400"/>
            <a:ext cx="8559800" cy="3619500"/>
          </a:xfrm>
          <a:ln/>
        </p:spPr>
        <p:txBody>
          <a:bodyPr vert="horz" wrap="square" lIns="90488" tIns="44450" rIns="90488" bIns="44450" anchor="t" anchorCtr="0"/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data can be shared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Redundancy can be reduced (to some extent)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Inconsistency can be avoided Transaction support can be provided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Integrity can be maintained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Security can be enforced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76802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4400" y="1384300"/>
            <a:ext cx="7754938" cy="4576763"/>
          </a:xfrm>
          <a:ln/>
        </p:spPr>
      </p:pic>
      <p:sp>
        <p:nvSpPr>
          <p:cNvPr id="76803" name="Rectangle 7"/>
          <p:cNvSpPr/>
          <p:nvPr/>
        </p:nvSpPr>
        <p:spPr>
          <a:xfrm>
            <a:off x="860425" y="887413"/>
            <a:ext cx="4562475" cy="43656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Security-Authorization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78850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9200" y="1219200"/>
            <a:ext cx="7310438" cy="4764088"/>
          </a:xfrm>
          <a:ln/>
        </p:spPr>
      </p:pic>
      <p:sp>
        <p:nvSpPr>
          <p:cNvPr id="78851" name="Rectangle 7"/>
          <p:cNvSpPr/>
          <p:nvPr/>
        </p:nvSpPr>
        <p:spPr>
          <a:xfrm>
            <a:off x="860425" y="887413"/>
            <a:ext cx="2635250" cy="4365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Security-view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xfrm>
            <a:off x="838200" y="838200"/>
            <a:ext cx="8191500" cy="722313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4.3When not to use a database system?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665163" y="1654175"/>
            <a:ext cx="8763000" cy="43561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DBMS requires additional overhead!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High initial investment in hardware, software and training.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Overhead for providing security(</a:t>
            </a:r>
            <a:r>
              <a:rPr lang="zh-CN" altLang="en-US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安全性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), concurrency control(</a:t>
            </a:r>
            <a:r>
              <a:rPr lang="zh-CN" altLang="en-US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并发控制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), recovery(</a:t>
            </a:r>
            <a:r>
              <a:rPr lang="zh-CN" altLang="en-US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数据库恢复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 and integrity(</a:t>
            </a:r>
            <a:r>
              <a:rPr lang="zh-CN" altLang="en-US" dirty="0">
                <a:solidFill>
                  <a:srgbClr val="0000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完整性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functions.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There are still a lot of applications that use files.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The database and application are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well-defined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and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not expected to change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-- usually dealing with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small size of data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There are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stringent real-time requirements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for some programs that may not be met because of DBMS overhead.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SzPct val="15000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Multiple-user access to data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not required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2946" name="Rectangle 2"/>
          <p:cNvSpPr>
            <a:spLocks noGrp="1"/>
          </p:cNvSpPr>
          <p:nvPr>
            <p:ph type="title"/>
          </p:nvPr>
        </p:nvSpPr>
        <p:spPr>
          <a:xfrm>
            <a:off x="1409700" y="914400"/>
            <a:ext cx="7429500" cy="8636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5.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Data Models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1092200" y="1968500"/>
            <a:ext cx="8166100" cy="4000500"/>
          </a:xfrm>
        </p:spPr>
        <p:txBody>
          <a:bodyPr vert="horz" wrap="square" lIns="90488" tIns="44450" rIns="90488" bIns="44450" numCol="1" anchor="t" anchorCtr="0" compatLnSpc="1"/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collection of tools for describing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Data, Data relationships 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联系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semantics 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语义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Data constraints 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约束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Entity-Relationship model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Relational model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Other models: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Object-oriented model 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面向对象模型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Semi-structured data models 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半结构化模型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6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Older models: network model(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网状模型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ctr" latinLnBrk="0" hangingPunct="0">
              <a:lnSpc>
                <a:spcPct val="60000"/>
              </a:lnSpc>
              <a:spcBef>
                <a:spcPts val="6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hierarchical model(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层次模型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xfrm>
            <a:off x="1409700" y="914400"/>
            <a:ext cx="7429500" cy="8636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5.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Data Models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1092200" y="1968500"/>
            <a:ext cx="8166100" cy="4000500"/>
          </a:xfrm>
          <a:ln/>
        </p:spPr>
        <p:txBody>
          <a:bodyPr vert="horz" wrap="square" lIns="90488" tIns="44450" rIns="90488" bIns="44450" anchor="t" anchorCtr="0"/>
          <a:p>
            <a:pPr>
              <a:spcBef>
                <a:spcPts val="600"/>
              </a:spcBef>
              <a:buSzPct val="10000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Entity-Relationship model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50000"/>
              </a:lnSpc>
              <a:buClr>
                <a:srgbClr val="FFFF00"/>
              </a:buClr>
              <a:buSzPct val="75000"/>
              <a:buFont typeface="Monotype Sorts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实体联系模型是数据库设计中的一个重要概念数据模型，用于描述数据库的概念模式，而不考虑数据库的逻辑与物理结构。‌ 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50000"/>
              </a:lnSpc>
              <a:buClr>
                <a:srgbClr val="FFFF00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模型通过定义实体、属性、联系等基本概念，充分反映现实世界，使得现实世界的事物以信息结构的形式方便地表示出来。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50000"/>
              </a:lnSpc>
              <a:buClr>
                <a:srgbClr val="FFFF00"/>
              </a:buClr>
              <a:buSzPct val="75000"/>
              <a:buFont typeface="Monotype Sorts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该模型在将现实企业的需求和业务交互映射到概念模式上非常有用，是桥梁。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SzPct val="100000"/>
            </a:pP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600"/>
              </a:spcBef>
              <a:buSzPct val="100000"/>
            </a:pP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70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5.1 Entity-Relationship Model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xfrm>
            <a:off x="749300" y="1955800"/>
            <a:ext cx="8432800" cy="5080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 of schema in the entity-relationship model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7044" name="Picture 4"/>
          <p:cNvPicPr>
            <a:picLocks noChangeAspect="1"/>
          </p:cNvPicPr>
          <p:nvPr/>
        </p:nvPicPr>
        <p:blipFill>
          <a:blip r:embed="rId1"/>
          <a:srcRect l="1144" t="30066" r="1308" b="30501"/>
          <a:stretch>
            <a:fillRect/>
          </a:stretch>
        </p:blipFill>
        <p:spPr>
          <a:xfrm>
            <a:off x="439738" y="2514600"/>
            <a:ext cx="8894762" cy="2489200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87045" name="Rectangle 6"/>
          <p:cNvSpPr/>
          <p:nvPr/>
        </p:nvSpPr>
        <p:spPr>
          <a:xfrm>
            <a:off x="4364038" y="5441950"/>
            <a:ext cx="1865312" cy="420688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Relationship</a:t>
            </a:r>
            <a:endParaRPr lang="zh-CN" altLang="en-US" sz="2400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7046" name="组合 2"/>
          <p:cNvGrpSpPr/>
          <p:nvPr/>
        </p:nvGrpSpPr>
        <p:grpSpPr>
          <a:xfrm>
            <a:off x="2227263" y="4432300"/>
            <a:ext cx="946150" cy="1430338"/>
            <a:chOff x="2227263" y="4432300"/>
            <a:chExt cx="946150" cy="1430338"/>
          </a:xfrm>
        </p:grpSpPr>
        <p:sp>
          <p:nvSpPr>
            <p:cNvPr id="87047" name="Rectangle 7"/>
            <p:cNvSpPr/>
            <p:nvPr/>
          </p:nvSpPr>
          <p:spPr>
            <a:xfrm>
              <a:off x="2227263" y="5441950"/>
              <a:ext cx="946150" cy="4206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en-US" altLang="zh-CN" sz="2400" dirty="0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Entity</a:t>
              </a:r>
              <a:endPara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048" name="Line 8"/>
            <p:cNvSpPr/>
            <p:nvPr/>
          </p:nvSpPr>
          <p:spPr>
            <a:xfrm flipV="1">
              <a:off x="2692400" y="4432300"/>
              <a:ext cx="0" cy="102870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ysDot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7049" name="组合 1"/>
          <p:cNvGrpSpPr/>
          <p:nvPr/>
        </p:nvGrpSpPr>
        <p:grpSpPr>
          <a:xfrm>
            <a:off x="7205663" y="4445000"/>
            <a:ext cx="946150" cy="1417638"/>
            <a:chOff x="7205663" y="4445000"/>
            <a:chExt cx="946150" cy="1417638"/>
          </a:xfrm>
        </p:grpSpPr>
        <p:sp>
          <p:nvSpPr>
            <p:cNvPr id="87050" name="Rectangle 9"/>
            <p:cNvSpPr/>
            <p:nvPr/>
          </p:nvSpPr>
          <p:spPr>
            <a:xfrm>
              <a:off x="7205663" y="5441950"/>
              <a:ext cx="946150" cy="4206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en-US" altLang="zh-CN" sz="2400" dirty="0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Entity</a:t>
              </a:r>
              <a:endPara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051" name="Line 10"/>
            <p:cNvSpPr/>
            <p:nvPr/>
          </p:nvSpPr>
          <p:spPr>
            <a:xfrm flipV="1">
              <a:off x="7670800" y="4445000"/>
              <a:ext cx="0" cy="99060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ysDot"/>
              <a:round/>
              <a:headEnd type="none" w="med" len="med"/>
              <a:tailEnd type="triangle" w="med" len="med"/>
            </a:ln>
          </p:spPr>
        </p:sp>
      </p:grpSp>
      <p:sp>
        <p:nvSpPr>
          <p:cNvPr id="87052" name="Line 11"/>
          <p:cNvSpPr/>
          <p:nvPr/>
        </p:nvSpPr>
        <p:spPr>
          <a:xfrm flipV="1">
            <a:off x="5346700" y="4965700"/>
            <a:ext cx="0" cy="4953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ysDot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89090" name="Text Box 4"/>
          <p:cNvSpPr txBox="1"/>
          <p:nvPr/>
        </p:nvSpPr>
        <p:spPr>
          <a:xfrm>
            <a:off x="1028700" y="2628900"/>
            <a:ext cx="1930400" cy="1079500"/>
          </a:xfrm>
          <a:prstGeom prst="rect">
            <a:avLst/>
          </a:prstGeom>
          <a:solidFill>
            <a:srgbClr val="0033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t" anchorCtr="0">
            <a:spAutoFit/>
          </a:bodyPr>
          <a:p>
            <a:pPr algn="ctr" eaLnBrk="0" hangingPunct="0"/>
            <a:r>
              <a:rPr lang="en-US" altLang="zh-CN" sz="32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E-R</a:t>
            </a:r>
            <a:endParaRPr lang="en-US" altLang="zh-CN" sz="32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algn="ctr" eaLnBrk="0" hangingPunct="0"/>
            <a:r>
              <a:rPr lang="en-US" altLang="zh-CN" sz="32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Model</a:t>
            </a:r>
            <a:endParaRPr lang="en-US" altLang="zh-CN" sz="32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9091" name="Text Box 5"/>
          <p:cNvSpPr txBox="1"/>
          <p:nvPr/>
        </p:nvSpPr>
        <p:spPr>
          <a:xfrm>
            <a:off x="6248400" y="2641600"/>
            <a:ext cx="2489200" cy="1079500"/>
          </a:xfrm>
          <a:prstGeom prst="rect">
            <a:avLst/>
          </a:prstGeom>
          <a:solidFill>
            <a:srgbClr val="0033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anchor="t" anchorCtr="0">
            <a:spAutoFit/>
          </a:bodyPr>
          <a:p>
            <a:pPr algn="ctr" eaLnBrk="0" hangingPunct="0"/>
            <a:r>
              <a:rPr lang="en-US" altLang="zh-CN" sz="32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Relational</a:t>
            </a:r>
            <a:endParaRPr lang="en-US" altLang="zh-CN" sz="32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algn="ctr" eaLnBrk="0" hangingPunct="0"/>
            <a:r>
              <a:rPr lang="en-US" altLang="zh-CN" sz="3200" b="1" dirty="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Model</a:t>
            </a:r>
            <a:endParaRPr lang="en-US" altLang="zh-CN" sz="3200" b="1" dirty="0">
              <a:solidFill>
                <a:schemeClr val="bg1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89092" name="AutoShape 6"/>
          <p:cNvCxnSpPr>
            <a:stCxn id="89090" idx="3"/>
            <a:endCxn id="89091" idx="1"/>
          </p:cNvCxnSpPr>
          <p:nvPr/>
        </p:nvCxnSpPr>
        <p:spPr>
          <a:xfrm>
            <a:off x="2959100" y="3168650"/>
            <a:ext cx="3289300" cy="12700"/>
          </a:xfrm>
          <a:prstGeom prst="straightConnector1">
            <a:avLst/>
          </a:prstGeom>
          <a:ln w="3810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093" name="Rectangle 7"/>
          <p:cNvSpPr/>
          <p:nvPr/>
        </p:nvSpPr>
        <p:spPr>
          <a:xfrm>
            <a:off x="3324225" y="2678113"/>
            <a:ext cx="2576513" cy="479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 converted to</a:t>
            </a:r>
            <a:endParaRPr lang="zh-CN" altLang="en-US" sz="2800" b="1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9113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213" y="2211388"/>
            <a:ext cx="7024687" cy="3744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139" name="Rectangle 2"/>
          <p:cNvSpPr>
            <a:spLocks noGrp="1"/>
          </p:cNvSpPr>
          <p:nvPr>
            <p:ph type="title"/>
          </p:nvPr>
        </p:nvSpPr>
        <p:spPr>
          <a:xfrm>
            <a:off x="1397000" y="901700"/>
            <a:ext cx="7302500" cy="7620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5.2 Relational Model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91140" name="Rectangle 3"/>
          <p:cNvSpPr>
            <a:spLocks noGrp="1"/>
          </p:cNvSpPr>
          <p:nvPr>
            <p:ph idx="1"/>
          </p:nvPr>
        </p:nvSpPr>
        <p:spPr>
          <a:xfrm>
            <a:off x="774700" y="1803400"/>
            <a:ext cx="8864600" cy="4826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 of tabular data in the relational model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80000"/>
              </a:lnSpc>
              <a:buSzPct val="15000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1" name="Rectangle 5"/>
          <p:cNvSpPr/>
          <p:nvPr/>
        </p:nvSpPr>
        <p:spPr>
          <a:xfrm>
            <a:off x="1295400" y="2463800"/>
            <a:ext cx="1925638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000" b="1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EMPLOYEE</a:t>
            </a:r>
            <a:endParaRPr lang="en-US" altLang="zh-CN" sz="20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93186" name="Rectangle 4"/>
          <p:cNvSpPr/>
          <p:nvPr/>
        </p:nvSpPr>
        <p:spPr>
          <a:xfrm>
            <a:off x="990600" y="1981200"/>
            <a:ext cx="8153400" cy="6096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85800" lvl="1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</a:pP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3187" name="Picture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9500" y="1905000"/>
            <a:ext cx="8293100" cy="3479800"/>
          </a:xfrm>
          <a:ln/>
        </p:spPr>
      </p:pic>
      <p:sp>
        <p:nvSpPr>
          <p:cNvPr id="93188" name="Rectangle 6"/>
          <p:cNvSpPr/>
          <p:nvPr/>
        </p:nvSpPr>
        <p:spPr>
          <a:xfrm>
            <a:off x="700088" y="1027113"/>
            <a:ext cx="3937000" cy="4365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Components of Tables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95234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9000" y="1854200"/>
            <a:ext cx="8513763" cy="3416300"/>
          </a:xfrm>
          <a:ln/>
        </p:spPr>
      </p:pic>
      <p:sp>
        <p:nvSpPr>
          <p:cNvPr id="95235" name="Rectangle 6"/>
          <p:cNvSpPr/>
          <p:nvPr/>
        </p:nvSpPr>
        <p:spPr>
          <a:xfrm>
            <a:off x="700088" y="1027113"/>
            <a:ext cx="5026025" cy="4365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Components of Tables(Cont.)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97282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7900" y="1663700"/>
            <a:ext cx="8115300" cy="3911600"/>
          </a:xfrm>
          <a:ln/>
        </p:spPr>
      </p:pic>
      <p:sp>
        <p:nvSpPr>
          <p:cNvPr id="97283" name="Rectangle 7"/>
          <p:cNvSpPr/>
          <p:nvPr/>
        </p:nvSpPr>
        <p:spPr>
          <a:xfrm>
            <a:off x="700088" y="1027113"/>
            <a:ext cx="5026025" cy="4365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Components of Tables(Cont.)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99330" name="Picture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4900" y="1460500"/>
            <a:ext cx="7685088" cy="4305300"/>
          </a:xfrm>
          <a:ln/>
        </p:spPr>
      </p:pic>
      <p:sp>
        <p:nvSpPr>
          <p:cNvPr id="99331" name="Rectangle 6"/>
          <p:cNvSpPr/>
          <p:nvPr/>
        </p:nvSpPr>
        <p:spPr>
          <a:xfrm>
            <a:off x="687388" y="938213"/>
            <a:ext cx="5026025" cy="43656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8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Components of Tables(Cont.)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xfrm>
            <a:off x="3640138" y="115888"/>
            <a:ext cx="4910137" cy="8826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A Sample Relational Database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08548" name="Picture 4"/>
          <p:cNvPicPr>
            <a:picLocks noChangeAspect="1"/>
          </p:cNvPicPr>
          <p:nvPr/>
        </p:nvPicPr>
        <p:blipFill>
          <a:blip r:embed="rId1"/>
          <a:srcRect l="21957" t="1437" r="21823" b="69559"/>
          <a:stretch>
            <a:fillRect/>
          </a:stretch>
        </p:blipFill>
        <p:spPr>
          <a:xfrm>
            <a:off x="796925" y="1227138"/>
            <a:ext cx="7137400" cy="2551112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8549" name="Picture 5"/>
          <p:cNvPicPr>
            <a:picLocks noChangeAspect="1"/>
          </p:cNvPicPr>
          <p:nvPr/>
        </p:nvPicPr>
        <p:blipFill>
          <a:blip r:embed="rId1"/>
          <a:srcRect l="37886" t="30975" r="37030" b="39034"/>
          <a:stretch>
            <a:fillRect/>
          </a:stretch>
        </p:blipFill>
        <p:spPr>
          <a:xfrm>
            <a:off x="3860800" y="1824038"/>
            <a:ext cx="3095625" cy="2563812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18" name="组合 17"/>
          <p:cNvGrpSpPr/>
          <p:nvPr/>
        </p:nvGrpSpPr>
        <p:grpSpPr>
          <a:xfrm>
            <a:off x="2109788" y="2898775"/>
            <a:ext cx="7067550" cy="3041650"/>
            <a:chOff x="2110474" y="2899045"/>
            <a:chExt cx="7067250" cy="3042000"/>
          </a:xfrm>
        </p:grpSpPr>
        <p:grpSp>
          <p:nvGrpSpPr>
            <p:cNvPr id="101382" name="组合 15"/>
            <p:cNvGrpSpPr/>
            <p:nvPr/>
          </p:nvGrpSpPr>
          <p:grpSpPr>
            <a:xfrm>
              <a:off x="2110474" y="2947794"/>
              <a:ext cx="7008746" cy="2955925"/>
              <a:chOff x="2110474" y="2947794"/>
              <a:chExt cx="7008746" cy="2955925"/>
            </a:xfrm>
          </p:grpSpPr>
          <p:pic>
            <p:nvPicPr>
              <p:cNvPr id="101383" name="Picture 6"/>
              <p:cNvPicPr>
                <a:picLocks noChangeAspect="1"/>
              </p:cNvPicPr>
              <p:nvPr/>
            </p:nvPicPr>
            <p:blipFill>
              <a:blip r:embed="rId1"/>
              <a:srcRect l="35521" t="62489" r="35367" b="4849"/>
              <a:stretch>
                <a:fillRect/>
              </a:stretch>
            </p:blipFill>
            <p:spPr>
              <a:xfrm>
                <a:off x="5315570" y="2947794"/>
                <a:ext cx="3803650" cy="2955925"/>
              </a:xfrm>
              <a:prstGeom prst="rect">
                <a:avLst/>
              </a:prstGeom>
              <a:noFill/>
              <a:ln w="76200" cap="flat" cmpd="tri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" name="直角上箭头 4"/>
              <p:cNvSpPr/>
              <p:nvPr/>
            </p:nvSpPr>
            <p:spPr bwMode="auto">
              <a:xfrm rot="5400000">
                <a:off x="3286702" y="3440688"/>
                <a:ext cx="733509" cy="3085969"/>
              </a:xfrm>
              <a:prstGeom prst="bentUpArrow">
                <a:avLst>
                  <a:gd name="adj1" fmla="val 16493"/>
                  <a:gd name="adj2" fmla="val 25000"/>
                  <a:gd name="adj3" fmla="val 32090"/>
                </a:avLst>
              </a:prstGeom>
              <a:solidFill>
                <a:srgbClr val="DBFFB8"/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79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1385" name="矩形 16"/>
            <p:cNvSpPr/>
            <p:nvPr/>
          </p:nvSpPr>
          <p:spPr>
            <a:xfrm>
              <a:off x="5249475" y="2899045"/>
              <a:ext cx="3928249" cy="3042000"/>
            </a:xfrm>
            <a:prstGeom prst="rect">
              <a:avLst/>
            </a:prstGeom>
            <a:noFill/>
            <a:ln w="762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>
                <a:lnSpc>
                  <a:spcPct val="9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336675" y="1614488"/>
            <a:ext cx="3195638" cy="3138487"/>
            <a:chOff x="1337354" y="1614294"/>
            <a:chExt cx="3194338" cy="3139068"/>
          </a:xfrm>
        </p:grpSpPr>
        <p:grpSp>
          <p:nvGrpSpPr>
            <p:cNvPr id="101387" name="组合 6"/>
            <p:cNvGrpSpPr/>
            <p:nvPr/>
          </p:nvGrpSpPr>
          <p:grpSpPr>
            <a:xfrm>
              <a:off x="2274267" y="1614294"/>
              <a:ext cx="2257425" cy="2286000"/>
              <a:chOff x="0" y="0"/>
              <a:chExt cx="2257425" cy="228600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-669" y="0"/>
                <a:ext cx="2229530" cy="771668"/>
              </a:xfrm>
              <a:prstGeom prst="line">
                <a:avLst/>
              </a:prstGeom>
              <a:ln>
                <a:solidFill>
                  <a:srgbClr val="00009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-669" y="9527"/>
                <a:ext cx="2220009" cy="1810085"/>
              </a:xfrm>
              <a:prstGeom prst="line">
                <a:avLst/>
              </a:prstGeom>
              <a:ln>
                <a:solidFill>
                  <a:srgbClr val="00009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8374" y="285803"/>
                <a:ext cx="2229530" cy="771668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8852" y="533499"/>
                <a:ext cx="2229530" cy="819302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-669" y="800248"/>
                <a:ext cx="2229530" cy="79072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8374" y="1086051"/>
                <a:ext cx="2239051" cy="952676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8374" y="1333747"/>
                <a:ext cx="2239051" cy="952676"/>
              </a:xfrm>
              <a:prstGeom prst="line">
                <a:avLst/>
              </a:prstGeom>
              <a:ln>
                <a:solidFill>
                  <a:srgbClr val="FF66FF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8852" y="1581443"/>
                <a:ext cx="2248573" cy="26674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1396" name="椭圆形标注 2"/>
            <p:cNvSpPr/>
            <p:nvPr/>
          </p:nvSpPr>
          <p:spPr>
            <a:xfrm>
              <a:off x="1337354" y="4128894"/>
              <a:ext cx="1546243" cy="624468"/>
            </a:xfrm>
            <a:prstGeom prst="wedgeEllipseCallout">
              <a:avLst>
                <a:gd name="adj1" fmla="val 29648"/>
                <a:gd name="adj2" fmla="val -178574"/>
              </a:avLst>
            </a:prstGeom>
            <a:solidFill>
              <a:srgbClr val="DBFFB8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algn="ctr" eaLnBrk="0" hangingPunct="0">
                <a:lnSpc>
                  <a:spcPct val="90000"/>
                </a:lnSpc>
              </a:pPr>
              <a:r>
                <a:rPr lang="zh-CN" altLang="en-US" sz="2800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联系</a:t>
              </a:r>
              <a:endPara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03426" name="Rectangle 2"/>
          <p:cNvSpPr>
            <a:spLocks noGrp="1"/>
          </p:cNvSpPr>
          <p:nvPr>
            <p:ph type="title"/>
          </p:nvPr>
        </p:nvSpPr>
        <p:spPr>
          <a:xfrm>
            <a:off x="1371600" y="800100"/>
            <a:ext cx="7429500" cy="7239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6.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Data Definition Language (DDL)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03427" name="Rectangle 3"/>
          <p:cNvSpPr>
            <a:spLocks noGrp="1"/>
          </p:cNvSpPr>
          <p:nvPr>
            <p:ph idx="1"/>
          </p:nvPr>
        </p:nvSpPr>
        <p:spPr>
          <a:xfrm>
            <a:off x="446088" y="1600200"/>
            <a:ext cx="8850312" cy="2463800"/>
          </a:xfrm>
          <a:ln/>
        </p:spPr>
        <p:txBody>
          <a:bodyPr vert="horz" wrap="square" lIns="90488" tIns="44450" rIns="90488" bIns="44450" anchor="t" anchorCtr="0"/>
          <a:p>
            <a:pPr marL="342900" indent="-342900"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DDL: Specification notation for defining the database schema.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42950" lvl="1" indent="-285750">
              <a:buSzPct val="15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1B28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  Create table account (</a:t>
            </a:r>
            <a:br>
              <a:rPr lang="en-US" altLang="zh-CN" sz="2800" dirty="0">
                <a:solidFill>
                  <a:srgbClr val="1B28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1B28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account-number char(10) Primary Key,</a:t>
            </a:r>
            <a:br>
              <a:rPr lang="en-US" altLang="zh-CN" sz="2800" dirty="0">
                <a:solidFill>
                  <a:srgbClr val="1B28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1B28A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balance  integer);</a:t>
            </a:r>
            <a:endParaRPr lang="en-US" altLang="zh-CN" sz="2800" dirty="0">
              <a:solidFill>
                <a:srgbClr val="1B28A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3428" name="Group 20"/>
          <p:cNvGrpSpPr/>
          <p:nvPr/>
        </p:nvGrpSpPr>
        <p:grpSpPr>
          <a:xfrm>
            <a:off x="1441450" y="4044950"/>
            <a:ext cx="7200900" cy="1866900"/>
            <a:chOff x="884" y="2548"/>
            <a:chExt cx="4536" cy="1176"/>
          </a:xfrm>
        </p:grpSpPr>
        <p:sp>
          <p:nvSpPr>
            <p:cNvPr id="103429" name="Rectangle 17"/>
            <p:cNvSpPr/>
            <p:nvPr/>
          </p:nvSpPr>
          <p:spPr>
            <a:xfrm>
              <a:off x="884" y="2548"/>
              <a:ext cx="4536" cy="1176"/>
            </a:xfrm>
            <a:prstGeom prst="rect">
              <a:avLst/>
            </a:prstGeom>
            <a:solidFill>
              <a:srgbClr val="DBFFB8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lnSpc>
                  <a:spcPct val="9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3430" name="Group 18"/>
            <p:cNvGrpSpPr/>
            <p:nvPr/>
          </p:nvGrpSpPr>
          <p:grpSpPr>
            <a:xfrm>
              <a:off x="1220" y="2639"/>
              <a:ext cx="3848" cy="931"/>
              <a:chOff x="1032" y="2749"/>
              <a:chExt cx="3848" cy="931"/>
            </a:xfrm>
          </p:grpSpPr>
          <p:sp>
            <p:nvSpPr>
              <p:cNvPr id="103431" name="Rectangle 13"/>
              <p:cNvSpPr/>
              <p:nvPr/>
            </p:nvSpPr>
            <p:spPr>
              <a:xfrm>
                <a:off x="1592" y="2749"/>
                <a:ext cx="1052" cy="21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>
                  <a:lnSpc>
                    <a:spcPct val="90000"/>
                  </a:lnSpc>
                </a:pPr>
                <a:r>
                  <a:rPr lang="en-US" altLang="zh-CN" sz="1800" b="1" dirty="0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DDL compiler</a:t>
                </a:r>
                <a:endParaRPr lang="zh-CN" altLang="en-US" sz="1800" b="1" dirty="0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2" name="Text Box 6"/>
              <p:cNvSpPr txBox="1"/>
              <p:nvPr/>
            </p:nvSpPr>
            <p:spPr>
              <a:xfrm>
                <a:off x="2576" y="3296"/>
                <a:ext cx="584" cy="277"/>
              </a:xfrm>
              <a:prstGeom prst="rect">
                <a:avLst/>
              </a:prstGeom>
              <a:solidFill>
                <a:srgbClr val="003399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chemeClr val="bg2"/>
                </a:outerShdw>
              </a:effectLst>
            </p:spPr>
            <p:txBody>
              <a:bodyPr anchor="t" anchorCtr="0">
                <a:spAutoFit/>
              </a:bodyPr>
              <a:p>
                <a:pPr algn="ctr" eaLnBrk="0" hangingPunct="0"/>
                <a:r>
                  <a:rPr lang="en-US" altLang="zh-CN" sz="2200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rPr>
                  <a:t>Tables</a:t>
                </a:r>
                <a:endParaRPr lang="en-US" altLang="zh-CN" sz="2200" b="1" dirty="0">
                  <a:solidFill>
                    <a:schemeClr val="bg1"/>
                  </a:solidFill>
                  <a:latin typeface="Arial Narrow" panose="020B0606020202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3" name="Text Box 7"/>
              <p:cNvSpPr txBox="1"/>
              <p:nvPr/>
            </p:nvSpPr>
            <p:spPr>
              <a:xfrm>
                <a:off x="1032" y="3296"/>
                <a:ext cx="576" cy="277"/>
              </a:xfrm>
              <a:prstGeom prst="rect">
                <a:avLst/>
              </a:prstGeom>
              <a:solidFill>
                <a:srgbClr val="003399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chemeClr val="bg2"/>
                </a:outerShdw>
              </a:effectLst>
            </p:spPr>
            <p:txBody>
              <a:bodyPr anchor="t" anchorCtr="0">
                <a:spAutoFit/>
              </a:bodyPr>
              <a:p>
                <a:pPr algn="ctr" eaLnBrk="0" hangingPunct="0"/>
                <a:r>
                  <a:rPr lang="en-US" altLang="zh-CN" sz="2200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rPr>
                  <a:t>DDL</a:t>
                </a:r>
                <a:endParaRPr lang="en-US" altLang="zh-CN" sz="2200" b="1" dirty="0">
                  <a:solidFill>
                    <a:schemeClr val="bg1"/>
                  </a:solidFill>
                  <a:latin typeface="Arial Narrow" panose="020B0606020202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4" name="Text Box 8"/>
              <p:cNvSpPr txBox="1"/>
              <p:nvPr/>
            </p:nvSpPr>
            <p:spPr>
              <a:xfrm>
                <a:off x="4024" y="3192"/>
                <a:ext cx="856" cy="488"/>
              </a:xfrm>
              <a:prstGeom prst="rect">
                <a:avLst/>
              </a:prstGeom>
              <a:solidFill>
                <a:srgbClr val="003399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chemeClr val="bg2"/>
                </a:outerShdw>
              </a:effectLst>
            </p:spPr>
            <p:txBody>
              <a:bodyPr anchor="t" anchorCtr="0">
                <a:spAutoFit/>
              </a:bodyPr>
              <a:p>
                <a:pPr algn="ctr" eaLnBrk="0" hangingPunct="0"/>
                <a:r>
                  <a:rPr lang="en-US" altLang="zh-CN" sz="2200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rPr>
                  <a:t>Data Dictionary</a:t>
                </a:r>
                <a:endParaRPr lang="en-US" altLang="zh-CN" sz="2200" b="1" dirty="0">
                  <a:solidFill>
                    <a:schemeClr val="bg1"/>
                  </a:solidFill>
                  <a:latin typeface="Arial Narrow" panose="020B060602020203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3435" name="AutoShape 9"/>
              <p:cNvCxnSpPr>
                <a:stCxn id="103433" idx="3"/>
                <a:endCxn id="103432" idx="1"/>
              </p:cNvCxnSpPr>
              <p:nvPr/>
            </p:nvCxnSpPr>
            <p:spPr>
              <a:xfrm>
                <a:off x="1608" y="3435"/>
                <a:ext cx="968" cy="0"/>
              </a:xfrm>
              <a:prstGeom prst="straightConnector1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3436" name="Text Box 10"/>
              <p:cNvSpPr txBox="1"/>
              <p:nvPr/>
            </p:nvSpPr>
            <p:spPr>
              <a:xfrm>
                <a:off x="1752" y="3008"/>
                <a:ext cx="73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generate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3437" name="AutoShape 11"/>
              <p:cNvCxnSpPr>
                <a:stCxn id="103432" idx="3"/>
                <a:endCxn id="103434" idx="1"/>
              </p:cNvCxnSpPr>
              <p:nvPr/>
            </p:nvCxnSpPr>
            <p:spPr>
              <a:xfrm>
                <a:off x="3160" y="3435"/>
                <a:ext cx="864" cy="1"/>
              </a:xfrm>
              <a:prstGeom prst="straightConnector1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3438" name="Text Box 12"/>
              <p:cNvSpPr txBox="1"/>
              <p:nvPr/>
            </p:nvSpPr>
            <p:spPr>
              <a:xfrm>
                <a:off x="3224" y="3192"/>
                <a:ext cx="760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Stored in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3439" name="AutoShape 14"/>
              <p:cNvCxnSpPr/>
              <p:nvPr/>
            </p:nvCxnSpPr>
            <p:spPr>
              <a:xfrm flipH="1">
                <a:off x="2093" y="2913"/>
                <a:ext cx="2" cy="499"/>
              </a:xfrm>
              <a:prstGeom prst="straightConnector1">
                <a:avLst/>
              </a:prstGeom>
              <a:ln w="28575" cap="flat" cmpd="sng">
                <a:solidFill>
                  <a:srgbClr val="FF0000"/>
                </a:solidFill>
                <a:prstDash val="sysDot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grpSp>
        <p:nvGrpSpPr>
          <p:cNvPr id="105474" name="Group 8"/>
          <p:cNvGrpSpPr/>
          <p:nvPr/>
        </p:nvGrpSpPr>
        <p:grpSpPr>
          <a:xfrm>
            <a:off x="850900" y="1397000"/>
            <a:ext cx="8051800" cy="4521200"/>
            <a:chOff x="912" y="1200"/>
            <a:chExt cx="4608" cy="2496"/>
          </a:xfrm>
        </p:grpSpPr>
        <p:sp>
          <p:nvSpPr>
            <p:cNvPr id="105475" name="Rectangle 7"/>
            <p:cNvSpPr/>
            <p:nvPr/>
          </p:nvSpPr>
          <p:spPr>
            <a:xfrm>
              <a:off x="912" y="1200"/>
              <a:ext cx="4608" cy="2496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lnSpc>
                  <a:spcPct val="9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05476" name="Pictur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9" y="1296"/>
              <a:ext cx="3571" cy="23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5477" name="Rectangle 11"/>
          <p:cNvSpPr/>
          <p:nvPr/>
        </p:nvSpPr>
        <p:spPr>
          <a:xfrm>
            <a:off x="747713" y="869950"/>
            <a:ext cx="7912100" cy="42545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30000"/>
              </a:spcBef>
              <a:buClr>
                <a:srgbClr val="037C03"/>
              </a:buClr>
              <a:buFont typeface="Monotype Sorts" pitchFamily="2" charset="2"/>
              <a:buChar char="n"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Data dictionary contains metadata (i.e., data about data)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521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63" y="3884613"/>
            <a:ext cx="3932237" cy="2722562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7522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07523" name="内容占位符 4"/>
          <p:cNvSpPr>
            <a:spLocks noGrp="1"/>
          </p:cNvSpPr>
          <p:nvPr>
            <p:ph idx="1"/>
          </p:nvPr>
        </p:nvSpPr>
        <p:spPr>
          <a:xfrm>
            <a:off x="4025900" y="114300"/>
            <a:ext cx="5143500" cy="533400"/>
          </a:xfrm>
          <a:ln/>
        </p:spPr>
        <p:txBody>
          <a:bodyPr vert="horz" wrap="square" lIns="90488" tIns="44450" rIns="90488" bIns="44450" anchor="t" anchorCtr="0"/>
          <a:p>
            <a:pPr marL="0" indent="0">
              <a:buSzPct val="100000"/>
              <a:buFont typeface="Monotype Sort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dictionary of Oracle11g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444500" y="844550"/>
            <a:ext cx="3924300" cy="3416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table_name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num_rows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tablespace_name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user_tables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table_name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表名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num_rows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表中行数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tablespace_name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存储表名的表空间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752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3" y="846138"/>
            <a:ext cx="4922837" cy="5249862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10" name="组合 9"/>
          <p:cNvGrpSpPr/>
          <p:nvPr/>
        </p:nvGrpSpPr>
        <p:grpSpPr>
          <a:xfrm>
            <a:off x="2397125" y="3730625"/>
            <a:ext cx="2173288" cy="919163"/>
            <a:chOff x="2397512" y="3730260"/>
            <a:chExt cx="2072095" cy="919799"/>
          </a:xfrm>
        </p:grpSpPr>
        <p:sp>
          <p:nvSpPr>
            <p:cNvPr id="107527" name="椭圆 1"/>
            <p:cNvSpPr/>
            <p:nvPr/>
          </p:nvSpPr>
          <p:spPr>
            <a:xfrm>
              <a:off x="2397512" y="4260850"/>
              <a:ext cx="390293" cy="38920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>
                <a:lnSpc>
                  <a:spcPct val="9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7528" name="直接箭头连接符 3"/>
            <p:cNvCxnSpPr>
              <a:endCxn id="107527" idx="7"/>
            </p:cNvCxnSpPr>
            <p:nvPr/>
          </p:nvCxnSpPr>
          <p:spPr>
            <a:xfrm flipH="1">
              <a:off x="2730648" y="3992137"/>
              <a:ext cx="614719" cy="325711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7529" name="文本框 7"/>
            <p:cNvSpPr txBox="1"/>
            <p:nvPr/>
          </p:nvSpPr>
          <p:spPr>
            <a:xfrm>
              <a:off x="3269961" y="3730260"/>
              <a:ext cx="1199646" cy="4247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用户表</a:t>
              </a:r>
              <a:endParaRPr lang="zh-CN" altLang="en-US" sz="24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293813" y="2008188"/>
            <a:ext cx="3251200" cy="1000125"/>
            <a:chOff x="1293062" y="2008303"/>
            <a:chExt cx="3251951" cy="1000350"/>
          </a:xfrm>
        </p:grpSpPr>
        <p:cxnSp>
          <p:nvCxnSpPr>
            <p:cNvPr id="107531" name="直接箭头连接符 11"/>
            <p:cNvCxnSpPr/>
            <p:nvPr/>
          </p:nvCxnSpPr>
          <p:spPr>
            <a:xfrm flipH="1" flipV="1">
              <a:off x="2619738" y="2397514"/>
              <a:ext cx="615080" cy="376235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7532" name="文本框 13"/>
            <p:cNvSpPr txBox="1"/>
            <p:nvPr/>
          </p:nvSpPr>
          <p:spPr>
            <a:xfrm>
              <a:off x="3234818" y="2583921"/>
              <a:ext cx="1310195" cy="4247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系统表</a:t>
              </a:r>
              <a:endParaRPr lang="zh-CN" altLang="en-US" sz="24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107533" name="椭圆 15"/>
            <p:cNvSpPr/>
            <p:nvPr/>
          </p:nvSpPr>
          <p:spPr>
            <a:xfrm>
              <a:off x="1293062" y="2008303"/>
              <a:ext cx="1650380" cy="38920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>
                <a:lnSpc>
                  <a:spcPct val="90000"/>
                </a:lnSpc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534" name="椭圆 1"/>
          <p:cNvSpPr/>
          <p:nvPr/>
        </p:nvSpPr>
        <p:spPr>
          <a:xfrm>
            <a:off x="4557713" y="2241550"/>
            <a:ext cx="649287" cy="3429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09570" name="内容占位符 4"/>
          <p:cNvSpPr>
            <a:spLocks noGrp="1"/>
          </p:cNvSpPr>
          <p:nvPr>
            <p:ph idx="1"/>
          </p:nvPr>
        </p:nvSpPr>
        <p:spPr>
          <a:xfrm>
            <a:off x="4025900" y="114300"/>
            <a:ext cx="5143500" cy="533400"/>
          </a:xfrm>
          <a:ln/>
        </p:spPr>
        <p:txBody>
          <a:bodyPr vert="horz" wrap="square" lIns="90488" tIns="44450" rIns="90488" bIns="44450" anchor="t" anchorCtr="0"/>
          <a:p>
            <a:pPr marL="0" indent="0">
              <a:buSzPct val="100000"/>
              <a:buFont typeface="Monotype Sort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Data dictionary of Oracle11g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295400" y="793750"/>
            <a:ext cx="7073900" cy="12922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kumimoji="0" lang="en-US" altLang="zh-CN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column_name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data_type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data_length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kumimoji="0" lang="en-US" altLang="zh-CN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user_tab_columns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37C03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Where </a:t>
            </a:r>
            <a:r>
              <a:rPr kumimoji="0" lang="en-US" altLang="zh-CN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table_name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='CUSTOMER';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957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2246313"/>
            <a:ext cx="6159500" cy="3635375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4959350" y="1227138"/>
            <a:ext cx="2293938" cy="425450"/>
            <a:chOff x="4959350" y="1227496"/>
            <a:chExt cx="2293397" cy="424732"/>
          </a:xfrm>
        </p:grpSpPr>
        <p:sp>
          <p:nvSpPr>
            <p:cNvPr id="109574" name="文本框 5"/>
            <p:cNvSpPr txBox="1"/>
            <p:nvPr/>
          </p:nvSpPr>
          <p:spPr>
            <a:xfrm>
              <a:off x="5942552" y="1227496"/>
              <a:ext cx="1310195" cy="4247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9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系统表</a:t>
              </a:r>
              <a:endParaRPr lang="zh-CN" altLang="en-US" sz="24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cxnSp>
          <p:nvCxnSpPr>
            <p:cNvPr id="109575" name="直接箭头连接符 2"/>
            <p:cNvCxnSpPr>
              <a:stCxn id="109574" idx="1"/>
            </p:cNvCxnSpPr>
            <p:nvPr/>
          </p:nvCxnSpPr>
          <p:spPr>
            <a:xfrm flipH="1">
              <a:off x="4959350" y="1439862"/>
              <a:ext cx="983202" cy="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10594" name="Rectangle 2"/>
          <p:cNvSpPr>
            <a:spLocks noGrp="1"/>
          </p:cNvSpPr>
          <p:nvPr>
            <p:ph type="title"/>
          </p:nvPr>
        </p:nvSpPr>
        <p:spPr>
          <a:xfrm>
            <a:off x="1219200" y="990600"/>
            <a:ext cx="7239000" cy="9906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7.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Data Manipulation Language (DML)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>
          <a:xfrm>
            <a:off x="749300" y="2146300"/>
            <a:ext cx="8458200" cy="4114800"/>
          </a:xfrm>
          <a:ln/>
        </p:spPr>
        <p:txBody>
          <a:bodyPr vert="horz" wrap="square" lIns="90488" tIns="44450" rIns="90488" bIns="44450" anchor="t" anchorCtr="0"/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Language for accessing and manipulating the data organized by the appropriate data model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DML also known as query language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Two classes of languages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Procedural </a:t>
            </a:r>
            <a:r>
              <a:rPr lang="en-US" altLang="zh-CN" dirty="0">
                <a:latin typeface="Helvetica" pitchFamily="34" charset="0"/>
                <a:ea typeface="宋体" panose="02010600030101010101" pitchFamily="2" charset="-122"/>
              </a:rPr>
              <a:t>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user specifies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data is required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and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how to get those data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buSzPct val="15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Nonprocedural </a:t>
            </a:r>
            <a:r>
              <a:rPr lang="en-US" altLang="zh-CN" dirty="0">
                <a:latin typeface="Helvetica" pitchFamily="34" charset="0"/>
                <a:ea typeface="宋体" panose="02010600030101010101" pitchFamily="2" charset="-122"/>
              </a:rPr>
              <a:t>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user specifies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data is required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without specifying how to get those data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SQL is the most widely used query language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41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9225" y="1574800"/>
            <a:ext cx="6543675" cy="4413250"/>
          </a:xfrm>
          <a:ln/>
        </p:spPr>
      </p:pic>
      <p:sp>
        <p:nvSpPr>
          <p:cNvPr id="112642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12643" name="Rectangle 2"/>
          <p:cNvSpPr>
            <a:spLocks noGrp="1"/>
          </p:cNvSpPr>
          <p:nvPr>
            <p:ph type="title"/>
          </p:nvPr>
        </p:nvSpPr>
        <p:spPr>
          <a:xfrm>
            <a:off x="1409700" y="774700"/>
            <a:ext cx="7429500" cy="7874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14690" name="Rectangle 2"/>
          <p:cNvSpPr>
            <a:spLocks noGrp="1"/>
          </p:cNvSpPr>
          <p:nvPr>
            <p:ph type="title"/>
          </p:nvPr>
        </p:nvSpPr>
        <p:spPr>
          <a:xfrm>
            <a:off x="4711700" y="266700"/>
            <a:ext cx="3886200" cy="6604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647700" y="914400"/>
            <a:ext cx="8115300" cy="381000"/>
          </a:xfrm>
          <a:ln/>
        </p:spPr>
        <p:txBody>
          <a:bodyPr vert="horz" wrap="square" lIns="90488" tIns="44450" rIns="90488" bIns="44450" anchor="t" anchorCtr="0"/>
          <a:p>
            <a:pPr>
              <a:lnSpc>
                <a:spcPct val="80000"/>
              </a:lnSpc>
              <a:buSzPct val="100000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SQL: widely used non-procedural language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SzPct val="10000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4692" name="Picture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1800" y="1308100"/>
            <a:ext cx="8923338" cy="4610100"/>
          </a:xfrm>
          <a:ln/>
        </p:spPr>
      </p:pic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1041400" y="5867400"/>
            <a:ext cx="8001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914400" marR="0" lvl="2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Fig. 1.2  Retrieval example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pic>
        <p:nvPicPr>
          <p:cNvPr id="116738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5925" y="977900"/>
            <a:ext cx="8956675" cy="5029200"/>
          </a:xfrm>
          <a:ln/>
        </p:spPr>
      </p:pic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3149600" y="5511800"/>
            <a:ext cx="6096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Fig. 1.3  Insert / change / delete examples</a:t>
            </a:r>
            <a:endParaRPr kumimoji="0" lang="zh-CN" altLang="en-US" sz="20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711700" y="266700"/>
            <a:ext cx="3886200" cy="660400"/>
          </a:xfrm>
          <a:prstGeom prst="rect">
            <a:avLst/>
          </a:prstGeom>
          <a:solidFill>
            <a:srgbClr val="DBFFB8"/>
          </a:solidFill>
          <a:ln w="12700">
            <a:solidFill>
              <a:srgbClr val="005400"/>
            </a:solidFill>
            <a:miter lim="800000"/>
          </a:ln>
        </p:spPr>
        <p:txBody>
          <a:bodyPr lIns="90488" tIns="44450" rIns="90488" bIns="44450" anchor="ctr"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5400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54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kumimoji="0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54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187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4500" y="1930400"/>
            <a:ext cx="8890000" cy="3986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00">
                <a:solidFill>
                  <a:srgbClr val="00279F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CREATE TABLE DEPARTMENT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( DEPTNO CHAR(3) PRIMARY KEY,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DEPTNAME CHAR(40),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MGRNO CHAR(6),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ADMRDEPT CHAR(3),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LOCATION CHAR(30),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FOREIGN KEY (MGRNO) REFERENCES EMPLOYEE,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FOREIGN KEY (ADMRDEPT) REFERENCES DEPARTMENT);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INSERT INTO DEPARTMENT VALUES(…);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endParaRPr kumimoji="0" lang="en-US" altLang="zh-CN" sz="23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0834" name="Rectangle 2"/>
          <p:cNvSpPr>
            <a:spLocks noGrp="1"/>
          </p:cNvSpPr>
          <p:nvPr>
            <p:ph type="title"/>
          </p:nvPr>
        </p:nvSpPr>
        <p:spPr>
          <a:xfrm>
            <a:off x="1409700" y="787400"/>
            <a:ext cx="7429500" cy="52705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2083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513" y="1524000"/>
            <a:ext cx="6135687" cy="94615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71842" dir="2699999" algn="ctr" rotWithShape="0">
              <a:srgbClr val="4D4D4D"/>
            </a:outerShdw>
          </a:effectLst>
        </p:spPr>
      </p:pic>
      <p:pic>
        <p:nvPicPr>
          <p:cNvPr id="120836" name="Picture 7" descr="SQL_peop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1612900"/>
            <a:ext cx="1646238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83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3175000"/>
            <a:ext cx="6221413" cy="25812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71842" dir="2699999" algn="ctr" rotWithShape="0">
              <a:srgbClr val="4D4D4D"/>
            </a:outerShdw>
          </a:effectLst>
        </p:spPr>
      </p:pic>
      <p:sp>
        <p:nvSpPr>
          <p:cNvPr id="120838" name="AutoShape 9"/>
          <p:cNvSpPr/>
          <p:nvPr/>
        </p:nvSpPr>
        <p:spPr>
          <a:xfrm>
            <a:off x="6032500" y="1968500"/>
            <a:ext cx="304800" cy="1155700"/>
          </a:xfrm>
          <a:prstGeom prst="downArrow">
            <a:avLst>
              <a:gd name="adj1" fmla="val 50000"/>
              <a:gd name="adj2" fmla="val 94774"/>
            </a:avLst>
          </a:prstGeom>
          <a:gradFill rotWithShape="0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757BB3"/>
            </a:outerShdw>
          </a:effectLst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2882" name="Rectangle 8"/>
          <p:cNvSpPr>
            <a:spLocks noGrp="1"/>
          </p:cNvSpPr>
          <p:nvPr>
            <p:ph type="title"/>
          </p:nvPr>
        </p:nvSpPr>
        <p:spPr>
          <a:xfrm>
            <a:off x="1219200" y="914400"/>
            <a:ext cx="7429500" cy="5334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122883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524000"/>
            <a:ext cx="8229600" cy="20066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2884" name="Rectangle 10"/>
          <p:cNvSpPr/>
          <p:nvPr/>
        </p:nvSpPr>
        <p:spPr>
          <a:xfrm>
            <a:off x="228600" y="2209800"/>
            <a:ext cx="800100" cy="53340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Before 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Update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</p:txBody>
      </p:sp>
      <p:sp>
        <p:nvSpPr>
          <p:cNvPr id="122885" name="Rectangle 11"/>
          <p:cNvSpPr/>
          <p:nvPr/>
        </p:nvSpPr>
        <p:spPr>
          <a:xfrm>
            <a:off x="228600" y="4800600"/>
            <a:ext cx="782638" cy="53340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After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Update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</p:txBody>
      </p:sp>
      <p:pic>
        <p:nvPicPr>
          <p:cNvPr id="122886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191000"/>
            <a:ext cx="7162800" cy="17367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2887" name="AutoShape 13"/>
          <p:cNvSpPr/>
          <p:nvPr/>
        </p:nvSpPr>
        <p:spPr>
          <a:xfrm>
            <a:off x="6096000" y="2590800"/>
            <a:ext cx="457200" cy="1524000"/>
          </a:xfrm>
          <a:prstGeom prst="downArrow">
            <a:avLst>
              <a:gd name="adj1" fmla="val 50000"/>
              <a:gd name="adj2" fmla="val 83317"/>
            </a:avLst>
          </a:prstGeom>
          <a:gradFill rotWithShape="0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757BB3"/>
            </a:outerShdw>
          </a:effectLst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88" name="Rectangle 14"/>
          <p:cNvSpPr/>
          <p:nvPr/>
        </p:nvSpPr>
        <p:spPr>
          <a:xfrm>
            <a:off x="2438400" y="2895600"/>
            <a:ext cx="3619500" cy="1203325"/>
          </a:xfrm>
          <a:prstGeom prst="rect">
            <a:avLst/>
          </a:prstGeom>
          <a:solidFill>
            <a:srgbClr val="FF996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UPDATE TESTEMP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SET BONUS = 500,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SALARY = 26000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WHERE EMPNO = ‘000111’;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2889" name="Picture 15" descr="SQL_peopl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71800"/>
            <a:ext cx="1222375" cy="112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4930" name="Rectangle 4"/>
          <p:cNvSpPr>
            <a:spLocks noGrp="1"/>
          </p:cNvSpPr>
          <p:nvPr>
            <p:ph type="title"/>
          </p:nvPr>
        </p:nvSpPr>
        <p:spPr>
          <a:xfrm>
            <a:off x="1219200" y="914400"/>
            <a:ext cx="7429500" cy="533400"/>
          </a:xfrm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 (Cont.)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24931" name="Rectangle 5"/>
          <p:cNvSpPr/>
          <p:nvPr/>
        </p:nvSpPr>
        <p:spPr>
          <a:xfrm>
            <a:off x="228600" y="2209800"/>
            <a:ext cx="800100" cy="53340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Before 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Delete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</p:txBody>
      </p:sp>
      <p:sp>
        <p:nvSpPr>
          <p:cNvPr id="124932" name="Rectangle 6"/>
          <p:cNvSpPr/>
          <p:nvPr/>
        </p:nvSpPr>
        <p:spPr>
          <a:xfrm>
            <a:off x="228600" y="4800600"/>
            <a:ext cx="715963" cy="53340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After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b="1" i="1" dirty="0">
                <a:solidFill>
                  <a:schemeClr val="tx1"/>
                </a:solidFill>
                <a:latin typeface="Helvetica-BoldItalic" charset="0"/>
                <a:ea typeface="宋体" panose="02010600030101010101" pitchFamily="2" charset="-122"/>
              </a:rPr>
              <a:t>Delete</a:t>
            </a:r>
            <a:endParaRPr lang="en-US" altLang="zh-CN" b="1" i="1" dirty="0">
              <a:solidFill>
                <a:schemeClr val="tx1"/>
              </a:solidFill>
              <a:latin typeface="Helvetica-BoldItalic" charset="0"/>
              <a:ea typeface="宋体" panose="02010600030101010101" pitchFamily="2" charset="-122"/>
            </a:endParaRPr>
          </a:p>
        </p:txBody>
      </p:sp>
      <p:pic>
        <p:nvPicPr>
          <p:cNvPr id="12493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524000"/>
            <a:ext cx="8153400" cy="19812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4934" name="Rectangle 8"/>
          <p:cNvSpPr/>
          <p:nvPr/>
        </p:nvSpPr>
        <p:spPr>
          <a:xfrm>
            <a:off x="2057400" y="3505200"/>
            <a:ext cx="4000500" cy="654050"/>
          </a:xfrm>
          <a:prstGeom prst="rect">
            <a:avLst/>
          </a:prstGeom>
          <a:solidFill>
            <a:srgbClr val="FF996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 anchor="t" anchorCtr="0">
            <a:spAutoFit/>
          </a:bodyPr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DELETE FROM TESTEMP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WHERE EMPNO = ‘000111’;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4935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191000"/>
            <a:ext cx="8153400" cy="174466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4936" name="AutoShape 10"/>
          <p:cNvSpPr/>
          <p:nvPr/>
        </p:nvSpPr>
        <p:spPr>
          <a:xfrm>
            <a:off x="6096000" y="2667000"/>
            <a:ext cx="457200" cy="1905000"/>
          </a:xfrm>
          <a:prstGeom prst="downArrow">
            <a:avLst>
              <a:gd name="adj1" fmla="val 50000"/>
              <a:gd name="adj2" fmla="val 104147"/>
            </a:avLst>
          </a:prstGeom>
          <a:gradFill rotWithShape="0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757BB3"/>
            </a:outerShdw>
          </a:effectLst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4937" name="Picture 11" descr="SQL_peopl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24200"/>
            <a:ext cx="1222375" cy="112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69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0488" tIns="44450" rIns="90488" bIns="44450" anchor="ctr" anchorCtr="0"/>
          <a:p>
            <a:pPr/>
            <a:r>
              <a:rPr lang="zh-CN" altLang="en-US" dirty="0">
                <a:latin typeface="+mj-lt"/>
                <a:ea typeface="宋体" panose="02010600030101010101" pitchFamily="2" charset="-122"/>
                <a:cs typeface="+mj-cs"/>
              </a:rPr>
              <a:t>8. </a:t>
            </a: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SQL(Cont.)</a:t>
            </a:r>
            <a:endParaRPr lang="zh-CN" altLang="en-US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1981200"/>
            <a:ext cx="8559800" cy="3556000"/>
          </a:xfrm>
        </p:spPr>
        <p:txBody>
          <a:bodyPr vert="horz" wrap="square" lIns="90488" tIns="44450" rIns="90488" bIns="44450" numCol="1" anchor="t" anchorCtr="0" compatLnSpc="1"/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Two ways of accessing databases for application programs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Language extensions to allow embedded SQL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嵌入式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SQL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Application program interface (e.g. ODBC/JDBC) which allow SQL queries to be sent to a database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交互式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SQL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ctr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Introduce some examples in  Microsoft Access.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37C03"/>
              </a:buClr>
              <a:buSzTx/>
              <a:buFont typeface="Monotype Sorts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rgbClr val="00279F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ctr">
              <a:lnSpc>
                <a:spcPct val="90000"/>
              </a:lnSpc>
              <a:buSzTx/>
            </a:pPr>
            <a:r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400" b="1" i="1" dirty="0">
                <a:solidFill>
                  <a:srgbClr val="005400"/>
                </a:solidFill>
                <a:ea typeface="宋体" panose="02010600030101010101" pitchFamily="2" charset="-122"/>
              </a:rPr>
            </a:fld>
            <a:endParaRPr lang="en-US" altLang="zh-CN" sz="1400" b="1" i="1" dirty="0">
              <a:solidFill>
                <a:srgbClr val="005400"/>
              </a:solidFill>
              <a:ea typeface="宋体" panose="02010600030101010101" pitchFamily="2" charset="-122"/>
            </a:endParaRPr>
          </a:p>
        </p:txBody>
      </p:sp>
      <p:sp>
        <p:nvSpPr>
          <p:cNvPr id="129026" name="Rectangle 11"/>
          <p:cNvSpPr/>
          <p:nvPr/>
        </p:nvSpPr>
        <p:spPr>
          <a:xfrm>
            <a:off x="6908800" y="5664200"/>
            <a:ext cx="2438400" cy="1193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/>
          <a:p>
            <a:pPr eaLnBrk="0" hangingPunct="0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9027" name="Picture 10" descr="sakurac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438" y="5761038"/>
            <a:ext cx="2674937" cy="1096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9028" name="AutoShape 7"/>
          <p:cNvSpPr/>
          <p:nvPr/>
        </p:nvSpPr>
        <p:spPr>
          <a:xfrm>
            <a:off x="4241800" y="1930400"/>
            <a:ext cx="3365500" cy="1511300"/>
          </a:xfrm>
          <a:prstGeom prst="cloudCallout">
            <a:avLst>
              <a:gd name="adj1" fmla="val -72028"/>
              <a:gd name="adj2" fmla="val 106093"/>
            </a:avLst>
          </a:prstGeom>
          <a:gradFill rotWithShape="0">
            <a:gsLst>
              <a:gs pos="0">
                <a:srgbClr val="067018"/>
              </a:gs>
              <a:gs pos="50000">
                <a:srgbClr val="0DF133"/>
              </a:gs>
              <a:gs pos="100000">
                <a:srgbClr val="067018"/>
              </a:gs>
            </a:gsLst>
            <a:lin ang="5400000" scaled="1"/>
            <a:tileRect/>
          </a:gradFill>
          <a:ln w="127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996633"/>
            </a:outerShdw>
          </a:effectLst>
        </p:spPr>
        <p:txBody>
          <a:bodyPr anchor="t" anchorCtr="0"/>
          <a:p>
            <a:pPr algn="ctr" eaLnBrk="0" hangingPunct="0">
              <a:lnSpc>
                <a:spcPct val="90000"/>
              </a:lnSpc>
            </a:pPr>
            <a:endParaRPr lang="zh-CN" altLang="en-US" sz="9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4470400" y="2387600"/>
            <a:ext cx="3032125" cy="6413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BatangChe" pitchFamily="49" charset="-127"/>
                <a:cs typeface="+mn-cs"/>
              </a:rPr>
              <a:t>Thank You!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C0128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BatangChe" pitchFamily="49" charset="-127"/>
              <a:cs typeface="+mn-cs"/>
            </a:endParaRPr>
          </a:p>
        </p:txBody>
      </p:sp>
      <p:pic>
        <p:nvPicPr>
          <p:cNvPr id="129030" name="Picture 13" descr="mouse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4195763"/>
            <a:ext cx="468313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4" grpId="0"/>
    </p:bldLst>
  </p:timing>
</p:sld>
</file>

<file path=ppt/theme/theme1.xml><?xml version="1.0" encoding="utf-8"?>
<a:theme xmlns:a="http://schemas.openxmlformats.org/drawingml/2006/main" name="sample4dbs">
  <a:themeElements>
    <a:clrScheme name="">
      <a:dk1>
        <a:srgbClr val="000000"/>
      </a:dk1>
      <a:lt1>
        <a:srgbClr val="FFFFFF"/>
      </a:lt1>
      <a:dk2>
        <a:srgbClr val="FAFD00"/>
      </a:dk2>
      <a:lt2>
        <a:srgbClr val="CECECE"/>
      </a:lt2>
      <a:accent1>
        <a:srgbClr val="DBFFB8"/>
      </a:accent1>
      <a:accent2>
        <a:srgbClr val="009688"/>
      </a:accent2>
      <a:accent3>
        <a:srgbClr val="FFFFFF"/>
      </a:accent3>
      <a:accent4>
        <a:srgbClr val="000000"/>
      </a:accent4>
      <a:accent5>
        <a:srgbClr val="EAFFD8"/>
      </a:accent5>
      <a:accent6>
        <a:srgbClr val="00877B"/>
      </a:accent6>
      <a:hlink>
        <a:srgbClr val="BC3700"/>
      </a:hlink>
      <a:folHlink>
        <a:srgbClr val="DADADA"/>
      </a:folHlink>
    </a:clrScheme>
    <a:fontScheme name="sample4dbs">
      <a:majorFont>
        <a:latin typeface="Comic Sans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BFFB8"/>
        </a:solidFill>
        <a:ln w="127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rgbClr val="00279F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BFFB8"/>
        </a:solidFill>
        <a:ln w="127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1600" b="0" i="0" u="none" strike="noStrike" cap="none" normalizeH="0" baseline="0" smtClean="0">
            <a:ln>
              <a:noFill/>
            </a:ln>
            <a:solidFill>
              <a:srgbClr val="00279F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ample4db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4db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4db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4db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4db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4db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4db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AAAAAA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AAAAAA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D:\Documents and Settings\Administrator\Application Data\Microsoft\Templates\sample4dbs.pot</Template>
  <TotalTime>0</TotalTime>
  <Words>9216</Words>
  <Application>WPS 演示</Application>
  <PresentationFormat>A4 纸张(210x297 毫米)</PresentationFormat>
  <Paragraphs>584</Paragraphs>
  <Slides>66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93" baseType="lpstr">
      <vt:lpstr>Arial</vt:lpstr>
      <vt:lpstr>宋体</vt:lpstr>
      <vt:lpstr>Wingdings</vt:lpstr>
      <vt:lpstr>Times New Roman</vt:lpstr>
      <vt:lpstr>Comic Sans MS</vt:lpstr>
      <vt:lpstr>Monotype Sorts</vt:lpstr>
      <vt:lpstr>Wingdings</vt:lpstr>
      <vt:lpstr>Courier New</vt:lpstr>
      <vt:lpstr>仿宋</vt:lpstr>
      <vt:lpstr>GungsuhChe</vt:lpstr>
      <vt:lpstr>Yu Gothic</vt:lpstr>
      <vt:lpstr>Arial Narrow</vt:lpstr>
      <vt:lpstr>Gulim</vt:lpstr>
      <vt:lpstr>Malgun Gothic</vt:lpstr>
      <vt:lpstr>华文仿宋</vt:lpstr>
      <vt:lpstr>Helvetica</vt:lpstr>
      <vt:lpstr>Helvetica-BoldItalic</vt:lpstr>
      <vt:lpstr>Segoe Print</vt:lpstr>
      <vt:lpstr>BatangChe</vt:lpstr>
      <vt:lpstr>微软雅黑</vt:lpstr>
      <vt:lpstr>Arial Unicode MS</vt:lpstr>
      <vt:lpstr>BatangChe</vt:lpstr>
      <vt:lpstr>Toots Regular</vt:lpstr>
      <vt:lpstr>Euclid</vt:lpstr>
      <vt:lpstr>Miss Sweetie</vt:lpstr>
      <vt:lpstr>Harrington</vt:lpstr>
      <vt:lpstr>sample4dbs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ZXF</dc:creator>
  <cp:lastModifiedBy>WPS_1644672902</cp:lastModifiedBy>
  <cp:revision>279</cp:revision>
  <dcterms:created xsi:type="dcterms:W3CDTF">1999-01-23T14:21:54Z</dcterms:created>
  <dcterms:modified xsi:type="dcterms:W3CDTF">2025-09-15T08:44:42Z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1</vt:r8>
  </property>
  <property fmtid="{D5CDD505-2E9C-101B-9397-08002B2CF9AE}" pid="6" name="ScreenUsage">
    <vt:r8>1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3</vt:r8>
  </property>
  <property fmtid="{D5CDD505-2E9C-101B-9397-08002B2CF9AE}" pid="19" name="ShowNotes">
    <vt:bool>true</vt:bool>
  </property>
  <property fmtid="{D5CDD505-2E9C-101B-9397-08002B2CF9AE}" pid="20" name="NavBtnPos">
    <vt:r8>3</vt:r8>
  </property>
  <property fmtid="{D5CDD505-2E9C-101B-9397-08002B2CF9AE}" pid="21" name="OutputDir">
    <vt:lpwstr>C:\Webpages</vt:lpwstr>
  </property>
  <property fmtid="{D5CDD505-2E9C-101B-9397-08002B2CF9AE}" pid="22" name="ICV">
    <vt:lpwstr>07B5C43A34B445DAA239A0EE05F33AE9_12</vt:lpwstr>
  </property>
  <property fmtid="{D5CDD505-2E9C-101B-9397-08002B2CF9AE}" pid="23" name="KSOProductBuildVer">
    <vt:lpwstr>2052-12.1.0.22529</vt:lpwstr>
  </property>
</Properties>
</file>